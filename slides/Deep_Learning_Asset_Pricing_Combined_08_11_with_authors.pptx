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6.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7.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8.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9.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0.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b750256617e458b" /><Relationship Type="http://schemas.openxmlformats.org/officeDocument/2006/relationships/extended-properties" Target="/docProps/app.xml" Id="R2d535b99f32b47a8" /><Relationship Type="http://schemas.openxmlformats.org/officeDocument/2006/relationships/officeDocument" Target="/ppt/presentation.xml" Id="Rb57cab9e66f44c8d" /></Relationships>
</file>

<file path=ppt/presentation.xml><?xml version="1.0" encoding="utf-8"?>
<p:presentation xmlns:p="http://schemas.openxmlformats.org/presentationml/2006/main">
  <p:sldMasterIdLst>
    <p:sldMasterId xmlns:r="http://schemas.openxmlformats.org/officeDocument/2006/relationships" id="2147483648" r:id="Ra84079d2b8dd42fb"/>
  </p:sldMasterIdLst>
  <p:notesMasterIdLst>
    <p:notesMasterId xmlns:r="http://schemas.openxmlformats.org/officeDocument/2006/relationships" r:id="R7328b829c02d400f"/>
  </p:notesMasterIdLst>
  <p:sldIdLst>
    <p:sldId xmlns:r="http://schemas.openxmlformats.org/officeDocument/2006/relationships" id="256" r:id="R27a50ca64ddf481c"/>
    <p:sldId xmlns:r="http://schemas.openxmlformats.org/officeDocument/2006/relationships" id="257" r:id="Ra0038a1de6694b06"/>
    <p:sldId xmlns:r="http://schemas.openxmlformats.org/officeDocument/2006/relationships" id="258" r:id="Ra15ef20482dd421b"/>
    <p:sldId xmlns:r="http://schemas.openxmlformats.org/officeDocument/2006/relationships" id="259" r:id="Rb5cb23bc5d1a4a34"/>
    <p:sldId xmlns:r="http://schemas.openxmlformats.org/officeDocument/2006/relationships" id="260" r:id="R1bcbbc9f198f42b9"/>
    <p:sldId xmlns:r="http://schemas.openxmlformats.org/officeDocument/2006/relationships" id="261" r:id="R7dd095e1a1a44615"/>
    <p:sldId xmlns:r="http://schemas.openxmlformats.org/officeDocument/2006/relationships" id="262" r:id="Rc37ab63df7ad4b45"/>
    <p:sldId xmlns:r="http://schemas.openxmlformats.org/officeDocument/2006/relationships" id="263" r:id="Rcbb17e090ef24d63"/>
    <p:sldId xmlns:r="http://schemas.openxmlformats.org/officeDocument/2006/relationships" id="264" r:id="R5e71c8514c284869"/>
    <p:sldId xmlns:r="http://schemas.openxmlformats.org/officeDocument/2006/relationships" id="265" r:id="Re0dc971625e049e3"/>
    <p:sldId xmlns:r="http://schemas.openxmlformats.org/officeDocument/2006/relationships" id="266" r:id="Rfb458a10b74d4a8b"/>
    <p:sldId xmlns:r="http://schemas.openxmlformats.org/officeDocument/2006/relationships" id="267" r:id="Rbee72097cca24401"/>
    <p:sldId xmlns:r="http://schemas.openxmlformats.org/officeDocument/2006/relationships" id="268" r:id="Rc3ad7da827814177"/>
    <p:sldId xmlns:r="http://schemas.openxmlformats.org/officeDocument/2006/relationships" id="269" r:id="Reda380857f7744c8"/>
    <p:sldId xmlns:r="http://schemas.openxmlformats.org/officeDocument/2006/relationships" id="270" r:id="Rc82e69b3e01c4900"/>
    <p:sldId xmlns:r="http://schemas.openxmlformats.org/officeDocument/2006/relationships" id="271" r:id="R943a5adb01a540e5"/>
    <p:sldId xmlns:r="http://schemas.openxmlformats.org/officeDocument/2006/relationships" id="272" r:id="R147e55d043444ccc"/>
    <p:sldId xmlns:r="http://schemas.openxmlformats.org/officeDocument/2006/relationships" id="273" r:id="R78a2464254e54ae0"/>
    <p:sldId xmlns:r="http://schemas.openxmlformats.org/officeDocument/2006/relationships" id="274" r:id="R76a8e367989746e9"/>
    <p:sldId xmlns:r="http://schemas.openxmlformats.org/officeDocument/2006/relationships" id="275" r:id="Rdb9cb74cf86948d5"/>
    <p:sldId xmlns:r="http://schemas.openxmlformats.org/officeDocument/2006/relationships" id="276" r:id="R782e524677814dc4"/>
    <p:sldId xmlns:r="http://schemas.openxmlformats.org/officeDocument/2006/relationships" id="277" r:id="R97d79085fb094845"/>
    <p:sldId xmlns:r="http://schemas.openxmlformats.org/officeDocument/2006/relationships" id="278" r:id="R711feeb3c7894cfb"/>
    <p:sldId xmlns:r="http://schemas.openxmlformats.org/officeDocument/2006/relationships" id="279" r:id="Rd0e4d549657b4175"/>
    <p:sldId xmlns:r="http://schemas.openxmlformats.org/officeDocument/2006/relationships" id="280" r:id="Ra7f5191016b94b3c"/>
    <p:sldId xmlns:r="http://schemas.openxmlformats.org/officeDocument/2006/relationships" id="281" r:id="Rd63601237a0e412b"/>
    <p:sldId xmlns:r="http://schemas.openxmlformats.org/officeDocument/2006/relationships" id="282" r:id="R0aaf83b484f34602"/>
    <p:sldId xmlns:r="http://schemas.openxmlformats.org/officeDocument/2006/relationships" id="283" r:id="Rb2ec750ce6974916"/>
    <p:sldId xmlns:r="http://schemas.openxmlformats.org/officeDocument/2006/relationships" id="284" r:id="Rc5b4e6f55d4e4fc9"/>
    <p:sldId xmlns:r="http://schemas.openxmlformats.org/officeDocument/2006/relationships" id="285" r:id="Rc879af2d93694596"/>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65315517a346ca" /><Relationship Type="http://schemas.openxmlformats.org/officeDocument/2006/relationships/slideMaster" Target="/ppt/slideMasters/slideMaster1.xml" Id="Ra84079d2b8dd42fb" /><Relationship Type="http://schemas.openxmlformats.org/officeDocument/2006/relationships/notesMaster" Target="/ppt/notesMasters/notesMaster1.xml" Id="R7328b829c02d400f" /><Relationship Type="http://schemas.openxmlformats.org/officeDocument/2006/relationships/presProps" Target="/ppt/presProps.xml" Id="R813ad0f9b937411a" /><Relationship Type="http://schemas.openxmlformats.org/officeDocument/2006/relationships/tableStyles" Target="/ppt/tableStyles.xml" Id="R25a6c539892e4ad4" /><Relationship Type="http://schemas.openxmlformats.org/officeDocument/2006/relationships/slide" Target="/ppt/slides/slide1.xml" Id="R27a50ca64ddf481c" /><Relationship Type="http://schemas.openxmlformats.org/officeDocument/2006/relationships/slide" Target="/ppt/slides/slide2.xml" Id="Ra0038a1de6694b06" /><Relationship Type="http://schemas.openxmlformats.org/officeDocument/2006/relationships/slide" Target="/ppt/slides/slide3.xml" Id="Ra15ef20482dd421b" /><Relationship Type="http://schemas.openxmlformats.org/officeDocument/2006/relationships/slide" Target="/ppt/slides/slide4.xml" Id="Rb5cb23bc5d1a4a34" /><Relationship Type="http://schemas.openxmlformats.org/officeDocument/2006/relationships/slide" Target="/ppt/slides/slide5.xml" Id="R1bcbbc9f198f42b9" /><Relationship Type="http://schemas.openxmlformats.org/officeDocument/2006/relationships/slide" Target="/ppt/slides/slide6.xml" Id="R7dd095e1a1a44615" /><Relationship Type="http://schemas.openxmlformats.org/officeDocument/2006/relationships/slide" Target="/ppt/slides/slide7.xml" Id="Rc37ab63df7ad4b45" /><Relationship Type="http://schemas.openxmlformats.org/officeDocument/2006/relationships/slide" Target="/ppt/slides/slide8.xml" Id="Rcbb17e090ef24d63" /><Relationship Type="http://schemas.openxmlformats.org/officeDocument/2006/relationships/slide" Target="/ppt/slides/slide9.xml" Id="R5e71c8514c284869" /><Relationship Type="http://schemas.openxmlformats.org/officeDocument/2006/relationships/slide" Target="/ppt/slides/slide10.xml" Id="Re0dc971625e049e3" /><Relationship Type="http://schemas.openxmlformats.org/officeDocument/2006/relationships/slide" Target="/ppt/slides/slide11.xml" Id="Rfb458a10b74d4a8b" /><Relationship Type="http://schemas.openxmlformats.org/officeDocument/2006/relationships/slide" Target="/ppt/slides/slide12.xml" Id="Rbee72097cca24401" /><Relationship Type="http://schemas.openxmlformats.org/officeDocument/2006/relationships/slide" Target="/ppt/slides/slide13.xml" Id="Rc3ad7da827814177" /><Relationship Type="http://schemas.openxmlformats.org/officeDocument/2006/relationships/slide" Target="/ppt/slides/slide14.xml" Id="Reda380857f7744c8" /><Relationship Type="http://schemas.openxmlformats.org/officeDocument/2006/relationships/slide" Target="/ppt/slides/slide15.xml" Id="Rc82e69b3e01c4900" /><Relationship Type="http://schemas.openxmlformats.org/officeDocument/2006/relationships/slide" Target="/ppt/slides/slide16.xml" Id="R943a5adb01a540e5" /><Relationship Type="http://schemas.openxmlformats.org/officeDocument/2006/relationships/slide" Target="/ppt/slides/slide17.xml" Id="R147e55d043444ccc" /><Relationship Type="http://schemas.openxmlformats.org/officeDocument/2006/relationships/slide" Target="/ppt/slides/slide18.xml" Id="R78a2464254e54ae0" /><Relationship Type="http://schemas.openxmlformats.org/officeDocument/2006/relationships/slide" Target="/ppt/slides/slide19.xml" Id="R76a8e367989746e9" /><Relationship Type="http://schemas.openxmlformats.org/officeDocument/2006/relationships/slide" Target="/ppt/slides/slide20.xml" Id="Rdb9cb74cf86948d5" /><Relationship Type="http://schemas.openxmlformats.org/officeDocument/2006/relationships/slide" Target="/ppt/slides/slide21.xml" Id="R782e524677814dc4" /><Relationship Type="http://schemas.openxmlformats.org/officeDocument/2006/relationships/slide" Target="/ppt/slides/slide22.xml" Id="R97d79085fb094845" /><Relationship Type="http://schemas.openxmlformats.org/officeDocument/2006/relationships/slide" Target="/ppt/slides/slide23.xml" Id="R711feeb3c7894cfb" /><Relationship Type="http://schemas.openxmlformats.org/officeDocument/2006/relationships/slide" Target="/ppt/slides/slide24.xml" Id="Rd0e4d549657b4175" /><Relationship Type="http://schemas.openxmlformats.org/officeDocument/2006/relationships/slide" Target="/ppt/slides/slide25.xml" Id="Ra7f5191016b94b3c" /><Relationship Type="http://schemas.openxmlformats.org/officeDocument/2006/relationships/slide" Target="/ppt/slides/slide26.xml" Id="Rd63601237a0e412b" /><Relationship Type="http://schemas.openxmlformats.org/officeDocument/2006/relationships/slide" Target="/ppt/slides/slide27.xml" Id="R0aaf83b484f34602" /><Relationship Type="http://schemas.openxmlformats.org/officeDocument/2006/relationships/slide" Target="/ppt/slides/slide28.xml" Id="Rb2ec750ce6974916" /><Relationship Type="http://schemas.openxmlformats.org/officeDocument/2006/relationships/slide" Target="/ppt/slides/slide29.xml" Id="Rc5b4e6f55d4e4fc9" /><Relationship Type="http://schemas.openxmlformats.org/officeDocument/2006/relationships/slide" Target="/ppt/slides/slide30.xml" Id="Rc879af2d936945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380260a15848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9002f337b34834" /><Relationship Type="http://schemas.openxmlformats.org/officeDocument/2006/relationships/notesMaster" Target="/ppt/notesMasters/notesMaster1.xml" Id="Reae96d9f8da24e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a916b179524280" /><Relationship Type="http://schemas.openxmlformats.org/officeDocument/2006/relationships/notesMaster" Target="/ppt/notesMasters/notesMaster1.xml" Id="Rff8abcc65ab140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e98610bad842b1" /><Relationship Type="http://schemas.openxmlformats.org/officeDocument/2006/relationships/notesMaster" Target="/ppt/notesMasters/notesMaster1.xml" Id="Ra8489efc801e47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aedcfef01d416e" /><Relationship Type="http://schemas.openxmlformats.org/officeDocument/2006/relationships/notesMaster" Target="/ppt/notesMasters/notesMaster1.xml" Id="R29a4d6b2a10e49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b044b8066548ba" /><Relationship Type="http://schemas.openxmlformats.org/officeDocument/2006/relationships/notesMaster" Target="/ppt/notesMasters/notesMaster1.xml" Id="Rc379bbd3b05d4e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f50d82e14347d9" /><Relationship Type="http://schemas.openxmlformats.org/officeDocument/2006/relationships/notesMaster" Target="/ppt/notesMasters/notesMaster1.xml" Id="Rff4625ca750643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98acba814d403e" /><Relationship Type="http://schemas.openxmlformats.org/officeDocument/2006/relationships/notesMaster" Target="/ppt/notesMasters/notesMaster1.xml" Id="R96737de3a44d47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6ec1c611d14c4f" /><Relationship Type="http://schemas.openxmlformats.org/officeDocument/2006/relationships/notesMaster" Target="/ppt/notesMasters/notesMaster1.xml" Id="Rbb1c0b224f8f45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6044a6b0e844b6" /><Relationship Type="http://schemas.openxmlformats.org/officeDocument/2006/relationships/notesMaster" Target="/ppt/notesMasters/notesMaster1.xml" Id="Ra8c2854eaa7044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3e955f832545ef" /><Relationship Type="http://schemas.openxmlformats.org/officeDocument/2006/relationships/notesMaster" Target="/ppt/notesMasters/notesMaster1.xml" Id="R5598547b610749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4469264be74422" /><Relationship Type="http://schemas.openxmlformats.org/officeDocument/2006/relationships/notesMaster" Target="/ppt/notesMasters/notesMaster1.xml" Id="R513b64bf3c8b47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aefd8b91914e09" /><Relationship Type="http://schemas.openxmlformats.org/officeDocument/2006/relationships/notesMaster" Target="/ppt/notesMasters/notesMaster1.xml" Id="R9fd668a743f047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0fbdb81d4c4c1b" /><Relationship Type="http://schemas.openxmlformats.org/officeDocument/2006/relationships/notesMaster" Target="/ppt/notesMasters/notesMaster1.xml" Id="Rc2b816258c5546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554345b720b407c" /><Relationship Type="http://schemas.openxmlformats.org/officeDocument/2006/relationships/notesMaster" Target="/ppt/notesMasters/notesMaster1.xml" Id="Re15d505ac8394f7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83154b8bf140ed" /><Relationship Type="http://schemas.openxmlformats.org/officeDocument/2006/relationships/notesMaster" Target="/ppt/notesMasters/notesMaster1.xml" Id="R27bbb642356342a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705c81812c45d3" /><Relationship Type="http://schemas.openxmlformats.org/officeDocument/2006/relationships/notesMaster" Target="/ppt/notesMasters/notesMaster1.xml" Id="Rd4d106f4294b4e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5881d3b35b34f16" /><Relationship Type="http://schemas.openxmlformats.org/officeDocument/2006/relationships/notesMaster" Target="/ppt/notesMasters/notesMaster1.xml" Id="R116babb109e94c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50522ceb2504211" /><Relationship Type="http://schemas.openxmlformats.org/officeDocument/2006/relationships/notesMaster" Target="/ppt/notesMasters/notesMaster1.xml" Id="Ra0436dff4d36491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87122f1ed64bac" /><Relationship Type="http://schemas.openxmlformats.org/officeDocument/2006/relationships/notesMaster" Target="/ppt/notesMasters/notesMaster1.xml" Id="Rb484ae58c74948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e21c66809bb446e" /><Relationship Type="http://schemas.openxmlformats.org/officeDocument/2006/relationships/notesMaster" Target="/ppt/notesMasters/notesMaster1.xml" Id="R48bc838fed2342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6ecf654b3334115" /><Relationship Type="http://schemas.openxmlformats.org/officeDocument/2006/relationships/notesMaster" Target="/ppt/notesMasters/notesMaster1.xml" Id="Rd13b360645a14b6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a1f8da757c04b03" /><Relationship Type="http://schemas.openxmlformats.org/officeDocument/2006/relationships/notesMaster" Target="/ppt/notesMasters/notesMaster1.xml" Id="Raf8c88440ff4463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4d44c726e1a475c" /><Relationship Type="http://schemas.openxmlformats.org/officeDocument/2006/relationships/notesMaster" Target="/ppt/notesMasters/notesMaster1.xml" Id="R308442ccc3684f0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7b78e9e63da42eb" /><Relationship Type="http://schemas.openxmlformats.org/officeDocument/2006/relationships/notesMaster" Target="/ppt/notesMasters/notesMaster1.xml" Id="R4acf6712bd5c4c1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b005d0f630d4141" /><Relationship Type="http://schemas.openxmlformats.org/officeDocument/2006/relationships/notesMaster" Target="/ppt/notesMasters/notesMaster1.xml" Id="Ra73c89f3cccb4fc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ac183fa38574980" /><Relationship Type="http://schemas.openxmlformats.org/officeDocument/2006/relationships/notesMaster" Target="/ppt/notesMasters/notesMaster1.xml" Id="R3314896579da497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919baa1ad6e4d13" /><Relationship Type="http://schemas.openxmlformats.org/officeDocument/2006/relationships/notesMaster" Target="/ppt/notesMasters/notesMaster1.xml" Id="Rff0e32786707444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5bd24955b704c0f" /><Relationship Type="http://schemas.openxmlformats.org/officeDocument/2006/relationships/notesMaster" Target="/ppt/notesMasters/notesMaster1.xml" Id="Rabb4bc46996d4b5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057f686f9b344d8" /><Relationship Type="http://schemas.openxmlformats.org/officeDocument/2006/relationships/notesMaster" Target="/ppt/notesMasters/notesMaster1.xml" Id="R6d0dee74eb834a1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4e1df13f8db414c" /><Relationship Type="http://schemas.openxmlformats.org/officeDocument/2006/relationships/notesMaster" Target="/ppt/notesMasters/notesMaster1.xml" Id="R1a38f5c2aa764a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Combined presentation. Slides 1–10 summarize the two previous decks. Slides 11–30 cover Codes 08–11. Source images come from the user-supplied replication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Corrected the earlier slides: 46 firm characteristics, 64 hidden units, and 0.95 dropout retention (0.05 dropout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Local split calendar verified against saved factor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All numbers on this slide are monthly Table I Sharpe ratios. Annualized values multiply by square root of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Local values recomputed with population standard deviation for consistency. This changes the earlier presentation’s GAN test 0.611 to 0.612 after rounding. Source results/rolling_oos_reduced_schedule/tables/all_models_vs_paper_monthly_sharpe.csv.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previous replication deck slides 11, 14, 15. results/tables/gan_official_sdf_comparison.csv. Fama–French benchmark values retain the earlier deck’s displayed convention.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second presentation suggested improvements and first presentation potential extensions. We correct the scope: current rolling work evaluates fixed models and does not implement expanding-window refits.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Author training repository commit 6c26b9dad01e76b214ab8f5566c42a29e99677c9, https://github.com/LouisChen1992/Deep_Learning_Asset_Pricing. Schedule is from audited executable configuration, not a claim that every source detail matches.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configuration in results/paper_matched_reduced_schedule/manifest.json.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Source results/rolling_oos_reduced_schedule/tables/all_models_vs_paper_monthly_sharpe.csv. Original paper and Code 07 use different estimation procedures from the matched new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Sources: published GAN 0.75; supplied author series 0.749920; results/consolidated_comparison/tables/official_extended_test_returns.csv. The blend is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recomputed risks from aligned saved test returns. Trading costs omitted. Drawdown includes initial wealth of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results/paper_matched_reduced_schedule/tables/member_performance.csv. Same-numbered seeds are descriptive pairs, not identical random draws. Seed dispersion shares one market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Complete windows: 265 for 36 months and 241 for 60 months. Annualized Sharpe equals monthly mean / monthly population std multiplied by sqrt(12).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Authors monthly series verified to match published rounded split Sharpes. Source results/consolidated_comparison/tables/official_extended_rolling_series.csv. Every monthly value retained. Sparse year labels are displayed on the category axis.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Authors monthly series verified to match published rounded split Sharpes. Source results/consolidated_comparison/tables/official_extended_rolling_series.csv. Every monthly value retained. Sparse year labels are displayed on the category axis.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results/consolidated_comparison/tables/official_extended_rolling_summary.csv. Means of overlapping rolling ratios are not full-period Sharpe ratios.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results/regime_analysis/tables/monthly_regime_labels.csv. https://fred.stlouisfed.org/series/USREC. Fama–French market returns define lagged volatility with training median threshold 0.039783.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results/consolidated_comparison/tables/official_extended_regime_comparison.csv. Author GAN regime statistics are newly computed from the supplied monthly series, not published regime table entries.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results/consolidated_comparison/tables/official_extended_regime_comparison.csv. Author GAN regime statistics are newly computed from the supplied monthly series, not published regime table entries.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Endpoint labels group completed trailing statistics. A recession-ending window may contain expansion months. No regime switching rule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results/consolidated_comparison/tables/architecture_blend_split_comparison.csv. Blend returns equal 0.5*LSTM+0.5*Transformer, without additional gross renormalization. Added after prior test review. Weights are fixed and not optimized.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Findings are descriptive. Transformer test underperformance is not evidence of universal architecture inferiority.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No full-training run has completed under the final matched conventions. No costs, independent significance test, or real-time macro-vintage validation. Source primary paper https://arxiv.org/pdf/1904.00745 and author code repository https://github.com/LouisChen1992/Deep_Learning_Asset_Pricing.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925597c3e146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a9a4f4e36e4dcb" /><Relationship Type="http://schemas.openxmlformats.org/officeDocument/2006/relationships/slideLayout" Target="/ppt/slideLayouts/slideLayout1.xml" Id="R3d90aae0e65346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90aae0e65346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aec6fd3abc4f99" /><Relationship Type="http://schemas.openxmlformats.org/officeDocument/2006/relationships/image" Target="/ppt/media/image.png" Id="R1bbf365a9f924b1a" /><Relationship Type="http://schemas.openxmlformats.org/officeDocument/2006/relationships/image" Target="/ppt/media/image2.png" Id="Rcdf9ac6cdb894b57" /><Relationship Type="http://schemas.openxmlformats.org/officeDocument/2006/relationships/notesSlide" Target="/ppt/notesSlides/notesSlide1.xml" Id="Rfadae6c0961c47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b0f520ede74af4" /><Relationship Type="http://schemas.openxmlformats.org/officeDocument/2006/relationships/notesSlide" Target="/ppt/notesSlides/notesSlide2.xml" Id="Rc91f756590754c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9a172e335474fa9" /><Relationship Type="http://schemas.openxmlformats.org/officeDocument/2006/relationships/notesSlide" Target="/ppt/notesSlides/notesSlide3.xml" Id="Rf5636f52d8cd46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aaf0f1e0a44c91" /><Relationship Type="http://schemas.openxmlformats.org/officeDocument/2006/relationships/notesSlide" Target="/ppt/notesSlides/notesSlide4.xml" Id="R8073eb41e5374b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51b27566c04bf6" /><Relationship Type="http://schemas.openxmlformats.org/officeDocument/2006/relationships/notesSlide" Target="/ppt/notesSlides/notesSlide5.xml" Id="R66e7e1ca73774e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f7c3666f3a4a99" /><Relationship Type="http://schemas.openxmlformats.org/officeDocument/2006/relationships/notesSlide" Target="/ppt/notesSlides/notesSlide6.xml" Id="R5255a4fceef041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e66f3ff78c47d4" /><Relationship Type="http://schemas.openxmlformats.org/officeDocument/2006/relationships/notesSlide" Target="/ppt/notesSlides/notesSlide7.xml" Id="R7cb7ee8aa2b74a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beec09f6bc44eb" /><Relationship Type="http://schemas.openxmlformats.org/officeDocument/2006/relationships/chart" Target="/ppt/slides/charts/chart1.xml" Id="R43049ae6c6204447" /><Relationship Type="http://schemas.openxmlformats.org/officeDocument/2006/relationships/notesSlide" Target="/ppt/notesSlides/notesSlide8.xml" Id="R66d10dd73be54a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1543774ebdc465a" /><Relationship Type="http://schemas.openxmlformats.org/officeDocument/2006/relationships/notesSlide" Target="/ppt/notesSlides/notesSlide9.xml" Id="R472414407a1442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fdcd5ad19fa487f" /><Relationship Type="http://schemas.openxmlformats.org/officeDocument/2006/relationships/notesSlide" Target="/ppt/notesSlides/notesSlide10.xml" Id="Rd49cc995ec334b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c3bae3467434831" /><Relationship Type="http://schemas.openxmlformats.org/officeDocument/2006/relationships/notesSlide" Target="/ppt/notesSlides/notesSlide11.xml" Id="R0e05322eb4a5478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f0aedf2b640491d" /><Relationship Type="http://schemas.openxmlformats.org/officeDocument/2006/relationships/notesSlide" Target="/ppt/notesSlides/notesSlide12.xml" Id="Re037e1017b9f49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619941dbf124033" /><Relationship Type="http://schemas.openxmlformats.org/officeDocument/2006/relationships/notesSlide" Target="/ppt/notesSlides/notesSlide13.xml" Id="R6d58469647cb47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1902cec8df146f9" /><Relationship Type="http://schemas.openxmlformats.org/officeDocument/2006/relationships/chart" Target="/ppt/slides/charts/chart2.xml" Id="Rf0719fa217bb43e7" /><Relationship Type="http://schemas.openxmlformats.org/officeDocument/2006/relationships/notesSlide" Target="/ppt/notesSlides/notesSlide14.xml" Id="Re9f6b8cc95164d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85a62d832064017" /><Relationship Type="http://schemas.openxmlformats.org/officeDocument/2006/relationships/chart" Target="/ppt/slides/charts/chart3.xml" Id="R40bf53cdba454155" /><Relationship Type="http://schemas.openxmlformats.org/officeDocument/2006/relationships/notesSlide" Target="/ppt/notesSlides/notesSlide15.xml" Id="R073d76c3c6fa4d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9cea1a9bb734c0e" /><Relationship Type="http://schemas.openxmlformats.org/officeDocument/2006/relationships/notesSlide" Target="/ppt/notesSlides/notesSlide16.xml" Id="R6ef9124a33ab43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80fc43862fe4e00" /><Relationship Type="http://schemas.openxmlformats.org/officeDocument/2006/relationships/chart" Target="/ppt/slides/charts/chart4.xml" Id="Rde99c4d703ce41c4" /><Relationship Type="http://schemas.openxmlformats.org/officeDocument/2006/relationships/notesSlide" Target="/ppt/notesSlides/notesSlide17.xml" Id="Rc22008ecd50f41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be7fbc6519d4cef" /><Relationship Type="http://schemas.openxmlformats.org/officeDocument/2006/relationships/notesSlide" Target="/ppt/notesSlides/notesSlide18.xml" Id="Rdf83e23ac99548a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d2228d30a3c48c2" /><Relationship Type="http://schemas.openxmlformats.org/officeDocument/2006/relationships/chart" Target="/ppt/slides/charts/chart5.xml" Id="Re9b7faaf2b434e35" /><Relationship Type="http://schemas.openxmlformats.org/officeDocument/2006/relationships/notesSlide" Target="/ppt/notesSlides/notesSlide19.xml" Id="Rdd3143a7b0bb4f3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efd7db628014b88" /><Relationship Type="http://schemas.openxmlformats.org/officeDocument/2006/relationships/chart" Target="/ppt/slides/charts/chart6.xml" Id="R935337ece30f4cd4" /><Relationship Type="http://schemas.openxmlformats.org/officeDocument/2006/relationships/notesSlide" Target="/ppt/notesSlides/notesSlide20.xml" Id="R1aa406d96eb34ae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0ab8e70dc954be7" /><Relationship Type="http://schemas.openxmlformats.org/officeDocument/2006/relationships/notesSlide" Target="/ppt/notesSlides/notesSlide21.xml" Id="Re7afdfb222674a9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d744246ebb34667" /><Relationship Type="http://schemas.openxmlformats.org/officeDocument/2006/relationships/notesSlide" Target="/ppt/notesSlides/notesSlide22.xml" Id="Re3d5b9a934e341e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d57711f486040e1" /><Relationship Type="http://schemas.openxmlformats.org/officeDocument/2006/relationships/chart" Target="/ppt/slides/charts/chart7.xml" Id="Rc3ca0898997c41bd" /><Relationship Type="http://schemas.openxmlformats.org/officeDocument/2006/relationships/notesSlide" Target="/ppt/notesSlides/notesSlide23.xml" Id="Rfb27e7cbddd8423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358e4a0e43e4f98" /><Relationship Type="http://schemas.openxmlformats.org/officeDocument/2006/relationships/chart" Target="/ppt/slides/charts/chart8.xml" Id="Re3713e5b460f49aa" /><Relationship Type="http://schemas.openxmlformats.org/officeDocument/2006/relationships/notesSlide" Target="/ppt/notesSlides/notesSlide24.xml" Id="R499106ffd6a8446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4e9e90159164c93" /><Relationship Type="http://schemas.openxmlformats.org/officeDocument/2006/relationships/notesSlide" Target="/ppt/notesSlides/notesSlide25.xml" Id="R5d65fa2470d54a0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5cce65abe6945a7" /><Relationship Type="http://schemas.openxmlformats.org/officeDocument/2006/relationships/chart" Target="/ppt/slides/charts/chart9.xml" Id="R68097206c625433e" /><Relationship Type="http://schemas.openxmlformats.org/officeDocument/2006/relationships/notesSlide" Target="/ppt/notesSlides/notesSlide26.xml" Id="R5f4cf5d11087469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79f2ca1fb2b4a7a" /><Relationship Type="http://schemas.openxmlformats.org/officeDocument/2006/relationships/chart" Target="/ppt/slides/charts/chart10.xml" Id="Rd314f2a7bae04576" /><Relationship Type="http://schemas.openxmlformats.org/officeDocument/2006/relationships/notesSlide" Target="/ppt/notesSlides/notesSlide27.xml" Id="R62eba95da07f447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26f4b4e5f4c4c8a" /><Relationship Type="http://schemas.openxmlformats.org/officeDocument/2006/relationships/notesSlide" Target="/ppt/notesSlides/notesSlide28.xml" Id="R070e72d8d95c4c3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8e1e705e0534aac" /><Relationship Type="http://schemas.openxmlformats.org/officeDocument/2006/relationships/notesSlide" Target="/ppt/notesSlides/notesSlide29.xml" Id="R694889abd7d3498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0ff2435935946c4" /><Relationship Type="http://schemas.openxmlformats.org/officeDocument/2006/relationships/notesSlide" Target="/ppt/notesSlides/notesSlide30.xml" Id="R1b94b8015c67433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paper</c:v>
          </c:tx>
          <c:spPr>
            <a:solidFill xmlns:a="http://schemas.openxmlformats.org/drawingml/2006/main">
              <a:srgbClr val="94A3B8"/>
            </a:solidFill>
          </c:spPr>
          <c:cat>
            <c:strRef>
              <c:f>'Chart Data'!$A$2:$A$5</c:f>
              <c:strCache>
                <c:ptCount val="4"/>
                <c:pt idx="0">
                  <c:v>LS</c:v>
                </c:pt>
                <c:pt idx="1">
                  <c:v>EN</c:v>
                </c:pt>
                <c:pt idx="2">
                  <c:v>FFN</c:v>
                </c:pt>
                <c:pt idx="3">
                  <c:v>GAN</c:v>
                </c:pt>
              </c:strCache>
            </c:strRef>
          </c:cat>
          <c:val>
            <c:numRef>
              <c:f>'Chart Data'!$B$2:$B$5</c:f>
              <c:numCache>
                <c:formatCode>0.000</c:formatCode>
                <c:ptCount val="4"/>
                <c:pt idx="0">
                  <c:v>0.42</c:v>
                </c:pt>
                <c:pt idx="1">
                  <c:v>0.5</c:v>
                </c:pt>
                <c:pt idx="2">
                  <c:v>0.44</c:v>
                </c:pt>
                <c:pt idx="3">
                  <c:v>0.75</c:v>
                </c:pt>
              </c:numCache>
            </c:numRef>
          </c:val>
        </c:ser>
        <c:ser>
          <c:idx val="1"/>
          <c:order val="1"/>
          <c:tx>
            <c:v>Code 07 replication</c:v>
          </c:tx>
          <c:spPr>
            <a:solidFill xmlns:a="http://schemas.openxmlformats.org/drawingml/2006/main">
              <a:srgbClr val="003262"/>
            </a:solidFill>
          </c:spPr>
          <c:cat>
            <c:strRef>
              <c:f>'Chart Data'!$C$2:$C$5</c:f>
              <c:strCache>
                <c:ptCount val="4"/>
                <c:pt idx="0">
                  <c:v>LS</c:v>
                </c:pt>
                <c:pt idx="1">
                  <c:v>EN</c:v>
                </c:pt>
                <c:pt idx="2">
                  <c:v>FFN</c:v>
                </c:pt>
                <c:pt idx="3">
                  <c:v>GAN</c:v>
                </c:pt>
              </c:strCache>
            </c:strRef>
          </c:cat>
          <c:val>
            <c:numRef>
              <c:f>'Chart Data'!$D$2:$D$5</c:f>
              <c:numCache>
                <c:formatCode>0.000</c:formatCode>
                <c:ptCount val="4"/>
                <c:pt idx="0">
                  <c:v>0.40639203</c:v>
                </c:pt>
                <c:pt idx="1">
                  <c:v>0.41150844</c:v>
                </c:pt>
                <c:pt idx="2">
                  <c:v>0.56952059</c:v>
                </c:pt>
                <c:pt idx="3">
                  <c:v>0.61188757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Data'!$A$2:$A$4</c:f>
              <c:strCache>
                <c:ptCount val="3"/>
                <c:pt idx="0">
                  <c:v>Train</c:v>
                </c:pt>
                <c:pt idx="1">
                  <c:v>Validation</c:v>
                </c:pt>
                <c:pt idx="2">
                  <c:v>Test</c:v>
                </c:pt>
              </c:strCache>
            </c:strRef>
          </c:cat>
          <c:val>
            <c:numRef>
              <c:f>'Chart Data'!$B$2:$B$4</c:f>
              <c:numCache>
                <c:formatCode>0.000</c:formatCode>
                <c:ptCount val="3"/>
                <c:pt idx="0">
                  <c:v>2.68</c:v>
                </c:pt>
                <c:pt idx="1">
                  <c:v>1.43</c:v>
                </c:pt>
                <c:pt idx="2">
                  <c:v>0.75</c:v>
                </c:pt>
              </c:numCache>
            </c:numRef>
          </c:val>
        </c:ser>
        <c:ser>
          <c:idx val="1"/>
          <c:order val="1"/>
          <c:tx>
            <c:v>Code 07 GAN</c:v>
          </c:tx>
          <c:spPr>
            <a:solidFill xmlns:a="http://schemas.openxmlformats.org/drawingml/2006/main">
              <a:srgbClr val="003262"/>
            </a:solidFill>
          </c:spPr>
          <c:cat>
            <c:strRef>
              <c:f>'Chart Data'!$C$2:$C$4</c:f>
              <c:strCache>
                <c:ptCount val="3"/>
                <c:pt idx="0">
                  <c:v>Train</c:v>
                </c:pt>
                <c:pt idx="1">
                  <c:v>Validation</c:v>
                </c:pt>
                <c:pt idx="2">
                  <c:v>Test</c:v>
                </c:pt>
              </c:strCache>
            </c:strRef>
          </c:cat>
          <c:val>
            <c:numRef>
              <c:f>'Chart Data'!$D$2:$D$4</c:f>
              <c:numCache>
                <c:formatCode>0.000</c:formatCode>
                <c:ptCount val="3"/>
                <c:pt idx="0">
                  <c:v>2.22351534</c:v>
                </c:pt>
                <c:pt idx="1">
                  <c:v>1.18540902</c:v>
                </c:pt>
                <c:pt idx="2">
                  <c:v>0.61188757</c:v>
                </c:pt>
              </c:numCache>
            </c:numRef>
          </c:val>
        </c:ser>
        <c:ser>
          <c:idx val="2"/>
          <c:order val="2"/>
          <c:tx>
            <c:v>New LSTM</c:v>
          </c:tx>
          <c:spPr>
            <a:solidFill xmlns:a="http://schemas.openxmlformats.org/drawingml/2006/main">
              <a:srgbClr val="2563EB"/>
            </a:solidFill>
          </c:spPr>
          <c:cat>
            <c:strRef>
              <c:f>'Chart Data'!$E$2:$E$4</c:f>
              <c:strCache>
                <c:ptCount val="3"/>
                <c:pt idx="0">
                  <c:v>Train</c:v>
                </c:pt>
                <c:pt idx="1">
                  <c:v>Validation</c:v>
                </c:pt>
                <c:pt idx="2">
                  <c:v>Test</c:v>
                </c:pt>
              </c:strCache>
            </c:strRef>
          </c:cat>
          <c:val>
            <c:numRef>
              <c:f>'Chart Data'!$F$2:$F$4</c:f>
              <c:numCache>
                <c:formatCode>0.000</c:formatCode>
                <c:ptCount val="3"/>
                <c:pt idx="0">
                  <c:v>1.30755655</c:v>
                </c:pt>
                <c:pt idx="1">
                  <c:v>0.75013562</c:v>
                </c:pt>
                <c:pt idx="2">
                  <c:v>0.45929328</c:v>
                </c:pt>
              </c:numCache>
            </c:numRef>
          </c:val>
        </c:ser>
        <c:ser>
          <c:idx val="3"/>
          <c:order val="3"/>
          <c:tx>
            <c:v>Transformer</c:v>
          </c:tx>
          <c:spPr>
            <a:solidFill xmlns:a="http://schemas.openxmlformats.org/drawingml/2006/main">
              <a:srgbClr val="B7790B"/>
            </a:solidFill>
          </c:spPr>
          <c:cat>
            <c:strRef>
              <c:f>'Chart Data'!$G$2:$G$4</c:f>
              <c:strCache>
                <c:ptCount val="3"/>
                <c:pt idx="0">
                  <c:v>Train</c:v>
                </c:pt>
                <c:pt idx="1">
                  <c:v>Validation</c:v>
                </c:pt>
                <c:pt idx="2">
                  <c:v>Test</c:v>
                </c:pt>
              </c:strCache>
            </c:strRef>
          </c:cat>
          <c:val>
            <c:numRef>
              <c:f>'Chart Data'!$H$2:$H$4</c:f>
              <c:numCache>
                <c:formatCode>0.000</c:formatCode>
                <c:ptCount val="3"/>
                <c:pt idx="0">
                  <c:v>1.04903636</c:v>
                </c:pt>
                <c:pt idx="1">
                  <c:v>0.58874548</c:v>
                </c:pt>
                <c:pt idx="2">
                  <c:v>0.3044769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Monthly test Sharpe</c:v>
          </c:tx>
          <c:spPr>
            <a:solidFill xmlns:a="http://schemas.openxmlformats.org/drawingml/2006/main">
              <a:srgbClr val="003262"/>
            </a:solidFill>
          </c:spPr>
          <c:cat>
            <c:strRef>
              <c:f>'Chart Data'!$A$2:$A$6</c:f>
              <c:strCache>
                <c:ptCount val="5"/>
                <c:pt idx="0">
                  <c:v>Authors GAN</c:v>
                </c:pt>
                <c:pt idx="1">
                  <c:v>Code 07 GAN</c:v>
                </c:pt>
                <c:pt idx="2">
                  <c:v>New LSTM</c:v>
                </c:pt>
                <c:pt idx="3">
                  <c:v>Transformer</c:v>
                </c:pt>
                <c:pt idx="4">
                  <c:v>50/50 blend</c:v>
                </c:pt>
              </c:strCache>
            </c:strRef>
          </c:cat>
          <c:val>
            <c:numRef>
              <c:f>'Chart Data'!$B$2:$B$6</c:f>
              <c:numCache>
                <c:formatCode>0.000</c:formatCode>
                <c:ptCount val="5"/>
                <c:pt idx="0">
                  <c:v>0.74992011</c:v>
                </c:pt>
                <c:pt idx="1">
                  <c:v>0.61188757</c:v>
                </c:pt>
                <c:pt idx="2">
                  <c:v>0.45929328</c:v>
                </c:pt>
                <c:pt idx="3">
                  <c:v>0.3044769</c:v>
                </c:pt>
                <c:pt idx="4">
                  <c:v>0.46310291</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LSTM</c:v>
          </c:tx>
          <c:spPr>
            <a:solidFill xmlns:a="http://schemas.openxmlformats.org/drawingml/2006/main">
              <a:srgbClr val="2563EB"/>
            </a:solidFill>
          </c:spPr>
          <c:cat>
            <c:numRef>
              <c:f>'Chart Data'!$A$2:$A$10</c:f>
              <c:numCache>
                <c:formatCode>General</c:formatCode>
                <c:ptCount val="9"/>
                <c:pt idx="0">
                  <c:v>42</c:v>
                </c:pt>
                <c:pt idx="1">
                  <c:v>43</c:v>
                </c:pt>
                <c:pt idx="2">
                  <c:v>44</c:v>
                </c:pt>
                <c:pt idx="3">
                  <c:v>45</c:v>
                </c:pt>
                <c:pt idx="4">
                  <c:v>46</c:v>
                </c:pt>
                <c:pt idx="5">
                  <c:v>47</c:v>
                </c:pt>
                <c:pt idx="6">
                  <c:v>48</c:v>
                </c:pt>
                <c:pt idx="7">
                  <c:v>49</c:v>
                </c:pt>
                <c:pt idx="8">
                  <c:v>50</c:v>
                </c:pt>
              </c:numCache>
            </c:numRef>
          </c:cat>
          <c:val>
            <c:numRef>
              <c:f>'Chart Data'!$B$2:$B$10</c:f>
              <c:numCache>
                <c:formatCode>0.000</c:formatCode>
                <c:ptCount val="9"/>
                <c:pt idx="0">
                  <c:v>0.21084745</c:v>
                </c:pt>
                <c:pt idx="1">
                  <c:v>0.0446975</c:v>
                </c:pt>
                <c:pt idx="2">
                  <c:v>0.25841846</c:v>
                </c:pt>
                <c:pt idx="3">
                  <c:v>0.05875021</c:v>
                </c:pt>
                <c:pt idx="4">
                  <c:v>0.07713826</c:v>
                </c:pt>
                <c:pt idx="5">
                  <c:v>0.20549772</c:v>
                </c:pt>
                <c:pt idx="6">
                  <c:v>0.14048901</c:v>
                </c:pt>
                <c:pt idx="7">
                  <c:v>0.4116077</c:v>
                </c:pt>
                <c:pt idx="8">
                  <c:v>0.19885725</c:v>
                </c:pt>
              </c:numCache>
            </c:numRef>
          </c:val>
        </c:ser>
        <c:ser>
          <c:idx val="1"/>
          <c:order val="1"/>
          <c:tx>
            <c:v>Transformer</c:v>
          </c:tx>
          <c:spPr>
            <a:solidFill xmlns:a="http://schemas.openxmlformats.org/drawingml/2006/main">
              <a:srgbClr val="B7790B"/>
            </a:solidFill>
          </c:spPr>
          <c:invertIfNegative val="0"/>
          <c:cat>
            <c:numRef>
              <c:f>'Chart Data'!$C$2:$C$10</c:f>
              <c:numCache>
                <c:formatCode>General</c:formatCode>
                <c:ptCount val="9"/>
                <c:pt idx="0">
                  <c:v>42</c:v>
                </c:pt>
                <c:pt idx="1">
                  <c:v>43</c:v>
                </c:pt>
                <c:pt idx="2">
                  <c:v>44</c:v>
                </c:pt>
                <c:pt idx="3">
                  <c:v>45</c:v>
                </c:pt>
                <c:pt idx="4">
                  <c:v>46</c:v>
                </c:pt>
                <c:pt idx="5">
                  <c:v>47</c:v>
                </c:pt>
                <c:pt idx="6">
                  <c:v>48</c:v>
                </c:pt>
                <c:pt idx="7">
                  <c:v>49</c:v>
                </c:pt>
                <c:pt idx="8">
                  <c:v>50</c:v>
                </c:pt>
              </c:numCache>
            </c:numRef>
          </c:cat>
          <c:val>
            <c:numRef>
              <c:f>'Chart Data'!$D$2:$D$10</c:f>
              <c:numCache>
                <c:formatCode>0.000</c:formatCode>
                <c:ptCount val="9"/>
                <c:pt idx="0">
                  <c:v>0.26267458</c:v>
                </c:pt>
                <c:pt idx="1">
                  <c:v>0.03959994</c:v>
                </c:pt>
                <c:pt idx="2">
                  <c:v>0.35565899</c:v>
                </c:pt>
                <c:pt idx="3">
                  <c:v>0.02842386</c:v>
                </c:pt>
                <c:pt idx="4">
                  <c:v>0.07815787</c:v>
                </c:pt>
                <c:pt idx="5">
                  <c:v>0.11771104</c:v>
                </c:pt>
                <c:pt idx="6">
                  <c:v>0.14520252</c:v>
                </c:pt>
                <c:pt idx="7">
                  <c:v>0.29280523</c:v>
                </c:pt>
                <c:pt idx="8">
                  <c:v>-0.00583761</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8"/>
          <c:min val="-0.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Authors GAN</c:v>
          </c:tx>
          <c:spPr>
            <a:solidFill xmlns:a="http://schemas.openxmlformats.org/drawingml/2006/main">
              <a:srgbClr val="94A3B8"/>
            </a:solidFill>
            <a:ln xmlns:a="http://schemas.openxmlformats.org/drawingml/2006/main" w="20003">
              <a:solidFill>
                <a:srgbClr val="94A3B8"/>
              </a:solidFill>
            </a:ln>
          </c:spPr>
          <c:marker>
            <c:symbol val="none"/>
          </c:marker>
          <c:xVal>
            <c:numRef>
              <c:f>'Chart Data'!$A$2:$A$266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Data'!$B$2:$B$266</c:f>
              <c:numCache>
                <c:formatCode>0.000</c:formatCode>
                <c:ptCount val="265"/>
                <c:pt idx="0">
                  <c:v>4.3622389</c:v>
                </c:pt>
                <c:pt idx="1">
                  <c:v>4.77971264</c:v>
                </c:pt>
                <c:pt idx="2">
                  <c:v>5.8243755</c:v>
                </c:pt>
                <c:pt idx="3">
                  <c:v>5.95470623</c:v>
                </c:pt>
                <c:pt idx="4">
                  <c:v>5.88456279</c:v>
                </c:pt>
                <c:pt idx="5">
                  <c:v>5.86484575</c:v>
                </c:pt>
                <c:pt idx="6">
                  <c:v>5.97513852</c:v>
                </c:pt>
                <c:pt idx="7">
                  <c:v>5.97580107</c:v>
                </c:pt>
                <c:pt idx="8">
                  <c:v>5.95880261</c:v>
                </c:pt>
                <c:pt idx="9">
                  <c:v>5.98327742</c:v>
                </c:pt>
                <c:pt idx="10">
                  <c:v>6.15180326</c:v>
                </c:pt>
                <c:pt idx="11">
                  <c:v>6.1288098</c:v>
                </c:pt>
                <c:pt idx="12">
                  <c:v>6.13804984</c:v>
                </c:pt>
                <c:pt idx="13">
                  <c:v>6.20989281</c:v>
                </c:pt>
                <c:pt idx="14">
                  <c:v>6.13882422</c:v>
                </c:pt>
                <c:pt idx="15">
                  <c:v>5.71777152</c:v>
                </c:pt>
                <c:pt idx="16">
                  <c:v>5.33514108</c:v>
                </c:pt>
                <c:pt idx="17">
                  <c:v>5.79384395</c:v>
                </c:pt>
                <c:pt idx="18">
                  <c:v>5.77127487</c:v>
                </c:pt>
                <c:pt idx="19">
                  <c:v>5.78103975</c:v>
                </c:pt>
                <c:pt idx="20">
                  <c:v>5.8745457</c:v>
                </c:pt>
                <c:pt idx="21">
                  <c:v>5.80194483</c:v>
                </c:pt>
                <c:pt idx="22">
                  <c:v>6.10921564</c:v>
                </c:pt>
                <c:pt idx="23">
                  <c:v>7.10385881</c:v>
                </c:pt>
                <c:pt idx="24">
                  <c:v>7.15027416</c:v>
                </c:pt>
                <c:pt idx="25">
                  <c:v>7.25006679</c:v>
                </c:pt>
                <c:pt idx="26">
                  <c:v>7.74193605</c:v>
                </c:pt>
                <c:pt idx="27">
                  <c:v>7.91253047</c:v>
                </c:pt>
                <c:pt idx="28">
                  <c:v>7.92443853</c:v>
                </c:pt>
                <c:pt idx="29">
                  <c:v>8.18155322</c:v>
                </c:pt>
                <c:pt idx="30">
                  <c:v>7.93203614</c:v>
                </c:pt>
                <c:pt idx="31">
                  <c:v>7.85611824</c:v>
                </c:pt>
                <c:pt idx="32">
                  <c:v>7.35706594</c:v>
                </c:pt>
                <c:pt idx="33">
                  <c:v>7.40418685</c:v>
                </c:pt>
                <c:pt idx="34">
                  <c:v>7.44218056</c:v>
                </c:pt>
                <c:pt idx="35">
                  <c:v>7.74430337</c:v>
                </c:pt>
                <c:pt idx="36">
                  <c:v>8.11409423</c:v>
                </c:pt>
                <c:pt idx="37">
                  <c:v>8.01935931</c:v>
                </c:pt>
                <c:pt idx="38">
                  <c:v>7.96500238</c:v>
                </c:pt>
                <c:pt idx="39">
                  <c:v>7.94113894</c:v>
                </c:pt>
                <c:pt idx="40">
                  <c:v>7.83263005</c:v>
                </c:pt>
                <c:pt idx="41">
                  <c:v>7.99941199</c:v>
                </c:pt>
                <c:pt idx="42">
                  <c:v>7.88913849</c:v>
                </c:pt>
                <c:pt idx="43">
                  <c:v>7.56340778</c:v>
                </c:pt>
                <c:pt idx="44">
                  <c:v>7.39396014</c:v>
                </c:pt>
                <c:pt idx="45">
                  <c:v>7.26457236</c:v>
                </c:pt>
                <c:pt idx="46">
                  <c:v>7.32433658</c:v>
                </c:pt>
                <c:pt idx="47">
                  <c:v>7.06112971</c:v>
                </c:pt>
                <c:pt idx="48">
                  <c:v>7.06334183</c:v>
                </c:pt>
                <c:pt idx="49">
                  <c:v>6.93309876</c:v>
                </c:pt>
                <c:pt idx="50">
                  <c:v>6.94357739</c:v>
                </c:pt>
                <c:pt idx="51">
                  <c:v>6.74787717</c:v>
                </c:pt>
                <c:pt idx="52">
                  <c:v>6.60904593</c:v>
                </c:pt>
                <c:pt idx="53">
                  <c:v>6.58682722</c:v>
                </c:pt>
                <c:pt idx="54">
                  <c:v>6.60273956</c:v>
                </c:pt>
                <c:pt idx="55">
                  <c:v>6.5622518</c:v>
                </c:pt>
                <c:pt idx="56">
                  <c:v>6.56176396</c:v>
                </c:pt>
                <c:pt idx="57">
                  <c:v>6.4886676</c:v>
                </c:pt>
                <c:pt idx="58">
                  <c:v>6.3329984</c:v>
                </c:pt>
                <c:pt idx="59">
                  <c:v>6.29847613</c:v>
                </c:pt>
                <c:pt idx="60">
                  <c:v>6.26345187</c:v>
                </c:pt>
                <c:pt idx="61">
                  <c:v>5.76821258</c:v>
                </c:pt>
                <c:pt idx="62">
                  <c:v>5.55221682</c:v>
                </c:pt>
                <c:pt idx="63">
                  <c:v>5.55794448</c:v>
                </c:pt>
                <c:pt idx="64">
                  <c:v>5.14928291</c:v>
                </c:pt>
                <c:pt idx="65">
                  <c:v>4.91092318</c:v>
                </c:pt>
                <c:pt idx="66">
                  <c:v>4.87499813</c:v>
                </c:pt>
                <c:pt idx="67">
                  <c:v>4.97445615</c:v>
                </c:pt>
                <c:pt idx="68">
                  <c:v>5.22200447</c:v>
                </c:pt>
                <c:pt idx="69">
                  <c:v>5.30084273</c:v>
                </c:pt>
                <c:pt idx="70">
                  <c:v>5.26482008</c:v>
                </c:pt>
                <c:pt idx="71">
                  <c:v>5.18075821</c:v>
                </c:pt>
                <c:pt idx="72">
                  <c:v>5.16855782</c:v>
                </c:pt>
                <c:pt idx="73">
                  <c:v>5.06970733</c:v>
                </c:pt>
                <c:pt idx="74">
                  <c:v>4.55603799</c:v>
                </c:pt>
                <c:pt idx="75">
                  <c:v>4.36787634</c:v>
                </c:pt>
                <c:pt idx="76">
                  <c:v>4.45557848</c:v>
                </c:pt>
                <c:pt idx="77">
                  <c:v>4.46097755</c:v>
                </c:pt>
                <c:pt idx="78">
                  <c:v>4.38159643</c:v>
                </c:pt>
                <c:pt idx="79">
                  <c:v>4.54114791</c:v>
                </c:pt>
                <c:pt idx="80">
                  <c:v>4.60647579</c:v>
                </c:pt>
                <c:pt idx="81">
                  <c:v>4.58007508</c:v>
                </c:pt>
                <c:pt idx="82">
                  <c:v>4.55464727</c:v>
                </c:pt>
                <c:pt idx="83">
                  <c:v>4.28125724</c:v>
                </c:pt>
                <c:pt idx="84">
                  <c:v>4.24738127</c:v>
                </c:pt>
                <c:pt idx="85">
                  <c:v>4.2433366</c:v>
                </c:pt>
                <c:pt idx="86">
                  <c:v>4.34672743</c:v>
                </c:pt>
                <c:pt idx="87">
                  <c:v>4.38873671</c:v>
                </c:pt>
                <c:pt idx="88">
                  <c:v>4.72762498</c:v>
                </c:pt>
                <c:pt idx="89">
                  <c:v>4.86511518</c:v>
                </c:pt>
                <c:pt idx="90">
                  <c:v>4.8757076</c:v>
                </c:pt>
                <c:pt idx="91">
                  <c:v>4.68222445</c:v>
                </c:pt>
                <c:pt idx="92">
                  <c:v>4.67565604</c:v>
                </c:pt>
                <c:pt idx="93">
                  <c:v>4.8295139</c:v>
                </c:pt>
                <c:pt idx="94">
                  <c:v>4.6899498</c:v>
                </c:pt>
                <c:pt idx="95">
                  <c:v>3.37639638</c:v>
                </c:pt>
                <c:pt idx="96">
                  <c:v>3.36287365</c:v>
                </c:pt>
                <c:pt idx="97">
                  <c:v>3.31063405</c:v>
                </c:pt>
                <c:pt idx="98">
                  <c:v>3.2761283</c:v>
                </c:pt>
                <c:pt idx="99">
                  <c:v>3.13135372</c:v>
                </c:pt>
                <c:pt idx="100">
                  <c:v>2.94158669</c:v>
                </c:pt>
                <c:pt idx="101">
                  <c:v>2.83077717</c:v>
                </c:pt>
                <c:pt idx="102">
                  <c:v>2.64612275</c:v>
                </c:pt>
                <c:pt idx="103">
                  <c:v>2.42027557</c:v>
                </c:pt>
                <c:pt idx="104">
                  <c:v>2.30046639</c:v>
                </c:pt>
                <c:pt idx="105">
                  <c:v>2.31556932</c:v>
                </c:pt>
                <c:pt idx="106">
                  <c:v>2.28495612</c:v>
                </c:pt>
                <c:pt idx="107">
                  <c:v>2.17287948</c:v>
                </c:pt>
                <c:pt idx="108">
                  <c:v>2.12821204</c:v>
                </c:pt>
                <c:pt idx="109">
                  <c:v>2.14682087</c:v>
                </c:pt>
                <c:pt idx="110">
                  <c:v>2.04005475</c:v>
                </c:pt>
                <c:pt idx="111">
                  <c:v>2.04403907</c:v>
                </c:pt>
                <c:pt idx="112">
                  <c:v>1.97916592</c:v>
                </c:pt>
                <c:pt idx="113">
                  <c:v>1.9196421</c:v>
                </c:pt>
                <c:pt idx="114">
                  <c:v>1.94995215</c:v>
                </c:pt>
                <c:pt idx="115">
                  <c:v>1.89886035</c:v>
                </c:pt>
                <c:pt idx="116">
                  <c:v>1.87929664</c:v>
                </c:pt>
                <c:pt idx="117">
                  <c:v>1.88865138</c:v>
                </c:pt>
                <c:pt idx="118">
                  <c:v>1.85093334</c:v>
                </c:pt>
                <c:pt idx="119">
                  <c:v>1.92130467</c:v>
                </c:pt>
                <c:pt idx="120">
                  <c:v>1.87819215</c:v>
                </c:pt>
                <c:pt idx="121">
                  <c:v>1.8526888</c:v>
                </c:pt>
                <c:pt idx="122">
                  <c:v>1.75961296</c:v>
                </c:pt>
                <c:pt idx="123">
                  <c:v>1.80992048</c:v>
                </c:pt>
                <c:pt idx="124">
                  <c:v>1.77035645</c:v>
                </c:pt>
                <c:pt idx="125">
                  <c:v>1.74786481</c:v>
                </c:pt>
                <c:pt idx="126">
                  <c:v>1.68331424</c:v>
                </c:pt>
                <c:pt idx="127">
                  <c:v>1.55324004</c:v>
                </c:pt>
                <c:pt idx="128">
                  <c:v>1.53167065</c:v>
                </c:pt>
                <c:pt idx="129">
                  <c:v>1.39273649</c:v>
                </c:pt>
                <c:pt idx="130">
                  <c:v>1.35585141</c:v>
                </c:pt>
                <c:pt idx="131">
                  <c:v>2.04709835</c:v>
                </c:pt>
                <c:pt idx="132">
                  <c:v>2.27460302</c:v>
                </c:pt>
                <c:pt idx="133">
                  <c:v>2.18901182</c:v>
                </c:pt>
                <c:pt idx="134">
                  <c:v>2.26755126</c:v>
                </c:pt>
                <c:pt idx="135">
                  <c:v>2.33361596</c:v>
                </c:pt>
                <c:pt idx="136">
                  <c:v>2.83783135</c:v>
                </c:pt>
                <c:pt idx="137">
                  <c:v>3.16296877</c:v>
                </c:pt>
                <c:pt idx="138">
                  <c:v>3.40025561</c:v>
                </c:pt>
                <c:pt idx="139">
                  <c:v>4.07391738</c:v>
                </c:pt>
                <c:pt idx="140">
                  <c:v>4.3184875</c:v>
                </c:pt>
                <c:pt idx="141">
                  <c:v>4.3475019</c:v>
                </c:pt>
                <c:pt idx="142">
                  <c:v>4.34059909</c:v>
                </c:pt>
                <c:pt idx="143">
                  <c:v>4.99829334</c:v>
                </c:pt>
                <c:pt idx="144">
                  <c:v>4.97796277</c:v>
                </c:pt>
                <c:pt idx="145">
                  <c:v>4.62409456</c:v>
                </c:pt>
                <c:pt idx="146">
                  <c:v>4.5620639</c:v>
                </c:pt>
                <c:pt idx="147">
                  <c:v>4.68624648</c:v>
                </c:pt>
                <c:pt idx="148">
                  <c:v>4.74836784</c:v>
                </c:pt>
                <c:pt idx="149">
                  <c:v>4.60487923</c:v>
                </c:pt>
                <c:pt idx="150">
                  <c:v>4.44474566</c:v>
                </c:pt>
                <c:pt idx="151">
                  <c:v>3.70845236</c:v>
                </c:pt>
                <c:pt idx="152">
                  <c:v>3.61628539</c:v>
                </c:pt>
                <c:pt idx="153">
                  <c:v>3.67962876</c:v>
                </c:pt>
                <c:pt idx="154">
                  <c:v>3.73022023</c:v>
                </c:pt>
                <c:pt idx="155">
                  <c:v>3.66908011</c:v>
                </c:pt>
                <c:pt idx="156">
                  <c:v>3.68655151</c:v>
                </c:pt>
                <c:pt idx="157">
                  <c:v>3.82547513</c:v>
                </c:pt>
                <c:pt idx="158">
                  <c:v>3.57853598</c:v>
                </c:pt>
                <c:pt idx="159">
                  <c:v>3.54811609</c:v>
                </c:pt>
                <c:pt idx="160">
                  <c:v>3.56364808</c:v>
                </c:pt>
                <c:pt idx="161">
                  <c:v>3.15017809</c:v>
                </c:pt>
                <c:pt idx="162">
                  <c:v>2.3477998</c:v>
                </c:pt>
                <c:pt idx="163">
                  <c:v>2.36955755</c:v>
                </c:pt>
                <c:pt idx="164">
                  <c:v>2.20385503</c:v>
                </c:pt>
                <c:pt idx="165">
                  <c:v>2.23140439</c:v>
                </c:pt>
                <c:pt idx="166">
                  <c:v>2.17402785</c:v>
                </c:pt>
                <c:pt idx="167">
                  <c:v>2.21432792</c:v>
                </c:pt>
                <c:pt idx="168">
                  <c:v>2.27578311</c:v>
                </c:pt>
                <c:pt idx="169">
                  <c:v>2.36866794</c:v>
                </c:pt>
                <c:pt idx="170">
                  <c:v>1.93893554</c:v>
                </c:pt>
                <c:pt idx="171">
                  <c:v>1.92510278</c:v>
                </c:pt>
                <c:pt idx="172">
                  <c:v>0.80886574</c:v>
                </c:pt>
                <c:pt idx="173">
                  <c:v>0.82189621</c:v>
                </c:pt>
                <c:pt idx="174">
                  <c:v>0.90726286</c:v>
                </c:pt>
                <c:pt idx="175">
                  <c:v>0.88889424</c:v>
                </c:pt>
                <c:pt idx="176">
                  <c:v>0.72332257</c:v>
                </c:pt>
                <c:pt idx="177">
                  <c:v>0.69125938</c:v>
                </c:pt>
                <c:pt idx="178">
                  <c:v>0.67697957</c:v>
                </c:pt>
                <c:pt idx="179">
                  <c:v>0.65461306</c:v>
                </c:pt>
                <c:pt idx="180">
                  <c:v>0.55359989</c:v>
                </c:pt>
                <c:pt idx="181">
                  <c:v>0.62525257</c:v>
                </c:pt>
                <c:pt idx="182">
                  <c:v>0.60996877</c:v>
                </c:pt>
                <c:pt idx="183">
                  <c:v>0.5994906</c:v>
                </c:pt>
                <c:pt idx="184">
                  <c:v>0.50778195</c:v>
                </c:pt>
                <c:pt idx="185">
                  <c:v>0.45052111</c:v>
                </c:pt>
                <c:pt idx="186">
                  <c:v>0.43980559</c:v>
                </c:pt>
                <c:pt idx="187">
                  <c:v>0.5423186</c:v>
                </c:pt>
                <c:pt idx="188">
                  <c:v>0.51891423</c:v>
                </c:pt>
                <c:pt idx="189">
                  <c:v>0.58748566</c:v>
                </c:pt>
                <c:pt idx="190">
                  <c:v>0.60543013</c:v>
                </c:pt>
                <c:pt idx="191">
                  <c:v>0.59062339</c:v>
                </c:pt>
                <c:pt idx="192">
                  <c:v>0.5939499</c:v>
                </c:pt>
                <c:pt idx="193">
                  <c:v>0.56224649</c:v>
                </c:pt>
                <c:pt idx="194">
                  <c:v>0.44846524</c:v>
                </c:pt>
                <c:pt idx="195">
                  <c:v>0.44123779</c:v>
                </c:pt>
                <c:pt idx="196">
                  <c:v>0.37767858</c:v>
                </c:pt>
                <c:pt idx="197">
                  <c:v>0.43791324</c:v>
                </c:pt>
                <c:pt idx="198">
                  <c:v>0.55356585</c:v>
                </c:pt>
                <c:pt idx="199">
                  <c:v>0.39999308</c:v>
                </c:pt>
                <c:pt idx="200">
                  <c:v>0.48964686</c:v>
                </c:pt>
                <c:pt idx="201">
                  <c:v>0.50033696</c:v>
                </c:pt>
                <c:pt idx="202">
                  <c:v>0.65211109</c:v>
                </c:pt>
                <c:pt idx="203">
                  <c:v>0.63785916</c:v>
                </c:pt>
                <c:pt idx="204">
                  <c:v>0.54210397</c:v>
                </c:pt>
                <c:pt idx="205">
                  <c:v>0.46589502</c:v>
                </c:pt>
                <c:pt idx="206">
                  <c:v>0.66293322</c:v>
                </c:pt>
                <c:pt idx="207">
                  <c:v>0.7174139</c:v>
                </c:pt>
                <c:pt idx="208">
                  <c:v>2.12915175</c:v>
                </c:pt>
                <c:pt idx="209">
                  <c:v>2.13075389</c:v>
                </c:pt>
                <c:pt idx="210">
                  <c:v>2.08953097</c:v>
                </c:pt>
                <c:pt idx="211">
                  <c:v>2.10758766</c:v>
                </c:pt>
                <c:pt idx="212">
                  <c:v>2.42132404</c:v>
                </c:pt>
                <c:pt idx="213">
                  <c:v>2.5212514</c:v>
                </c:pt>
                <c:pt idx="214">
                  <c:v>2.62477944</c:v>
                </c:pt>
                <c:pt idx="215">
                  <c:v>2.73447281</c:v>
                </c:pt>
                <c:pt idx="216">
                  <c:v>2.7819155</c:v>
                </c:pt>
                <c:pt idx="217">
                  <c:v>2.79036206</c:v>
                </c:pt>
                <c:pt idx="218">
                  <c:v>2.93812735</c:v>
                </c:pt>
                <c:pt idx="219">
                  <c:v>2.92857526</c:v>
                </c:pt>
                <c:pt idx="220">
                  <c:v>3.39599794</c:v>
                </c:pt>
                <c:pt idx="221">
                  <c:v>3.69725693</c:v>
                </c:pt>
                <c:pt idx="222">
                  <c:v>3.66027317</c:v>
                </c:pt>
                <c:pt idx="223">
                  <c:v>3.68232585</c:v>
                </c:pt>
                <c:pt idx="224">
                  <c:v>3.77233429</c:v>
                </c:pt>
                <c:pt idx="225">
                  <c:v>3.79629909</c:v>
                </c:pt>
                <c:pt idx="226">
                  <c:v>3.78971808</c:v>
                </c:pt>
                <c:pt idx="227">
                  <c:v>3.90867177</c:v>
                </c:pt>
                <c:pt idx="228">
                  <c:v>3.8593251</c:v>
                </c:pt>
                <c:pt idx="229">
                  <c:v>3.80005241</c:v>
                </c:pt>
                <c:pt idx="230">
                  <c:v>3.73185733</c:v>
                </c:pt>
                <c:pt idx="231">
                  <c:v>3.84520345</c:v>
                </c:pt>
                <c:pt idx="232">
                  <c:v>3.40946097</c:v>
                </c:pt>
                <c:pt idx="233">
                  <c:v>3.3449948</c:v>
                </c:pt>
                <c:pt idx="234">
                  <c:v>3.2622079</c:v>
                </c:pt>
                <c:pt idx="235">
                  <c:v>3.42358572</c:v>
                </c:pt>
                <c:pt idx="236">
                  <c:v>3.24669967</c:v>
                </c:pt>
                <c:pt idx="237">
                  <c:v>2.99494996</c:v>
                </c:pt>
                <c:pt idx="238">
                  <c:v>3.16127772</c:v>
                </c:pt>
                <c:pt idx="239">
                  <c:v>3.13994746</c:v>
                </c:pt>
                <c:pt idx="240">
                  <c:v>2.41745093</c:v>
                </c:pt>
                <c:pt idx="241">
                  <c:v>2.43059108</c:v>
                </c:pt>
                <c:pt idx="242">
                  <c:v>2.43652271</c:v>
                </c:pt>
                <c:pt idx="243">
                  <c:v>2.41972285</c:v>
                </c:pt>
                <c:pt idx="244">
                  <c:v>2.37886508</c:v>
                </c:pt>
                <c:pt idx="245">
                  <c:v>2.37059345</c:v>
                </c:pt>
                <c:pt idx="246">
                  <c:v>2.25307843</c:v>
                </c:pt>
                <c:pt idx="247">
                  <c:v>2.20984432</c:v>
                </c:pt>
                <c:pt idx="248">
                  <c:v>2.24277672</c:v>
                </c:pt>
                <c:pt idx="249">
                  <c:v>2.3037351</c:v>
                </c:pt>
                <c:pt idx="250">
                  <c:v>2.3212478</c:v>
                </c:pt>
                <c:pt idx="251">
                  <c:v>2.31549726</c:v>
                </c:pt>
                <c:pt idx="252">
                  <c:v>2.46764567</c:v>
                </c:pt>
                <c:pt idx="253">
                  <c:v>2.47023757</c:v>
                </c:pt>
                <c:pt idx="254">
                  <c:v>2.3092302</c:v>
                </c:pt>
                <c:pt idx="255">
                  <c:v>2.14499938</c:v>
                </c:pt>
                <c:pt idx="256">
                  <c:v>1.60743068</c:v>
                </c:pt>
                <c:pt idx="257">
                  <c:v>1.73403733</c:v>
                </c:pt>
                <c:pt idx="258">
                  <c:v>1.82058716</c:v>
                </c:pt>
                <c:pt idx="259">
                  <c:v>1.68675522</c:v>
                </c:pt>
                <c:pt idx="260">
                  <c:v>1.60790071</c:v>
                </c:pt>
                <c:pt idx="261">
                  <c:v>1.5958477</c:v>
                </c:pt>
                <c:pt idx="262">
                  <c:v>1.52249054</c:v>
                </c:pt>
                <c:pt idx="263">
                  <c:v>1.4457142</c:v>
                </c:pt>
                <c:pt idx="264">
                  <c:v>1.39765761</c:v>
                </c:pt>
              </c:numCache>
            </c:numRef>
          </c:yVal>
        </c:ser>
        <c:ser>
          <c:idx val="1"/>
          <c:order val="1"/>
          <c:tx>
            <c:v>Code 07 GAN</c:v>
          </c:tx>
          <c:spPr>
            <a:solidFill xmlns:a="http://schemas.openxmlformats.org/drawingml/2006/main">
              <a:srgbClr val="003262"/>
            </a:solidFill>
            <a:ln xmlns:a="http://schemas.openxmlformats.org/drawingml/2006/main" w="20003">
              <a:solidFill>
                <a:srgbClr val="003262"/>
              </a:solidFill>
            </a:ln>
          </c:spPr>
          <c:marker>
            <c:symbol val="none"/>
          </c:marker>
          <c:xVal>
            <c:numRef>
              <c:f>'Chart Data'!$C$2:$C$266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Data'!$D$2:$D$266</c:f>
              <c:numCache>
                <c:formatCode>0.000</c:formatCode>
                <c:ptCount val="265"/>
                <c:pt idx="0">
                  <c:v>4.35771524</c:v>
                </c:pt>
                <c:pt idx="1">
                  <c:v>4.73571406</c:v>
                </c:pt>
                <c:pt idx="2">
                  <c:v>5.28731228</c:v>
                </c:pt>
                <c:pt idx="3">
                  <c:v>5.30956763</c:v>
                </c:pt>
                <c:pt idx="4">
                  <c:v>5.3558775</c:v>
                </c:pt>
                <c:pt idx="5">
                  <c:v>5.25664504</c:v>
                </c:pt>
                <c:pt idx="6">
                  <c:v>5.34332183</c:v>
                </c:pt>
                <c:pt idx="7">
                  <c:v>5.20960636</c:v>
                </c:pt>
                <c:pt idx="8">
                  <c:v>5.16620153</c:v>
                </c:pt>
                <c:pt idx="9">
                  <c:v>5.17611227</c:v>
                </c:pt>
                <c:pt idx="10">
                  <c:v>5.34710643</c:v>
                </c:pt>
                <c:pt idx="11">
                  <c:v>5.38377255</c:v>
                </c:pt>
                <c:pt idx="12">
                  <c:v>5.41034167</c:v>
                </c:pt>
                <c:pt idx="13">
                  <c:v>5.77722431</c:v>
                </c:pt>
                <c:pt idx="14">
                  <c:v>5.70614181</c:v>
                </c:pt>
                <c:pt idx="15">
                  <c:v>5.76194481</c:v>
                </c:pt>
                <c:pt idx="16">
                  <c:v>5.40963829</c:v>
                </c:pt>
                <c:pt idx="17">
                  <c:v>5.58896543</c:v>
                </c:pt>
                <c:pt idx="18">
                  <c:v>5.57373526</c:v>
                </c:pt>
                <c:pt idx="19">
                  <c:v>5.57862533</c:v>
                </c:pt>
                <c:pt idx="20">
                  <c:v>5.55278329</c:v>
                </c:pt>
                <c:pt idx="21">
                  <c:v>5.44990387</c:v>
                </c:pt>
                <c:pt idx="22">
                  <c:v>5.67969619</c:v>
                </c:pt>
                <c:pt idx="23">
                  <c:v>6.08305242</c:v>
                </c:pt>
                <c:pt idx="24">
                  <c:v>6.23295874</c:v>
                </c:pt>
                <c:pt idx="25">
                  <c:v>6.08651579</c:v>
                </c:pt>
                <c:pt idx="26">
                  <c:v>6.69779815</c:v>
                </c:pt>
                <c:pt idx="27">
                  <c:v>6.88678567</c:v>
                </c:pt>
                <c:pt idx="28">
                  <c:v>6.89781986</c:v>
                </c:pt>
                <c:pt idx="29">
                  <c:v>7.22008243</c:v>
                </c:pt>
                <c:pt idx="30">
                  <c:v>7.1434033</c:v>
                </c:pt>
                <c:pt idx="31">
                  <c:v>7.26464961</c:v>
                </c:pt>
                <c:pt idx="32">
                  <c:v>6.89354325</c:v>
                </c:pt>
                <c:pt idx="33">
                  <c:v>6.96879909</c:v>
                </c:pt>
                <c:pt idx="34">
                  <c:v>6.92695897</c:v>
                </c:pt>
                <c:pt idx="35">
                  <c:v>7.07944728</c:v>
                </c:pt>
                <c:pt idx="36">
                  <c:v>7.35294703</c:v>
                </c:pt>
                <c:pt idx="37">
                  <c:v>7.35047429</c:v>
                </c:pt>
                <c:pt idx="38">
                  <c:v>7.33989944</c:v>
                </c:pt>
                <c:pt idx="39">
                  <c:v>7.35881006</c:v>
                </c:pt>
                <c:pt idx="40">
                  <c:v>7.0519877</c:v>
                </c:pt>
                <c:pt idx="41">
                  <c:v>7.21673559</c:v>
                </c:pt>
                <c:pt idx="42">
                  <c:v>7.40709554</c:v>
                </c:pt>
                <c:pt idx="43">
                  <c:v>7.57868636</c:v>
                </c:pt>
                <c:pt idx="44">
                  <c:v>7.64936827</c:v>
                </c:pt>
                <c:pt idx="45">
                  <c:v>7.5873724</c:v>
                </c:pt>
                <c:pt idx="46">
                  <c:v>7.54879875</c:v>
                </c:pt>
                <c:pt idx="47">
                  <c:v>7.35713973</c:v>
                </c:pt>
                <c:pt idx="48">
                  <c:v>7.29691544</c:v>
                </c:pt>
                <c:pt idx="49">
                  <c:v>7.22934427</c:v>
                </c:pt>
                <c:pt idx="50">
                  <c:v>7.35832538</c:v>
                </c:pt>
                <c:pt idx="51">
                  <c:v>6.01325745</c:v>
                </c:pt>
                <c:pt idx="52">
                  <c:v>5.05297595</c:v>
                </c:pt>
                <c:pt idx="53">
                  <c:v>5.20560997</c:v>
                </c:pt>
                <c:pt idx="54">
                  <c:v>5.244057</c:v>
                </c:pt>
                <c:pt idx="55">
                  <c:v>5.2461493</c:v>
                </c:pt>
                <c:pt idx="56">
                  <c:v>5.09201122</c:v>
                </c:pt>
                <c:pt idx="57">
                  <c:v>5.03233495</c:v>
                </c:pt>
                <c:pt idx="58">
                  <c:v>5.01533124</c:v>
                </c:pt>
                <c:pt idx="59">
                  <c:v>5.16957517</c:v>
                </c:pt>
                <c:pt idx="60">
                  <c:v>4.39211982</c:v>
                </c:pt>
                <c:pt idx="61">
                  <c:v>4.37974183</c:v>
                </c:pt>
                <c:pt idx="62">
                  <c:v>2.29176415</c:v>
                </c:pt>
                <c:pt idx="63">
                  <c:v>2.30890098</c:v>
                </c:pt>
                <c:pt idx="64">
                  <c:v>2.30282231</c:v>
                </c:pt>
                <c:pt idx="65">
                  <c:v>2.20593314</c:v>
                </c:pt>
                <c:pt idx="66">
                  <c:v>2.23218721</c:v>
                </c:pt>
                <c:pt idx="67">
                  <c:v>2.25892021</c:v>
                </c:pt>
                <c:pt idx="68">
                  <c:v>2.33512605</c:v>
                </c:pt>
                <c:pt idx="69">
                  <c:v>2.38576804</c:v>
                </c:pt>
                <c:pt idx="70">
                  <c:v>2.38762084</c:v>
                </c:pt>
                <c:pt idx="71">
                  <c:v>2.38656336</c:v>
                </c:pt>
                <c:pt idx="72">
                  <c:v>2.37642521</c:v>
                </c:pt>
                <c:pt idx="73">
                  <c:v>2.35324208</c:v>
                </c:pt>
                <c:pt idx="74">
                  <c:v>2.30528223</c:v>
                </c:pt>
                <c:pt idx="75">
                  <c:v>2.31854475</c:v>
                </c:pt>
                <c:pt idx="76">
                  <c:v>2.36485265</c:v>
                </c:pt>
                <c:pt idx="77">
                  <c:v>2.3605959</c:v>
                </c:pt>
                <c:pt idx="78">
                  <c:v>2.31992907</c:v>
                </c:pt>
                <c:pt idx="79">
                  <c:v>2.38455992</c:v>
                </c:pt>
                <c:pt idx="80">
                  <c:v>2.37987592</c:v>
                </c:pt>
                <c:pt idx="81">
                  <c:v>2.3829419</c:v>
                </c:pt>
                <c:pt idx="82">
                  <c:v>2.33652237</c:v>
                </c:pt>
                <c:pt idx="83">
                  <c:v>2.08906465</c:v>
                </c:pt>
                <c:pt idx="84">
                  <c:v>2.04407067</c:v>
                </c:pt>
                <c:pt idx="85">
                  <c:v>2.11189335</c:v>
                </c:pt>
                <c:pt idx="86">
                  <c:v>2.15565496</c:v>
                </c:pt>
                <c:pt idx="87">
                  <c:v>2.32618889</c:v>
                </c:pt>
                <c:pt idx="88">
                  <c:v>2.60294185</c:v>
                </c:pt>
                <c:pt idx="89">
                  <c:v>2.65160779</c:v>
                </c:pt>
                <c:pt idx="90">
                  <c:v>2.6691663</c:v>
                </c:pt>
                <c:pt idx="91">
                  <c:v>2.72529545</c:v>
                </c:pt>
                <c:pt idx="92">
                  <c:v>2.79881537</c:v>
                </c:pt>
                <c:pt idx="93">
                  <c:v>2.90578234</c:v>
                </c:pt>
                <c:pt idx="94">
                  <c:v>2.81582337</c:v>
                </c:pt>
                <c:pt idx="95">
                  <c:v>2.29690651</c:v>
                </c:pt>
                <c:pt idx="96">
                  <c:v>2.52032823</c:v>
                </c:pt>
                <c:pt idx="97">
                  <c:v>2.42936803</c:v>
                </c:pt>
                <c:pt idx="98">
                  <c:v>3.11196213</c:v>
                </c:pt>
                <c:pt idx="99">
                  <c:v>2.94355865</c:v>
                </c:pt>
                <c:pt idx="100">
                  <c:v>2.73102346</c:v>
                </c:pt>
                <c:pt idx="101">
                  <c:v>2.3484632</c:v>
                </c:pt>
                <c:pt idx="102">
                  <c:v>2.18753979</c:v>
                </c:pt>
                <c:pt idx="103">
                  <c:v>2.02172472</c:v>
                </c:pt>
                <c:pt idx="104">
                  <c:v>1.96868264</c:v>
                </c:pt>
                <c:pt idx="105">
                  <c:v>1.96756149</c:v>
                </c:pt>
                <c:pt idx="106">
                  <c:v>1.94862026</c:v>
                </c:pt>
                <c:pt idx="107">
                  <c:v>1.8826364</c:v>
                </c:pt>
                <c:pt idx="108">
                  <c:v>1.87859563</c:v>
                </c:pt>
                <c:pt idx="109">
                  <c:v>1.88557082</c:v>
                </c:pt>
                <c:pt idx="110">
                  <c:v>1.79591917</c:v>
                </c:pt>
                <c:pt idx="111">
                  <c:v>1.72748291</c:v>
                </c:pt>
                <c:pt idx="112">
                  <c:v>1.66634497</c:v>
                </c:pt>
                <c:pt idx="113">
                  <c:v>1.61797951</c:v>
                </c:pt>
                <c:pt idx="114">
                  <c:v>1.67434069</c:v>
                </c:pt>
                <c:pt idx="115">
                  <c:v>1.60424494</c:v>
                </c:pt>
                <c:pt idx="116">
                  <c:v>1.54237126</c:v>
                </c:pt>
                <c:pt idx="117">
                  <c:v>1.55487988</c:v>
                </c:pt>
                <c:pt idx="118">
                  <c:v>1.54650066</c:v>
                </c:pt>
                <c:pt idx="119">
                  <c:v>1.76363516</c:v>
                </c:pt>
                <c:pt idx="120">
                  <c:v>1.75833207</c:v>
                </c:pt>
                <c:pt idx="121">
                  <c:v>1.74898656</c:v>
                </c:pt>
                <c:pt idx="122">
                  <c:v>1.69322104</c:v>
                </c:pt>
                <c:pt idx="123">
                  <c:v>1.64170761</c:v>
                </c:pt>
                <c:pt idx="124">
                  <c:v>1.47013764</c:v>
                </c:pt>
                <c:pt idx="125">
                  <c:v>1.4391042</c:v>
                </c:pt>
                <c:pt idx="126">
                  <c:v>1.3820806</c:v>
                </c:pt>
                <c:pt idx="127">
                  <c:v>1.17596048</c:v>
                </c:pt>
                <c:pt idx="128">
                  <c:v>1.12739318</c:v>
                </c:pt>
                <c:pt idx="129">
                  <c:v>1.0047989</c:v>
                </c:pt>
                <c:pt idx="130">
                  <c:v>1.00678067</c:v>
                </c:pt>
                <c:pt idx="131">
                  <c:v>1.47599821</c:v>
                </c:pt>
                <c:pt idx="132">
                  <c:v>1.41424931</c:v>
                </c:pt>
                <c:pt idx="133">
                  <c:v>1.44982354</c:v>
                </c:pt>
                <c:pt idx="134">
                  <c:v>1.54796855</c:v>
                </c:pt>
                <c:pt idx="135">
                  <c:v>1.59537218</c:v>
                </c:pt>
                <c:pt idx="136">
                  <c:v>1.84257811</c:v>
                </c:pt>
                <c:pt idx="137">
                  <c:v>3.03309187</c:v>
                </c:pt>
                <c:pt idx="138">
                  <c:v>3.21172203</c:v>
                </c:pt>
                <c:pt idx="139">
                  <c:v>3.63759713</c:v>
                </c:pt>
                <c:pt idx="140">
                  <c:v>3.68088627</c:v>
                </c:pt>
                <c:pt idx="141">
                  <c:v>3.65512312</c:v>
                </c:pt>
                <c:pt idx="142">
                  <c:v>3.66638214</c:v>
                </c:pt>
                <c:pt idx="143">
                  <c:v>3.50229378</c:v>
                </c:pt>
                <c:pt idx="144">
                  <c:v>3.53874226</c:v>
                </c:pt>
                <c:pt idx="145">
                  <c:v>3.36460666</c:v>
                </c:pt>
                <c:pt idx="146">
                  <c:v>3.30179906</c:v>
                </c:pt>
                <c:pt idx="147">
                  <c:v>3.40496586</c:v>
                </c:pt>
                <c:pt idx="148">
                  <c:v>3.47906408</c:v>
                </c:pt>
                <c:pt idx="149">
                  <c:v>3.40730425</c:v>
                </c:pt>
                <c:pt idx="150">
                  <c:v>3.2746444</c:v>
                </c:pt>
                <c:pt idx="151">
                  <c:v>2.93379305</c:v>
                </c:pt>
                <c:pt idx="152">
                  <c:v>2.92430628</c:v>
                </c:pt>
                <c:pt idx="153">
                  <c:v>2.88760891</c:v>
                </c:pt>
                <c:pt idx="154">
                  <c:v>2.90991585</c:v>
                </c:pt>
                <c:pt idx="155">
                  <c:v>2.56736296</c:v>
                </c:pt>
                <c:pt idx="156">
                  <c:v>2.68225853</c:v>
                </c:pt>
                <c:pt idx="157">
                  <c:v>2.77968192</c:v>
                </c:pt>
                <c:pt idx="158">
                  <c:v>2.60471756</c:v>
                </c:pt>
                <c:pt idx="159">
                  <c:v>2.66536305</c:v>
                </c:pt>
                <c:pt idx="160">
                  <c:v>2.98337943</c:v>
                </c:pt>
                <c:pt idx="161">
                  <c:v>2.86228806</c:v>
                </c:pt>
                <c:pt idx="162">
                  <c:v>2.43976122</c:v>
                </c:pt>
                <c:pt idx="163">
                  <c:v>2.73988383</c:v>
                </c:pt>
                <c:pt idx="164">
                  <c:v>2.62751433</c:v>
                </c:pt>
                <c:pt idx="165">
                  <c:v>2.72202915</c:v>
                </c:pt>
                <c:pt idx="166">
                  <c:v>2.55892164</c:v>
                </c:pt>
                <c:pt idx="167">
                  <c:v>2.65278481</c:v>
                </c:pt>
                <c:pt idx="168">
                  <c:v>2.6772221</c:v>
                </c:pt>
                <c:pt idx="169">
                  <c:v>2.63989644</c:v>
                </c:pt>
                <c:pt idx="170">
                  <c:v>2.56640479</c:v>
                </c:pt>
                <c:pt idx="171">
                  <c:v>2.57082835</c:v>
                </c:pt>
                <c:pt idx="172">
                  <c:v>1.25150391</c:v>
                </c:pt>
                <c:pt idx="173">
                  <c:v>1.238854</c:v>
                </c:pt>
                <c:pt idx="174">
                  <c:v>1.29385039</c:v>
                </c:pt>
                <c:pt idx="175">
                  <c:v>1.1162997</c:v>
                </c:pt>
                <c:pt idx="176">
                  <c:v>0.9344654</c:v>
                </c:pt>
                <c:pt idx="177">
                  <c:v>0.88427729</c:v>
                </c:pt>
                <c:pt idx="178">
                  <c:v>0.86138662</c:v>
                </c:pt>
                <c:pt idx="179">
                  <c:v>0.88588608</c:v>
                </c:pt>
                <c:pt idx="180">
                  <c:v>0.88642807</c:v>
                </c:pt>
                <c:pt idx="181">
                  <c:v>0.87403178</c:v>
                </c:pt>
                <c:pt idx="182">
                  <c:v>0.92161691</c:v>
                </c:pt>
                <c:pt idx="183">
                  <c:v>0.86071721</c:v>
                </c:pt>
                <c:pt idx="184">
                  <c:v>0.79017538</c:v>
                </c:pt>
                <c:pt idx="185">
                  <c:v>0.7224114</c:v>
                </c:pt>
                <c:pt idx="186">
                  <c:v>0.70929304</c:v>
                </c:pt>
                <c:pt idx="187">
                  <c:v>0.85524555</c:v>
                </c:pt>
                <c:pt idx="188">
                  <c:v>0.84742401</c:v>
                </c:pt>
                <c:pt idx="189">
                  <c:v>0.88642041</c:v>
                </c:pt>
                <c:pt idx="190">
                  <c:v>0.91047898</c:v>
                </c:pt>
                <c:pt idx="191">
                  <c:v>0.97785695</c:v>
                </c:pt>
                <c:pt idx="192">
                  <c:v>0.90064686</c:v>
                </c:pt>
                <c:pt idx="193">
                  <c:v>0.8338624</c:v>
                </c:pt>
                <c:pt idx="194">
                  <c:v>0.65510216</c:v>
                </c:pt>
                <c:pt idx="195">
                  <c:v>0.66852777</c:v>
                </c:pt>
                <c:pt idx="196">
                  <c:v>0.63447253</c:v>
                </c:pt>
                <c:pt idx="197">
                  <c:v>0.65715805</c:v>
                </c:pt>
                <c:pt idx="198">
                  <c:v>0.72522597</c:v>
                </c:pt>
                <c:pt idx="199">
                  <c:v>0.57651961</c:v>
                </c:pt>
                <c:pt idx="200">
                  <c:v>0.57396245</c:v>
                </c:pt>
                <c:pt idx="201">
                  <c:v>0.53609865</c:v>
                </c:pt>
                <c:pt idx="202">
                  <c:v>0.64900883</c:v>
                </c:pt>
                <c:pt idx="203">
                  <c:v>0.6444029</c:v>
                </c:pt>
                <c:pt idx="204">
                  <c:v>0.54142991</c:v>
                </c:pt>
                <c:pt idx="205">
                  <c:v>0.5938229</c:v>
                </c:pt>
                <c:pt idx="206">
                  <c:v>0.60384765</c:v>
                </c:pt>
                <c:pt idx="207">
                  <c:v>0.63295923</c:v>
                </c:pt>
                <c:pt idx="208">
                  <c:v>1.20627925</c:v>
                </c:pt>
                <c:pt idx="209">
                  <c:v>1.19627078</c:v>
                </c:pt>
                <c:pt idx="210">
                  <c:v>1.19013751</c:v>
                </c:pt>
                <c:pt idx="211">
                  <c:v>1.38372134</c:v>
                </c:pt>
                <c:pt idx="212">
                  <c:v>1.5266737</c:v>
                </c:pt>
                <c:pt idx="213">
                  <c:v>1.54033031</c:v>
                </c:pt>
                <c:pt idx="214">
                  <c:v>1.60574058</c:v>
                </c:pt>
                <c:pt idx="215">
                  <c:v>1.64895392</c:v>
                </c:pt>
                <c:pt idx="216">
                  <c:v>1.54139624</c:v>
                </c:pt>
                <c:pt idx="217">
                  <c:v>1.57957104</c:v>
                </c:pt>
                <c:pt idx="218">
                  <c:v>1.56509235</c:v>
                </c:pt>
                <c:pt idx="219">
                  <c:v>1.58787028</c:v>
                </c:pt>
                <c:pt idx="220">
                  <c:v>1.66565689</c:v>
                </c:pt>
                <c:pt idx="221">
                  <c:v>1.68439652</c:v>
                </c:pt>
                <c:pt idx="222">
                  <c:v>1.70019576</c:v>
                </c:pt>
                <c:pt idx="223">
                  <c:v>1.57801342</c:v>
                </c:pt>
                <c:pt idx="224">
                  <c:v>1.5483743</c:v>
                </c:pt>
                <c:pt idx="225">
                  <c:v>1.51915484</c:v>
                </c:pt>
                <c:pt idx="226">
                  <c:v>1.56244333</c:v>
                </c:pt>
                <c:pt idx="227">
                  <c:v>1.60760942</c:v>
                </c:pt>
                <c:pt idx="228">
                  <c:v>1.65442919</c:v>
                </c:pt>
                <c:pt idx="229">
                  <c:v>1.63810117</c:v>
                </c:pt>
                <c:pt idx="230">
                  <c:v>1.69404202</c:v>
                </c:pt>
                <c:pt idx="231">
                  <c:v>1.64906119</c:v>
                </c:pt>
                <c:pt idx="232">
                  <c:v>1.49295562</c:v>
                </c:pt>
                <c:pt idx="233">
                  <c:v>1.48203811</c:v>
                </c:pt>
                <c:pt idx="234">
                  <c:v>1.49708393</c:v>
                </c:pt>
                <c:pt idx="235">
                  <c:v>1.57935068</c:v>
                </c:pt>
                <c:pt idx="236">
                  <c:v>1.56673716</c:v>
                </c:pt>
                <c:pt idx="237">
                  <c:v>1.65496826</c:v>
                </c:pt>
                <c:pt idx="238">
                  <c:v>2.60183969</c:v>
                </c:pt>
                <c:pt idx="239">
                  <c:v>2.46866114</c:v>
                </c:pt>
                <c:pt idx="240">
                  <c:v>2.00142031</c:v>
                </c:pt>
                <c:pt idx="241">
                  <c:v>2.00102817</c:v>
                </c:pt>
                <c:pt idx="242">
                  <c:v>2.06876414</c:v>
                </c:pt>
                <c:pt idx="243">
                  <c:v>2.07844176</c:v>
                </c:pt>
                <c:pt idx="244">
                  <c:v>1.84434056</c:v>
                </c:pt>
                <c:pt idx="245">
                  <c:v>1.98264214</c:v>
                </c:pt>
                <c:pt idx="246">
                  <c:v>1.9043956</c:v>
                </c:pt>
                <c:pt idx="247">
                  <c:v>1.88835198</c:v>
                </c:pt>
                <c:pt idx="248">
                  <c:v>1.9929159</c:v>
                </c:pt>
                <c:pt idx="249">
                  <c:v>2.12853634</c:v>
                </c:pt>
                <c:pt idx="250">
                  <c:v>2.13787743</c:v>
                </c:pt>
                <c:pt idx="251">
                  <c:v>2.15470311</c:v>
                </c:pt>
                <c:pt idx="252">
                  <c:v>2.33389328</c:v>
                </c:pt>
                <c:pt idx="253">
                  <c:v>2.36931268</c:v>
                </c:pt>
                <c:pt idx="254">
                  <c:v>2.25332143</c:v>
                </c:pt>
                <c:pt idx="255">
                  <c:v>2.29065979</c:v>
                </c:pt>
                <c:pt idx="256">
                  <c:v>1.40343814</c:v>
                </c:pt>
                <c:pt idx="257">
                  <c:v>1.6122127</c:v>
                </c:pt>
                <c:pt idx="258">
                  <c:v>1.64836664</c:v>
                </c:pt>
                <c:pt idx="259">
                  <c:v>1.64804359</c:v>
                </c:pt>
                <c:pt idx="260">
                  <c:v>1.61261466</c:v>
                </c:pt>
                <c:pt idx="261">
                  <c:v>1.54408675</c:v>
                </c:pt>
                <c:pt idx="262">
                  <c:v>1.54076814</c:v>
                </c:pt>
                <c:pt idx="263">
                  <c:v>1.50170446</c:v>
                </c:pt>
                <c:pt idx="264">
                  <c:v>1.49852285</c:v>
                </c:pt>
              </c:numCache>
            </c:numRef>
          </c:yVal>
        </c:ser>
        <c:ser>
          <c:idx val="2"/>
          <c:order val="2"/>
          <c:tx>
            <c:v>New LSTM</c:v>
          </c:tx>
          <c:spPr>
            <a:solidFill xmlns:a="http://schemas.openxmlformats.org/drawingml/2006/main">
              <a:srgbClr val="2563EB"/>
            </a:solidFill>
            <a:ln xmlns:a="http://schemas.openxmlformats.org/drawingml/2006/main" w="20003">
              <a:solidFill>
                <a:srgbClr val="2563EB"/>
              </a:solidFill>
            </a:ln>
          </c:spPr>
          <c:marker>
            <c:symbol val="none"/>
          </c:marker>
          <c:xVal>
            <c:numRef>
              <c:f>'Chart Data'!$E$2:$E$266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Data'!$F$2:$F$266</c:f>
              <c:numCache>
                <c:formatCode>0.000</c:formatCode>
                <c:ptCount val="265"/>
                <c:pt idx="0">
                  <c:v>3.57005753</c:v>
                </c:pt>
                <c:pt idx="1">
                  <c:v>3.56325638</c:v>
                </c:pt>
                <c:pt idx="2">
                  <c:v>4.00284057</c:v>
                </c:pt>
                <c:pt idx="3">
                  <c:v>3.94281431</c:v>
                </c:pt>
                <c:pt idx="4">
                  <c:v>3.94063262</c:v>
                </c:pt>
                <c:pt idx="5">
                  <c:v>3.79557105</c:v>
                </c:pt>
                <c:pt idx="6">
                  <c:v>3.43992865</c:v>
                </c:pt>
                <c:pt idx="7">
                  <c:v>3.37854014</c:v>
                </c:pt>
                <c:pt idx="8">
                  <c:v>3.24872415</c:v>
                </c:pt>
                <c:pt idx="9">
                  <c:v>3.17685283</c:v>
                </c:pt>
                <c:pt idx="10">
                  <c:v>3.30152104</c:v>
                </c:pt>
                <c:pt idx="11">
                  <c:v>3.2913142</c:v>
                </c:pt>
                <c:pt idx="12">
                  <c:v>3.27393206</c:v>
                </c:pt>
                <c:pt idx="13">
                  <c:v>3.27664982</c:v>
                </c:pt>
                <c:pt idx="14">
                  <c:v>3.25182899</c:v>
                </c:pt>
                <c:pt idx="15">
                  <c:v>3.12043734</c:v>
                </c:pt>
                <c:pt idx="16">
                  <c:v>2.97418527</c:v>
                </c:pt>
                <c:pt idx="17">
                  <c:v>3.03997401</c:v>
                </c:pt>
                <c:pt idx="18">
                  <c:v>3.24272106</c:v>
                </c:pt>
                <c:pt idx="19">
                  <c:v>3.24165658</c:v>
                </c:pt>
                <c:pt idx="20">
                  <c:v>3.34759598</c:v>
                </c:pt>
                <c:pt idx="21">
                  <c:v>3.29142857</c:v>
                </c:pt>
                <c:pt idx="22">
                  <c:v>3.57004112</c:v>
                </c:pt>
                <c:pt idx="23">
                  <c:v>3.85067996</c:v>
                </c:pt>
                <c:pt idx="24">
                  <c:v>3.78134366</c:v>
                </c:pt>
                <c:pt idx="25">
                  <c:v>3.79263366</c:v>
                </c:pt>
                <c:pt idx="26">
                  <c:v>3.86283096</c:v>
                </c:pt>
                <c:pt idx="27">
                  <c:v>3.8882576</c:v>
                </c:pt>
                <c:pt idx="28">
                  <c:v>3.83476454</c:v>
                </c:pt>
                <c:pt idx="29">
                  <c:v>4.03622021</c:v>
                </c:pt>
                <c:pt idx="30">
                  <c:v>4.1371851</c:v>
                </c:pt>
                <c:pt idx="31">
                  <c:v>4.01414389</c:v>
                </c:pt>
                <c:pt idx="32">
                  <c:v>3.80964153</c:v>
                </c:pt>
                <c:pt idx="33">
                  <c:v>3.85683586</c:v>
                </c:pt>
                <c:pt idx="34">
                  <c:v>3.85771423</c:v>
                </c:pt>
                <c:pt idx="35">
                  <c:v>3.8689801</c:v>
                </c:pt>
                <c:pt idx="36">
                  <c:v>3.63272208</c:v>
                </c:pt>
                <c:pt idx="37">
                  <c:v>3.64172551</c:v>
                </c:pt>
                <c:pt idx="38">
                  <c:v>3.62596522</c:v>
                </c:pt>
                <c:pt idx="39">
                  <c:v>3.68152449</c:v>
                </c:pt>
                <c:pt idx="40">
                  <c:v>3.58497768</c:v>
                </c:pt>
                <c:pt idx="41">
                  <c:v>3.73545869</c:v>
                </c:pt>
                <c:pt idx="42">
                  <c:v>3.95157995</c:v>
                </c:pt>
                <c:pt idx="43">
                  <c:v>3.9457339</c:v>
                </c:pt>
                <c:pt idx="44">
                  <c:v>4.01884856</c:v>
                </c:pt>
                <c:pt idx="45">
                  <c:v>4.17498731</c:v>
                </c:pt>
                <c:pt idx="46">
                  <c:v>4.18224198</c:v>
                </c:pt>
                <c:pt idx="47">
                  <c:v>4.24467382</c:v>
                </c:pt>
                <c:pt idx="48">
                  <c:v>4.16737514</c:v>
                </c:pt>
                <c:pt idx="49">
                  <c:v>3.97348293</c:v>
                </c:pt>
                <c:pt idx="50">
                  <c:v>3.77533385</c:v>
                </c:pt>
                <c:pt idx="51">
                  <c:v>3.8286306</c:v>
                </c:pt>
                <c:pt idx="52">
                  <c:v>4.05543046</c:v>
                </c:pt>
                <c:pt idx="53">
                  <c:v>4.1144247</c:v>
                </c:pt>
                <c:pt idx="54">
                  <c:v>4.08772989</c:v>
                </c:pt>
                <c:pt idx="55">
                  <c:v>4.0929857</c:v>
                </c:pt>
                <c:pt idx="56">
                  <c:v>3.88671299</c:v>
                </c:pt>
                <c:pt idx="57">
                  <c:v>3.70863643</c:v>
                </c:pt>
                <c:pt idx="58">
                  <c:v>3.61713208</c:v>
                </c:pt>
                <c:pt idx="59">
                  <c:v>3.20259854</c:v>
                </c:pt>
                <c:pt idx="60">
                  <c:v>2.27163063</c:v>
                </c:pt>
                <c:pt idx="61">
                  <c:v>2.21426654</c:v>
                </c:pt>
                <c:pt idx="62">
                  <c:v>0.7296847</c:v>
                </c:pt>
                <c:pt idx="63">
                  <c:v>0.82458568</c:v>
                </c:pt>
                <c:pt idx="64">
                  <c:v>0.9384165</c:v>
                </c:pt>
                <c:pt idx="65">
                  <c:v>0.86581492</c:v>
                </c:pt>
                <c:pt idx="66">
                  <c:v>0.83192814</c:v>
                </c:pt>
                <c:pt idx="67">
                  <c:v>0.96928462</c:v>
                </c:pt>
                <c:pt idx="68">
                  <c:v>0.88167408</c:v>
                </c:pt>
                <c:pt idx="69">
                  <c:v>0.91249435</c:v>
                </c:pt>
                <c:pt idx="70">
                  <c:v>0.99027427</c:v>
                </c:pt>
                <c:pt idx="71">
                  <c:v>1.10618977</c:v>
                </c:pt>
                <c:pt idx="72">
                  <c:v>1.19650037</c:v>
                </c:pt>
                <c:pt idx="73">
                  <c:v>1.21977605</c:v>
                </c:pt>
                <c:pt idx="74">
                  <c:v>1.3049818</c:v>
                </c:pt>
                <c:pt idx="75">
                  <c:v>1.34198319</c:v>
                </c:pt>
                <c:pt idx="76">
                  <c:v>1.38266294</c:v>
                </c:pt>
                <c:pt idx="77">
                  <c:v>1.39913709</c:v>
                </c:pt>
                <c:pt idx="78">
                  <c:v>1.40206276</c:v>
                </c:pt>
                <c:pt idx="79">
                  <c:v>1.42291695</c:v>
                </c:pt>
                <c:pt idx="80">
                  <c:v>1.31437007</c:v>
                </c:pt>
                <c:pt idx="81">
                  <c:v>1.18708282</c:v>
                </c:pt>
                <c:pt idx="82">
                  <c:v>1.19627953</c:v>
                </c:pt>
                <c:pt idx="83">
                  <c:v>1.22762584</c:v>
                </c:pt>
                <c:pt idx="84">
                  <c:v>1.23383536</c:v>
                </c:pt>
                <c:pt idx="85">
                  <c:v>1.32140658</c:v>
                </c:pt>
                <c:pt idx="86">
                  <c:v>1.36427012</c:v>
                </c:pt>
                <c:pt idx="87">
                  <c:v>1.40364344</c:v>
                </c:pt>
                <c:pt idx="88">
                  <c:v>1.37579825</c:v>
                </c:pt>
                <c:pt idx="89">
                  <c:v>1.36350927</c:v>
                </c:pt>
                <c:pt idx="90">
                  <c:v>1.26434106</c:v>
                </c:pt>
                <c:pt idx="91">
                  <c:v>1.09024637</c:v>
                </c:pt>
                <c:pt idx="92">
                  <c:v>1.12295003</c:v>
                </c:pt>
                <c:pt idx="93">
                  <c:v>1.09511333</c:v>
                </c:pt>
                <c:pt idx="94">
                  <c:v>1.11008654</c:v>
                </c:pt>
                <c:pt idx="95">
                  <c:v>1.1503935</c:v>
                </c:pt>
                <c:pt idx="96">
                  <c:v>1.46255119</c:v>
                </c:pt>
                <c:pt idx="97">
                  <c:v>1.45780571</c:v>
                </c:pt>
                <c:pt idx="98">
                  <c:v>2.50538134</c:v>
                </c:pt>
                <c:pt idx="99">
                  <c:v>2.26700091</c:v>
                </c:pt>
                <c:pt idx="100">
                  <c:v>2.22217991</c:v>
                </c:pt>
                <c:pt idx="101">
                  <c:v>2.37365763</c:v>
                </c:pt>
                <c:pt idx="102">
                  <c:v>2.46366013</c:v>
                </c:pt>
                <c:pt idx="103">
                  <c:v>2.43143693</c:v>
                </c:pt>
                <c:pt idx="104">
                  <c:v>2.7708803</c:v>
                </c:pt>
                <c:pt idx="105">
                  <c:v>2.66299455</c:v>
                </c:pt>
                <c:pt idx="106">
                  <c:v>2.55385745</c:v>
                </c:pt>
                <c:pt idx="107">
                  <c:v>2.36398686</c:v>
                </c:pt>
                <c:pt idx="108">
                  <c:v>2.34629674</c:v>
                </c:pt>
                <c:pt idx="109">
                  <c:v>2.32657649</c:v>
                </c:pt>
                <c:pt idx="110">
                  <c:v>2.46856147</c:v>
                </c:pt>
                <c:pt idx="111">
                  <c:v>2.42703959</c:v>
                </c:pt>
                <c:pt idx="112">
                  <c:v>2.33834497</c:v>
                </c:pt>
                <c:pt idx="113">
                  <c:v>2.24991614</c:v>
                </c:pt>
                <c:pt idx="114">
                  <c:v>2.34041553</c:v>
                </c:pt>
                <c:pt idx="115">
                  <c:v>2.39341474</c:v>
                </c:pt>
                <c:pt idx="116">
                  <c:v>2.52038576</c:v>
                </c:pt>
                <c:pt idx="117">
                  <c:v>2.7702092</c:v>
                </c:pt>
                <c:pt idx="118">
                  <c:v>2.653174</c:v>
                </c:pt>
                <c:pt idx="119">
                  <c:v>2.643962</c:v>
                </c:pt>
                <c:pt idx="120">
                  <c:v>2.39454158</c:v>
                </c:pt>
                <c:pt idx="121">
                  <c:v>2.35629853</c:v>
                </c:pt>
                <c:pt idx="122">
                  <c:v>2.34973692</c:v>
                </c:pt>
                <c:pt idx="123">
                  <c:v>2.28110426</c:v>
                </c:pt>
                <c:pt idx="124">
                  <c:v>2.3419777</c:v>
                </c:pt>
                <c:pt idx="125">
                  <c:v>2.19282863</c:v>
                </c:pt>
                <c:pt idx="126">
                  <c:v>2.33136319</c:v>
                </c:pt>
                <c:pt idx="127">
                  <c:v>2.67072231</c:v>
                </c:pt>
                <c:pt idx="128">
                  <c:v>2.70321023</c:v>
                </c:pt>
                <c:pt idx="129">
                  <c:v>2.95922954</c:v>
                </c:pt>
                <c:pt idx="130">
                  <c:v>2.88257783</c:v>
                </c:pt>
                <c:pt idx="131">
                  <c:v>2.91726913</c:v>
                </c:pt>
                <c:pt idx="132">
                  <c:v>2.84521084</c:v>
                </c:pt>
                <c:pt idx="133">
                  <c:v>2.81872861</c:v>
                </c:pt>
                <c:pt idx="134">
                  <c:v>3.06396266</c:v>
                </c:pt>
                <c:pt idx="135">
                  <c:v>3.34879314</c:v>
                </c:pt>
                <c:pt idx="136">
                  <c:v>3.30198137</c:v>
                </c:pt>
                <c:pt idx="137">
                  <c:v>3.47410325</c:v>
                </c:pt>
                <c:pt idx="138">
                  <c:v>3.35559353</c:v>
                </c:pt>
                <c:pt idx="139">
                  <c:v>3.34412355</c:v>
                </c:pt>
                <c:pt idx="140">
                  <c:v>3.26519986</c:v>
                </c:pt>
                <c:pt idx="141">
                  <c:v>3.01852884</c:v>
                </c:pt>
                <c:pt idx="142">
                  <c:v>2.96307323</c:v>
                </c:pt>
                <c:pt idx="143">
                  <c:v>3.14328439</c:v>
                </c:pt>
                <c:pt idx="144">
                  <c:v>3.10348485</c:v>
                </c:pt>
                <c:pt idx="145">
                  <c:v>2.77823195</c:v>
                </c:pt>
                <c:pt idx="146">
                  <c:v>2.75654607</c:v>
                </c:pt>
                <c:pt idx="147">
                  <c:v>2.61032688</c:v>
                </c:pt>
                <c:pt idx="148">
                  <c:v>2.59292486</c:v>
                </c:pt>
                <c:pt idx="149">
                  <c:v>2.38366008</c:v>
                </c:pt>
                <c:pt idx="150">
                  <c:v>2.32377738</c:v>
                </c:pt>
                <c:pt idx="151">
                  <c:v>2.31529783</c:v>
                </c:pt>
                <c:pt idx="152">
                  <c:v>2.09204455</c:v>
                </c:pt>
                <c:pt idx="153">
                  <c:v>1.97461306</c:v>
                </c:pt>
                <c:pt idx="154">
                  <c:v>1.98126964</c:v>
                </c:pt>
                <c:pt idx="155">
                  <c:v>1.95648186</c:v>
                </c:pt>
                <c:pt idx="156">
                  <c:v>2.42656736</c:v>
                </c:pt>
                <c:pt idx="157">
                  <c:v>2.36215772</c:v>
                </c:pt>
                <c:pt idx="158">
                  <c:v>2.37845244</c:v>
                </c:pt>
                <c:pt idx="159">
                  <c:v>2.31377931</c:v>
                </c:pt>
                <c:pt idx="160">
                  <c:v>2.39036558</c:v>
                </c:pt>
                <c:pt idx="161">
                  <c:v>2.57373355</c:v>
                </c:pt>
                <c:pt idx="162">
                  <c:v>1.45611674</c:v>
                </c:pt>
                <c:pt idx="163">
                  <c:v>1.53115043</c:v>
                </c:pt>
                <c:pt idx="164">
                  <c:v>1.15652209</c:v>
                </c:pt>
                <c:pt idx="165">
                  <c:v>0.74118043</c:v>
                </c:pt>
                <c:pt idx="166">
                  <c:v>0.82173416</c:v>
                </c:pt>
                <c:pt idx="167">
                  <c:v>1.02960485</c:v>
                </c:pt>
                <c:pt idx="168">
                  <c:v>1.15470237</c:v>
                </c:pt>
                <c:pt idx="169">
                  <c:v>1.26380155</c:v>
                </c:pt>
                <c:pt idx="170">
                  <c:v>1.1513543</c:v>
                </c:pt>
                <c:pt idx="171">
                  <c:v>1.10752433</c:v>
                </c:pt>
                <c:pt idx="172">
                  <c:v>0.64557452</c:v>
                </c:pt>
                <c:pt idx="173">
                  <c:v>0.64183598</c:v>
                </c:pt>
                <c:pt idx="174">
                  <c:v>0.69447395</c:v>
                </c:pt>
                <c:pt idx="175">
                  <c:v>0.77842632</c:v>
                </c:pt>
                <c:pt idx="176">
                  <c:v>0.63296349</c:v>
                </c:pt>
                <c:pt idx="177">
                  <c:v>0.7701059</c:v>
                </c:pt>
                <c:pt idx="178">
                  <c:v>0.76807806</c:v>
                </c:pt>
                <c:pt idx="179">
                  <c:v>0.72768282</c:v>
                </c:pt>
                <c:pt idx="180">
                  <c:v>0.65641608</c:v>
                </c:pt>
                <c:pt idx="181">
                  <c:v>0.76064291</c:v>
                </c:pt>
                <c:pt idx="182">
                  <c:v>0.73421899</c:v>
                </c:pt>
                <c:pt idx="183">
                  <c:v>0.79529135</c:v>
                </c:pt>
                <c:pt idx="184">
                  <c:v>0.73412778</c:v>
                </c:pt>
                <c:pt idx="185">
                  <c:v>0.80190126</c:v>
                </c:pt>
                <c:pt idx="186">
                  <c:v>0.73546984</c:v>
                </c:pt>
                <c:pt idx="187">
                  <c:v>0.67081394</c:v>
                </c:pt>
                <c:pt idx="188">
                  <c:v>0.77660012</c:v>
                </c:pt>
                <c:pt idx="189">
                  <c:v>0.74098413</c:v>
                </c:pt>
                <c:pt idx="190">
                  <c:v>0.71220037</c:v>
                </c:pt>
                <c:pt idx="191">
                  <c:v>0.63581966</c:v>
                </c:pt>
                <c:pt idx="192">
                  <c:v>0.48940021</c:v>
                </c:pt>
                <c:pt idx="193">
                  <c:v>0.48682302</c:v>
                </c:pt>
                <c:pt idx="194">
                  <c:v>0.3387549</c:v>
                </c:pt>
                <c:pt idx="195">
                  <c:v>0.35355752</c:v>
                </c:pt>
                <c:pt idx="196">
                  <c:v>0.24925989</c:v>
                </c:pt>
                <c:pt idx="197">
                  <c:v>0.22198346</c:v>
                </c:pt>
                <c:pt idx="198">
                  <c:v>0.44127689</c:v>
                </c:pt>
                <c:pt idx="199">
                  <c:v>0.45107834</c:v>
                </c:pt>
                <c:pt idx="200">
                  <c:v>0.71827051</c:v>
                </c:pt>
                <c:pt idx="201">
                  <c:v>1.03982042</c:v>
                </c:pt>
                <c:pt idx="202">
                  <c:v>1.11779173</c:v>
                </c:pt>
                <c:pt idx="203">
                  <c:v>1.00490623</c:v>
                </c:pt>
                <c:pt idx="204">
                  <c:v>0.85019782</c:v>
                </c:pt>
                <c:pt idx="205">
                  <c:v>0.73321337</c:v>
                </c:pt>
                <c:pt idx="206">
                  <c:v>0.77139183</c:v>
                </c:pt>
                <c:pt idx="207">
                  <c:v>0.75384315</c:v>
                </c:pt>
                <c:pt idx="208">
                  <c:v>1.27343172</c:v>
                </c:pt>
                <c:pt idx="209">
                  <c:v>1.2450667</c:v>
                </c:pt>
                <c:pt idx="210">
                  <c:v>1.04953946</c:v>
                </c:pt>
                <c:pt idx="211">
                  <c:v>0.95634289</c:v>
                </c:pt>
                <c:pt idx="212">
                  <c:v>1.22570237</c:v>
                </c:pt>
                <c:pt idx="213">
                  <c:v>1.08274629</c:v>
                </c:pt>
                <c:pt idx="214">
                  <c:v>1.2283189</c:v>
                </c:pt>
                <c:pt idx="215">
                  <c:v>1.28957956</c:v>
                </c:pt>
                <c:pt idx="216">
                  <c:v>1.25449527</c:v>
                </c:pt>
                <c:pt idx="217">
                  <c:v>1.28938154</c:v>
                </c:pt>
                <c:pt idx="218">
                  <c:v>1.3390064</c:v>
                </c:pt>
                <c:pt idx="219">
                  <c:v>1.16633723</c:v>
                </c:pt>
                <c:pt idx="220">
                  <c:v>1.19169619</c:v>
                </c:pt>
                <c:pt idx="221">
                  <c:v>1.13523021</c:v>
                </c:pt>
                <c:pt idx="222">
                  <c:v>1.17689642</c:v>
                </c:pt>
                <c:pt idx="223">
                  <c:v>1.2111293</c:v>
                </c:pt>
                <c:pt idx="224">
                  <c:v>1.10697572</c:v>
                </c:pt>
                <c:pt idx="225">
                  <c:v>1.07926942</c:v>
                </c:pt>
                <c:pt idx="226">
                  <c:v>1.23784835</c:v>
                </c:pt>
                <c:pt idx="227">
                  <c:v>1.1479908</c:v>
                </c:pt>
                <c:pt idx="228">
                  <c:v>1.24228814</c:v>
                </c:pt>
                <c:pt idx="229">
                  <c:v>1.22795496</c:v>
                </c:pt>
                <c:pt idx="230">
                  <c:v>1.29019319</c:v>
                </c:pt>
                <c:pt idx="231">
                  <c:v>1.3040283</c:v>
                </c:pt>
                <c:pt idx="232">
                  <c:v>1.38016549</c:v>
                </c:pt>
                <c:pt idx="233">
                  <c:v>1.4107804</c:v>
                </c:pt>
                <c:pt idx="234">
                  <c:v>1.33973542</c:v>
                </c:pt>
                <c:pt idx="235">
                  <c:v>1.40565775</c:v>
                </c:pt>
                <c:pt idx="236">
                  <c:v>1.15470056</c:v>
                </c:pt>
                <c:pt idx="237">
                  <c:v>1.13315642</c:v>
                </c:pt>
                <c:pt idx="238">
                  <c:v>0.83477618</c:v>
                </c:pt>
                <c:pt idx="239">
                  <c:v>0.72790108</c:v>
                </c:pt>
                <c:pt idx="240">
                  <c:v>0.58531735</c:v>
                </c:pt>
                <c:pt idx="241">
                  <c:v>0.66999669</c:v>
                </c:pt>
                <c:pt idx="242">
                  <c:v>0.83262337</c:v>
                </c:pt>
                <c:pt idx="243">
                  <c:v>0.92480189</c:v>
                </c:pt>
                <c:pt idx="244">
                  <c:v>0.82988285</c:v>
                </c:pt>
                <c:pt idx="245">
                  <c:v>0.8608495</c:v>
                </c:pt>
                <c:pt idx="246">
                  <c:v>0.96318998</c:v>
                </c:pt>
                <c:pt idx="247">
                  <c:v>0.73266286</c:v>
                </c:pt>
                <c:pt idx="248">
                  <c:v>0.85170899</c:v>
                </c:pt>
                <c:pt idx="249">
                  <c:v>0.96197971</c:v>
                </c:pt>
                <c:pt idx="250">
                  <c:v>0.66484987</c:v>
                </c:pt>
                <c:pt idx="251">
                  <c:v>0.58844286</c:v>
                </c:pt>
                <c:pt idx="252">
                  <c:v>0.86653201</c:v>
                </c:pt>
                <c:pt idx="253">
                  <c:v>0.8477876</c:v>
                </c:pt>
                <c:pt idx="254">
                  <c:v>0.83868549</c:v>
                </c:pt>
                <c:pt idx="255">
                  <c:v>0.97779513</c:v>
                </c:pt>
                <c:pt idx="256">
                  <c:v>0.4785447</c:v>
                </c:pt>
                <c:pt idx="257">
                  <c:v>0.66510423</c:v>
                </c:pt>
                <c:pt idx="258">
                  <c:v>0.80536385</c:v>
                </c:pt>
                <c:pt idx="259">
                  <c:v>0.68702778</c:v>
                </c:pt>
                <c:pt idx="260">
                  <c:v>0.69534266</c:v>
                </c:pt>
                <c:pt idx="261">
                  <c:v>0.68273595</c:v>
                </c:pt>
                <c:pt idx="262">
                  <c:v>0.7261901</c:v>
                </c:pt>
                <c:pt idx="263">
                  <c:v>0.74456139</c:v>
                </c:pt>
                <c:pt idx="264">
                  <c:v>0.82025394</c:v>
                </c:pt>
              </c:numCache>
            </c:numRef>
          </c:yVal>
        </c:ser>
        <c:ser>
          <c:idx val="3"/>
          <c:order val="3"/>
          <c:tx>
            <c:v>Transformer</c:v>
          </c:tx>
          <c:spPr>
            <a:solidFill xmlns:a="http://schemas.openxmlformats.org/drawingml/2006/main">
              <a:srgbClr val="B7790B"/>
            </a:solidFill>
            <a:ln xmlns:a="http://schemas.openxmlformats.org/drawingml/2006/main" w="20003">
              <a:solidFill>
                <a:srgbClr val="B7790B"/>
              </a:solidFill>
            </a:ln>
          </c:spPr>
          <c:marker>
            <c:symbol val="none"/>
          </c:marker>
          <c:xVal>
            <c:numRef>
              <c:f>'Chart Data'!$G$2:$G$266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Data'!$H$2:$H$266</c:f>
              <c:numCache>
                <c:formatCode>0.000</c:formatCode>
                <c:ptCount val="265"/>
                <c:pt idx="0">
                  <c:v>1.36684231</c:v>
                </c:pt>
                <c:pt idx="1">
                  <c:v>1.27596507</c:v>
                </c:pt>
                <c:pt idx="2">
                  <c:v>1.6666648</c:v>
                </c:pt>
                <c:pt idx="3">
                  <c:v>1.74614131</c:v>
                </c:pt>
                <c:pt idx="4">
                  <c:v>1.74749784</c:v>
                </c:pt>
                <c:pt idx="5">
                  <c:v>1.75552827</c:v>
                </c:pt>
                <c:pt idx="6">
                  <c:v>1.81232416</c:v>
                </c:pt>
                <c:pt idx="7">
                  <c:v>1.86829283</c:v>
                </c:pt>
                <c:pt idx="8">
                  <c:v>1.95426198</c:v>
                </c:pt>
                <c:pt idx="9">
                  <c:v>1.81444463</c:v>
                </c:pt>
                <c:pt idx="10">
                  <c:v>2.00839776</c:v>
                </c:pt>
                <c:pt idx="11">
                  <c:v>2.1098099</c:v>
                </c:pt>
                <c:pt idx="12">
                  <c:v>2.1247695</c:v>
                </c:pt>
                <c:pt idx="13">
                  <c:v>2.04367197</c:v>
                </c:pt>
                <c:pt idx="14">
                  <c:v>2.08534879</c:v>
                </c:pt>
                <c:pt idx="15">
                  <c:v>1.91235083</c:v>
                </c:pt>
                <c:pt idx="16">
                  <c:v>1.64561436</c:v>
                </c:pt>
                <c:pt idx="17">
                  <c:v>1.54953345</c:v>
                </c:pt>
                <c:pt idx="18">
                  <c:v>1.71277011</c:v>
                </c:pt>
                <c:pt idx="19">
                  <c:v>1.86585646</c:v>
                </c:pt>
                <c:pt idx="20">
                  <c:v>1.81669066</c:v>
                </c:pt>
                <c:pt idx="21">
                  <c:v>1.82410825</c:v>
                </c:pt>
                <c:pt idx="22">
                  <c:v>2.04111283</c:v>
                </c:pt>
                <c:pt idx="23">
                  <c:v>2.27235047</c:v>
                </c:pt>
                <c:pt idx="24">
                  <c:v>2.26871535</c:v>
                </c:pt>
                <c:pt idx="25">
                  <c:v>2.02619885</c:v>
                </c:pt>
                <c:pt idx="26">
                  <c:v>2.3716007</c:v>
                </c:pt>
                <c:pt idx="27">
                  <c:v>2.63194839</c:v>
                </c:pt>
                <c:pt idx="28">
                  <c:v>2.60678034</c:v>
                </c:pt>
                <c:pt idx="29">
                  <c:v>2.76445319</c:v>
                </c:pt>
                <c:pt idx="30">
                  <c:v>2.78802559</c:v>
                </c:pt>
                <c:pt idx="31">
                  <c:v>2.62111334</c:v>
                </c:pt>
                <c:pt idx="32">
                  <c:v>2.2973943</c:v>
                </c:pt>
                <c:pt idx="33">
                  <c:v>2.33616484</c:v>
                </c:pt>
                <c:pt idx="34">
                  <c:v>2.15132868</c:v>
                </c:pt>
                <c:pt idx="35">
                  <c:v>2.15956268</c:v>
                </c:pt>
                <c:pt idx="36">
                  <c:v>2.2131038</c:v>
                </c:pt>
                <c:pt idx="37">
                  <c:v>1.99322866</c:v>
                </c:pt>
                <c:pt idx="38">
                  <c:v>1.98588432</c:v>
                </c:pt>
                <c:pt idx="39">
                  <c:v>1.97872142</c:v>
                </c:pt>
                <c:pt idx="40">
                  <c:v>1.79145168</c:v>
                </c:pt>
                <c:pt idx="41">
                  <c:v>1.85266666</c:v>
                </c:pt>
                <c:pt idx="42">
                  <c:v>1.73794383</c:v>
                </c:pt>
                <c:pt idx="43">
                  <c:v>1.68518162</c:v>
                </c:pt>
                <c:pt idx="44">
                  <c:v>1.56412533</c:v>
                </c:pt>
                <c:pt idx="45">
                  <c:v>1.59950764</c:v>
                </c:pt>
                <c:pt idx="46">
                  <c:v>1.45283107</c:v>
                </c:pt>
                <c:pt idx="47">
                  <c:v>1.47186549</c:v>
                </c:pt>
                <c:pt idx="48">
                  <c:v>1.37435082</c:v>
                </c:pt>
                <c:pt idx="49">
                  <c:v>1.25178716</c:v>
                </c:pt>
                <c:pt idx="50">
                  <c:v>1.25637533</c:v>
                </c:pt>
                <c:pt idx="51">
                  <c:v>1.11047583</c:v>
                </c:pt>
                <c:pt idx="52">
                  <c:v>1.34733646</c:v>
                </c:pt>
                <c:pt idx="53">
                  <c:v>1.49837002</c:v>
                </c:pt>
                <c:pt idx="54">
                  <c:v>1.57058097</c:v>
                </c:pt>
                <c:pt idx="55">
                  <c:v>1.49093475</c:v>
                </c:pt>
                <c:pt idx="56">
                  <c:v>1.42046046</c:v>
                </c:pt>
                <c:pt idx="57">
                  <c:v>1.3900461</c:v>
                </c:pt>
                <c:pt idx="58">
                  <c:v>1.22025703</c:v>
                </c:pt>
                <c:pt idx="59">
                  <c:v>1.14589176</c:v>
                </c:pt>
                <c:pt idx="60">
                  <c:v>0.94497434</c:v>
                </c:pt>
                <c:pt idx="61">
                  <c:v>1.14007573</c:v>
                </c:pt>
                <c:pt idx="62">
                  <c:v>0.67217805</c:v>
                </c:pt>
                <c:pt idx="63">
                  <c:v>0.79086655</c:v>
                </c:pt>
                <c:pt idx="64">
                  <c:v>0.78125351</c:v>
                </c:pt>
                <c:pt idx="65">
                  <c:v>0.77447063</c:v>
                </c:pt>
                <c:pt idx="66">
                  <c:v>0.70887926</c:v>
                </c:pt>
                <c:pt idx="67">
                  <c:v>0.88434315</c:v>
                </c:pt>
                <c:pt idx="68">
                  <c:v>1.12407615</c:v>
                </c:pt>
                <c:pt idx="69">
                  <c:v>1.30506041</c:v>
                </c:pt>
                <c:pt idx="70">
                  <c:v>1.4074864</c:v>
                </c:pt>
                <c:pt idx="71">
                  <c:v>1.47286852</c:v>
                </c:pt>
                <c:pt idx="72">
                  <c:v>1.47444285</c:v>
                </c:pt>
                <c:pt idx="73">
                  <c:v>0.61421246</c:v>
                </c:pt>
                <c:pt idx="74">
                  <c:v>0.77280209</c:v>
                </c:pt>
                <c:pt idx="75">
                  <c:v>0.80943237</c:v>
                </c:pt>
                <c:pt idx="76">
                  <c:v>0.84668952</c:v>
                </c:pt>
                <c:pt idx="77">
                  <c:v>0.89149321</c:v>
                </c:pt>
                <c:pt idx="78">
                  <c:v>0.9195997</c:v>
                </c:pt>
                <c:pt idx="79">
                  <c:v>1.03723149</c:v>
                </c:pt>
                <c:pt idx="80">
                  <c:v>1.1726142</c:v>
                </c:pt>
                <c:pt idx="81">
                  <c:v>1.27245964</c:v>
                </c:pt>
                <c:pt idx="82">
                  <c:v>1.10052829</c:v>
                </c:pt>
                <c:pt idx="83">
                  <c:v>0.87227021</c:v>
                </c:pt>
                <c:pt idx="84">
                  <c:v>0.88163859</c:v>
                </c:pt>
                <c:pt idx="85">
                  <c:v>1.0259192</c:v>
                </c:pt>
                <c:pt idx="86">
                  <c:v>1.14621693</c:v>
                </c:pt>
                <c:pt idx="87">
                  <c:v>1.23030153</c:v>
                </c:pt>
                <c:pt idx="88">
                  <c:v>1.33085812</c:v>
                </c:pt>
                <c:pt idx="89">
                  <c:v>1.38554905</c:v>
                </c:pt>
                <c:pt idx="90">
                  <c:v>1.44929027</c:v>
                </c:pt>
                <c:pt idx="91">
                  <c:v>1.51156845</c:v>
                </c:pt>
                <c:pt idx="92">
                  <c:v>1.50437671</c:v>
                </c:pt>
                <c:pt idx="93">
                  <c:v>1.53696842</c:v>
                </c:pt>
                <c:pt idx="94">
                  <c:v>1.42607387</c:v>
                </c:pt>
                <c:pt idx="95">
                  <c:v>1.15900363</c:v>
                </c:pt>
                <c:pt idx="96">
                  <c:v>1.27664099</c:v>
                </c:pt>
                <c:pt idx="97">
                  <c:v>1.22045373</c:v>
                </c:pt>
                <c:pt idx="98">
                  <c:v>1.32211158</c:v>
                </c:pt>
                <c:pt idx="99">
                  <c:v>1.25459</c:v>
                </c:pt>
                <c:pt idx="100">
                  <c:v>1.25596444</c:v>
                </c:pt>
                <c:pt idx="101">
                  <c:v>1.18342398</c:v>
                </c:pt>
                <c:pt idx="102">
                  <c:v>1.14607514</c:v>
                </c:pt>
                <c:pt idx="103">
                  <c:v>1.09609416</c:v>
                </c:pt>
                <c:pt idx="104">
                  <c:v>0.99470271</c:v>
                </c:pt>
                <c:pt idx="105">
                  <c:v>0.9455208</c:v>
                </c:pt>
                <c:pt idx="106">
                  <c:v>0.98052162</c:v>
                </c:pt>
                <c:pt idx="107">
                  <c:v>0.92765686</c:v>
                </c:pt>
                <c:pt idx="108">
                  <c:v>0.85156671</c:v>
                </c:pt>
                <c:pt idx="109">
                  <c:v>1.52543817</c:v>
                </c:pt>
                <c:pt idx="110">
                  <c:v>1.43923448</c:v>
                </c:pt>
                <c:pt idx="111">
                  <c:v>1.33280094</c:v>
                </c:pt>
                <c:pt idx="112">
                  <c:v>1.32675718</c:v>
                </c:pt>
                <c:pt idx="113">
                  <c:v>1.24061137</c:v>
                </c:pt>
                <c:pt idx="114">
                  <c:v>1.29278936</c:v>
                </c:pt>
                <c:pt idx="115">
                  <c:v>1.21940719</c:v>
                </c:pt>
                <c:pt idx="116">
                  <c:v>1.14185661</c:v>
                </c:pt>
                <c:pt idx="117">
                  <c:v>1.10594965</c:v>
                </c:pt>
                <c:pt idx="118">
                  <c:v>1.3876465</c:v>
                </c:pt>
                <c:pt idx="119">
                  <c:v>1.69755978</c:v>
                </c:pt>
                <c:pt idx="120">
                  <c:v>1.66568025</c:v>
                </c:pt>
                <c:pt idx="121">
                  <c:v>1.62307645</c:v>
                </c:pt>
                <c:pt idx="122">
                  <c:v>1.56219557</c:v>
                </c:pt>
                <c:pt idx="123">
                  <c:v>1.52747758</c:v>
                </c:pt>
                <c:pt idx="124">
                  <c:v>1.36494755</c:v>
                </c:pt>
                <c:pt idx="125">
                  <c:v>1.27640462</c:v>
                </c:pt>
                <c:pt idx="126">
                  <c:v>1.16696992</c:v>
                </c:pt>
                <c:pt idx="127">
                  <c:v>1.07189261</c:v>
                </c:pt>
                <c:pt idx="128">
                  <c:v>1.15196389</c:v>
                </c:pt>
                <c:pt idx="129">
                  <c:v>1.11888483</c:v>
                </c:pt>
                <c:pt idx="130">
                  <c:v>1.35751218</c:v>
                </c:pt>
                <c:pt idx="131">
                  <c:v>2.66706003</c:v>
                </c:pt>
                <c:pt idx="132">
                  <c:v>2.72076178</c:v>
                </c:pt>
                <c:pt idx="133">
                  <c:v>3.01596599</c:v>
                </c:pt>
                <c:pt idx="134">
                  <c:v>3.19229704</c:v>
                </c:pt>
                <c:pt idx="135">
                  <c:v>3.2311374</c:v>
                </c:pt>
                <c:pt idx="136">
                  <c:v>3.14926382</c:v>
                </c:pt>
                <c:pt idx="137">
                  <c:v>3.03976994</c:v>
                </c:pt>
                <c:pt idx="138">
                  <c:v>3.28959949</c:v>
                </c:pt>
                <c:pt idx="139">
                  <c:v>3.26017045</c:v>
                </c:pt>
                <c:pt idx="140">
                  <c:v>3.68380407</c:v>
                </c:pt>
                <c:pt idx="141">
                  <c:v>3.6258319</c:v>
                </c:pt>
                <c:pt idx="142">
                  <c:v>3.62603616</c:v>
                </c:pt>
                <c:pt idx="143">
                  <c:v>3.56038801</c:v>
                </c:pt>
                <c:pt idx="144">
                  <c:v>3.56650057</c:v>
                </c:pt>
                <c:pt idx="145">
                  <c:v>3.49259578</c:v>
                </c:pt>
                <c:pt idx="146">
                  <c:v>3.44725073</c:v>
                </c:pt>
                <c:pt idx="147">
                  <c:v>3.62022758</c:v>
                </c:pt>
                <c:pt idx="148">
                  <c:v>3.76881826</c:v>
                </c:pt>
                <c:pt idx="149">
                  <c:v>3.89110058</c:v>
                </c:pt>
                <c:pt idx="150">
                  <c:v>3.55138702</c:v>
                </c:pt>
                <c:pt idx="151">
                  <c:v>3.1318945</c:v>
                </c:pt>
                <c:pt idx="152">
                  <c:v>3.09139191</c:v>
                </c:pt>
                <c:pt idx="153">
                  <c:v>3.11039172</c:v>
                </c:pt>
                <c:pt idx="154">
                  <c:v>3.20322472</c:v>
                </c:pt>
                <c:pt idx="155">
                  <c:v>3.11333757</c:v>
                </c:pt>
                <c:pt idx="156">
                  <c:v>3.22033396</c:v>
                </c:pt>
                <c:pt idx="157">
                  <c:v>2.48390605</c:v>
                </c:pt>
                <c:pt idx="158">
                  <c:v>2.48390113</c:v>
                </c:pt>
                <c:pt idx="159">
                  <c:v>2.61085063</c:v>
                </c:pt>
                <c:pt idx="160">
                  <c:v>2.77421374</c:v>
                </c:pt>
                <c:pt idx="161">
                  <c:v>2.89575333</c:v>
                </c:pt>
                <c:pt idx="162">
                  <c:v>2.13646849</c:v>
                </c:pt>
                <c:pt idx="163">
                  <c:v>2.19866512</c:v>
                </c:pt>
                <c:pt idx="164">
                  <c:v>2.18261156</c:v>
                </c:pt>
                <c:pt idx="165">
                  <c:v>2.20878603</c:v>
                </c:pt>
                <c:pt idx="166">
                  <c:v>1.42454101</c:v>
                </c:pt>
                <c:pt idx="167">
                  <c:v>1.23408543</c:v>
                </c:pt>
                <c:pt idx="168">
                  <c:v>1.32948873</c:v>
                </c:pt>
                <c:pt idx="169">
                  <c:v>0.85798044</c:v>
                </c:pt>
                <c:pt idx="170">
                  <c:v>0.539912</c:v>
                </c:pt>
                <c:pt idx="171">
                  <c:v>0.41679037</c:v>
                </c:pt>
                <c:pt idx="172">
                  <c:v>0.17788708</c:v>
                </c:pt>
                <c:pt idx="173">
                  <c:v>0.28923507</c:v>
                </c:pt>
                <c:pt idx="174">
                  <c:v>0.2832743</c:v>
                </c:pt>
                <c:pt idx="175">
                  <c:v>0.29957071</c:v>
                </c:pt>
                <c:pt idx="176">
                  <c:v>-0.01160774</c:v>
                </c:pt>
                <c:pt idx="177">
                  <c:v>0.00938419</c:v>
                </c:pt>
                <c:pt idx="178">
                  <c:v>-0.00147819</c:v>
                </c:pt>
                <c:pt idx="179">
                  <c:v>0.05971296</c:v>
                </c:pt>
                <c:pt idx="180">
                  <c:v>0.03727963</c:v>
                </c:pt>
                <c:pt idx="181">
                  <c:v>-0.05213494</c:v>
                </c:pt>
                <c:pt idx="182">
                  <c:v>-0.03874021</c:v>
                </c:pt>
                <c:pt idx="183">
                  <c:v>-0.10138256</c:v>
                </c:pt>
                <c:pt idx="184">
                  <c:v>-0.30319413</c:v>
                </c:pt>
                <c:pt idx="185">
                  <c:v>-0.46271055</c:v>
                </c:pt>
                <c:pt idx="186">
                  <c:v>-0.43006013</c:v>
                </c:pt>
                <c:pt idx="187">
                  <c:v>-0.37541834</c:v>
                </c:pt>
                <c:pt idx="188">
                  <c:v>-0.37701068</c:v>
                </c:pt>
                <c:pt idx="189">
                  <c:v>-0.29980597</c:v>
                </c:pt>
                <c:pt idx="190">
                  <c:v>-0.32162976</c:v>
                </c:pt>
                <c:pt idx="191">
                  <c:v>-0.33847993</c:v>
                </c:pt>
                <c:pt idx="192">
                  <c:v>-0.37061024</c:v>
                </c:pt>
                <c:pt idx="193">
                  <c:v>-0.31500172</c:v>
                </c:pt>
                <c:pt idx="194">
                  <c:v>-0.47046248</c:v>
                </c:pt>
                <c:pt idx="195">
                  <c:v>-0.46715193</c:v>
                </c:pt>
                <c:pt idx="196">
                  <c:v>-0.50107181</c:v>
                </c:pt>
                <c:pt idx="197">
                  <c:v>-0.51807386</c:v>
                </c:pt>
                <c:pt idx="198">
                  <c:v>-0.37854668</c:v>
                </c:pt>
                <c:pt idx="199">
                  <c:v>-0.61413854</c:v>
                </c:pt>
                <c:pt idx="200">
                  <c:v>-0.6102357</c:v>
                </c:pt>
                <c:pt idx="201">
                  <c:v>-0.62812435</c:v>
                </c:pt>
                <c:pt idx="202">
                  <c:v>-0.27366858</c:v>
                </c:pt>
                <c:pt idx="203">
                  <c:v>-0.07877636</c:v>
                </c:pt>
                <c:pt idx="204">
                  <c:v>-0.11880501</c:v>
                </c:pt>
                <c:pt idx="205">
                  <c:v>0.13002954</c:v>
                </c:pt>
                <c:pt idx="206">
                  <c:v>0.35147697</c:v>
                </c:pt>
                <c:pt idx="207">
                  <c:v>0.46199134</c:v>
                </c:pt>
                <c:pt idx="208">
                  <c:v>0.86866262</c:v>
                </c:pt>
                <c:pt idx="209">
                  <c:v>0.78523814</c:v>
                </c:pt>
                <c:pt idx="210">
                  <c:v>0.87601583</c:v>
                </c:pt>
                <c:pt idx="211">
                  <c:v>0.90522303</c:v>
                </c:pt>
                <c:pt idx="212">
                  <c:v>1.51994992</c:v>
                </c:pt>
                <c:pt idx="213">
                  <c:v>1.42047697</c:v>
                </c:pt>
                <c:pt idx="214">
                  <c:v>1.41733986</c:v>
                </c:pt>
                <c:pt idx="215">
                  <c:v>1.38385456</c:v>
                </c:pt>
                <c:pt idx="216">
                  <c:v>1.27899835</c:v>
                </c:pt>
                <c:pt idx="217">
                  <c:v>1.54215002</c:v>
                </c:pt>
                <c:pt idx="218">
                  <c:v>1.53738617</c:v>
                </c:pt>
                <c:pt idx="219">
                  <c:v>1.58327992</c:v>
                </c:pt>
                <c:pt idx="220">
                  <c:v>2.03802685</c:v>
                </c:pt>
                <c:pt idx="221">
                  <c:v>1.92401709</c:v>
                </c:pt>
                <c:pt idx="222">
                  <c:v>1.94834225</c:v>
                </c:pt>
                <c:pt idx="223">
                  <c:v>1.77310149</c:v>
                </c:pt>
                <c:pt idx="224">
                  <c:v>1.65168987</c:v>
                </c:pt>
                <c:pt idx="225">
                  <c:v>1.54146017</c:v>
                </c:pt>
                <c:pt idx="226">
                  <c:v>1.52895507</c:v>
                </c:pt>
                <c:pt idx="227">
                  <c:v>1.65864704</c:v>
                </c:pt>
                <c:pt idx="228">
                  <c:v>1.57484744</c:v>
                </c:pt>
                <c:pt idx="229">
                  <c:v>1.33825169</c:v>
                </c:pt>
                <c:pt idx="230">
                  <c:v>1.48962383</c:v>
                </c:pt>
                <c:pt idx="231">
                  <c:v>1.48057736</c:v>
                </c:pt>
                <c:pt idx="232">
                  <c:v>1.49735365</c:v>
                </c:pt>
                <c:pt idx="233">
                  <c:v>1.5566345</c:v>
                </c:pt>
                <c:pt idx="234">
                  <c:v>1.55709813</c:v>
                </c:pt>
                <c:pt idx="235">
                  <c:v>1.78798325</c:v>
                </c:pt>
                <c:pt idx="236">
                  <c:v>1.7709198</c:v>
                </c:pt>
                <c:pt idx="237">
                  <c:v>1.79236391</c:v>
                </c:pt>
                <c:pt idx="238">
                  <c:v>1.7934856</c:v>
                </c:pt>
                <c:pt idx="239">
                  <c:v>1.79364057</c:v>
                </c:pt>
                <c:pt idx="240">
                  <c:v>1.79816076</c:v>
                </c:pt>
                <c:pt idx="241">
                  <c:v>1.85885718</c:v>
                </c:pt>
                <c:pt idx="242">
                  <c:v>1.84421873</c:v>
                </c:pt>
                <c:pt idx="243">
                  <c:v>1.92607034</c:v>
                </c:pt>
                <c:pt idx="244">
                  <c:v>1.54911647</c:v>
                </c:pt>
                <c:pt idx="245">
                  <c:v>1.72069912</c:v>
                </c:pt>
                <c:pt idx="246">
                  <c:v>1.6667419</c:v>
                </c:pt>
                <c:pt idx="247">
                  <c:v>1.67905384</c:v>
                </c:pt>
                <c:pt idx="248">
                  <c:v>1.65924771</c:v>
                </c:pt>
                <c:pt idx="249">
                  <c:v>1.78944217</c:v>
                </c:pt>
                <c:pt idx="250">
                  <c:v>1.78445813</c:v>
                </c:pt>
                <c:pt idx="251">
                  <c:v>1.82331403</c:v>
                </c:pt>
                <c:pt idx="252">
                  <c:v>1.92713307</c:v>
                </c:pt>
                <c:pt idx="253">
                  <c:v>2.00228328</c:v>
                </c:pt>
                <c:pt idx="254">
                  <c:v>1.87151652</c:v>
                </c:pt>
                <c:pt idx="255">
                  <c:v>1.63968587</c:v>
                </c:pt>
                <c:pt idx="256">
                  <c:v>0.99990549</c:v>
                </c:pt>
                <c:pt idx="257">
                  <c:v>1.27499255</c:v>
                </c:pt>
                <c:pt idx="258">
                  <c:v>1.20534603</c:v>
                </c:pt>
                <c:pt idx="259">
                  <c:v>1.15274064</c:v>
                </c:pt>
                <c:pt idx="260">
                  <c:v>1.13903894</c:v>
                </c:pt>
                <c:pt idx="261">
                  <c:v>1.09261354</c:v>
                </c:pt>
                <c:pt idx="262">
                  <c:v>1.12116389</c:v>
                </c:pt>
                <c:pt idx="263">
                  <c:v>1.0227361</c:v>
                </c:pt>
                <c:pt idx="264">
                  <c:v>1.07184396</c:v>
                </c:pt>
              </c:numCache>
            </c:numRef>
          </c:yVal>
        </c:ser>
        <c:ser>
          <c:idx val="4"/>
          <c:order val="4"/>
          <c:tx>
            <c:v>50/50 blend</c:v>
          </c:tx>
          <c:spPr>
            <a:solidFill xmlns:a="http://schemas.openxmlformats.org/drawingml/2006/main">
              <a:srgbClr val="16816B"/>
            </a:solidFill>
            <a:ln xmlns:a="http://schemas.openxmlformats.org/drawingml/2006/main" w="20003">
              <a:solidFill>
                <a:srgbClr val="16816B"/>
              </a:solidFill>
            </a:ln>
          </c:spPr>
          <c:marker>
            <c:symbol val="none"/>
          </c:marker>
          <c:xVal>
            <c:numRef>
              <c:f>'Chart Data'!$I$2:$I$266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Data'!$J$2:$J$266</c:f>
              <c:numCache>
                <c:formatCode>0.000</c:formatCode>
                <c:ptCount val="265"/>
                <c:pt idx="0">
                  <c:v>2.82311996</c:v>
                </c:pt>
                <c:pt idx="1">
                  <c:v>2.7652166</c:v>
                </c:pt>
                <c:pt idx="2">
                  <c:v>3.31144537</c:v>
                </c:pt>
                <c:pt idx="3">
                  <c:v>3.33067411</c:v>
                </c:pt>
                <c:pt idx="4">
                  <c:v>3.32916859</c:v>
                </c:pt>
                <c:pt idx="5">
                  <c:v>3.25745119</c:v>
                </c:pt>
                <c:pt idx="6">
                  <c:v>3.14980273</c:v>
                </c:pt>
                <c:pt idx="7">
                  <c:v>3.140979</c:v>
                </c:pt>
                <c:pt idx="8">
                  <c:v>3.05782287</c:v>
                </c:pt>
                <c:pt idx="9">
                  <c:v>2.9228538</c:v>
                </c:pt>
                <c:pt idx="10">
                  <c:v>3.12307907</c:v>
                </c:pt>
                <c:pt idx="11">
                  <c:v>3.19985219</c:v>
                </c:pt>
                <c:pt idx="12">
                  <c:v>3.19212593</c:v>
                </c:pt>
                <c:pt idx="13">
                  <c:v>3.09803792</c:v>
                </c:pt>
                <c:pt idx="14">
                  <c:v>3.05599689</c:v>
                </c:pt>
                <c:pt idx="15">
                  <c:v>2.90744515</c:v>
                </c:pt>
                <c:pt idx="16">
                  <c:v>2.54124752</c:v>
                </c:pt>
                <c:pt idx="17">
                  <c:v>2.52565231</c:v>
                </c:pt>
                <c:pt idx="18">
                  <c:v>2.77979383</c:v>
                </c:pt>
                <c:pt idx="19">
                  <c:v>2.83028151</c:v>
                </c:pt>
                <c:pt idx="20">
                  <c:v>2.83491773</c:v>
                </c:pt>
                <c:pt idx="21">
                  <c:v>2.82023677</c:v>
                </c:pt>
                <c:pt idx="22">
                  <c:v>3.07814905</c:v>
                </c:pt>
                <c:pt idx="23">
                  <c:v>3.39258472</c:v>
                </c:pt>
                <c:pt idx="24">
                  <c:v>3.43909599</c:v>
                </c:pt>
                <c:pt idx="25">
                  <c:v>3.30759164</c:v>
                </c:pt>
                <c:pt idx="26">
                  <c:v>3.68157501</c:v>
                </c:pt>
                <c:pt idx="27">
                  <c:v>3.87630637</c:v>
                </c:pt>
                <c:pt idx="28">
                  <c:v>3.80662708</c:v>
                </c:pt>
                <c:pt idx="29">
                  <c:v>4.02789152</c:v>
                </c:pt>
                <c:pt idx="30">
                  <c:v>4.07847521</c:v>
                </c:pt>
                <c:pt idx="31">
                  <c:v>3.86204072</c:v>
                </c:pt>
                <c:pt idx="32">
                  <c:v>3.5178701</c:v>
                </c:pt>
                <c:pt idx="33">
                  <c:v>3.70652131</c:v>
                </c:pt>
                <c:pt idx="34">
                  <c:v>3.52377433</c:v>
                </c:pt>
                <c:pt idx="35">
                  <c:v>3.53805182</c:v>
                </c:pt>
                <c:pt idx="36">
                  <c:v>3.54260419</c:v>
                </c:pt>
                <c:pt idx="37">
                  <c:v>3.36993138</c:v>
                </c:pt>
                <c:pt idx="38">
                  <c:v>3.3712059</c:v>
                </c:pt>
                <c:pt idx="39">
                  <c:v>3.37611743</c:v>
                </c:pt>
                <c:pt idx="40">
                  <c:v>3.16911329</c:v>
                </c:pt>
                <c:pt idx="41">
                  <c:v>3.28910305</c:v>
                </c:pt>
                <c:pt idx="42">
                  <c:v>3.22048752</c:v>
                </c:pt>
                <c:pt idx="43">
                  <c:v>3.16797222</c:v>
                </c:pt>
                <c:pt idx="44">
                  <c:v>3.24574512</c:v>
                </c:pt>
                <c:pt idx="45">
                  <c:v>3.39847146</c:v>
                </c:pt>
                <c:pt idx="46">
                  <c:v>3.28946572</c:v>
                </c:pt>
                <c:pt idx="47">
                  <c:v>3.29516722</c:v>
                </c:pt>
                <c:pt idx="48">
                  <c:v>3.23090111</c:v>
                </c:pt>
                <c:pt idx="49">
                  <c:v>2.98287721</c:v>
                </c:pt>
                <c:pt idx="50">
                  <c:v>2.90286635</c:v>
                </c:pt>
                <c:pt idx="51">
                  <c:v>2.77359905</c:v>
                </c:pt>
                <c:pt idx="52">
                  <c:v>3.14239793</c:v>
                </c:pt>
                <c:pt idx="53">
                  <c:v>3.34975991</c:v>
                </c:pt>
                <c:pt idx="54">
                  <c:v>3.34862324</c:v>
                </c:pt>
                <c:pt idx="55">
                  <c:v>3.3422461</c:v>
                </c:pt>
                <c:pt idx="56">
                  <c:v>3.18189408</c:v>
                </c:pt>
                <c:pt idx="57">
                  <c:v>3.07098531</c:v>
                </c:pt>
                <c:pt idx="58">
                  <c:v>2.9426817</c:v>
                </c:pt>
                <c:pt idx="59">
                  <c:v>2.71983213</c:v>
                </c:pt>
                <c:pt idx="60">
                  <c:v>2.08482601</c:v>
                </c:pt>
                <c:pt idx="61">
                  <c:v>2.15100198</c:v>
                </c:pt>
                <c:pt idx="62">
                  <c:v>0.81768806</c:v>
                </c:pt>
                <c:pt idx="63">
                  <c:v>0.92356059</c:v>
                </c:pt>
                <c:pt idx="64">
                  <c:v>1.00707724</c:v>
                </c:pt>
                <c:pt idx="65">
                  <c:v>0.95639075</c:v>
                </c:pt>
                <c:pt idx="66">
                  <c:v>0.90475184</c:v>
                </c:pt>
                <c:pt idx="67">
                  <c:v>1.06767292</c:v>
                </c:pt>
                <c:pt idx="68">
                  <c:v>1.12712924</c:v>
                </c:pt>
                <c:pt idx="69">
                  <c:v>1.2138136</c:v>
                </c:pt>
                <c:pt idx="70">
                  <c:v>1.3120569</c:v>
                </c:pt>
                <c:pt idx="71">
                  <c:v>1.41640457</c:v>
                </c:pt>
                <c:pt idx="72">
                  <c:v>1.47954466</c:v>
                </c:pt>
                <c:pt idx="73">
                  <c:v>1.13854149</c:v>
                </c:pt>
                <c:pt idx="74">
                  <c:v>1.23838663</c:v>
                </c:pt>
                <c:pt idx="75">
                  <c:v>1.27803474</c:v>
                </c:pt>
                <c:pt idx="76">
                  <c:v>1.32593808</c:v>
                </c:pt>
                <c:pt idx="77">
                  <c:v>1.36102692</c:v>
                </c:pt>
                <c:pt idx="78">
                  <c:v>1.38061157</c:v>
                </c:pt>
                <c:pt idx="79">
                  <c:v>1.4644529</c:v>
                </c:pt>
                <c:pt idx="80">
                  <c:v>1.48263505</c:v>
                </c:pt>
                <c:pt idx="81">
                  <c:v>1.47978691</c:v>
                </c:pt>
                <c:pt idx="82">
                  <c:v>1.3910635</c:v>
                </c:pt>
                <c:pt idx="83">
                  <c:v>1.27599238</c:v>
                </c:pt>
                <c:pt idx="84">
                  <c:v>1.28564984</c:v>
                </c:pt>
                <c:pt idx="85">
                  <c:v>1.42718216</c:v>
                </c:pt>
                <c:pt idx="86">
                  <c:v>1.53203935</c:v>
                </c:pt>
                <c:pt idx="87">
                  <c:v>1.61157851</c:v>
                </c:pt>
                <c:pt idx="88">
                  <c:v>1.66336704</c:v>
                </c:pt>
                <c:pt idx="89">
                  <c:v>1.68845624</c:v>
                </c:pt>
                <c:pt idx="90">
                  <c:v>1.68786114</c:v>
                </c:pt>
                <c:pt idx="91">
                  <c:v>1.63246991</c:v>
                </c:pt>
                <c:pt idx="92">
                  <c:v>1.64958028</c:v>
                </c:pt>
                <c:pt idx="93">
                  <c:v>1.65691349</c:v>
                </c:pt>
                <c:pt idx="94">
                  <c:v>1.60062009</c:v>
                </c:pt>
                <c:pt idx="95">
                  <c:v>1.44185727</c:v>
                </c:pt>
                <c:pt idx="96">
                  <c:v>1.68913648</c:v>
                </c:pt>
                <c:pt idx="97">
                  <c:v>1.64575771</c:v>
                </c:pt>
                <c:pt idx="98">
                  <c:v>2.20090084</c:v>
                </c:pt>
                <c:pt idx="99">
                  <c:v>2.0436283</c:v>
                </c:pt>
                <c:pt idx="100">
                  <c:v>1.99474933</c:v>
                </c:pt>
                <c:pt idx="101">
                  <c:v>2.03023646</c:v>
                </c:pt>
                <c:pt idx="102">
                  <c:v>2.04535997</c:v>
                </c:pt>
                <c:pt idx="103">
                  <c:v>1.98541542</c:v>
                </c:pt>
                <c:pt idx="104">
                  <c:v>2.01190884</c:v>
                </c:pt>
                <c:pt idx="105">
                  <c:v>1.93075381</c:v>
                </c:pt>
                <c:pt idx="106">
                  <c:v>1.91430579</c:v>
                </c:pt>
                <c:pt idx="107">
                  <c:v>1.79933135</c:v>
                </c:pt>
                <c:pt idx="108">
                  <c:v>1.75058329</c:v>
                </c:pt>
                <c:pt idx="109">
                  <c:v>2.34733911</c:v>
                </c:pt>
                <c:pt idx="110">
                  <c:v>2.51699334</c:v>
                </c:pt>
                <c:pt idx="111">
                  <c:v>2.43260104</c:v>
                </c:pt>
                <c:pt idx="112">
                  <c:v>2.37202522</c:v>
                </c:pt>
                <c:pt idx="113">
                  <c:v>2.25855516</c:v>
                </c:pt>
                <c:pt idx="114">
                  <c:v>2.34816126</c:v>
                </c:pt>
                <c:pt idx="115">
                  <c:v>2.33156389</c:v>
                </c:pt>
                <c:pt idx="116">
                  <c:v>2.30542695</c:v>
                </c:pt>
                <c:pt idx="117">
                  <c:v>2.32881247</c:v>
                </c:pt>
                <c:pt idx="118">
                  <c:v>2.53889472</c:v>
                </c:pt>
                <c:pt idx="119">
                  <c:v>2.76801535</c:v>
                </c:pt>
                <c:pt idx="120">
                  <c:v>2.61356047</c:v>
                </c:pt>
                <c:pt idx="121">
                  <c:v>2.58951976</c:v>
                </c:pt>
                <c:pt idx="122">
                  <c:v>2.56044128</c:v>
                </c:pt>
                <c:pt idx="123">
                  <c:v>2.48562789</c:v>
                </c:pt>
                <c:pt idx="124">
                  <c:v>2.44835144</c:v>
                </c:pt>
                <c:pt idx="125">
                  <c:v>2.29549895</c:v>
                </c:pt>
                <c:pt idx="126">
                  <c:v>2.25697098</c:v>
                </c:pt>
                <c:pt idx="127">
                  <c:v>2.27382865</c:v>
                </c:pt>
                <c:pt idx="128">
                  <c:v>2.34780294</c:v>
                </c:pt>
                <c:pt idx="129">
                  <c:v>2.41254921</c:v>
                </c:pt>
                <c:pt idx="130">
                  <c:v>2.55003907</c:v>
                </c:pt>
                <c:pt idx="131">
                  <c:v>3.61392752</c:v>
                </c:pt>
                <c:pt idx="132">
                  <c:v>3.96344673</c:v>
                </c:pt>
                <c:pt idx="133">
                  <c:v>4.18067335</c:v>
                </c:pt>
                <c:pt idx="134">
                  <c:v>4.6482461</c:v>
                </c:pt>
                <c:pt idx="135">
                  <c:v>4.98039882</c:v>
                </c:pt>
                <c:pt idx="136">
                  <c:v>4.8565948</c:v>
                </c:pt>
                <c:pt idx="137">
                  <c:v>4.648819</c:v>
                </c:pt>
                <c:pt idx="138">
                  <c:v>4.57503947</c:v>
                </c:pt>
                <c:pt idx="139">
                  <c:v>4.54599639</c:v>
                </c:pt>
                <c:pt idx="140">
                  <c:v>4.5225574</c:v>
                </c:pt>
                <c:pt idx="141">
                  <c:v>4.306889</c:v>
                </c:pt>
                <c:pt idx="142">
                  <c:v>4.26986082</c:v>
                </c:pt>
                <c:pt idx="143">
                  <c:v>4.3321774</c:v>
                </c:pt>
                <c:pt idx="144">
                  <c:v>4.39569597</c:v>
                </c:pt>
                <c:pt idx="145">
                  <c:v>4.12771352</c:v>
                </c:pt>
                <c:pt idx="146">
                  <c:v>4.20163014</c:v>
                </c:pt>
                <c:pt idx="147">
                  <c:v>4.18552866</c:v>
                </c:pt>
                <c:pt idx="148">
                  <c:v>4.34305592</c:v>
                </c:pt>
                <c:pt idx="149">
                  <c:v>4.48195375</c:v>
                </c:pt>
                <c:pt idx="150">
                  <c:v>4.28510183</c:v>
                </c:pt>
                <c:pt idx="151">
                  <c:v>4.11388743</c:v>
                </c:pt>
                <c:pt idx="152">
                  <c:v>3.9442857</c:v>
                </c:pt>
                <c:pt idx="153">
                  <c:v>3.96041771</c:v>
                </c:pt>
                <c:pt idx="154">
                  <c:v>4.07882474</c:v>
                </c:pt>
                <c:pt idx="155">
                  <c:v>4.102426</c:v>
                </c:pt>
                <c:pt idx="156">
                  <c:v>4.6745157</c:v>
                </c:pt>
                <c:pt idx="157">
                  <c:v>3.98267135</c:v>
                </c:pt>
                <c:pt idx="158">
                  <c:v>3.89385871</c:v>
                </c:pt>
                <c:pt idx="159">
                  <c:v>3.97856196</c:v>
                </c:pt>
                <c:pt idx="160">
                  <c:v>3.93213169</c:v>
                </c:pt>
                <c:pt idx="161">
                  <c:v>4.21608838</c:v>
                </c:pt>
                <c:pt idx="162">
                  <c:v>2.34101433</c:v>
                </c:pt>
                <c:pt idx="163">
                  <c:v>2.4335192</c:v>
                </c:pt>
                <c:pt idx="164">
                  <c:v>2.24458231</c:v>
                </c:pt>
                <c:pt idx="165">
                  <c:v>2.00775995</c:v>
                </c:pt>
                <c:pt idx="166">
                  <c:v>1.61827719</c:v>
                </c:pt>
                <c:pt idx="167">
                  <c:v>1.65597823</c:v>
                </c:pt>
                <c:pt idx="168">
                  <c:v>1.78319405</c:v>
                </c:pt>
                <c:pt idx="169">
                  <c:v>1.52159236</c:v>
                </c:pt>
                <c:pt idx="170">
                  <c:v>1.10905995</c:v>
                </c:pt>
                <c:pt idx="171">
                  <c:v>0.97167622</c:v>
                </c:pt>
                <c:pt idx="172">
                  <c:v>0.47849087</c:v>
                </c:pt>
                <c:pt idx="173">
                  <c:v>0.55597789</c:v>
                </c:pt>
                <c:pt idx="174">
                  <c:v>0.57971593</c:v>
                </c:pt>
                <c:pt idx="175">
                  <c:v>0.64142779</c:v>
                </c:pt>
                <c:pt idx="176">
                  <c:v>0.30896754</c:v>
                </c:pt>
                <c:pt idx="177">
                  <c:v>0.39210126</c:v>
                </c:pt>
                <c:pt idx="178">
                  <c:v>0.38344296</c:v>
                </c:pt>
                <c:pt idx="179">
                  <c:v>0.40826969</c:v>
                </c:pt>
                <c:pt idx="180">
                  <c:v>0.35856694</c:v>
                </c:pt>
                <c:pt idx="181">
                  <c:v>0.34241804</c:v>
                </c:pt>
                <c:pt idx="182">
                  <c:v>0.33852012</c:v>
                </c:pt>
                <c:pt idx="183">
                  <c:v>0.32386917</c:v>
                </c:pt>
                <c:pt idx="184">
                  <c:v>0.14142342</c:v>
                </c:pt>
                <c:pt idx="185">
                  <c:v>0.05945247</c:v>
                </c:pt>
                <c:pt idx="186">
                  <c:v>0.05129383</c:v>
                </c:pt>
                <c:pt idx="187">
                  <c:v>0.05889239</c:v>
                </c:pt>
                <c:pt idx="188">
                  <c:v>0.11069972</c:v>
                </c:pt>
                <c:pt idx="189">
                  <c:v>0.14482806</c:v>
                </c:pt>
                <c:pt idx="190">
                  <c:v>0.1163527</c:v>
                </c:pt>
                <c:pt idx="191">
                  <c:v>0.06572721</c:v>
                </c:pt>
                <c:pt idx="192">
                  <c:v>-0.02668474</c:v>
                </c:pt>
                <c:pt idx="193">
                  <c:v>0.01519029</c:v>
                </c:pt>
                <c:pt idx="194">
                  <c:v>-0.17560786</c:v>
                </c:pt>
                <c:pt idx="195">
                  <c:v>-0.16550396</c:v>
                </c:pt>
                <c:pt idx="196">
                  <c:v>-0.246764</c:v>
                </c:pt>
                <c:pt idx="197">
                  <c:v>-0.27363125</c:v>
                </c:pt>
                <c:pt idx="198">
                  <c:v>-0.06862427</c:v>
                </c:pt>
                <c:pt idx="199">
                  <c:v>-0.23075655</c:v>
                </c:pt>
                <c:pt idx="200">
                  <c:v>-0.07361317</c:v>
                </c:pt>
                <c:pt idx="201">
                  <c:v>0.05824194</c:v>
                </c:pt>
                <c:pt idx="202">
                  <c:v>0.38294208</c:v>
                </c:pt>
                <c:pt idx="203">
                  <c:v>0.40979661</c:v>
                </c:pt>
                <c:pt idx="204">
                  <c:v>0.31184567</c:v>
                </c:pt>
                <c:pt idx="205">
                  <c:v>0.42476312</c:v>
                </c:pt>
                <c:pt idx="206">
                  <c:v>0.6008148</c:v>
                </c:pt>
                <c:pt idx="207">
                  <c:v>0.6671799</c:v>
                </c:pt>
                <c:pt idx="208">
                  <c:v>1.23745054</c:v>
                </c:pt>
                <c:pt idx="209">
                  <c:v>1.17054074</c:v>
                </c:pt>
                <c:pt idx="210">
                  <c:v>1.15537757</c:v>
                </c:pt>
                <c:pt idx="211">
                  <c:v>1.1180386</c:v>
                </c:pt>
                <c:pt idx="212">
                  <c:v>1.80578976</c:v>
                </c:pt>
                <c:pt idx="213">
                  <c:v>1.661425</c:v>
                </c:pt>
                <c:pt idx="214">
                  <c:v>1.72525096</c:v>
                </c:pt>
                <c:pt idx="215">
                  <c:v>1.72104351</c:v>
                </c:pt>
                <c:pt idx="216">
                  <c:v>1.61070758</c:v>
                </c:pt>
                <c:pt idx="217">
                  <c:v>1.78367083</c:v>
                </c:pt>
                <c:pt idx="218">
                  <c:v>1.8055575</c:v>
                </c:pt>
                <c:pt idx="219">
                  <c:v>1.72589372</c:v>
                </c:pt>
                <c:pt idx="220">
                  <c:v>2.04877115</c:v>
                </c:pt>
                <c:pt idx="221">
                  <c:v>1.92711566</c:v>
                </c:pt>
                <c:pt idx="222">
                  <c:v>1.97154981</c:v>
                </c:pt>
                <c:pt idx="223">
                  <c:v>1.88451264</c:v>
                </c:pt>
                <c:pt idx="224">
                  <c:v>1.74391172</c:v>
                </c:pt>
                <c:pt idx="225">
                  <c:v>1.58303933</c:v>
                </c:pt>
                <c:pt idx="226">
                  <c:v>1.65947302</c:v>
                </c:pt>
                <c:pt idx="227">
                  <c:v>1.72122264</c:v>
                </c:pt>
                <c:pt idx="228">
                  <c:v>1.70777731</c:v>
                </c:pt>
                <c:pt idx="229">
                  <c:v>1.56368391</c:v>
                </c:pt>
                <c:pt idx="230">
                  <c:v>1.7136477</c:v>
                </c:pt>
                <c:pt idx="231">
                  <c:v>1.7144039</c:v>
                </c:pt>
                <c:pt idx="232">
                  <c:v>1.76444725</c:v>
                </c:pt>
                <c:pt idx="233">
                  <c:v>1.82218662</c:v>
                </c:pt>
                <c:pt idx="234">
                  <c:v>1.78534022</c:v>
                </c:pt>
                <c:pt idx="235">
                  <c:v>1.93457671</c:v>
                </c:pt>
                <c:pt idx="236">
                  <c:v>1.79244571</c:v>
                </c:pt>
                <c:pt idx="237">
                  <c:v>1.78721533</c:v>
                </c:pt>
                <c:pt idx="238">
                  <c:v>1.79851185</c:v>
                </c:pt>
                <c:pt idx="239">
                  <c:v>1.78449557</c:v>
                </c:pt>
                <c:pt idx="240">
                  <c:v>1.71276021</c:v>
                </c:pt>
                <c:pt idx="241">
                  <c:v>1.78771928</c:v>
                </c:pt>
                <c:pt idx="242">
                  <c:v>1.9078237</c:v>
                </c:pt>
                <c:pt idx="243">
                  <c:v>2.02602081</c:v>
                </c:pt>
                <c:pt idx="244">
                  <c:v>1.67494548</c:v>
                </c:pt>
                <c:pt idx="245">
                  <c:v>1.76141013</c:v>
                </c:pt>
                <c:pt idx="246">
                  <c:v>1.7395213</c:v>
                </c:pt>
                <c:pt idx="247">
                  <c:v>1.76195468</c:v>
                </c:pt>
                <c:pt idx="248">
                  <c:v>1.83784598</c:v>
                </c:pt>
                <c:pt idx="249">
                  <c:v>1.98800325</c:v>
                </c:pt>
                <c:pt idx="250">
                  <c:v>1.84970932</c:v>
                </c:pt>
                <c:pt idx="251">
                  <c:v>1.85782361</c:v>
                </c:pt>
                <c:pt idx="252">
                  <c:v>2.06577564</c:v>
                </c:pt>
                <c:pt idx="253">
                  <c:v>2.08760438</c:v>
                </c:pt>
                <c:pt idx="254">
                  <c:v>2.00146646</c:v>
                </c:pt>
                <c:pt idx="255">
                  <c:v>1.91361459</c:v>
                </c:pt>
                <c:pt idx="256">
                  <c:v>0.9577319</c:v>
                </c:pt>
                <c:pt idx="257">
                  <c:v>1.22200924</c:v>
                </c:pt>
                <c:pt idx="258">
                  <c:v>1.25205386</c:v>
                </c:pt>
                <c:pt idx="259">
                  <c:v>1.14718717</c:v>
                </c:pt>
                <c:pt idx="260">
                  <c:v>1.14219281</c:v>
                </c:pt>
                <c:pt idx="261">
                  <c:v>1.09972289</c:v>
                </c:pt>
                <c:pt idx="262">
                  <c:v>1.13739135</c:v>
                </c:pt>
                <c:pt idx="263">
                  <c:v>1.06756159</c:v>
                </c:pt>
                <c:pt idx="264">
                  <c:v>1.1391027</c:v>
                </c:pt>
              </c:numCache>
            </c:numRef>
          </c:y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Annualized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valAx>
      <c:valAx>
        <c:axId val="48650112"/>
        <c:scaling>
          <c:orientation val="minMax"/>
          <c:max val="2017"/>
          <c:min val="1992"/>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Authors GAN</c:v>
          </c:tx>
          <c:spPr>
            <a:solidFill xmlns:a="http://schemas.openxmlformats.org/drawingml/2006/main">
              <a:srgbClr val="94A3B8"/>
            </a:solidFill>
            <a:ln xmlns:a="http://schemas.openxmlformats.org/drawingml/2006/main" w="20003">
              <a:solidFill>
                <a:srgbClr val="94A3B8"/>
              </a:solidFill>
            </a:ln>
          </c:spPr>
          <c:marker>
            <c:symbol val="none"/>
          </c:marker>
          <c:xVal>
            <c:numRef>
              <c:f>'Chart Data'!$A$2:$A$242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Data'!$B$2:$B$242</c:f>
              <c:numCache>
                <c:formatCode>0.000</c:formatCode>
                <c:ptCount val="241"/>
                <c:pt idx="0">
                  <c:v>5.14065271</c:v>
                </c:pt>
                <c:pt idx="1">
                  <c:v>5.59189431</c:v>
                </c:pt>
                <c:pt idx="2">
                  <c:v>6.42948066</c:v>
                </c:pt>
                <c:pt idx="3">
                  <c:v>6.51849932</c:v>
                </c:pt>
                <c:pt idx="4">
                  <c:v>6.55224867</c:v>
                </c:pt>
                <c:pt idx="5">
                  <c:v>6.54275915</c:v>
                </c:pt>
                <c:pt idx="6">
                  <c:v>6.56264383</c:v>
                </c:pt>
                <c:pt idx="7">
                  <c:v>6.49641713</c:v>
                </c:pt>
                <c:pt idx="8">
                  <c:v>6.28659746</c:v>
                </c:pt>
                <c:pt idx="9">
                  <c:v>6.25050476</c:v>
                </c:pt>
                <c:pt idx="10">
                  <c:v>6.34388987</c:v>
                </c:pt>
                <c:pt idx="11">
                  <c:v>6.33099288</c:v>
                </c:pt>
                <c:pt idx="12">
                  <c:v>6.3443321</c:v>
                </c:pt>
                <c:pt idx="13">
                  <c:v>6.39020023</c:v>
                </c:pt>
                <c:pt idx="14">
                  <c:v>6.40362432</c:v>
                </c:pt>
                <c:pt idx="15">
                  <c:v>6.46495168</c:v>
                </c:pt>
                <c:pt idx="16">
                  <c:v>6.3787665</c:v>
                </c:pt>
                <c:pt idx="17">
                  <c:v>6.90310164</c:v>
                </c:pt>
                <c:pt idx="18">
                  <c:v>6.84896442</c:v>
                </c:pt>
                <c:pt idx="19">
                  <c:v>6.70550164</c:v>
                </c:pt>
                <c:pt idx="20">
                  <c:v>6.70371629</c:v>
                </c:pt>
                <c:pt idx="21">
                  <c:v>6.64595638</c:v>
                </c:pt>
                <c:pt idx="22">
                  <c:v>6.87362689</c:v>
                </c:pt>
                <c:pt idx="23">
                  <c:v>7.45462075</c:v>
                </c:pt>
                <c:pt idx="24">
                  <c:v>7.47016479</c:v>
                </c:pt>
                <c:pt idx="25">
                  <c:v>7.43570829</c:v>
                </c:pt>
                <c:pt idx="26">
                  <c:v>7.64826227</c:v>
                </c:pt>
                <c:pt idx="27">
                  <c:v>7.12586735</c:v>
                </c:pt>
                <c:pt idx="28">
                  <c:v>6.63003319</c:v>
                </c:pt>
                <c:pt idx="29">
                  <c:v>6.66297462</c:v>
                </c:pt>
                <c:pt idx="30">
                  <c:v>6.6538892</c:v>
                </c:pt>
                <c:pt idx="31">
                  <c:v>6.65008953</c:v>
                </c:pt>
                <c:pt idx="32">
                  <c:v>6.647978</c:v>
                </c:pt>
                <c:pt idx="33">
                  <c:v>6.61651874</c:v>
                </c:pt>
                <c:pt idx="34">
                  <c:v>6.54071277</c:v>
                </c:pt>
                <c:pt idx="35">
                  <c:v>6.60256575</c:v>
                </c:pt>
                <c:pt idx="36">
                  <c:v>6.66438244</c:v>
                </c:pt>
                <c:pt idx="37">
                  <c:v>6.20421348</c:v>
                </c:pt>
                <c:pt idx="38">
                  <c:v>6.05364193</c:v>
                </c:pt>
                <c:pt idx="39">
                  <c:v>6.0400521</c:v>
                </c:pt>
                <c:pt idx="40">
                  <c:v>5.80790748</c:v>
                </c:pt>
                <c:pt idx="41">
                  <c:v>5.61727448</c:v>
                </c:pt>
                <c:pt idx="42">
                  <c:v>5.56721775</c:v>
                </c:pt>
                <c:pt idx="43">
                  <c:v>5.56080104</c:v>
                </c:pt>
                <c:pt idx="44">
                  <c:v>5.58046072</c:v>
                </c:pt>
                <c:pt idx="45">
                  <c:v>5.58037546</c:v>
                </c:pt>
                <c:pt idx="46">
                  <c:v>5.52727741</c:v>
                </c:pt>
                <c:pt idx="47">
                  <c:v>5.46994447</c:v>
                </c:pt>
                <c:pt idx="48">
                  <c:v>5.45899726</c:v>
                </c:pt>
                <c:pt idx="49">
                  <c:v>5.41023679</c:v>
                </c:pt>
                <c:pt idx="50">
                  <c:v>4.95593045</c:v>
                </c:pt>
                <c:pt idx="51">
                  <c:v>5.02786061</c:v>
                </c:pt>
                <c:pt idx="52">
                  <c:v>5.21748831</c:v>
                </c:pt>
                <c:pt idx="53">
                  <c:v>5.31909339</c:v>
                </c:pt>
                <c:pt idx="54">
                  <c:v>5.22495316</c:v>
                </c:pt>
                <c:pt idx="55">
                  <c:v>5.24206792</c:v>
                </c:pt>
                <c:pt idx="56">
                  <c:v>5.23253215</c:v>
                </c:pt>
                <c:pt idx="57">
                  <c:v>5.28903989</c:v>
                </c:pt>
                <c:pt idx="58">
                  <c:v>5.24665306</c:v>
                </c:pt>
                <c:pt idx="59">
                  <c:v>5.07628071</c:v>
                </c:pt>
                <c:pt idx="60">
                  <c:v>5.04363274</c:v>
                </c:pt>
                <c:pt idx="61">
                  <c:v>5.03110149</c:v>
                </c:pt>
                <c:pt idx="62">
                  <c:v>5.03133283</c:v>
                </c:pt>
                <c:pt idx="63">
                  <c:v>4.82562913</c:v>
                </c:pt>
                <c:pt idx="64">
                  <c:v>4.82872895</c:v>
                </c:pt>
                <c:pt idx="65">
                  <c:v>4.882349</c:v>
                </c:pt>
                <c:pt idx="66">
                  <c:v>4.88136304</c:v>
                </c:pt>
                <c:pt idx="67">
                  <c:v>4.75805251</c:v>
                </c:pt>
                <c:pt idx="68">
                  <c:v>4.86368736</c:v>
                </c:pt>
                <c:pt idx="69">
                  <c:v>4.92699498</c:v>
                </c:pt>
                <c:pt idx="70">
                  <c:v>4.89238611</c:v>
                </c:pt>
                <c:pt idx="71">
                  <c:v>3.89381127</c:v>
                </c:pt>
                <c:pt idx="72">
                  <c:v>3.79990777</c:v>
                </c:pt>
                <c:pt idx="73">
                  <c:v>3.77821092</c:v>
                </c:pt>
                <c:pt idx="74">
                  <c:v>3.67544902</c:v>
                </c:pt>
                <c:pt idx="75">
                  <c:v>3.5835432</c:v>
                </c:pt>
                <c:pt idx="76">
                  <c:v>3.37113977</c:v>
                </c:pt>
                <c:pt idx="77">
                  <c:v>3.18482176</c:v>
                </c:pt>
                <c:pt idx="78">
                  <c:v>3.10439028</c:v>
                </c:pt>
                <c:pt idx="79">
                  <c:v>2.9959503</c:v>
                </c:pt>
                <c:pt idx="80">
                  <c:v>2.95184167</c:v>
                </c:pt>
                <c:pt idx="81">
                  <c:v>2.94458632</c:v>
                </c:pt>
                <c:pt idx="82">
                  <c:v>2.90833563</c:v>
                </c:pt>
                <c:pt idx="83">
                  <c:v>2.765218</c:v>
                </c:pt>
                <c:pt idx="84">
                  <c:v>2.73306248</c:v>
                </c:pt>
                <c:pt idx="85">
                  <c:v>2.70567636</c:v>
                </c:pt>
                <c:pt idx="86">
                  <c:v>2.68184709</c:v>
                </c:pt>
                <c:pt idx="87">
                  <c:v>2.724272</c:v>
                </c:pt>
                <c:pt idx="88">
                  <c:v>2.75603427</c:v>
                </c:pt>
                <c:pt idx="89">
                  <c:v>2.76422373</c:v>
                </c:pt>
                <c:pt idx="90">
                  <c:v>2.72997623</c:v>
                </c:pt>
                <c:pt idx="91">
                  <c:v>2.69738999</c:v>
                </c:pt>
                <c:pt idx="92">
                  <c:v>2.67878983</c:v>
                </c:pt>
                <c:pt idx="93">
                  <c:v>2.72119172</c:v>
                </c:pt>
                <c:pt idx="94">
                  <c:v>2.65226536</c:v>
                </c:pt>
                <c:pt idx="95">
                  <c:v>2.60980066</c:v>
                </c:pt>
                <c:pt idx="96">
                  <c:v>2.57124334</c:v>
                </c:pt>
                <c:pt idx="97">
                  <c:v>2.56228976</c:v>
                </c:pt>
                <c:pt idx="98">
                  <c:v>2.56723969</c:v>
                </c:pt>
                <c:pt idx="99">
                  <c:v>2.50855528</c:v>
                </c:pt>
                <c:pt idx="100">
                  <c:v>2.59159237</c:v>
                </c:pt>
                <c:pt idx="101">
                  <c:v>2.6540629</c:v>
                </c:pt>
                <c:pt idx="102">
                  <c:v>2.61105987</c:v>
                </c:pt>
                <c:pt idx="103">
                  <c:v>2.53552264</c:v>
                </c:pt>
                <c:pt idx="104">
                  <c:v>2.50191088</c:v>
                </c:pt>
                <c:pt idx="105">
                  <c:v>2.4277202</c:v>
                </c:pt>
                <c:pt idx="106">
                  <c:v>2.39544092</c:v>
                </c:pt>
                <c:pt idx="107">
                  <c:v>2.39675728</c:v>
                </c:pt>
                <c:pt idx="108">
                  <c:v>2.35064248</c:v>
                </c:pt>
                <c:pt idx="109">
                  <c:v>2.32479548</c:v>
                </c:pt>
                <c:pt idx="110">
                  <c:v>2.32272397</c:v>
                </c:pt>
                <c:pt idx="111">
                  <c:v>2.34198011</c:v>
                </c:pt>
                <c:pt idx="112">
                  <c:v>2.27823892</c:v>
                </c:pt>
                <c:pt idx="113">
                  <c:v>2.18723357</c:v>
                </c:pt>
                <c:pt idx="114">
                  <c:v>2.19604377</c:v>
                </c:pt>
                <c:pt idx="115">
                  <c:v>2.16096938</c:v>
                </c:pt>
                <c:pt idx="116">
                  <c:v>2.15981942</c:v>
                </c:pt>
                <c:pt idx="117">
                  <c:v>2.11303624</c:v>
                </c:pt>
                <c:pt idx="118">
                  <c:v>2.08631673</c:v>
                </c:pt>
                <c:pt idx="119">
                  <c:v>2.11191205</c:v>
                </c:pt>
                <c:pt idx="120">
                  <c:v>2.12699014</c:v>
                </c:pt>
                <c:pt idx="121">
                  <c:v>2.03112716</c:v>
                </c:pt>
                <c:pt idx="122">
                  <c:v>1.95445615</c:v>
                </c:pt>
                <c:pt idx="123">
                  <c:v>2.01430278</c:v>
                </c:pt>
                <c:pt idx="124">
                  <c:v>1.9474119</c:v>
                </c:pt>
                <c:pt idx="125">
                  <c:v>1.89132383</c:v>
                </c:pt>
                <c:pt idx="126">
                  <c:v>1.81820553</c:v>
                </c:pt>
                <c:pt idx="127">
                  <c:v>1.69774126</c:v>
                </c:pt>
                <c:pt idx="128">
                  <c:v>1.65317604</c:v>
                </c:pt>
                <c:pt idx="129">
                  <c:v>1.60185749</c:v>
                </c:pt>
                <c:pt idx="130">
                  <c:v>1.59815189</c:v>
                </c:pt>
                <c:pt idx="131">
                  <c:v>2.16320424</c:v>
                </c:pt>
                <c:pt idx="132">
                  <c:v>2.4959639</c:v>
                </c:pt>
                <c:pt idx="133">
                  <c:v>2.46836502</c:v>
                </c:pt>
                <c:pt idx="134">
                  <c:v>2.51804713</c:v>
                </c:pt>
                <c:pt idx="135">
                  <c:v>2.53815516</c:v>
                </c:pt>
                <c:pt idx="136">
                  <c:v>2.99109217</c:v>
                </c:pt>
                <c:pt idx="137">
                  <c:v>3.1253119</c:v>
                </c:pt>
                <c:pt idx="138">
                  <c:v>2.80637148</c:v>
                </c:pt>
                <c:pt idx="139">
                  <c:v>3.01014341</c:v>
                </c:pt>
                <c:pt idx="140">
                  <c:v>2.97859222</c:v>
                </c:pt>
                <c:pt idx="141">
                  <c:v>2.90137721</c:v>
                </c:pt>
                <c:pt idx="142">
                  <c:v>2.8373745</c:v>
                </c:pt>
                <c:pt idx="143">
                  <c:v>3.05778347</c:v>
                </c:pt>
                <c:pt idx="144">
                  <c:v>3.01850746</c:v>
                </c:pt>
                <c:pt idx="145">
                  <c:v>3.00305719</c:v>
                </c:pt>
                <c:pt idx="146">
                  <c:v>2.65027779</c:v>
                </c:pt>
                <c:pt idx="147">
                  <c:v>2.66402952</c:v>
                </c:pt>
                <c:pt idx="148">
                  <c:v>1.44420779</c:v>
                </c:pt>
                <c:pt idx="149">
                  <c:v>1.40902129</c:v>
                </c:pt>
                <c:pt idx="150">
                  <c:v>1.44889476</c:v>
                </c:pt>
                <c:pt idx="151">
                  <c:v>1.43145486</c:v>
                </c:pt>
                <c:pt idx="152">
                  <c:v>1.30840352</c:v>
                </c:pt>
                <c:pt idx="153">
                  <c:v>1.23176499</c:v>
                </c:pt>
                <c:pt idx="154">
                  <c:v>1.2216098</c:v>
                </c:pt>
                <c:pt idx="155">
                  <c:v>1.17880251</c:v>
                </c:pt>
                <c:pt idx="156">
                  <c:v>1.14996105</c:v>
                </c:pt>
                <c:pt idx="157">
                  <c:v>1.12326501</c:v>
                </c:pt>
                <c:pt idx="158">
                  <c:v>1.09370426</c:v>
                </c:pt>
                <c:pt idx="159">
                  <c:v>1.10553081</c:v>
                </c:pt>
                <c:pt idx="160">
                  <c:v>0.98309381</c:v>
                </c:pt>
                <c:pt idx="161">
                  <c:v>0.89932952</c:v>
                </c:pt>
                <c:pt idx="162">
                  <c:v>0.85960397</c:v>
                </c:pt>
                <c:pt idx="163">
                  <c:v>0.88560505</c:v>
                </c:pt>
                <c:pt idx="164">
                  <c:v>0.8416424</c:v>
                </c:pt>
                <c:pt idx="165">
                  <c:v>0.92022999</c:v>
                </c:pt>
                <c:pt idx="166">
                  <c:v>0.95203262</c:v>
                </c:pt>
                <c:pt idx="167">
                  <c:v>0.92643085</c:v>
                </c:pt>
                <c:pt idx="168">
                  <c:v>0.93389692</c:v>
                </c:pt>
                <c:pt idx="169">
                  <c:v>0.92148716</c:v>
                </c:pt>
                <c:pt idx="170">
                  <c:v>0.89609929</c:v>
                </c:pt>
                <c:pt idx="171">
                  <c:v>0.87801284</c:v>
                </c:pt>
                <c:pt idx="172">
                  <c:v>0.89650801</c:v>
                </c:pt>
                <c:pt idx="173">
                  <c:v>0.92480362</c:v>
                </c:pt>
                <c:pt idx="174">
                  <c:v>0.90297112</c:v>
                </c:pt>
                <c:pt idx="175">
                  <c:v>0.86125026</c:v>
                </c:pt>
                <c:pt idx="176">
                  <c:v>0.86024847</c:v>
                </c:pt>
                <c:pt idx="177">
                  <c:v>0.85189087</c:v>
                </c:pt>
                <c:pt idx="178">
                  <c:v>0.92523455</c:v>
                </c:pt>
                <c:pt idx="179">
                  <c:v>0.96470616</c:v>
                </c:pt>
                <c:pt idx="180">
                  <c:v>0.9406617</c:v>
                </c:pt>
                <c:pt idx="181">
                  <c:v>0.98299495</c:v>
                </c:pt>
                <c:pt idx="182">
                  <c:v>1.0181002</c:v>
                </c:pt>
                <c:pt idx="183">
                  <c:v>1.03388346</c:v>
                </c:pt>
                <c:pt idx="184">
                  <c:v>1.03903058</c:v>
                </c:pt>
                <c:pt idx="185">
                  <c:v>1.02878974</c:v>
                </c:pt>
                <c:pt idx="186">
                  <c:v>1.0476662</c:v>
                </c:pt>
                <c:pt idx="187">
                  <c:v>1.12991983</c:v>
                </c:pt>
                <c:pt idx="188">
                  <c:v>1.1034338</c:v>
                </c:pt>
                <c:pt idx="189">
                  <c:v>1.09635906</c:v>
                </c:pt>
                <c:pt idx="190">
                  <c:v>1.11110294</c:v>
                </c:pt>
                <c:pt idx="191">
                  <c:v>1.11895261</c:v>
                </c:pt>
                <c:pt idx="192">
                  <c:v>1.09752194</c:v>
                </c:pt>
                <c:pt idx="193">
                  <c:v>1.12886306</c:v>
                </c:pt>
                <c:pt idx="194">
                  <c:v>1.08322201</c:v>
                </c:pt>
                <c:pt idx="195">
                  <c:v>1.09742904</c:v>
                </c:pt>
                <c:pt idx="196">
                  <c:v>1.053766</c:v>
                </c:pt>
                <c:pt idx="197">
                  <c:v>1.08608427</c:v>
                </c:pt>
                <c:pt idx="198">
                  <c:v>1.17569272</c:v>
                </c:pt>
                <c:pt idx="199">
                  <c:v>1.1409439</c:v>
                </c:pt>
                <c:pt idx="200">
                  <c:v>1.164648</c:v>
                </c:pt>
                <c:pt idx="201">
                  <c:v>1.18723156</c:v>
                </c:pt>
                <c:pt idx="202">
                  <c:v>1.25022682</c:v>
                </c:pt>
                <c:pt idx="203">
                  <c:v>1.21913249</c:v>
                </c:pt>
                <c:pt idx="204">
                  <c:v>1.14124675</c:v>
                </c:pt>
                <c:pt idx="205">
                  <c:v>1.05307025</c:v>
                </c:pt>
                <c:pt idx="206">
                  <c:v>1.16443503</c:v>
                </c:pt>
                <c:pt idx="207">
                  <c:v>1.17834943</c:v>
                </c:pt>
                <c:pt idx="208">
                  <c:v>2.38163004</c:v>
                </c:pt>
                <c:pt idx="209">
                  <c:v>2.39658957</c:v>
                </c:pt>
                <c:pt idx="210">
                  <c:v>2.31312429</c:v>
                </c:pt>
                <c:pt idx="211">
                  <c:v>2.32541755</c:v>
                </c:pt>
                <c:pt idx="212">
                  <c:v>2.58559704</c:v>
                </c:pt>
                <c:pt idx="213">
                  <c:v>2.49959905</c:v>
                </c:pt>
                <c:pt idx="214">
                  <c:v>2.53133425</c:v>
                </c:pt>
                <c:pt idx="215">
                  <c:v>2.59629211</c:v>
                </c:pt>
                <c:pt idx="216">
                  <c:v>2.36195812</c:v>
                </c:pt>
                <c:pt idx="217">
                  <c:v>2.36068454</c:v>
                </c:pt>
                <c:pt idx="218">
                  <c:v>2.45573214</c:v>
                </c:pt>
                <c:pt idx="219">
                  <c:v>2.46088586</c:v>
                </c:pt>
                <c:pt idx="220">
                  <c:v>2.68213713</c:v>
                </c:pt>
                <c:pt idx="221">
                  <c:v>2.78387546</c:v>
                </c:pt>
                <c:pt idx="222">
                  <c:v>2.76431224</c:v>
                </c:pt>
                <c:pt idx="223">
                  <c:v>2.73848314</c:v>
                </c:pt>
                <c:pt idx="224">
                  <c:v>2.73738425</c:v>
                </c:pt>
                <c:pt idx="225">
                  <c:v>2.72520215</c:v>
                </c:pt>
                <c:pt idx="226">
                  <c:v>2.72665711</c:v>
                </c:pt>
                <c:pt idx="227">
                  <c:v>2.76219479</c:v>
                </c:pt>
                <c:pt idx="228">
                  <c:v>2.80247618</c:v>
                </c:pt>
                <c:pt idx="229">
                  <c:v>2.88257055</c:v>
                </c:pt>
                <c:pt idx="230">
                  <c:v>2.82090961</c:v>
                </c:pt>
                <c:pt idx="231">
                  <c:v>2.73484967</c:v>
                </c:pt>
                <c:pt idx="232">
                  <c:v>2.26876461</c:v>
                </c:pt>
                <c:pt idx="233">
                  <c:v>2.32339301</c:v>
                </c:pt>
                <c:pt idx="234">
                  <c:v>2.37047229</c:v>
                </c:pt>
                <c:pt idx="235">
                  <c:v>2.35738163</c:v>
                </c:pt>
                <c:pt idx="236">
                  <c:v>2.23754672</c:v>
                </c:pt>
                <c:pt idx="237">
                  <c:v>2.25125619</c:v>
                </c:pt>
                <c:pt idx="238">
                  <c:v>2.20995298</c:v>
                </c:pt>
                <c:pt idx="239">
                  <c:v>2.12723349</c:v>
                </c:pt>
                <c:pt idx="240">
                  <c:v>2.05246514</c:v>
                </c:pt>
              </c:numCache>
            </c:numRef>
          </c:yVal>
        </c:ser>
        <c:ser>
          <c:idx val="1"/>
          <c:order val="1"/>
          <c:tx>
            <c:v>Code 07 GAN</c:v>
          </c:tx>
          <c:spPr>
            <a:solidFill xmlns:a="http://schemas.openxmlformats.org/drawingml/2006/main">
              <a:srgbClr val="003262"/>
            </a:solidFill>
            <a:ln xmlns:a="http://schemas.openxmlformats.org/drawingml/2006/main" w="20003">
              <a:solidFill>
                <a:srgbClr val="003262"/>
              </a:solidFill>
            </a:ln>
          </c:spPr>
          <c:marker>
            <c:symbol val="none"/>
          </c:marker>
          <c:xVal>
            <c:numRef>
              <c:f>'Chart Data'!$C$2:$C$242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Data'!$D$2:$D$242</c:f>
              <c:numCache>
                <c:formatCode>0.000</c:formatCode>
                <c:ptCount val="241"/>
                <c:pt idx="0">
                  <c:v>4.87864504</c:v>
                </c:pt>
                <c:pt idx="1">
                  <c:v>5.26061749</c:v>
                </c:pt>
                <c:pt idx="2">
                  <c:v>5.65881088</c:v>
                </c:pt>
                <c:pt idx="3">
                  <c:v>5.68588701</c:v>
                </c:pt>
                <c:pt idx="4">
                  <c:v>5.70940999</c:v>
                </c:pt>
                <c:pt idx="5">
                  <c:v>5.73897084</c:v>
                </c:pt>
                <c:pt idx="6">
                  <c:v>5.89373413</c:v>
                </c:pt>
                <c:pt idx="7">
                  <c:v>5.89227633</c:v>
                </c:pt>
                <c:pt idx="8">
                  <c:v>5.74077056</c:v>
                </c:pt>
                <c:pt idx="9">
                  <c:v>5.70516275</c:v>
                </c:pt>
                <c:pt idx="10">
                  <c:v>5.77557521</c:v>
                </c:pt>
                <c:pt idx="11">
                  <c:v>5.80974041</c:v>
                </c:pt>
                <c:pt idx="12">
                  <c:v>5.81890205</c:v>
                </c:pt>
                <c:pt idx="13">
                  <c:v>6.09224731</c:v>
                </c:pt>
                <c:pt idx="14">
                  <c:v>6.08958857</c:v>
                </c:pt>
                <c:pt idx="15">
                  <c:v>6.21249071</c:v>
                </c:pt>
                <c:pt idx="16">
                  <c:v>6.08190132</c:v>
                </c:pt>
                <c:pt idx="17">
                  <c:v>6.33811951</c:v>
                </c:pt>
                <c:pt idx="18">
                  <c:v>6.30963268</c:v>
                </c:pt>
                <c:pt idx="19">
                  <c:v>6.29865255</c:v>
                </c:pt>
                <c:pt idx="20">
                  <c:v>6.29501577</c:v>
                </c:pt>
                <c:pt idx="21">
                  <c:v>6.27302026</c:v>
                </c:pt>
                <c:pt idx="22">
                  <c:v>6.48647021</c:v>
                </c:pt>
                <c:pt idx="23">
                  <c:v>6.95917769</c:v>
                </c:pt>
                <c:pt idx="24">
                  <c:v>7.04710144</c:v>
                </c:pt>
                <c:pt idx="25">
                  <c:v>6.99707143</c:v>
                </c:pt>
                <c:pt idx="26">
                  <c:v>7.47360174</c:v>
                </c:pt>
                <c:pt idx="27">
                  <c:v>6.48691911</c:v>
                </c:pt>
                <c:pt idx="28">
                  <c:v>5.48438927</c:v>
                </c:pt>
                <c:pt idx="29">
                  <c:v>5.58336321</c:v>
                </c:pt>
                <c:pt idx="30">
                  <c:v>5.57250268</c:v>
                </c:pt>
                <c:pt idx="31">
                  <c:v>5.63455792</c:v>
                </c:pt>
                <c:pt idx="32">
                  <c:v>5.54428298</c:v>
                </c:pt>
                <c:pt idx="33">
                  <c:v>5.49347015</c:v>
                </c:pt>
                <c:pt idx="34">
                  <c:v>5.49411561</c:v>
                </c:pt>
                <c:pt idx="35">
                  <c:v>5.48411144</c:v>
                </c:pt>
                <c:pt idx="36">
                  <c:v>4.94828763</c:v>
                </c:pt>
                <c:pt idx="37">
                  <c:v>4.92251356</c:v>
                </c:pt>
                <c:pt idx="38">
                  <c:v>2.98401271</c:v>
                </c:pt>
                <c:pt idx="39">
                  <c:v>2.95078745</c:v>
                </c:pt>
                <c:pt idx="40">
                  <c:v>2.94279419</c:v>
                </c:pt>
                <c:pt idx="41">
                  <c:v>2.89804222</c:v>
                </c:pt>
                <c:pt idx="42">
                  <c:v>2.93704819</c:v>
                </c:pt>
                <c:pt idx="43">
                  <c:v>2.99544427</c:v>
                </c:pt>
                <c:pt idx="44">
                  <c:v>3.01758882</c:v>
                </c:pt>
                <c:pt idx="45">
                  <c:v>3.03196172</c:v>
                </c:pt>
                <c:pt idx="46">
                  <c:v>3.00854817</c:v>
                </c:pt>
                <c:pt idx="47">
                  <c:v>3.02185452</c:v>
                </c:pt>
                <c:pt idx="48">
                  <c:v>3.00385509</c:v>
                </c:pt>
                <c:pt idx="49">
                  <c:v>3.00120955</c:v>
                </c:pt>
                <c:pt idx="50">
                  <c:v>2.86408618</c:v>
                </c:pt>
                <c:pt idx="51">
                  <c:v>2.9128901</c:v>
                </c:pt>
                <c:pt idx="52">
                  <c:v>2.97382688</c:v>
                </c:pt>
                <c:pt idx="53">
                  <c:v>3.04296571</c:v>
                </c:pt>
                <c:pt idx="54">
                  <c:v>3.00402228</c:v>
                </c:pt>
                <c:pt idx="55">
                  <c:v>3.02591519</c:v>
                </c:pt>
                <c:pt idx="56">
                  <c:v>3.01898168</c:v>
                </c:pt>
                <c:pt idx="57">
                  <c:v>3.07120231</c:v>
                </c:pt>
                <c:pt idx="58">
                  <c:v>3.00598259</c:v>
                </c:pt>
                <c:pt idx="59">
                  <c:v>2.87590351</c:v>
                </c:pt>
                <c:pt idx="60">
                  <c:v>2.80516647</c:v>
                </c:pt>
                <c:pt idx="61">
                  <c:v>2.81167101</c:v>
                </c:pt>
                <c:pt idx="62">
                  <c:v>2.83294361</c:v>
                </c:pt>
                <c:pt idx="63">
                  <c:v>2.82403162</c:v>
                </c:pt>
                <c:pt idx="64">
                  <c:v>2.86514265</c:v>
                </c:pt>
                <c:pt idx="65">
                  <c:v>2.88949884</c:v>
                </c:pt>
                <c:pt idx="66">
                  <c:v>2.90126843</c:v>
                </c:pt>
                <c:pt idx="67">
                  <c:v>2.91962295</c:v>
                </c:pt>
                <c:pt idx="68">
                  <c:v>2.98270661</c:v>
                </c:pt>
                <c:pt idx="69">
                  <c:v>3.02970475</c:v>
                </c:pt>
                <c:pt idx="70">
                  <c:v>3.01489875</c:v>
                </c:pt>
                <c:pt idx="71">
                  <c:v>2.54925506</c:v>
                </c:pt>
                <c:pt idx="72">
                  <c:v>2.56806816</c:v>
                </c:pt>
                <c:pt idx="73">
                  <c:v>2.52685339</c:v>
                </c:pt>
                <c:pt idx="74">
                  <c:v>2.45571817</c:v>
                </c:pt>
                <c:pt idx="75">
                  <c:v>2.40300081</c:v>
                </c:pt>
                <c:pt idx="76">
                  <c:v>2.31289334</c:v>
                </c:pt>
                <c:pt idx="77">
                  <c:v>2.03128718</c:v>
                </c:pt>
                <c:pt idx="78">
                  <c:v>1.98844011</c:v>
                </c:pt>
                <c:pt idx="79">
                  <c:v>1.92418135</c:v>
                </c:pt>
                <c:pt idx="80">
                  <c:v>1.88982258</c:v>
                </c:pt>
                <c:pt idx="81">
                  <c:v>1.88712505</c:v>
                </c:pt>
                <c:pt idx="82">
                  <c:v>1.86810122</c:v>
                </c:pt>
                <c:pt idx="83">
                  <c:v>1.81243372</c:v>
                </c:pt>
                <c:pt idx="84">
                  <c:v>1.80606925</c:v>
                </c:pt>
                <c:pt idx="85">
                  <c:v>1.81555349</c:v>
                </c:pt>
                <c:pt idx="86">
                  <c:v>1.78609377</c:v>
                </c:pt>
                <c:pt idx="87">
                  <c:v>1.84284432</c:v>
                </c:pt>
                <c:pt idx="88">
                  <c:v>1.908345</c:v>
                </c:pt>
                <c:pt idx="89">
                  <c:v>1.90526747</c:v>
                </c:pt>
                <c:pt idx="90">
                  <c:v>1.89081815</c:v>
                </c:pt>
                <c:pt idx="91">
                  <c:v>1.87014267</c:v>
                </c:pt>
                <c:pt idx="92">
                  <c:v>1.86118004</c:v>
                </c:pt>
                <c:pt idx="93">
                  <c:v>1.91307638</c:v>
                </c:pt>
                <c:pt idx="94">
                  <c:v>1.85830453</c:v>
                </c:pt>
                <c:pt idx="95">
                  <c:v>1.89932064</c:v>
                </c:pt>
                <c:pt idx="96">
                  <c:v>1.95325914</c:v>
                </c:pt>
                <c:pt idx="97">
                  <c:v>1.95198207</c:v>
                </c:pt>
                <c:pt idx="98">
                  <c:v>2.39975848</c:v>
                </c:pt>
                <c:pt idx="99">
                  <c:v>2.32873811</c:v>
                </c:pt>
                <c:pt idx="100">
                  <c:v>2.25859002</c:v>
                </c:pt>
                <c:pt idx="101">
                  <c:v>2.31218689</c:v>
                </c:pt>
                <c:pt idx="102">
                  <c:v>2.2696319</c:v>
                </c:pt>
                <c:pt idx="103">
                  <c:v>2.15217061</c:v>
                </c:pt>
                <c:pt idx="104">
                  <c:v>2.13066041</c:v>
                </c:pt>
                <c:pt idx="105">
                  <c:v>2.06583585</c:v>
                </c:pt>
                <c:pt idx="106">
                  <c:v>2.05503467</c:v>
                </c:pt>
                <c:pt idx="107">
                  <c:v>2.01214694</c:v>
                </c:pt>
                <c:pt idx="108">
                  <c:v>1.98815679</c:v>
                </c:pt>
                <c:pt idx="109">
                  <c:v>1.97833796</c:v>
                </c:pt>
                <c:pt idx="110">
                  <c:v>1.97424363</c:v>
                </c:pt>
                <c:pt idx="111">
                  <c:v>1.93319008</c:v>
                </c:pt>
                <c:pt idx="112">
                  <c:v>1.90681755</c:v>
                </c:pt>
                <c:pt idx="113">
                  <c:v>1.84213791</c:v>
                </c:pt>
                <c:pt idx="114">
                  <c:v>1.8550325</c:v>
                </c:pt>
                <c:pt idx="115">
                  <c:v>1.81908761</c:v>
                </c:pt>
                <c:pt idx="116">
                  <c:v>1.79101503</c:v>
                </c:pt>
                <c:pt idx="117">
                  <c:v>1.7513976</c:v>
                </c:pt>
                <c:pt idx="118">
                  <c:v>1.75951122</c:v>
                </c:pt>
                <c:pt idx="119">
                  <c:v>1.83174082</c:v>
                </c:pt>
                <c:pt idx="120">
                  <c:v>1.87595028</c:v>
                </c:pt>
                <c:pt idx="121">
                  <c:v>1.79648635</c:v>
                </c:pt>
                <c:pt idx="122">
                  <c:v>1.72189545</c:v>
                </c:pt>
                <c:pt idx="123">
                  <c:v>1.71417238</c:v>
                </c:pt>
                <c:pt idx="124">
                  <c:v>1.6444696</c:v>
                </c:pt>
                <c:pt idx="125">
                  <c:v>1.59218945</c:v>
                </c:pt>
                <c:pt idx="126">
                  <c:v>1.51818381</c:v>
                </c:pt>
                <c:pt idx="127">
                  <c:v>1.38795966</c:v>
                </c:pt>
                <c:pt idx="128">
                  <c:v>1.32883855</c:v>
                </c:pt>
                <c:pt idx="129">
                  <c:v>1.25558433</c:v>
                </c:pt>
                <c:pt idx="130">
                  <c:v>1.24660544</c:v>
                </c:pt>
                <c:pt idx="131">
                  <c:v>1.58228565</c:v>
                </c:pt>
                <c:pt idx="132">
                  <c:v>1.6896212</c:v>
                </c:pt>
                <c:pt idx="133">
                  <c:v>1.71476123</c:v>
                </c:pt>
                <c:pt idx="134">
                  <c:v>1.82026638</c:v>
                </c:pt>
                <c:pt idx="135">
                  <c:v>1.87688958</c:v>
                </c:pt>
                <c:pt idx="136">
                  <c:v>2.11253327</c:v>
                </c:pt>
                <c:pt idx="137">
                  <c:v>2.95549057</c:v>
                </c:pt>
                <c:pt idx="138">
                  <c:v>2.8393567</c:v>
                </c:pt>
                <c:pt idx="139">
                  <c:v>3.03478657</c:v>
                </c:pt>
                <c:pt idx="140">
                  <c:v>2.99651019</c:v>
                </c:pt>
                <c:pt idx="141">
                  <c:v>2.95605461</c:v>
                </c:pt>
                <c:pt idx="142">
                  <c:v>2.85598003</c:v>
                </c:pt>
                <c:pt idx="143">
                  <c:v>2.92450589</c:v>
                </c:pt>
                <c:pt idx="144">
                  <c:v>2.87357575</c:v>
                </c:pt>
                <c:pt idx="145">
                  <c:v>2.828452</c:v>
                </c:pt>
                <c:pt idx="146">
                  <c:v>2.79094477</c:v>
                </c:pt>
                <c:pt idx="147">
                  <c:v>2.80747303</c:v>
                </c:pt>
                <c:pt idx="148">
                  <c:v>1.72996146</c:v>
                </c:pt>
                <c:pt idx="149">
                  <c:v>1.6831728</c:v>
                </c:pt>
                <c:pt idx="150">
                  <c:v>1.68932095</c:v>
                </c:pt>
                <c:pt idx="151">
                  <c:v>1.55961834</c:v>
                </c:pt>
                <c:pt idx="152">
                  <c:v>1.42835301</c:v>
                </c:pt>
                <c:pt idx="153">
                  <c:v>1.34014823</c:v>
                </c:pt>
                <c:pt idx="154">
                  <c:v>1.33843816</c:v>
                </c:pt>
                <c:pt idx="155">
                  <c:v>1.26182668</c:v>
                </c:pt>
                <c:pt idx="156">
                  <c:v>1.31279204</c:v>
                </c:pt>
                <c:pt idx="157">
                  <c:v>1.22292245</c:v>
                </c:pt>
                <c:pt idx="158">
                  <c:v>1.21038987</c:v>
                </c:pt>
                <c:pt idx="159">
                  <c:v>1.19586426</c:v>
                </c:pt>
                <c:pt idx="160">
                  <c:v>1.18812482</c:v>
                </c:pt>
                <c:pt idx="161">
                  <c:v>1.10017606</c:v>
                </c:pt>
                <c:pt idx="162">
                  <c:v>1.04959367</c:v>
                </c:pt>
                <c:pt idx="163">
                  <c:v>1.16282322</c:v>
                </c:pt>
                <c:pt idx="164">
                  <c:v>1.1302116</c:v>
                </c:pt>
                <c:pt idx="165">
                  <c:v>1.17091995</c:v>
                </c:pt>
                <c:pt idx="166">
                  <c:v>1.17843326</c:v>
                </c:pt>
                <c:pt idx="167">
                  <c:v>1.17078058</c:v>
                </c:pt>
                <c:pt idx="168">
                  <c:v>1.14533644</c:v>
                </c:pt>
                <c:pt idx="169">
                  <c:v>1.0946619</c:v>
                </c:pt>
                <c:pt idx="170">
                  <c:v>1.02330444</c:v>
                </c:pt>
                <c:pt idx="171">
                  <c:v>1.04959818</c:v>
                </c:pt>
                <c:pt idx="172">
                  <c:v>1.07140309</c:v>
                </c:pt>
                <c:pt idx="173">
                  <c:v>1.09279962</c:v>
                </c:pt>
                <c:pt idx="174">
                  <c:v>1.06969302</c:v>
                </c:pt>
                <c:pt idx="175">
                  <c:v>1.00772479</c:v>
                </c:pt>
                <c:pt idx="176">
                  <c:v>0.97933997</c:v>
                </c:pt>
                <c:pt idx="177">
                  <c:v>0.9440164</c:v>
                </c:pt>
                <c:pt idx="178">
                  <c:v>1.01731968</c:v>
                </c:pt>
                <c:pt idx="179">
                  <c:v>1.07485749</c:v>
                </c:pt>
                <c:pt idx="180">
                  <c:v>1.06178038</c:v>
                </c:pt>
                <c:pt idx="181">
                  <c:v>1.11149922</c:v>
                </c:pt>
                <c:pt idx="182">
                  <c:v>1.11486988</c:v>
                </c:pt>
                <c:pt idx="183">
                  <c:v>1.11438224</c:v>
                </c:pt>
                <c:pt idx="184">
                  <c:v>1.11499357</c:v>
                </c:pt>
                <c:pt idx="185">
                  <c:v>1.09178737</c:v>
                </c:pt>
                <c:pt idx="186">
                  <c:v>1.13545354</c:v>
                </c:pt>
                <c:pt idx="187">
                  <c:v>1.20615795</c:v>
                </c:pt>
                <c:pt idx="188">
                  <c:v>1.18283232</c:v>
                </c:pt>
                <c:pt idx="189">
                  <c:v>1.17664915</c:v>
                </c:pt>
                <c:pt idx="190">
                  <c:v>1.20470237</c:v>
                </c:pt>
                <c:pt idx="191">
                  <c:v>1.26403006</c:v>
                </c:pt>
                <c:pt idx="192">
                  <c:v>1.22057259</c:v>
                </c:pt>
                <c:pt idx="193">
                  <c:v>1.20398112</c:v>
                </c:pt>
                <c:pt idx="194">
                  <c:v>1.15861605</c:v>
                </c:pt>
                <c:pt idx="195">
                  <c:v>1.1406906</c:v>
                </c:pt>
                <c:pt idx="196">
                  <c:v>1.09213259</c:v>
                </c:pt>
                <c:pt idx="197">
                  <c:v>1.06496505</c:v>
                </c:pt>
                <c:pt idx="198">
                  <c:v>1.10978361</c:v>
                </c:pt>
                <c:pt idx="199">
                  <c:v>1.03486212</c:v>
                </c:pt>
                <c:pt idx="200">
                  <c:v>1.02210028</c:v>
                </c:pt>
                <c:pt idx="201">
                  <c:v>1.02031174</c:v>
                </c:pt>
                <c:pt idx="202">
                  <c:v>0.97414501</c:v>
                </c:pt>
                <c:pt idx="203">
                  <c:v>0.95392898</c:v>
                </c:pt>
                <c:pt idx="204">
                  <c:v>0.86530978</c:v>
                </c:pt>
                <c:pt idx="205">
                  <c:v>0.82765786</c:v>
                </c:pt>
                <c:pt idx="206">
                  <c:v>0.8172467</c:v>
                </c:pt>
                <c:pt idx="207">
                  <c:v>0.81496775</c:v>
                </c:pt>
                <c:pt idx="208">
                  <c:v>1.22984962</c:v>
                </c:pt>
                <c:pt idx="209">
                  <c:v>1.25486302</c:v>
                </c:pt>
                <c:pt idx="210">
                  <c:v>1.20240864</c:v>
                </c:pt>
                <c:pt idx="211">
                  <c:v>1.32500433</c:v>
                </c:pt>
                <c:pt idx="212">
                  <c:v>1.44657484</c:v>
                </c:pt>
                <c:pt idx="213">
                  <c:v>1.50774425</c:v>
                </c:pt>
                <c:pt idx="214">
                  <c:v>1.55082112</c:v>
                </c:pt>
                <c:pt idx="215">
                  <c:v>1.55148419</c:v>
                </c:pt>
                <c:pt idx="216">
                  <c:v>1.41264362</c:v>
                </c:pt>
                <c:pt idx="217">
                  <c:v>1.48434338</c:v>
                </c:pt>
                <c:pt idx="218">
                  <c:v>1.48171744</c:v>
                </c:pt>
                <c:pt idx="219">
                  <c:v>1.54587841</c:v>
                </c:pt>
                <c:pt idx="220">
                  <c:v>1.54171967</c:v>
                </c:pt>
                <c:pt idx="221">
                  <c:v>1.67567074</c:v>
                </c:pt>
                <c:pt idx="222">
                  <c:v>1.70112955</c:v>
                </c:pt>
                <c:pt idx="223">
                  <c:v>1.67341895</c:v>
                </c:pt>
                <c:pt idx="224">
                  <c:v>1.68293109</c:v>
                </c:pt>
                <c:pt idx="225">
                  <c:v>1.71549449</c:v>
                </c:pt>
                <c:pt idx="226">
                  <c:v>1.7391265</c:v>
                </c:pt>
                <c:pt idx="227">
                  <c:v>1.77071863</c:v>
                </c:pt>
                <c:pt idx="228">
                  <c:v>1.86027909</c:v>
                </c:pt>
                <c:pt idx="229">
                  <c:v>1.91276958</c:v>
                </c:pt>
                <c:pt idx="230">
                  <c:v>1.95670926</c:v>
                </c:pt>
                <c:pt idx="231">
                  <c:v>1.9386261</c:v>
                </c:pt>
                <c:pt idx="232">
                  <c:v>1.55410572</c:v>
                </c:pt>
                <c:pt idx="233">
                  <c:v>1.6144989</c:v>
                </c:pt>
                <c:pt idx="234">
                  <c:v>1.63562129</c:v>
                </c:pt>
                <c:pt idx="235">
                  <c:v>1.64905759</c:v>
                </c:pt>
                <c:pt idx="236">
                  <c:v>1.6167397</c:v>
                </c:pt>
                <c:pt idx="237">
                  <c:v>1.60847198</c:v>
                </c:pt>
                <c:pt idx="238">
                  <c:v>1.8629276</c:v>
                </c:pt>
                <c:pt idx="239">
                  <c:v>1.81439023</c:v>
                </c:pt>
                <c:pt idx="240">
                  <c:v>1.77458969</c:v>
                </c:pt>
              </c:numCache>
            </c:numRef>
          </c:yVal>
        </c:ser>
        <c:ser>
          <c:idx val="2"/>
          <c:order val="2"/>
          <c:tx>
            <c:v>New LSTM</c:v>
          </c:tx>
          <c:spPr>
            <a:solidFill xmlns:a="http://schemas.openxmlformats.org/drawingml/2006/main">
              <a:srgbClr val="2563EB"/>
            </a:solidFill>
            <a:ln xmlns:a="http://schemas.openxmlformats.org/drawingml/2006/main" w="20003">
              <a:solidFill>
                <a:srgbClr val="2563EB"/>
              </a:solidFill>
            </a:ln>
          </c:spPr>
          <c:marker>
            <c:symbol val="none"/>
          </c:marker>
          <c:xVal>
            <c:numRef>
              <c:f>'Chart Data'!$E$2:$E$242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Data'!$F$2:$F$242</c:f>
              <c:numCache>
                <c:formatCode>0.000</c:formatCode>
                <c:ptCount val="241"/>
                <c:pt idx="0">
                  <c:v>3.66003541</c:v>
                </c:pt>
                <c:pt idx="1">
                  <c:v>3.68556321</c:v>
                </c:pt>
                <c:pt idx="2">
                  <c:v>3.87526168</c:v>
                </c:pt>
                <c:pt idx="3">
                  <c:v>3.87557773</c:v>
                </c:pt>
                <c:pt idx="4">
                  <c:v>3.83567233</c:v>
                </c:pt>
                <c:pt idx="5">
                  <c:v>3.85887175</c:v>
                </c:pt>
                <c:pt idx="6">
                  <c:v>3.84965661</c:v>
                </c:pt>
                <c:pt idx="7">
                  <c:v>3.74410285</c:v>
                </c:pt>
                <c:pt idx="8">
                  <c:v>3.65966698</c:v>
                </c:pt>
                <c:pt idx="9">
                  <c:v>3.67217677</c:v>
                </c:pt>
                <c:pt idx="10">
                  <c:v>3.67136937</c:v>
                </c:pt>
                <c:pt idx="11">
                  <c:v>3.57671014</c:v>
                </c:pt>
                <c:pt idx="12">
                  <c:v>3.44580343</c:v>
                </c:pt>
                <c:pt idx="13">
                  <c:v>3.43836326</c:v>
                </c:pt>
                <c:pt idx="14">
                  <c:v>3.43517169</c:v>
                </c:pt>
                <c:pt idx="15">
                  <c:v>3.43889418</c:v>
                </c:pt>
                <c:pt idx="16">
                  <c:v>3.39187641</c:v>
                </c:pt>
                <c:pt idx="17">
                  <c:v>3.44641986</c:v>
                </c:pt>
                <c:pt idx="18">
                  <c:v>3.47311081</c:v>
                </c:pt>
                <c:pt idx="19">
                  <c:v>3.41995885</c:v>
                </c:pt>
                <c:pt idx="20">
                  <c:v>3.43632994</c:v>
                </c:pt>
                <c:pt idx="21">
                  <c:v>3.54141508</c:v>
                </c:pt>
                <c:pt idx="22">
                  <c:v>3.70387225</c:v>
                </c:pt>
                <c:pt idx="23">
                  <c:v>3.87597624</c:v>
                </c:pt>
                <c:pt idx="24">
                  <c:v>3.84521917</c:v>
                </c:pt>
                <c:pt idx="25">
                  <c:v>3.71913922</c:v>
                </c:pt>
                <c:pt idx="26">
                  <c:v>3.76433333</c:v>
                </c:pt>
                <c:pt idx="27">
                  <c:v>3.71380367</c:v>
                </c:pt>
                <c:pt idx="28">
                  <c:v>3.71320727</c:v>
                </c:pt>
                <c:pt idx="29">
                  <c:v>3.82741257</c:v>
                </c:pt>
                <c:pt idx="30">
                  <c:v>3.86631525</c:v>
                </c:pt>
                <c:pt idx="31">
                  <c:v>3.91329534</c:v>
                </c:pt>
                <c:pt idx="32">
                  <c:v>3.7851766</c:v>
                </c:pt>
                <c:pt idx="33">
                  <c:v>3.58672976</c:v>
                </c:pt>
                <c:pt idx="34">
                  <c:v>3.64544281</c:v>
                </c:pt>
                <c:pt idx="35">
                  <c:v>3.46238102</c:v>
                </c:pt>
                <c:pt idx="36">
                  <c:v>2.62880833</c:v>
                </c:pt>
                <c:pt idx="37">
                  <c:v>2.61641439</c:v>
                </c:pt>
                <c:pt idx="38">
                  <c:v>1.23281876</c:v>
                </c:pt>
                <c:pt idx="39">
                  <c:v>1.30201215</c:v>
                </c:pt>
                <c:pt idx="40">
                  <c:v>1.3368248</c:v>
                </c:pt>
                <c:pt idx="41">
                  <c:v>1.33169323</c:v>
                </c:pt>
                <c:pt idx="42">
                  <c:v>1.3691351</c:v>
                </c:pt>
                <c:pt idx="43">
                  <c:v>1.43994765</c:v>
                </c:pt>
                <c:pt idx="44">
                  <c:v>1.36212357</c:v>
                </c:pt>
                <c:pt idx="45">
                  <c:v>1.43554424</c:v>
                </c:pt>
                <c:pt idx="46">
                  <c:v>1.46414551</c:v>
                </c:pt>
                <c:pt idx="47">
                  <c:v>1.52208188</c:v>
                </c:pt>
                <c:pt idx="48">
                  <c:v>1.54705995</c:v>
                </c:pt>
                <c:pt idx="49">
                  <c:v>1.56005619</c:v>
                </c:pt>
                <c:pt idx="50">
                  <c:v>1.61859264</c:v>
                </c:pt>
                <c:pt idx="51">
                  <c:v>1.68277605</c:v>
                </c:pt>
                <c:pt idx="52">
                  <c:v>1.72929285</c:v>
                </c:pt>
                <c:pt idx="53">
                  <c:v>1.74716988</c:v>
                </c:pt>
                <c:pt idx="54">
                  <c:v>1.7008124</c:v>
                </c:pt>
                <c:pt idx="55">
                  <c:v>1.69315932</c:v>
                </c:pt>
                <c:pt idx="56">
                  <c:v>1.64529601</c:v>
                </c:pt>
                <c:pt idx="57">
                  <c:v>1.60513952</c:v>
                </c:pt>
                <c:pt idx="58">
                  <c:v>1.58977749</c:v>
                </c:pt>
                <c:pt idx="59">
                  <c:v>1.6177799</c:v>
                </c:pt>
                <c:pt idx="60">
                  <c:v>1.63296398</c:v>
                </c:pt>
                <c:pt idx="61">
                  <c:v>1.6553186</c:v>
                </c:pt>
                <c:pt idx="62">
                  <c:v>1.61096715</c:v>
                </c:pt>
                <c:pt idx="63">
                  <c:v>1.61221127</c:v>
                </c:pt>
                <c:pt idx="64">
                  <c:v>1.61750542</c:v>
                </c:pt>
                <c:pt idx="65">
                  <c:v>1.61204179</c:v>
                </c:pt>
                <c:pt idx="66">
                  <c:v>1.56582243</c:v>
                </c:pt>
                <c:pt idx="67">
                  <c:v>1.48488275</c:v>
                </c:pt>
                <c:pt idx="68">
                  <c:v>1.50875267</c:v>
                </c:pt>
                <c:pt idx="69">
                  <c:v>1.3972631</c:v>
                </c:pt>
                <c:pt idx="70">
                  <c:v>1.42412956</c:v>
                </c:pt>
                <c:pt idx="71">
                  <c:v>1.42119326</c:v>
                </c:pt>
                <c:pt idx="72">
                  <c:v>1.50716018</c:v>
                </c:pt>
                <c:pt idx="73">
                  <c:v>1.49582453</c:v>
                </c:pt>
                <c:pt idx="74">
                  <c:v>1.41080319</c:v>
                </c:pt>
                <c:pt idx="75">
                  <c:v>1.33633338</c:v>
                </c:pt>
                <c:pt idx="76">
                  <c:v>1.36840413</c:v>
                </c:pt>
                <c:pt idx="77">
                  <c:v>1.41697524</c:v>
                </c:pt>
                <c:pt idx="78">
                  <c:v>1.4667252</c:v>
                </c:pt>
                <c:pt idx="79">
                  <c:v>1.50279719</c:v>
                </c:pt>
                <c:pt idx="80">
                  <c:v>1.49757255</c:v>
                </c:pt>
                <c:pt idx="81">
                  <c:v>1.46450714</c:v>
                </c:pt>
                <c:pt idx="82">
                  <c:v>1.44380229</c:v>
                </c:pt>
                <c:pt idx="83">
                  <c:v>1.40443711</c:v>
                </c:pt>
                <c:pt idx="84">
                  <c:v>1.43268125</c:v>
                </c:pt>
                <c:pt idx="85">
                  <c:v>1.4642302</c:v>
                </c:pt>
                <c:pt idx="86">
                  <c:v>1.51750393</c:v>
                </c:pt>
                <c:pt idx="87">
                  <c:v>1.54193659</c:v>
                </c:pt>
                <c:pt idx="88">
                  <c:v>1.50582498</c:v>
                </c:pt>
                <c:pt idx="89">
                  <c:v>1.46595233</c:v>
                </c:pt>
                <c:pt idx="90">
                  <c:v>1.44120892</c:v>
                </c:pt>
                <c:pt idx="91">
                  <c:v>1.44213637</c:v>
                </c:pt>
                <c:pt idx="92">
                  <c:v>1.4737598</c:v>
                </c:pt>
                <c:pt idx="93">
                  <c:v>1.52000362</c:v>
                </c:pt>
                <c:pt idx="94">
                  <c:v>1.50245688</c:v>
                </c:pt>
                <c:pt idx="95">
                  <c:v>1.58739851</c:v>
                </c:pt>
                <c:pt idx="96">
                  <c:v>1.701428</c:v>
                </c:pt>
                <c:pt idx="97">
                  <c:v>1.72219502</c:v>
                </c:pt>
                <c:pt idx="98">
                  <c:v>2.69365573</c:v>
                </c:pt>
                <c:pt idx="99">
                  <c:v>2.63442668</c:v>
                </c:pt>
                <c:pt idx="100">
                  <c:v>2.6359501</c:v>
                </c:pt>
                <c:pt idx="101">
                  <c:v>2.61841474</c:v>
                </c:pt>
                <c:pt idx="102">
                  <c:v>2.65828093</c:v>
                </c:pt>
                <c:pt idx="103">
                  <c:v>2.57224528</c:v>
                </c:pt>
                <c:pt idx="104">
                  <c:v>2.78424366</c:v>
                </c:pt>
                <c:pt idx="105">
                  <c:v>2.69580081</c:v>
                </c:pt>
                <c:pt idx="106">
                  <c:v>2.62519007</c:v>
                </c:pt>
                <c:pt idx="107">
                  <c:v>2.53080073</c:v>
                </c:pt>
                <c:pt idx="108">
                  <c:v>2.44765534</c:v>
                </c:pt>
                <c:pt idx="109">
                  <c:v>2.39372427</c:v>
                </c:pt>
                <c:pt idx="110">
                  <c:v>2.51081712</c:v>
                </c:pt>
                <c:pt idx="111">
                  <c:v>2.44665237</c:v>
                </c:pt>
                <c:pt idx="112">
                  <c:v>2.42381319</c:v>
                </c:pt>
                <c:pt idx="113">
                  <c:v>2.42214144</c:v>
                </c:pt>
                <c:pt idx="114">
                  <c:v>2.43549629</c:v>
                </c:pt>
                <c:pt idx="115">
                  <c:v>2.4378814</c:v>
                </c:pt>
                <c:pt idx="116">
                  <c:v>2.47091307</c:v>
                </c:pt>
                <c:pt idx="117">
                  <c:v>2.54647734</c:v>
                </c:pt>
                <c:pt idx="118">
                  <c:v>2.47209751</c:v>
                </c:pt>
                <c:pt idx="119">
                  <c:v>2.41460313</c:v>
                </c:pt>
                <c:pt idx="120">
                  <c:v>2.4143468</c:v>
                </c:pt>
                <c:pt idx="121">
                  <c:v>2.26707237</c:v>
                </c:pt>
                <c:pt idx="122">
                  <c:v>2.26355845</c:v>
                </c:pt>
                <c:pt idx="123">
                  <c:v>2.19097147</c:v>
                </c:pt>
                <c:pt idx="124">
                  <c:v>2.15086209</c:v>
                </c:pt>
                <c:pt idx="125">
                  <c:v>2.02063954</c:v>
                </c:pt>
                <c:pt idx="126">
                  <c:v>2.07827465</c:v>
                </c:pt>
                <c:pt idx="127">
                  <c:v>2.35808108</c:v>
                </c:pt>
                <c:pt idx="128">
                  <c:v>2.26753989</c:v>
                </c:pt>
                <c:pt idx="129">
                  <c:v>2.40999774</c:v>
                </c:pt>
                <c:pt idx="130">
                  <c:v>2.34973877</c:v>
                </c:pt>
                <c:pt idx="131">
                  <c:v>2.43496463</c:v>
                </c:pt>
                <c:pt idx="132">
                  <c:v>2.47086296</c:v>
                </c:pt>
                <c:pt idx="133">
                  <c:v>2.46988141</c:v>
                </c:pt>
                <c:pt idx="134">
                  <c:v>2.67005826</c:v>
                </c:pt>
                <c:pt idx="135">
                  <c:v>2.81367599</c:v>
                </c:pt>
                <c:pt idx="136">
                  <c:v>2.80963803</c:v>
                </c:pt>
                <c:pt idx="137">
                  <c:v>2.8795019</c:v>
                </c:pt>
                <c:pt idx="138">
                  <c:v>2.27719238</c:v>
                </c:pt>
                <c:pt idx="139">
                  <c:v>2.23570152</c:v>
                </c:pt>
                <c:pt idx="140">
                  <c:v>1.99391973</c:v>
                </c:pt>
                <c:pt idx="141">
                  <c:v>1.6423932</c:v>
                </c:pt>
                <c:pt idx="142">
                  <c:v>1.68797413</c:v>
                </c:pt>
                <c:pt idx="143">
                  <c:v>1.78372248</c:v>
                </c:pt>
                <c:pt idx="144">
                  <c:v>1.78452821</c:v>
                </c:pt>
                <c:pt idx="145">
                  <c:v>1.80617986</c:v>
                </c:pt>
                <c:pt idx="146">
                  <c:v>1.66792417</c:v>
                </c:pt>
                <c:pt idx="147">
                  <c:v>1.59151417</c:v>
                </c:pt>
                <c:pt idx="148">
                  <c:v>1.23223183</c:v>
                </c:pt>
                <c:pt idx="149">
                  <c:v>1.27989262</c:v>
                </c:pt>
                <c:pt idx="150">
                  <c:v>1.27409358</c:v>
                </c:pt>
                <c:pt idx="151">
                  <c:v>1.28180158</c:v>
                </c:pt>
                <c:pt idx="152">
                  <c:v>1.11991463</c:v>
                </c:pt>
                <c:pt idx="153">
                  <c:v>1.15429162</c:v>
                </c:pt>
                <c:pt idx="154">
                  <c:v>1.15141136</c:v>
                </c:pt>
                <c:pt idx="155">
                  <c:v>1.07400501</c:v>
                </c:pt>
                <c:pt idx="156">
                  <c:v>1.13350396</c:v>
                </c:pt>
                <c:pt idx="157">
                  <c:v>1.11413917</c:v>
                </c:pt>
                <c:pt idx="158">
                  <c:v>1.09614695</c:v>
                </c:pt>
                <c:pt idx="159">
                  <c:v>1.11766876</c:v>
                </c:pt>
                <c:pt idx="160">
                  <c:v>0.99280113</c:v>
                </c:pt>
                <c:pt idx="161">
                  <c:v>1.02247157</c:v>
                </c:pt>
                <c:pt idx="162">
                  <c:v>0.94102258</c:v>
                </c:pt>
                <c:pt idx="163">
                  <c:v>0.93200698</c:v>
                </c:pt>
                <c:pt idx="164">
                  <c:v>0.92762446</c:v>
                </c:pt>
                <c:pt idx="165">
                  <c:v>0.89091567</c:v>
                </c:pt>
                <c:pt idx="166">
                  <c:v>0.85802999</c:v>
                </c:pt>
                <c:pt idx="167">
                  <c:v>0.84856283</c:v>
                </c:pt>
                <c:pt idx="168">
                  <c:v>0.77061402</c:v>
                </c:pt>
                <c:pt idx="169">
                  <c:v>0.77816066</c:v>
                </c:pt>
                <c:pt idx="170">
                  <c:v>0.71430692</c:v>
                </c:pt>
                <c:pt idx="171">
                  <c:v>0.71239741</c:v>
                </c:pt>
                <c:pt idx="172">
                  <c:v>0.65939726</c:v>
                </c:pt>
                <c:pt idx="173">
                  <c:v>0.5985235</c:v>
                </c:pt>
                <c:pt idx="174">
                  <c:v>0.5918367</c:v>
                </c:pt>
                <c:pt idx="175">
                  <c:v>0.57617291</c:v>
                </c:pt>
                <c:pt idx="176">
                  <c:v>0.67601255</c:v>
                </c:pt>
                <c:pt idx="177">
                  <c:v>0.76803989</c:v>
                </c:pt>
                <c:pt idx="178">
                  <c:v>0.87262068</c:v>
                </c:pt>
                <c:pt idx="179">
                  <c:v>0.89488719</c:v>
                </c:pt>
                <c:pt idx="180">
                  <c:v>0.84069001</c:v>
                </c:pt>
                <c:pt idx="181">
                  <c:v>0.8816732</c:v>
                </c:pt>
                <c:pt idx="182">
                  <c:v>0.82903</c:v>
                </c:pt>
                <c:pt idx="183">
                  <c:v>0.81093147</c:v>
                </c:pt>
                <c:pt idx="184">
                  <c:v>0.82595933</c:v>
                </c:pt>
                <c:pt idx="185">
                  <c:v>0.90383861</c:v>
                </c:pt>
                <c:pt idx="186">
                  <c:v>0.83490776</c:v>
                </c:pt>
                <c:pt idx="187">
                  <c:v>0.84014322</c:v>
                </c:pt>
                <c:pt idx="188">
                  <c:v>0.87403357</c:v>
                </c:pt>
                <c:pt idx="189">
                  <c:v>0.87780531</c:v>
                </c:pt>
                <c:pt idx="190">
                  <c:v>0.94115261</c:v>
                </c:pt>
                <c:pt idx="191">
                  <c:v>0.91578048</c:v>
                </c:pt>
                <c:pt idx="192">
                  <c:v>0.85289385</c:v>
                </c:pt>
                <c:pt idx="193">
                  <c:v>0.88703685</c:v>
                </c:pt>
                <c:pt idx="194">
                  <c:v>0.8698489</c:v>
                </c:pt>
                <c:pt idx="195">
                  <c:v>0.83485336</c:v>
                </c:pt>
                <c:pt idx="196">
                  <c:v>0.75451748</c:v>
                </c:pt>
                <c:pt idx="197">
                  <c:v>0.72017476</c:v>
                </c:pt>
                <c:pt idx="198">
                  <c:v>0.87838807</c:v>
                </c:pt>
                <c:pt idx="199">
                  <c:v>0.85697037</c:v>
                </c:pt>
                <c:pt idx="200">
                  <c:v>0.93534714</c:v>
                </c:pt>
                <c:pt idx="201">
                  <c:v>1.05353983</c:v>
                </c:pt>
                <c:pt idx="202">
                  <c:v>1.05787455</c:v>
                </c:pt>
                <c:pt idx="203">
                  <c:v>0.88796936</c:v>
                </c:pt>
                <c:pt idx="204">
                  <c:v>0.76532731</c:v>
                </c:pt>
                <c:pt idx="205">
                  <c:v>0.69299343</c:v>
                </c:pt>
                <c:pt idx="206">
                  <c:v>0.71652605</c:v>
                </c:pt>
                <c:pt idx="207">
                  <c:v>0.74916326</c:v>
                </c:pt>
                <c:pt idx="208">
                  <c:v>1.09882593</c:v>
                </c:pt>
                <c:pt idx="209">
                  <c:v>1.04711967</c:v>
                </c:pt>
                <c:pt idx="210">
                  <c:v>0.95708868</c:v>
                </c:pt>
                <c:pt idx="211">
                  <c:v>0.93446885</c:v>
                </c:pt>
                <c:pt idx="212">
                  <c:v>1.03560823</c:v>
                </c:pt>
                <c:pt idx="213">
                  <c:v>1.01939869</c:v>
                </c:pt>
                <c:pt idx="214">
                  <c:v>0.96486465</c:v>
                </c:pt>
                <c:pt idx="215">
                  <c:v>0.98037871</c:v>
                </c:pt>
                <c:pt idx="216">
                  <c:v>0.89238178</c:v>
                </c:pt>
                <c:pt idx="217">
                  <c:v>0.8949872</c:v>
                </c:pt>
                <c:pt idx="218">
                  <c:v>0.93189568</c:v>
                </c:pt>
                <c:pt idx="219">
                  <c:v>0.89820974</c:v>
                </c:pt>
                <c:pt idx="220">
                  <c:v>0.93119355</c:v>
                </c:pt>
                <c:pt idx="221">
                  <c:v>0.9906232</c:v>
                </c:pt>
                <c:pt idx="222">
                  <c:v>1.00842181</c:v>
                </c:pt>
                <c:pt idx="223">
                  <c:v>0.95213927</c:v>
                </c:pt>
                <c:pt idx="224">
                  <c:v>0.96732612</c:v>
                </c:pt>
                <c:pt idx="225">
                  <c:v>1.0720774</c:v>
                </c:pt>
                <c:pt idx="226">
                  <c:v>1.01687669</c:v>
                </c:pt>
                <c:pt idx="227">
                  <c:v>1.01118215</c:v>
                </c:pt>
                <c:pt idx="228">
                  <c:v>1.22425525</c:v>
                </c:pt>
                <c:pt idx="229">
                  <c:v>1.25838082</c:v>
                </c:pt>
                <c:pt idx="230">
                  <c:v>1.37466153</c:v>
                </c:pt>
                <c:pt idx="231">
                  <c:v>1.39089931</c:v>
                </c:pt>
                <c:pt idx="232">
                  <c:v>1.00181468</c:v>
                </c:pt>
                <c:pt idx="233">
                  <c:v>1.0893758</c:v>
                </c:pt>
                <c:pt idx="234">
                  <c:v>1.15989402</c:v>
                </c:pt>
                <c:pt idx="235">
                  <c:v>1.04670964</c:v>
                </c:pt>
                <c:pt idx="236">
                  <c:v>0.95279566</c:v>
                </c:pt>
                <c:pt idx="237">
                  <c:v>0.8244912</c:v>
                </c:pt>
                <c:pt idx="238">
                  <c:v>0.79898199</c:v>
                </c:pt>
                <c:pt idx="239">
                  <c:v>0.70998937</c:v>
                </c:pt>
                <c:pt idx="240">
                  <c:v>0.74548951</c:v>
                </c:pt>
              </c:numCache>
            </c:numRef>
          </c:yVal>
        </c:ser>
        <c:ser>
          <c:idx val="3"/>
          <c:order val="3"/>
          <c:tx>
            <c:v>Transformer</c:v>
          </c:tx>
          <c:spPr>
            <a:solidFill xmlns:a="http://schemas.openxmlformats.org/drawingml/2006/main">
              <a:srgbClr val="B7790B"/>
            </a:solidFill>
            <a:ln xmlns:a="http://schemas.openxmlformats.org/drawingml/2006/main" w="20003">
              <a:solidFill>
                <a:srgbClr val="B7790B"/>
              </a:solidFill>
            </a:ln>
          </c:spPr>
          <c:marker>
            <c:symbol val="none"/>
          </c:marker>
          <c:xVal>
            <c:numRef>
              <c:f>'Chart Data'!$G$2:$G$242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Data'!$H$2:$H$242</c:f>
              <c:numCache>
                <c:formatCode>0.000</c:formatCode>
                <c:ptCount val="241"/>
                <c:pt idx="0">
                  <c:v>1.83391487</c:v>
                </c:pt>
                <c:pt idx="1">
                  <c:v>1.69011561</c:v>
                </c:pt>
                <c:pt idx="2">
                  <c:v>1.93229499</c:v>
                </c:pt>
                <c:pt idx="3">
                  <c:v>1.94612021</c:v>
                </c:pt>
                <c:pt idx="4">
                  <c:v>1.90076344</c:v>
                </c:pt>
                <c:pt idx="5">
                  <c:v>1.96621034</c:v>
                </c:pt>
                <c:pt idx="6">
                  <c:v>2.01531798</c:v>
                </c:pt>
                <c:pt idx="7">
                  <c:v>2.00846603</c:v>
                </c:pt>
                <c:pt idx="8">
                  <c:v>1.92030022</c:v>
                </c:pt>
                <c:pt idx="9">
                  <c:v>1.83861221</c:v>
                </c:pt>
                <c:pt idx="10">
                  <c:v>1.80934663</c:v>
                </c:pt>
                <c:pt idx="11">
                  <c:v>1.84710084</c:v>
                </c:pt>
                <c:pt idx="12">
                  <c:v>1.86222647</c:v>
                </c:pt>
                <c:pt idx="13">
                  <c:v>1.71817768</c:v>
                </c:pt>
                <c:pt idx="14">
                  <c:v>1.7867534</c:v>
                </c:pt>
                <c:pt idx="15">
                  <c:v>1.77732057</c:v>
                </c:pt>
                <c:pt idx="16">
                  <c:v>1.72989809</c:v>
                </c:pt>
                <c:pt idx="17">
                  <c:v>1.83218269</c:v>
                </c:pt>
                <c:pt idx="18">
                  <c:v>1.87332244</c:v>
                </c:pt>
                <c:pt idx="19">
                  <c:v>1.87099309</c:v>
                </c:pt>
                <c:pt idx="20">
                  <c:v>1.75411751</c:v>
                </c:pt>
                <c:pt idx="21">
                  <c:v>1.75172181</c:v>
                </c:pt>
                <c:pt idx="22">
                  <c:v>1.75965984</c:v>
                </c:pt>
                <c:pt idx="23">
                  <c:v>1.89843367</c:v>
                </c:pt>
                <c:pt idx="24">
                  <c:v>1.84832443</c:v>
                </c:pt>
                <c:pt idx="25">
                  <c:v>1.68895432</c:v>
                </c:pt>
                <c:pt idx="26">
                  <c:v>1.80230327</c:v>
                </c:pt>
                <c:pt idx="27">
                  <c:v>1.74210861</c:v>
                </c:pt>
                <c:pt idx="28">
                  <c:v>1.75195248</c:v>
                </c:pt>
                <c:pt idx="29">
                  <c:v>1.76030383</c:v>
                </c:pt>
                <c:pt idx="30">
                  <c:v>1.78333506</c:v>
                </c:pt>
                <c:pt idx="31">
                  <c:v>1.74433458</c:v>
                </c:pt>
                <c:pt idx="32">
                  <c:v>1.65906796</c:v>
                </c:pt>
                <c:pt idx="33">
                  <c:v>1.69151246</c:v>
                </c:pt>
                <c:pt idx="34">
                  <c:v>1.63651129</c:v>
                </c:pt>
                <c:pt idx="35">
                  <c:v>1.61073087</c:v>
                </c:pt>
                <c:pt idx="36">
                  <c:v>1.54248401</c:v>
                </c:pt>
                <c:pt idx="37">
                  <c:v>1.58882738</c:v>
                </c:pt>
                <c:pt idx="38">
                  <c:v>1.29688236</c:v>
                </c:pt>
                <c:pt idx="39">
                  <c:v>1.31652842</c:v>
                </c:pt>
                <c:pt idx="40">
                  <c:v>1.27000379</c:v>
                </c:pt>
                <c:pt idx="41">
                  <c:v>1.31926335</c:v>
                </c:pt>
                <c:pt idx="42">
                  <c:v>1.2970011</c:v>
                </c:pt>
                <c:pt idx="43">
                  <c:v>1.37126245</c:v>
                </c:pt>
                <c:pt idx="44">
                  <c:v>1.42325629</c:v>
                </c:pt>
                <c:pt idx="45">
                  <c:v>1.52602031</c:v>
                </c:pt>
                <c:pt idx="46">
                  <c:v>1.48836448</c:v>
                </c:pt>
                <c:pt idx="47">
                  <c:v>1.50092444</c:v>
                </c:pt>
                <c:pt idx="48">
                  <c:v>1.50209178</c:v>
                </c:pt>
                <c:pt idx="49">
                  <c:v>0.79602031</c:v>
                </c:pt>
                <c:pt idx="50">
                  <c:v>0.9154016</c:v>
                </c:pt>
                <c:pt idx="51">
                  <c:v>0.98955373</c:v>
                </c:pt>
                <c:pt idx="52">
                  <c:v>1.05076452</c:v>
                </c:pt>
                <c:pt idx="53">
                  <c:v>1.15225896</c:v>
                </c:pt>
                <c:pt idx="54">
                  <c:v>1.14680764</c:v>
                </c:pt>
                <c:pt idx="55">
                  <c:v>1.18023527</c:v>
                </c:pt>
                <c:pt idx="56">
                  <c:v>1.23281467</c:v>
                </c:pt>
                <c:pt idx="57">
                  <c:v>1.29775514</c:v>
                </c:pt>
                <c:pt idx="58">
                  <c:v>1.1003839</c:v>
                </c:pt>
                <c:pt idx="59">
                  <c:v>0.95485834</c:v>
                </c:pt>
                <c:pt idx="60">
                  <c:v>0.91674466</c:v>
                </c:pt>
                <c:pt idx="61">
                  <c:v>1.00917006</c:v>
                </c:pt>
                <c:pt idx="62">
                  <c:v>1.05158453</c:v>
                </c:pt>
                <c:pt idx="63">
                  <c:v>1.04293792</c:v>
                </c:pt>
                <c:pt idx="64">
                  <c:v>1.12194967</c:v>
                </c:pt>
                <c:pt idx="65">
                  <c:v>1.12459053</c:v>
                </c:pt>
                <c:pt idx="66">
                  <c:v>1.17509132</c:v>
                </c:pt>
                <c:pt idx="67">
                  <c:v>1.23243754</c:v>
                </c:pt>
                <c:pt idx="68">
                  <c:v>1.25590284</c:v>
                </c:pt>
                <c:pt idx="69">
                  <c:v>1.28413531</c:v>
                </c:pt>
                <c:pt idx="70">
                  <c:v>1.22008902</c:v>
                </c:pt>
                <c:pt idx="71">
                  <c:v>1.01236717</c:v>
                </c:pt>
                <c:pt idx="72">
                  <c:v>1.02246022</c:v>
                </c:pt>
                <c:pt idx="73">
                  <c:v>1.04492464</c:v>
                </c:pt>
                <c:pt idx="74">
                  <c:v>1.01301542</c:v>
                </c:pt>
                <c:pt idx="75">
                  <c:v>0.98901833</c:v>
                </c:pt>
                <c:pt idx="76">
                  <c:v>1.01309435</c:v>
                </c:pt>
                <c:pt idx="77">
                  <c:v>0.97111445</c:v>
                </c:pt>
                <c:pt idx="78">
                  <c:v>0.96308221</c:v>
                </c:pt>
                <c:pt idx="79">
                  <c:v>0.98593311</c:v>
                </c:pt>
                <c:pt idx="80">
                  <c:v>0.9805886</c:v>
                </c:pt>
                <c:pt idx="81">
                  <c:v>1.00523573</c:v>
                </c:pt>
                <c:pt idx="82">
                  <c:v>1.05133126</c:v>
                </c:pt>
                <c:pt idx="83">
                  <c:v>1.01541362</c:v>
                </c:pt>
                <c:pt idx="84">
                  <c:v>1.04005367</c:v>
                </c:pt>
                <c:pt idx="85">
                  <c:v>1.11705666</c:v>
                </c:pt>
                <c:pt idx="86">
                  <c:v>1.14954817</c:v>
                </c:pt>
                <c:pt idx="87">
                  <c:v>1.19490255</c:v>
                </c:pt>
                <c:pt idx="88">
                  <c:v>1.17806239</c:v>
                </c:pt>
                <c:pt idx="89">
                  <c:v>1.18024006</c:v>
                </c:pt>
                <c:pt idx="90">
                  <c:v>1.17759241</c:v>
                </c:pt>
                <c:pt idx="91">
                  <c:v>1.19293972</c:v>
                </c:pt>
                <c:pt idx="92">
                  <c:v>1.21841448</c:v>
                </c:pt>
                <c:pt idx="93">
                  <c:v>1.26550506</c:v>
                </c:pt>
                <c:pt idx="94">
                  <c:v>1.28297208</c:v>
                </c:pt>
                <c:pt idx="95">
                  <c:v>1.29771153</c:v>
                </c:pt>
                <c:pt idx="96">
                  <c:v>1.31524194</c:v>
                </c:pt>
                <c:pt idx="97">
                  <c:v>1.32530692</c:v>
                </c:pt>
                <c:pt idx="98">
                  <c:v>1.45458271</c:v>
                </c:pt>
                <c:pt idx="99">
                  <c:v>1.38996298</c:v>
                </c:pt>
                <c:pt idx="100">
                  <c:v>1.38159198</c:v>
                </c:pt>
                <c:pt idx="101">
                  <c:v>1.34886838</c:v>
                </c:pt>
                <c:pt idx="102">
                  <c:v>1.36080197</c:v>
                </c:pt>
                <c:pt idx="103">
                  <c:v>1.3173099</c:v>
                </c:pt>
                <c:pt idx="104">
                  <c:v>1.28679099</c:v>
                </c:pt>
                <c:pt idx="105">
                  <c:v>1.22910517</c:v>
                </c:pt>
                <c:pt idx="106">
                  <c:v>1.20806073</c:v>
                </c:pt>
                <c:pt idx="107">
                  <c:v>1.18929929</c:v>
                </c:pt>
                <c:pt idx="108">
                  <c:v>1.10474288</c:v>
                </c:pt>
                <c:pt idx="109">
                  <c:v>1.69332713</c:v>
                </c:pt>
                <c:pt idx="110">
                  <c:v>1.64116064</c:v>
                </c:pt>
                <c:pt idx="111">
                  <c:v>1.59532004</c:v>
                </c:pt>
                <c:pt idx="112">
                  <c:v>1.58295395</c:v>
                </c:pt>
                <c:pt idx="113">
                  <c:v>1.46871524</c:v>
                </c:pt>
                <c:pt idx="114">
                  <c:v>1.47108879</c:v>
                </c:pt>
                <c:pt idx="115">
                  <c:v>1.40740731</c:v>
                </c:pt>
                <c:pt idx="116">
                  <c:v>1.36298964</c:v>
                </c:pt>
                <c:pt idx="117">
                  <c:v>1.30227625</c:v>
                </c:pt>
                <c:pt idx="118">
                  <c:v>1.56952682</c:v>
                </c:pt>
                <c:pt idx="119">
                  <c:v>1.79355486</c:v>
                </c:pt>
                <c:pt idx="120">
                  <c:v>1.81720777</c:v>
                </c:pt>
                <c:pt idx="121">
                  <c:v>1.75210138</c:v>
                </c:pt>
                <c:pt idx="122">
                  <c:v>1.69451994</c:v>
                </c:pt>
                <c:pt idx="123">
                  <c:v>1.72034955</c:v>
                </c:pt>
                <c:pt idx="124">
                  <c:v>1.71033151</c:v>
                </c:pt>
                <c:pt idx="125">
                  <c:v>1.72273328</c:v>
                </c:pt>
                <c:pt idx="126">
                  <c:v>1.61689847</c:v>
                </c:pt>
                <c:pt idx="127">
                  <c:v>1.48427152</c:v>
                </c:pt>
                <c:pt idx="128">
                  <c:v>1.52728195</c:v>
                </c:pt>
                <c:pt idx="129">
                  <c:v>1.55023584</c:v>
                </c:pt>
                <c:pt idx="130">
                  <c:v>1.83477036</c:v>
                </c:pt>
                <c:pt idx="131">
                  <c:v>2.81639712</c:v>
                </c:pt>
                <c:pt idx="132">
                  <c:v>2.94939275</c:v>
                </c:pt>
                <c:pt idx="133">
                  <c:v>2.69557297</c:v>
                </c:pt>
                <c:pt idx="134">
                  <c:v>2.81992784</c:v>
                </c:pt>
                <c:pt idx="135">
                  <c:v>2.84121261</c:v>
                </c:pt>
                <c:pt idx="136">
                  <c:v>2.90560062</c:v>
                </c:pt>
                <c:pt idx="137">
                  <c:v>3.09945045</c:v>
                </c:pt>
                <c:pt idx="138">
                  <c:v>2.71304464</c:v>
                </c:pt>
                <c:pt idx="139">
                  <c:v>2.69258105</c:v>
                </c:pt>
                <c:pt idx="140">
                  <c:v>2.84279815</c:v>
                </c:pt>
                <c:pt idx="141">
                  <c:v>2.80493544</c:v>
                </c:pt>
                <c:pt idx="142">
                  <c:v>1.96804521</c:v>
                </c:pt>
                <c:pt idx="143">
                  <c:v>1.8525564</c:v>
                </c:pt>
                <c:pt idx="144">
                  <c:v>1.85368369</c:v>
                </c:pt>
                <c:pt idx="145">
                  <c:v>1.41760938</c:v>
                </c:pt>
                <c:pt idx="146">
                  <c:v>1.09542192</c:v>
                </c:pt>
                <c:pt idx="147">
                  <c:v>1.02927329</c:v>
                </c:pt>
                <c:pt idx="148">
                  <c:v>0.79489568</c:v>
                </c:pt>
                <c:pt idx="149">
                  <c:v>0.82862957</c:v>
                </c:pt>
                <c:pt idx="150">
                  <c:v>0.78523677</c:v>
                </c:pt>
                <c:pt idx="151">
                  <c:v>0.78003833</c:v>
                </c:pt>
                <c:pt idx="152">
                  <c:v>0.51273469</c:v>
                </c:pt>
                <c:pt idx="153">
                  <c:v>0.48429527</c:v>
                </c:pt>
                <c:pt idx="154">
                  <c:v>0.50759031</c:v>
                </c:pt>
                <c:pt idx="155">
                  <c:v>0.52754838</c:v>
                </c:pt>
                <c:pt idx="156">
                  <c:v>0.55426131</c:v>
                </c:pt>
                <c:pt idx="157">
                  <c:v>0.4474591</c:v>
                </c:pt>
                <c:pt idx="158">
                  <c:v>0.42282525</c:v>
                </c:pt>
                <c:pt idx="159">
                  <c:v>0.41805058</c:v>
                </c:pt>
                <c:pt idx="160">
                  <c:v>0.32715194</c:v>
                </c:pt>
                <c:pt idx="161">
                  <c:v>0.2847923</c:v>
                </c:pt>
                <c:pt idx="162">
                  <c:v>0.26208722</c:v>
                </c:pt>
                <c:pt idx="163">
                  <c:v>0.26026051</c:v>
                </c:pt>
                <c:pt idx="164">
                  <c:v>0.24732201</c:v>
                </c:pt>
                <c:pt idx="165">
                  <c:v>0.32852114</c:v>
                </c:pt>
                <c:pt idx="166">
                  <c:v>0.36632554</c:v>
                </c:pt>
                <c:pt idx="167">
                  <c:v>0.31258078</c:v>
                </c:pt>
                <c:pt idx="168">
                  <c:v>0.32503615</c:v>
                </c:pt>
                <c:pt idx="169">
                  <c:v>0.26163467</c:v>
                </c:pt>
                <c:pt idx="170">
                  <c:v>0.18587306</c:v>
                </c:pt>
                <c:pt idx="171">
                  <c:v>0.18826117</c:v>
                </c:pt>
                <c:pt idx="172">
                  <c:v>0.214873</c:v>
                </c:pt>
                <c:pt idx="173">
                  <c:v>0.27037523</c:v>
                </c:pt>
                <c:pt idx="174">
                  <c:v>0.27523077</c:v>
                </c:pt>
                <c:pt idx="175">
                  <c:v>0.23303709</c:v>
                </c:pt>
                <c:pt idx="176">
                  <c:v>0.22241358</c:v>
                </c:pt>
                <c:pt idx="177">
                  <c:v>0.20848376</c:v>
                </c:pt>
                <c:pt idx="178">
                  <c:v>0.24707622</c:v>
                </c:pt>
                <c:pt idx="179">
                  <c:v>0.3159731</c:v>
                </c:pt>
                <c:pt idx="180">
                  <c:v>0.2987505</c:v>
                </c:pt>
                <c:pt idx="181">
                  <c:v>0.30571586</c:v>
                </c:pt>
                <c:pt idx="182">
                  <c:v>0.2777791</c:v>
                </c:pt>
                <c:pt idx="183">
                  <c:v>0.25733453</c:v>
                </c:pt>
                <c:pt idx="184">
                  <c:v>0.22987561</c:v>
                </c:pt>
                <c:pt idx="185">
                  <c:v>0.15760392</c:v>
                </c:pt>
                <c:pt idx="186">
                  <c:v>0.23159099</c:v>
                </c:pt>
                <c:pt idx="187">
                  <c:v>0.30023411</c:v>
                </c:pt>
                <c:pt idx="188">
                  <c:v>0.26623398</c:v>
                </c:pt>
                <c:pt idx="189">
                  <c:v>0.21759964</c:v>
                </c:pt>
                <c:pt idx="190">
                  <c:v>0.21067626</c:v>
                </c:pt>
                <c:pt idx="191">
                  <c:v>0.23526511</c:v>
                </c:pt>
                <c:pt idx="192">
                  <c:v>0.19112547</c:v>
                </c:pt>
                <c:pt idx="193">
                  <c:v>0.28125404</c:v>
                </c:pt>
                <c:pt idx="194">
                  <c:v>0.25466687</c:v>
                </c:pt>
                <c:pt idx="195">
                  <c:v>0.23357172</c:v>
                </c:pt>
                <c:pt idx="196">
                  <c:v>0.18811326</c:v>
                </c:pt>
                <c:pt idx="197">
                  <c:v>0.10014651</c:v>
                </c:pt>
                <c:pt idx="198">
                  <c:v>0.2005168</c:v>
                </c:pt>
                <c:pt idx="199">
                  <c:v>0.05393662</c:v>
                </c:pt>
                <c:pt idx="200">
                  <c:v>0.01032696</c:v>
                </c:pt>
                <c:pt idx="201">
                  <c:v>0.00329103</c:v>
                </c:pt>
                <c:pt idx="202">
                  <c:v>0.20292265</c:v>
                </c:pt>
                <c:pt idx="203">
                  <c:v>0.29284883</c:v>
                </c:pt>
                <c:pt idx="204">
                  <c:v>0.22219156</c:v>
                </c:pt>
                <c:pt idx="205">
                  <c:v>0.31157439</c:v>
                </c:pt>
                <c:pt idx="206">
                  <c:v>0.46535923</c:v>
                </c:pt>
                <c:pt idx="207">
                  <c:v>0.55785095</c:v>
                </c:pt>
                <c:pt idx="208">
                  <c:v>0.84800847</c:v>
                </c:pt>
                <c:pt idx="209">
                  <c:v>0.8591458</c:v>
                </c:pt>
                <c:pt idx="210">
                  <c:v>0.8713081</c:v>
                </c:pt>
                <c:pt idx="211">
                  <c:v>0.89414692</c:v>
                </c:pt>
                <c:pt idx="212">
                  <c:v>1.3665119</c:v>
                </c:pt>
                <c:pt idx="213">
                  <c:v>1.33453329</c:v>
                </c:pt>
                <c:pt idx="214">
                  <c:v>1.37003837</c:v>
                </c:pt>
                <c:pt idx="215">
                  <c:v>1.37596174</c:v>
                </c:pt>
                <c:pt idx="216">
                  <c:v>1.37520209</c:v>
                </c:pt>
                <c:pt idx="217">
                  <c:v>1.56623819</c:v>
                </c:pt>
                <c:pt idx="218">
                  <c:v>1.49326486</c:v>
                </c:pt>
                <c:pt idx="219">
                  <c:v>1.58377675</c:v>
                </c:pt>
                <c:pt idx="220">
                  <c:v>1.67409801</c:v>
                </c:pt>
                <c:pt idx="221">
                  <c:v>1.86454811</c:v>
                </c:pt>
                <c:pt idx="222">
                  <c:v>1.89861838</c:v>
                </c:pt>
                <c:pt idx="223">
                  <c:v>1.92748</c:v>
                </c:pt>
                <c:pt idx="224">
                  <c:v>1.85148875</c:v>
                </c:pt>
                <c:pt idx="225">
                  <c:v>1.83955242</c:v>
                </c:pt>
                <c:pt idx="226">
                  <c:v>1.84632696</c:v>
                </c:pt>
                <c:pt idx="227">
                  <c:v>1.92802198</c:v>
                </c:pt>
                <c:pt idx="228">
                  <c:v>1.95242612</c:v>
                </c:pt>
                <c:pt idx="229">
                  <c:v>2.08288219</c:v>
                </c:pt>
                <c:pt idx="230">
                  <c:v>2.17709198</c:v>
                </c:pt>
                <c:pt idx="231">
                  <c:v>1.95815162</c:v>
                </c:pt>
                <c:pt idx="232">
                  <c:v>1.36610294</c:v>
                </c:pt>
                <c:pt idx="233">
                  <c:v>1.43703546</c:v>
                </c:pt>
                <c:pt idx="234">
                  <c:v>1.38126108</c:v>
                </c:pt>
                <c:pt idx="235">
                  <c:v>1.33398668</c:v>
                </c:pt>
                <c:pt idx="236">
                  <c:v>1.26945233</c:v>
                </c:pt>
                <c:pt idx="237">
                  <c:v>1.24092052</c:v>
                </c:pt>
                <c:pt idx="238">
                  <c:v>1.20646159</c:v>
                </c:pt>
                <c:pt idx="239">
                  <c:v>1.10605691</c:v>
                </c:pt>
                <c:pt idx="240">
                  <c:v>1.09524245</c:v>
                </c:pt>
              </c:numCache>
            </c:numRef>
          </c:yVal>
        </c:ser>
        <c:ser>
          <c:idx val="4"/>
          <c:order val="4"/>
          <c:tx>
            <c:v>50/50 blend</c:v>
          </c:tx>
          <c:spPr>
            <a:solidFill xmlns:a="http://schemas.openxmlformats.org/drawingml/2006/main">
              <a:srgbClr val="16816B"/>
            </a:solidFill>
            <a:ln xmlns:a="http://schemas.openxmlformats.org/drawingml/2006/main" w="20003">
              <a:solidFill>
                <a:srgbClr val="16816B"/>
              </a:solidFill>
            </a:ln>
          </c:spPr>
          <c:marker>
            <c:symbol val="none"/>
          </c:marker>
          <c:xVal>
            <c:numRef>
              <c:f>'Chart Data'!$I$2:$I$242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Data'!$J$2:$J$242</c:f>
              <c:numCache>
                <c:formatCode>0.000</c:formatCode>
                <c:ptCount val="241"/>
                <c:pt idx="0">
                  <c:v>3.15436921</c:v>
                </c:pt>
                <c:pt idx="1">
                  <c:v>3.090252</c:v>
                </c:pt>
                <c:pt idx="2">
                  <c:v>3.40028292</c:v>
                </c:pt>
                <c:pt idx="3">
                  <c:v>3.40668105</c:v>
                </c:pt>
                <c:pt idx="4">
                  <c:v>3.36191588</c:v>
                </c:pt>
                <c:pt idx="5">
                  <c:v>3.40694568</c:v>
                </c:pt>
                <c:pt idx="6">
                  <c:v>3.42341191</c:v>
                </c:pt>
                <c:pt idx="7">
                  <c:v>3.35049231</c:v>
                </c:pt>
                <c:pt idx="8">
                  <c:v>3.17095737</c:v>
                </c:pt>
                <c:pt idx="9">
                  <c:v>3.1760089</c:v>
                </c:pt>
                <c:pt idx="10">
                  <c:v>3.14952971</c:v>
                </c:pt>
                <c:pt idx="11">
                  <c:v>3.14903925</c:v>
                </c:pt>
                <c:pt idx="12">
                  <c:v>3.14882373</c:v>
                </c:pt>
                <c:pt idx="13">
                  <c:v>3.00890722</c:v>
                </c:pt>
                <c:pt idx="14">
                  <c:v>3.02919171</c:v>
                </c:pt>
                <c:pt idx="15">
                  <c:v>3.03773953</c:v>
                </c:pt>
                <c:pt idx="16">
                  <c:v>2.93417284</c:v>
                </c:pt>
                <c:pt idx="17">
                  <c:v>3.04327457</c:v>
                </c:pt>
                <c:pt idx="18">
                  <c:v>3.09685189</c:v>
                </c:pt>
                <c:pt idx="19">
                  <c:v>3.04199249</c:v>
                </c:pt>
                <c:pt idx="20">
                  <c:v>3.04624271</c:v>
                </c:pt>
                <c:pt idx="21">
                  <c:v>3.120519</c:v>
                </c:pt>
                <c:pt idx="22">
                  <c:v>3.22691544</c:v>
                </c:pt>
                <c:pt idx="23">
                  <c:v>3.42469055</c:v>
                </c:pt>
                <c:pt idx="24">
                  <c:v>3.40812379</c:v>
                </c:pt>
                <c:pt idx="25">
                  <c:v>3.18289269</c:v>
                </c:pt>
                <c:pt idx="26">
                  <c:v>3.33872903</c:v>
                </c:pt>
                <c:pt idx="27">
                  <c:v>3.23387702</c:v>
                </c:pt>
                <c:pt idx="28">
                  <c:v>3.23789903</c:v>
                </c:pt>
                <c:pt idx="29">
                  <c:v>3.33387494</c:v>
                </c:pt>
                <c:pt idx="30">
                  <c:v>3.34736223</c:v>
                </c:pt>
                <c:pt idx="31">
                  <c:v>3.36729645</c:v>
                </c:pt>
                <c:pt idx="32">
                  <c:v>3.26087758</c:v>
                </c:pt>
                <c:pt idx="33">
                  <c:v>3.19845055</c:v>
                </c:pt>
                <c:pt idx="34">
                  <c:v>3.17601834</c:v>
                </c:pt>
                <c:pt idx="35">
                  <c:v>3.07673284</c:v>
                </c:pt>
                <c:pt idx="36">
                  <c:v>2.61436419</c:v>
                </c:pt>
                <c:pt idx="37">
                  <c:v>2.63894293</c:v>
                </c:pt>
                <c:pt idx="38">
                  <c:v>1.48786633</c:v>
                </c:pt>
                <c:pt idx="39">
                  <c:v>1.5228507</c:v>
                </c:pt>
                <c:pt idx="40">
                  <c:v>1.53525953</c:v>
                </c:pt>
                <c:pt idx="41">
                  <c:v>1.55946273</c:v>
                </c:pt>
                <c:pt idx="42">
                  <c:v>1.57105548</c:v>
                </c:pt>
                <c:pt idx="43">
                  <c:v>1.64224547</c:v>
                </c:pt>
                <c:pt idx="44">
                  <c:v>1.64047312</c:v>
                </c:pt>
                <c:pt idx="45">
                  <c:v>1.72839405</c:v>
                </c:pt>
                <c:pt idx="46">
                  <c:v>1.73083416</c:v>
                </c:pt>
                <c:pt idx="47">
                  <c:v>1.76364079</c:v>
                </c:pt>
                <c:pt idx="48">
                  <c:v>1.78268304</c:v>
                </c:pt>
                <c:pt idx="49">
                  <c:v>1.45743915</c:v>
                </c:pt>
                <c:pt idx="50">
                  <c:v>1.51317187</c:v>
                </c:pt>
                <c:pt idx="51">
                  <c:v>1.59120177</c:v>
                </c:pt>
                <c:pt idx="52">
                  <c:v>1.660655</c:v>
                </c:pt>
                <c:pt idx="53">
                  <c:v>1.73179897</c:v>
                </c:pt>
                <c:pt idx="54">
                  <c:v>1.7005298</c:v>
                </c:pt>
                <c:pt idx="55">
                  <c:v>1.71728041</c:v>
                </c:pt>
                <c:pt idx="56">
                  <c:v>1.73096615</c:v>
                </c:pt>
                <c:pt idx="57">
                  <c:v>1.76470676</c:v>
                </c:pt>
                <c:pt idx="58">
                  <c:v>1.64014198</c:v>
                </c:pt>
                <c:pt idx="59">
                  <c:v>1.57027188</c:v>
                </c:pt>
                <c:pt idx="60">
                  <c:v>1.55164818</c:v>
                </c:pt>
                <c:pt idx="61">
                  <c:v>1.61751632</c:v>
                </c:pt>
                <c:pt idx="62">
                  <c:v>1.62115141</c:v>
                </c:pt>
                <c:pt idx="63">
                  <c:v>1.61660092</c:v>
                </c:pt>
                <c:pt idx="64">
                  <c:v>1.67204166</c:v>
                </c:pt>
                <c:pt idx="65">
                  <c:v>1.67066385</c:v>
                </c:pt>
                <c:pt idx="66">
                  <c:v>1.68945371</c:v>
                </c:pt>
                <c:pt idx="67">
                  <c:v>1.69693943</c:v>
                </c:pt>
                <c:pt idx="68">
                  <c:v>1.72948774</c:v>
                </c:pt>
                <c:pt idx="69">
                  <c:v>1.68049541</c:v>
                </c:pt>
                <c:pt idx="70">
                  <c:v>1.65786339</c:v>
                </c:pt>
                <c:pt idx="71">
                  <c:v>1.50119441</c:v>
                </c:pt>
                <c:pt idx="72">
                  <c:v>1.54121129</c:v>
                </c:pt>
                <c:pt idx="73">
                  <c:v>1.54939886</c:v>
                </c:pt>
                <c:pt idx="74">
                  <c:v>1.47878285</c:v>
                </c:pt>
                <c:pt idx="75">
                  <c:v>1.42274543</c:v>
                </c:pt>
                <c:pt idx="76">
                  <c:v>1.45897302</c:v>
                </c:pt>
                <c:pt idx="77">
                  <c:v>1.46904856</c:v>
                </c:pt>
                <c:pt idx="78">
                  <c:v>1.49623586</c:v>
                </c:pt>
                <c:pt idx="79">
                  <c:v>1.53389288</c:v>
                </c:pt>
                <c:pt idx="80">
                  <c:v>1.52650677</c:v>
                </c:pt>
                <c:pt idx="81">
                  <c:v>1.52308932</c:v>
                </c:pt>
                <c:pt idx="82">
                  <c:v>1.54340846</c:v>
                </c:pt>
                <c:pt idx="83">
                  <c:v>1.49756147</c:v>
                </c:pt>
                <c:pt idx="84">
                  <c:v>1.52946653</c:v>
                </c:pt>
                <c:pt idx="85">
                  <c:v>1.6023708</c:v>
                </c:pt>
                <c:pt idx="86">
                  <c:v>1.65474133</c:v>
                </c:pt>
                <c:pt idx="87">
                  <c:v>1.70248776</c:v>
                </c:pt>
                <c:pt idx="88">
                  <c:v>1.66903455</c:v>
                </c:pt>
                <c:pt idx="89">
                  <c:v>1.64483633</c:v>
                </c:pt>
                <c:pt idx="90">
                  <c:v>1.62978693</c:v>
                </c:pt>
                <c:pt idx="91">
                  <c:v>1.63911648</c:v>
                </c:pt>
                <c:pt idx="92">
                  <c:v>1.6756626</c:v>
                </c:pt>
                <c:pt idx="93">
                  <c:v>1.73671311</c:v>
                </c:pt>
                <c:pt idx="94">
                  <c:v>1.738506</c:v>
                </c:pt>
                <c:pt idx="95">
                  <c:v>1.79730414</c:v>
                </c:pt>
                <c:pt idx="96">
                  <c:v>1.87464179</c:v>
                </c:pt>
                <c:pt idx="97">
                  <c:v>1.89272657</c:v>
                </c:pt>
                <c:pt idx="98">
                  <c:v>2.47568136</c:v>
                </c:pt>
                <c:pt idx="99">
                  <c:v>2.3957376</c:v>
                </c:pt>
                <c:pt idx="100">
                  <c:v>2.36625528</c:v>
                </c:pt>
                <c:pt idx="101">
                  <c:v>2.32585168</c:v>
                </c:pt>
                <c:pt idx="102">
                  <c:v>2.35447152</c:v>
                </c:pt>
                <c:pt idx="103">
                  <c:v>2.27556522</c:v>
                </c:pt>
                <c:pt idx="104">
                  <c:v>2.30720787</c:v>
                </c:pt>
                <c:pt idx="105">
                  <c:v>2.2272436</c:v>
                </c:pt>
                <c:pt idx="106">
                  <c:v>2.17010253</c:v>
                </c:pt>
                <c:pt idx="107">
                  <c:v>2.12239082</c:v>
                </c:pt>
                <c:pt idx="108">
                  <c:v>2.0409023</c:v>
                </c:pt>
                <c:pt idx="109">
                  <c:v>2.51831844</c:v>
                </c:pt>
                <c:pt idx="110">
                  <c:v>2.71831785</c:v>
                </c:pt>
                <c:pt idx="111">
                  <c:v>2.67653264</c:v>
                </c:pt>
                <c:pt idx="112">
                  <c:v>2.64775163</c:v>
                </c:pt>
                <c:pt idx="113">
                  <c:v>2.56985804</c:v>
                </c:pt>
                <c:pt idx="114">
                  <c:v>2.57933762</c:v>
                </c:pt>
                <c:pt idx="115">
                  <c:v>2.54214913</c:v>
                </c:pt>
                <c:pt idx="116">
                  <c:v>2.50755731</c:v>
                </c:pt>
                <c:pt idx="117">
                  <c:v>2.44851327</c:v>
                </c:pt>
                <c:pt idx="118">
                  <c:v>2.64423488</c:v>
                </c:pt>
                <c:pt idx="119">
                  <c:v>2.75690869</c:v>
                </c:pt>
                <c:pt idx="120">
                  <c:v>2.77455098</c:v>
                </c:pt>
                <c:pt idx="121">
                  <c:v>2.67868129</c:v>
                </c:pt>
                <c:pt idx="122">
                  <c:v>2.65868124</c:v>
                </c:pt>
                <c:pt idx="123">
                  <c:v>2.63714353</c:v>
                </c:pt>
                <c:pt idx="124">
                  <c:v>2.64196449</c:v>
                </c:pt>
                <c:pt idx="125">
                  <c:v>2.61070394</c:v>
                </c:pt>
                <c:pt idx="126">
                  <c:v>2.52481924</c:v>
                </c:pt>
                <c:pt idx="127">
                  <c:v>2.51619689</c:v>
                </c:pt>
                <c:pt idx="128">
                  <c:v>2.49851291</c:v>
                </c:pt>
                <c:pt idx="129">
                  <c:v>2.58755691</c:v>
                </c:pt>
                <c:pt idx="130">
                  <c:v>2.76291957</c:v>
                </c:pt>
                <c:pt idx="131">
                  <c:v>3.60954691</c:v>
                </c:pt>
                <c:pt idx="132">
                  <c:v>4.14171703</c:v>
                </c:pt>
                <c:pt idx="133">
                  <c:v>3.93715278</c:v>
                </c:pt>
                <c:pt idx="134">
                  <c:v>4.22501776</c:v>
                </c:pt>
                <c:pt idx="135">
                  <c:v>4.38607594</c:v>
                </c:pt>
                <c:pt idx="136">
                  <c:v>4.38088689</c:v>
                </c:pt>
                <c:pt idx="137">
                  <c:v>4.36462273</c:v>
                </c:pt>
                <c:pt idx="138">
                  <c:v>3.21893489</c:v>
                </c:pt>
                <c:pt idx="139">
                  <c:v>3.19655384</c:v>
                </c:pt>
                <c:pt idx="140">
                  <c:v>3.07111564</c:v>
                </c:pt>
                <c:pt idx="141">
                  <c:v>2.8221419</c:v>
                </c:pt>
                <c:pt idx="142">
                  <c:v>2.42049352</c:v>
                </c:pt>
                <c:pt idx="143">
                  <c:v>2.48780255</c:v>
                </c:pt>
                <c:pt idx="144">
                  <c:v>2.4876571</c:v>
                </c:pt>
                <c:pt idx="145">
                  <c:v>2.25400178</c:v>
                </c:pt>
                <c:pt idx="146">
                  <c:v>1.84688378</c:v>
                </c:pt>
                <c:pt idx="147">
                  <c:v>1.73279107</c:v>
                </c:pt>
                <c:pt idx="148">
                  <c:v>1.2569921</c:v>
                </c:pt>
                <c:pt idx="149">
                  <c:v>1.30619507</c:v>
                </c:pt>
                <c:pt idx="150">
                  <c:v>1.27611855</c:v>
                </c:pt>
                <c:pt idx="151">
                  <c:v>1.28039208</c:v>
                </c:pt>
                <c:pt idx="152">
                  <c:v>0.95424487</c:v>
                </c:pt>
                <c:pt idx="153">
                  <c:v>0.95316561</c:v>
                </c:pt>
                <c:pt idx="154">
                  <c:v>0.96944228</c:v>
                </c:pt>
                <c:pt idx="155">
                  <c:v>0.94674358</c:v>
                </c:pt>
                <c:pt idx="156">
                  <c:v>0.99459885</c:v>
                </c:pt>
                <c:pt idx="157">
                  <c:v>0.90910354</c:v>
                </c:pt>
                <c:pt idx="158">
                  <c:v>0.8837276</c:v>
                </c:pt>
                <c:pt idx="159">
                  <c:v>0.8925075</c:v>
                </c:pt>
                <c:pt idx="160">
                  <c:v>0.74322576</c:v>
                </c:pt>
                <c:pt idx="161">
                  <c:v>0.72417111</c:v>
                </c:pt>
                <c:pt idx="162">
                  <c:v>0.66804083</c:v>
                </c:pt>
                <c:pt idx="163">
                  <c:v>0.66244456</c:v>
                </c:pt>
                <c:pt idx="164">
                  <c:v>0.6512631</c:v>
                </c:pt>
                <c:pt idx="165">
                  <c:v>0.69791361</c:v>
                </c:pt>
                <c:pt idx="166">
                  <c:v>0.71215629</c:v>
                </c:pt>
                <c:pt idx="167">
                  <c:v>0.6659262</c:v>
                </c:pt>
                <c:pt idx="168">
                  <c:v>0.64088574</c:v>
                </c:pt>
                <c:pt idx="169">
                  <c:v>0.59670129</c:v>
                </c:pt>
                <c:pt idx="170">
                  <c:v>0.5039536</c:v>
                </c:pt>
                <c:pt idx="171">
                  <c:v>0.50478889</c:v>
                </c:pt>
                <c:pt idx="172">
                  <c:v>0.49797883</c:v>
                </c:pt>
                <c:pt idx="173">
                  <c:v>0.50611028</c:v>
                </c:pt>
                <c:pt idx="174">
                  <c:v>0.50650255</c:v>
                </c:pt>
                <c:pt idx="175">
                  <c:v>0.46691989</c:v>
                </c:pt>
                <c:pt idx="176">
                  <c:v>0.5137217</c:v>
                </c:pt>
                <c:pt idx="177">
                  <c:v>0.55081846</c:v>
                </c:pt>
                <c:pt idx="178">
                  <c:v>0.6291385</c:v>
                </c:pt>
                <c:pt idx="179">
                  <c:v>0.68639075</c:v>
                </c:pt>
                <c:pt idx="180">
                  <c:v>0.6493372</c:v>
                </c:pt>
                <c:pt idx="181">
                  <c:v>0.67369588</c:v>
                </c:pt>
                <c:pt idx="182">
                  <c:v>0.62646831</c:v>
                </c:pt>
                <c:pt idx="183">
                  <c:v>0.60286334</c:v>
                </c:pt>
                <c:pt idx="184">
                  <c:v>0.59071078</c:v>
                </c:pt>
                <c:pt idx="185">
                  <c:v>0.57569759</c:v>
                </c:pt>
                <c:pt idx="186">
                  <c:v>0.5983191</c:v>
                </c:pt>
                <c:pt idx="187">
                  <c:v>0.64913463</c:v>
                </c:pt>
                <c:pt idx="188">
                  <c:v>0.64024675</c:v>
                </c:pt>
                <c:pt idx="189">
                  <c:v>0.60623707</c:v>
                </c:pt>
                <c:pt idx="190">
                  <c:v>0.63372473</c:v>
                </c:pt>
                <c:pt idx="191">
                  <c:v>0.6377204</c:v>
                </c:pt>
                <c:pt idx="192">
                  <c:v>0.5754534</c:v>
                </c:pt>
                <c:pt idx="193">
                  <c:v>0.65890953</c:v>
                </c:pt>
                <c:pt idx="194">
                  <c:v>0.63282726</c:v>
                </c:pt>
                <c:pt idx="195">
                  <c:v>0.60077057</c:v>
                </c:pt>
                <c:pt idx="196">
                  <c:v>0.5281357</c:v>
                </c:pt>
                <c:pt idx="197">
                  <c:v>0.44527025</c:v>
                </c:pt>
                <c:pt idx="198">
                  <c:v>0.60209582</c:v>
                </c:pt>
                <c:pt idx="199">
                  <c:v>0.49087382</c:v>
                </c:pt>
                <c:pt idx="200">
                  <c:v>0.49330628</c:v>
                </c:pt>
                <c:pt idx="201">
                  <c:v>0.53260229</c:v>
                </c:pt>
                <c:pt idx="202">
                  <c:v>0.68678494</c:v>
                </c:pt>
                <c:pt idx="203">
                  <c:v>0.63720201</c:v>
                </c:pt>
                <c:pt idx="204">
                  <c:v>0.5304166</c:v>
                </c:pt>
                <c:pt idx="205">
                  <c:v>0.5439227</c:v>
                </c:pt>
                <c:pt idx="206">
                  <c:v>0.66636585</c:v>
                </c:pt>
                <c:pt idx="207">
                  <c:v>0.74497424</c:v>
                </c:pt>
                <c:pt idx="208">
                  <c:v>1.15973774</c:v>
                </c:pt>
                <c:pt idx="209">
                  <c:v>1.14299063</c:v>
                </c:pt>
                <c:pt idx="210">
                  <c:v>1.10678329</c:v>
                </c:pt>
                <c:pt idx="211">
                  <c:v>1.10196149</c:v>
                </c:pt>
                <c:pt idx="212">
                  <c:v>1.55043576</c:v>
                </c:pt>
                <c:pt idx="213">
                  <c:v>1.52728178</c:v>
                </c:pt>
                <c:pt idx="214">
                  <c:v>1.54595273</c:v>
                </c:pt>
                <c:pt idx="215">
                  <c:v>1.55710358</c:v>
                </c:pt>
                <c:pt idx="216">
                  <c:v>1.51512285</c:v>
                </c:pt>
                <c:pt idx="217">
                  <c:v>1.62736203</c:v>
                </c:pt>
                <c:pt idx="218">
                  <c:v>1.60713342</c:v>
                </c:pt>
                <c:pt idx="219">
                  <c:v>1.64663591</c:v>
                </c:pt>
                <c:pt idx="220">
                  <c:v>1.74168334</c:v>
                </c:pt>
                <c:pt idx="221">
                  <c:v>1.8826848</c:v>
                </c:pt>
                <c:pt idx="222">
                  <c:v>1.92187556</c:v>
                </c:pt>
                <c:pt idx="223">
                  <c:v>2.0009178</c:v>
                </c:pt>
                <c:pt idx="224">
                  <c:v>1.97499212</c:v>
                </c:pt>
                <c:pt idx="225">
                  <c:v>1.9801822</c:v>
                </c:pt>
                <c:pt idx="226">
                  <c:v>1.95785742</c:v>
                </c:pt>
                <c:pt idx="227">
                  <c:v>2.03144349</c:v>
                </c:pt>
                <c:pt idx="228">
                  <c:v>2.15743577</c:v>
                </c:pt>
                <c:pt idx="229">
                  <c:v>2.25350238</c:v>
                </c:pt>
                <c:pt idx="230">
                  <c:v>2.4351442</c:v>
                </c:pt>
                <c:pt idx="231">
                  <c:v>2.29694022</c:v>
                </c:pt>
                <c:pt idx="232">
                  <c:v>1.46529747</c:v>
                </c:pt>
                <c:pt idx="233">
                  <c:v>1.53854212</c:v>
                </c:pt>
                <c:pt idx="234">
                  <c:v>1.54883105</c:v>
                </c:pt>
                <c:pt idx="235">
                  <c:v>1.44425272</c:v>
                </c:pt>
                <c:pt idx="236">
                  <c:v>1.35085781</c:v>
                </c:pt>
                <c:pt idx="237">
                  <c:v>1.26274285</c:v>
                </c:pt>
                <c:pt idx="238">
                  <c:v>1.23813218</c:v>
                </c:pt>
                <c:pt idx="239">
                  <c:v>1.12441763</c:v>
                </c:pt>
                <c:pt idx="240">
                  <c:v>1.13217875</c:v>
                </c:pt>
              </c:numCache>
            </c:numRef>
          </c:y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Annualized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valAx>
      <c:valAx>
        <c:axId val="48650112"/>
        <c:scaling>
          <c:orientation val="minMax"/>
          <c:max val="2017"/>
          <c:min val="1992"/>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Authors GAN</c:v>
          </c:tx>
          <c:spPr>
            <a:solidFill xmlns:a="http://schemas.openxmlformats.org/drawingml/2006/main">
              <a:srgbClr val="94A3B8"/>
            </a:solidFill>
          </c:spPr>
          <c:cat>
            <c:strRef>
              <c:f>'Chart Data'!$A$2:$A$3</c:f>
              <c:strCache>
                <c:ptCount val="2"/>
                <c:pt idx="0">
                  <c:v>Expansion</c:v>
                </c:pt>
                <c:pt idx="1">
                  <c:v>Recession</c:v>
                </c:pt>
              </c:strCache>
            </c:strRef>
          </c:cat>
          <c:val>
            <c:numRef>
              <c:f>'Chart Data'!$B$2:$B$3</c:f>
              <c:numCache>
                <c:formatCode>0.000</c:formatCode>
                <c:ptCount val="2"/>
                <c:pt idx="0">
                  <c:v>0.84155273</c:v>
                </c:pt>
                <c:pt idx="1">
                  <c:v>0.32426226</c:v>
                </c:pt>
              </c:numCache>
            </c:numRef>
          </c:val>
        </c:ser>
        <c:ser>
          <c:idx val="1"/>
          <c:order val="1"/>
          <c:tx>
            <c:v>Code 07 GAN</c:v>
          </c:tx>
          <c:spPr>
            <a:solidFill xmlns:a="http://schemas.openxmlformats.org/drawingml/2006/main">
              <a:srgbClr val="003262"/>
            </a:solidFill>
          </c:spPr>
          <c:cat>
            <c:strRef>
              <c:f>'Chart Data'!$C$2:$C$3</c:f>
              <c:strCache>
                <c:ptCount val="2"/>
                <c:pt idx="0">
                  <c:v>Expansion</c:v>
                </c:pt>
                <c:pt idx="1">
                  <c:v>Recession</c:v>
                </c:pt>
              </c:strCache>
            </c:strRef>
          </c:cat>
          <c:val>
            <c:numRef>
              <c:f>'Chart Data'!$D$2:$D$3</c:f>
              <c:numCache>
                <c:formatCode>0.000</c:formatCode>
                <c:ptCount val="2"/>
                <c:pt idx="0">
                  <c:v>0.6369389</c:v>
                </c:pt>
                <c:pt idx="1">
                  <c:v>0.45528205</c:v>
                </c:pt>
              </c:numCache>
            </c:numRef>
          </c:val>
        </c:ser>
        <c:ser>
          <c:idx val="2"/>
          <c:order val="2"/>
          <c:tx>
            <c:v>New LSTM</c:v>
          </c:tx>
          <c:spPr>
            <a:solidFill xmlns:a="http://schemas.openxmlformats.org/drawingml/2006/main">
              <a:srgbClr val="2563EB"/>
            </a:solidFill>
          </c:spPr>
          <c:cat>
            <c:strRef>
              <c:f>'Chart Data'!$E$2:$E$3</c:f>
              <c:strCache>
                <c:ptCount val="2"/>
                <c:pt idx="0">
                  <c:v>Expansion</c:v>
                </c:pt>
                <c:pt idx="1">
                  <c:v>Recession</c:v>
                </c:pt>
              </c:strCache>
            </c:strRef>
          </c:cat>
          <c:val>
            <c:numRef>
              <c:f>'Chart Data'!$F$2:$F$3</c:f>
              <c:numCache>
                <c:formatCode>0.000</c:formatCode>
                <c:ptCount val="2"/>
                <c:pt idx="0">
                  <c:v>0.48255</c:v>
                </c:pt>
                <c:pt idx="1">
                  <c:v>0.26380921</c:v>
                </c:pt>
              </c:numCache>
            </c:numRef>
          </c:val>
        </c:ser>
        <c:ser>
          <c:idx val="3"/>
          <c:order val="3"/>
          <c:tx>
            <c:v>Transformer</c:v>
          </c:tx>
          <c:spPr>
            <a:solidFill xmlns:a="http://schemas.openxmlformats.org/drawingml/2006/main">
              <a:srgbClr val="B7790B"/>
            </a:solidFill>
          </c:spPr>
          <c:invertIfNegative val="0"/>
          <c:cat>
            <c:strRef>
              <c:f>'Chart Data'!$G$2:$G$3</c:f>
              <c:strCache>
                <c:ptCount val="2"/>
                <c:pt idx="0">
                  <c:v>Expansion</c:v>
                </c:pt>
                <c:pt idx="1">
                  <c:v>Recession</c:v>
                </c:pt>
              </c:strCache>
            </c:strRef>
          </c:cat>
          <c:val>
            <c:numRef>
              <c:f>'Chart Data'!$H$2:$H$3</c:f>
              <c:numCache>
                <c:formatCode>0.000</c:formatCode>
                <c:ptCount val="2"/>
                <c:pt idx="0">
                  <c:v>0.36946416</c:v>
                </c:pt>
                <c:pt idx="1">
                  <c:v>-0.07126491</c:v>
                </c:pt>
              </c:numCache>
            </c:numRef>
          </c:val>
        </c:ser>
        <c:ser>
          <c:idx val="4"/>
          <c:order val="4"/>
          <c:tx>
            <c:v>50/50 blend</c:v>
          </c:tx>
          <c:spPr>
            <a:solidFill xmlns:a="http://schemas.openxmlformats.org/drawingml/2006/main">
              <a:srgbClr val="16816B"/>
            </a:solidFill>
          </c:spPr>
          <c:cat>
            <c:strRef>
              <c:f>'Chart Data'!$I$2:$I$3</c:f>
              <c:strCache>
                <c:ptCount val="2"/>
                <c:pt idx="0">
                  <c:v>Expansion</c:v>
                </c:pt>
                <c:pt idx="1">
                  <c:v>Recession</c:v>
                </c:pt>
              </c:strCache>
            </c:strRef>
          </c:cat>
          <c:val>
            <c:numRef>
              <c:f>'Chart Data'!$J$2:$J$3</c:f>
              <c:numCache>
                <c:formatCode>0.000</c:formatCode>
                <c:ptCount val="2"/>
                <c:pt idx="0">
                  <c:v>0.51667681</c:v>
                </c:pt>
                <c:pt idx="1">
                  <c:v>0.07603477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1.15"/>
          <c:min val="-0.12"/>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Authors GAN</c:v>
          </c:tx>
          <c:spPr>
            <a:solidFill xmlns:a="http://schemas.openxmlformats.org/drawingml/2006/main">
              <a:srgbClr val="94A3B8"/>
            </a:solidFill>
          </c:spPr>
          <c:cat>
            <c:strRef>
              <c:f>'Chart Data'!$A$2:$A$3</c:f>
              <c:strCache>
                <c:ptCount val="2"/>
                <c:pt idx="0">
                  <c:v>High volatility</c:v>
                </c:pt>
                <c:pt idx="1">
                  <c:v>Low volatility</c:v>
                </c:pt>
              </c:strCache>
            </c:strRef>
          </c:cat>
          <c:val>
            <c:numRef>
              <c:f>'Chart Data'!$B$2:$B$3</c:f>
              <c:numCache>
                <c:formatCode>0.000</c:formatCode>
                <c:ptCount val="2"/>
                <c:pt idx="0">
                  <c:v>0.59789657</c:v>
                </c:pt>
                <c:pt idx="1">
                  <c:v>1.00339981</c:v>
                </c:pt>
              </c:numCache>
            </c:numRef>
          </c:val>
        </c:ser>
        <c:ser>
          <c:idx val="1"/>
          <c:order val="1"/>
          <c:tx>
            <c:v>Code 07 GAN</c:v>
          </c:tx>
          <c:spPr>
            <a:solidFill xmlns:a="http://schemas.openxmlformats.org/drawingml/2006/main">
              <a:srgbClr val="003262"/>
            </a:solidFill>
          </c:spPr>
          <c:cat>
            <c:strRef>
              <c:f>'Chart Data'!$C$2:$C$3</c:f>
              <c:strCache>
                <c:ptCount val="2"/>
                <c:pt idx="0">
                  <c:v>High volatility</c:v>
                </c:pt>
                <c:pt idx="1">
                  <c:v>Low volatility</c:v>
                </c:pt>
              </c:strCache>
            </c:strRef>
          </c:cat>
          <c:val>
            <c:numRef>
              <c:f>'Chart Data'!$D$2:$D$3</c:f>
              <c:numCache>
                <c:formatCode>0.000</c:formatCode>
                <c:ptCount val="2"/>
                <c:pt idx="0">
                  <c:v>0.47989422</c:v>
                </c:pt>
                <c:pt idx="1">
                  <c:v>0.84128523</c:v>
                </c:pt>
              </c:numCache>
            </c:numRef>
          </c:val>
        </c:ser>
        <c:ser>
          <c:idx val="2"/>
          <c:order val="2"/>
          <c:tx>
            <c:v>New LSTM</c:v>
          </c:tx>
          <c:spPr>
            <a:solidFill xmlns:a="http://schemas.openxmlformats.org/drawingml/2006/main">
              <a:srgbClr val="2563EB"/>
            </a:solidFill>
          </c:spPr>
          <c:cat>
            <c:strRef>
              <c:f>'Chart Data'!$E$2:$E$3</c:f>
              <c:strCache>
                <c:ptCount val="2"/>
                <c:pt idx="0">
                  <c:v>High volatility</c:v>
                </c:pt>
                <c:pt idx="1">
                  <c:v>Low volatility</c:v>
                </c:pt>
              </c:strCache>
            </c:strRef>
          </c:cat>
          <c:val>
            <c:numRef>
              <c:f>'Chart Data'!$F$2:$F$3</c:f>
              <c:numCache>
                <c:formatCode>0.000</c:formatCode>
                <c:ptCount val="2"/>
                <c:pt idx="0">
                  <c:v>0.4173692</c:v>
                </c:pt>
                <c:pt idx="1">
                  <c:v>0.54942577</c:v>
                </c:pt>
              </c:numCache>
            </c:numRef>
          </c:val>
        </c:ser>
        <c:ser>
          <c:idx val="3"/>
          <c:order val="3"/>
          <c:tx>
            <c:v>Transformer</c:v>
          </c:tx>
          <c:spPr>
            <a:solidFill xmlns:a="http://schemas.openxmlformats.org/drawingml/2006/main">
              <a:srgbClr val="B7790B"/>
            </a:solidFill>
          </c:spPr>
          <c:cat>
            <c:strRef>
              <c:f>'Chart Data'!$G$2:$G$3</c:f>
              <c:strCache>
                <c:ptCount val="2"/>
                <c:pt idx="0">
                  <c:v>High volatility</c:v>
                </c:pt>
                <c:pt idx="1">
                  <c:v>Low volatility</c:v>
                </c:pt>
              </c:strCache>
            </c:strRef>
          </c:cat>
          <c:val>
            <c:numRef>
              <c:f>'Chart Data'!$H$2:$H$3</c:f>
              <c:numCache>
                <c:formatCode>0.000</c:formatCode>
                <c:ptCount val="2"/>
                <c:pt idx="0">
                  <c:v>0.17749371</c:v>
                </c:pt>
                <c:pt idx="1">
                  <c:v>0.53079309</c:v>
                </c:pt>
              </c:numCache>
            </c:numRef>
          </c:val>
        </c:ser>
        <c:ser>
          <c:idx val="4"/>
          <c:order val="4"/>
          <c:tx>
            <c:v>50/50 blend</c:v>
          </c:tx>
          <c:spPr>
            <a:solidFill xmlns:a="http://schemas.openxmlformats.org/drawingml/2006/main">
              <a:srgbClr val="16816B"/>
            </a:solidFill>
          </c:spPr>
          <c:cat>
            <c:strRef>
              <c:f>'Chart Data'!$I$2:$I$3</c:f>
              <c:strCache>
                <c:ptCount val="2"/>
                <c:pt idx="0">
                  <c:v>High volatility</c:v>
                </c:pt>
                <c:pt idx="1">
                  <c:v>Low volatility</c:v>
                </c:pt>
              </c:strCache>
            </c:strRef>
          </c:cat>
          <c:val>
            <c:numRef>
              <c:f>'Chart Data'!$J$2:$J$3</c:f>
              <c:numCache>
                <c:formatCode>0.000</c:formatCode>
                <c:ptCount val="2"/>
                <c:pt idx="0">
                  <c:v>0.34499978</c:v>
                </c:pt>
                <c:pt idx="1">
                  <c:v>0.68388179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1.15"/>
          <c:min val="-0.12"/>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Authors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3.70641062</c:v>
                </c:pt>
                <c:pt idx="1">
                  <c:v>3.00443061</c:v>
                </c:pt>
                <c:pt idx="2">
                  <c:v>3.49685192</c:v>
                </c:pt>
                <c:pt idx="3">
                  <c:v>3.74875446</c:v>
                </c:pt>
              </c:numCache>
            </c:numRef>
          </c:val>
        </c:ser>
        <c:ser>
          <c:idx val="1"/>
          <c:order val="1"/>
          <c:tx>
            <c:v>Code 07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2.94245335</c:v>
                </c:pt>
                <c:pt idx="1">
                  <c:v>2.40358567</c:v>
                </c:pt>
                <c:pt idx="2">
                  <c:v>2.6865745</c:v>
                </c:pt>
                <c:pt idx="3">
                  <c:v>3.05007001</c:v>
                </c:pt>
              </c:numCache>
            </c:numRef>
          </c:val>
        </c:ser>
        <c:ser>
          <c:idx val="2"/>
          <c:order val="2"/>
          <c:tx>
            <c:v>New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2.05784917</c:v>
                </c:pt>
                <c:pt idx="1">
                  <c:v>1.38254624</c:v>
                </c:pt>
                <c:pt idx="2">
                  <c:v>1.64211907</c:v>
                </c:pt>
                <c:pt idx="3">
                  <c:v>2.26786637</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1.4734821</c:v>
                </c:pt>
                <c:pt idx="1">
                  <c:v>1.40927834</c:v>
                </c:pt>
                <c:pt idx="2">
                  <c:v>0.89283968</c:v>
                </c:pt>
                <c:pt idx="3">
                  <c:v>1.92122442</c:v>
                </c:pt>
              </c:numCache>
            </c:numRef>
          </c:val>
        </c:ser>
        <c:ser>
          <c:idx val="4"/>
          <c:order val="4"/>
          <c:tx>
            <c:v>50/50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2.19054578</c:v>
                </c:pt>
                <c:pt idx="1">
                  <c:v>1.94098684</c:v>
                </c:pt>
                <c:pt idx="2">
                  <c:v>1.48894614</c:v>
                </c:pt>
                <c:pt idx="3">
                  <c:v>2.7013473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Authors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3.17271624</c:v>
                </c:pt>
                <c:pt idx="1">
                  <c:v>3.41225839</c:v>
                </c:pt>
                <c:pt idx="2">
                  <c:v>3.70494926</c:v>
                </c:pt>
                <c:pt idx="3">
                  <c:v>2.7207552</c:v>
                </c:pt>
              </c:numCache>
            </c:numRef>
          </c:val>
        </c:ser>
        <c:ser>
          <c:idx val="1"/>
          <c:order val="1"/>
          <c:tx>
            <c:v>Code 07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2.48767999</c:v>
                </c:pt>
                <c:pt idx="1">
                  <c:v>2.63495523</c:v>
                </c:pt>
                <c:pt idx="2">
                  <c:v>2.82971243</c:v>
                </c:pt>
                <c:pt idx="3">
                  <c:v>2.19583613</c:v>
                </c:pt>
              </c:numCache>
            </c:numRef>
          </c:val>
        </c:ser>
        <c:ser>
          <c:idx val="2"/>
          <c:order val="2"/>
          <c:tx>
            <c:v>New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1.78312146</c:v>
                </c:pt>
                <c:pt idx="1">
                  <c:v>1.89340196</c:v>
                </c:pt>
                <c:pt idx="2">
                  <c:v>1.72244885</c:v>
                </c:pt>
                <c:pt idx="3">
                  <c:v>1.86349234</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1.1623544</c:v>
                </c:pt>
                <c:pt idx="1">
                  <c:v>1.77524439</c:v>
                </c:pt>
                <c:pt idx="2">
                  <c:v>1.04243782</c:v>
                </c:pt>
                <c:pt idx="3">
                  <c:v>1.4040107</c:v>
                </c:pt>
              </c:numCache>
            </c:numRef>
          </c:val>
        </c:ser>
        <c:ser>
          <c:idx val="4"/>
          <c:order val="4"/>
          <c:tx>
            <c:v>50/50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1.79899477</c:v>
                </c:pt>
                <c:pt idx="1">
                  <c:v>2.46876111</c:v>
                </c:pt>
                <c:pt idx="2">
                  <c:v>1.65829071</c:v>
                </c:pt>
                <c:pt idx="3">
                  <c:v>2.07219074</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bbf365a9f924b1a"/>
          <a:srcRect xmlns:a="http://schemas.openxmlformats.org/drawingml/2006/main" l="0" t="22546" r="0" b="22546"/>
          <a:stretch xmlns:a="http://schemas.openxmlformats.org/drawingml/2006/main">
            <a:fillRect l="0" t="0" r="0" b="0"/>
          </a:stretch>
        </p:blipFill>
        <p:spPr>
          <a:xfrm xmlns:a="http://schemas.openxmlformats.org/drawingml/2006/main">
            <a:off x="0" y="0"/>
            <a:ext cx="9144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4464596-0F15-4BD4-94C8-DD47D98FE3D1}"/>
              </a:ext>
            </a:extLst>
          </p:cNvPr>
          <p:cNvSpPr>
            <a:spLocks xmlns:a="http://schemas.openxmlformats.org/drawingml/2006/main" noGrp="1"/>
          </p:cNvSpPr>
          <p:nvPr/>
        </p:nvSpPr>
        <p:spPr>
          <a:xfrm xmlns:a="http://schemas.openxmlformats.org/drawingml/2006/main">
            <a:off x="342900" y="2343150"/>
            <a:ext cx="842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Deep Learning in Asset Pricing</a:t>
            </a:r>
          </a:p>
        </p:txBody>
      </p:sp>
      <p:sp>
        <p:nvSpPr>
          <p:cNvPr id="3" name="">
            <a:extLst xmlns:a="http://schemas.openxmlformats.org/drawingml/2006/main">
              <a:ext uri="{FF2B5EF4-FFF2-40B4-BE49-F238E27FC236}">
                <a16:creationId xmlns:a16="http://schemas.microsoft.com/office/drawing/2014/main" id="{784549A4-91F1-4418-9637-7A5D0D9B1C0C}"/>
              </a:ext>
            </a:extLst>
          </p:cNvPr>
          <p:cNvSpPr>
            <a:spLocks xmlns:a="http://schemas.openxmlformats.org/drawingml/2006/main" noGrp="1"/>
          </p:cNvSpPr>
          <p:nvPr/>
        </p:nvSpPr>
        <p:spPr>
          <a:xfrm xmlns:a="http://schemas.openxmlformats.org/drawingml/2006/main">
            <a:off x="361950" y="3476625"/>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262"/>
                </a:solidFill>
                <a:latin typeface="Arial"/>
                <a:ea typeface="Arial"/>
                <a:cs typeface="Arial"/>
              </a:defRPr>
            </a:pPr>
            <a:r>
              <a:rPr sz="2025" b="1">
                <a:solidFill>
                  <a:srgbClr val="003262"/>
                </a:solidFill>
                <a:latin typeface="Arial"/>
                <a:ea typeface="Arial"/>
                <a:cs typeface="Arial"/>
              </a:rPr>
              <a:t>Replication and extensions</a:t>
            </a:r>
          </a:p>
        </p:txBody>
      </p:sp>
      <p:sp>
        <p:nvSpPr>
          <p:cNvPr id="4" name="">
            <a:extLst xmlns:a="http://schemas.openxmlformats.org/drawingml/2006/main">
              <a:ext uri="{FF2B5EF4-FFF2-40B4-BE49-F238E27FC236}">
                <a16:creationId xmlns:a16="http://schemas.microsoft.com/office/drawing/2014/main" id="{07D80039-DC5B-43FD-8D6D-0E20FA0007DE}"/>
              </a:ext>
            </a:extLst>
          </p:cNvPr>
          <p:cNvSpPr>
            <a:spLocks xmlns:a="http://schemas.openxmlformats.org/drawingml/2006/main" noGrp="1"/>
          </p:cNvSpPr>
          <p:nvPr/>
        </p:nvSpPr>
        <p:spPr>
          <a:xfrm xmlns:a="http://schemas.openxmlformats.org/drawingml/2006/main">
            <a:off x="361950" y="3886200"/>
            <a:ext cx="819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F2A37"/>
                </a:solidFill>
                <a:latin typeface="Arial"/>
                <a:ea typeface="Arial"/>
                <a:cs typeface="Arial"/>
              </a:defRPr>
            </a:pPr>
            <a:r>
              <a:rPr sz="1725" b="0">
                <a:solidFill>
                  <a:srgbClr val="1F2A37"/>
                </a:solidFill>
                <a:latin typeface="Arial"/>
                <a:ea typeface="Arial"/>
                <a:cs typeface="Arial"/>
              </a:rPr>
              <a:t>LSTM, Transformer, rolling performance and regimes</a:t>
            </a:r>
          </a:p>
        </p:txBody>
      </p:sp>
      <p:sp>
        <p:nvSpPr>
          <p:cNvPr id="5" name="">
            <a:extLst xmlns:a="http://schemas.openxmlformats.org/drawingml/2006/main">
              <a:ext uri="{FF2B5EF4-FFF2-40B4-BE49-F238E27FC236}">
                <a16:creationId xmlns:a16="http://schemas.microsoft.com/office/drawing/2014/main" id="{0FCE2F11-3144-4F5C-B5A5-D6D354364BE0}"/>
              </a:ext>
            </a:extLst>
          </p:cNvPr>
          <p:cNvSpPr>
            <a:spLocks xmlns:a="http://schemas.openxmlformats.org/drawingml/2006/main" noGrp="1"/>
          </p:cNvSpPr>
          <p:nvPr/>
        </p:nvSpPr>
        <p:spPr>
          <a:xfrm xmlns:a="http://schemas.openxmlformats.org/drawingml/2006/main">
            <a:off x="361950" y="4257675"/>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F2A37"/>
                </a:solidFill>
                <a:latin typeface="Arial"/>
                <a:ea typeface="Arial"/>
                <a:cs typeface="Arial"/>
              </a:defRPr>
            </a:pPr>
            <a:r>
              <a:rPr sz="1350" b="0">
                <a:solidFill>
                  <a:srgbClr val="1F2A37"/>
                </a:solidFill>
                <a:latin typeface="Arial"/>
                <a:ea typeface="Arial"/>
                <a:cs typeface="Arial"/>
              </a:rPr>
              <a:t>Reza Zamani, Hrafnhildur Lif Jonsdottir</a:t>
            </a:r>
          </a:p>
        </p:txBody>
      </p:sp>
      <p:sp>
        <p:nvSpPr>
          <p:cNvPr id="6" name="">
            <a:extLst xmlns:a="http://schemas.openxmlformats.org/drawingml/2006/main">
              <a:ext uri="{FF2B5EF4-FFF2-40B4-BE49-F238E27FC236}">
                <a16:creationId xmlns:a16="http://schemas.microsoft.com/office/drawing/2014/main" id="{669D9281-6288-4100-94A7-0CA8C1C743D6}"/>
              </a:ext>
            </a:extLst>
          </p:cNvPr>
          <p:cNvSpPr>
            <a:spLocks xmlns:a="http://schemas.openxmlformats.org/drawingml/2006/main" noGrp="1"/>
          </p:cNvSpPr>
          <p:nvPr/>
        </p:nvSpPr>
        <p:spPr>
          <a:xfrm xmlns:a="http://schemas.openxmlformats.org/drawingml/2006/main">
            <a:off x="361950" y="4495800"/>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F2A37"/>
                </a:solidFill>
                <a:latin typeface="Arial"/>
                <a:ea typeface="Arial"/>
                <a:cs typeface="Arial"/>
              </a:defRPr>
            </a:pPr>
            <a:r>
              <a:rPr sz="1350" b="0">
                <a:solidFill>
                  <a:srgbClr val="1F2A37"/>
                </a:solidFill>
                <a:latin typeface="Arial"/>
                <a:ea typeface="Arial"/>
                <a:cs typeface="Arial"/>
              </a:rPr>
              <a:t>Paraj Goyal and Elouan Bahri</a:t>
            </a:r>
          </a:p>
        </p:txBody>
      </p:sp>
      <p:sp>
        <p:nvSpPr>
          <p:cNvPr id="7" name="">
            <a:extLst xmlns:a="http://schemas.openxmlformats.org/drawingml/2006/main">
              <a:ext uri="{FF2B5EF4-FFF2-40B4-BE49-F238E27FC236}">
                <a16:creationId xmlns:a16="http://schemas.microsoft.com/office/drawing/2014/main" id="{AD6DB735-AB67-498B-BEBF-8E87E19C296A}"/>
              </a:ext>
            </a:extLst>
          </p:cNvPr>
          <p:cNvSpPr>
            <a:spLocks xmlns:a="http://schemas.openxmlformats.org/drawingml/2006/main" noGrp="1"/>
          </p:cNvSpPr>
          <p:nvPr/>
        </p:nvSpPr>
        <p:spPr>
          <a:xfrm xmlns:a="http://schemas.openxmlformats.org/drawingml/2006/main">
            <a:off x="361950" y="4743450"/>
            <a:ext cx="676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B6770"/>
                </a:solidFill>
                <a:latin typeface="Arial"/>
                <a:ea typeface="Arial"/>
                <a:cs typeface="Arial"/>
              </a:defRPr>
            </a:pPr>
            <a:r>
              <a:rPr sz="1275" b="0">
                <a:solidFill>
                  <a:srgbClr val="5B6770"/>
                </a:solidFill>
                <a:latin typeface="Arial"/>
                <a:ea typeface="Arial"/>
                <a:cs typeface="Arial"/>
              </a:rPr>
              <a:t>Professor: Ali Kakhbod</a:t>
            </a:r>
          </a:p>
        </p:txBody>
      </p:sp>
      <p:sp>
        <p:nvSpPr>
          <p:cNvPr id="8" name="">
            <a:extLst xmlns:a="http://schemas.openxmlformats.org/drawingml/2006/main">
              <a:ext uri="{FF2B5EF4-FFF2-40B4-BE49-F238E27FC236}">
                <a16:creationId xmlns:a16="http://schemas.microsoft.com/office/drawing/2014/main" id="{9E07C170-CB45-4B54-93FD-4CE9E50543FE}"/>
              </a:ext>
            </a:extLst>
          </p:cNvPr>
          <p:cNvSpPr>
            <a:spLocks xmlns:a="http://schemas.openxmlformats.org/drawingml/2006/main" noGrp="1"/>
          </p:cNvSpPr>
          <p:nvPr/>
        </p:nvSpPr>
        <p:spPr>
          <a:xfrm xmlns:a="http://schemas.openxmlformats.org/drawingml/2006/main">
            <a:off x="7277100" y="48958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Group 7 · October 2026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df9ac6cdb894b57"/>
          <a:stretch xmlns:a="http://schemas.openxmlformats.org/drawingml/2006/main"/>
        </p:blipFill>
        <p:spPr>
          <a:xfrm xmlns:a="http://schemas.openxmlformats.org/drawingml/2006/main">
            <a:off x="7279079" y="4514850"/>
            <a:ext cx="1520042" cy="285750"/>
          </a:xfrm>
          <a:prstGeom xmlns:a="http://schemas.openxmlformats.org/drawingml/2006/main" prst="rect">
            <a:avLst/>
          </a:prstGeom>
        </p:spPr>
      </p:pic>
    </p:spTree>
    <p:extLst>
      <p:ext uri="{BB962C8B-B14F-4D97-AF65-F5344CB8AC3E}">
        <p14:creationId xmlns:p14="http://schemas.microsoft.com/office/powerpoint/2010/main" val="20085648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F1C223-193E-49A2-9252-7763A968425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36EDD3-72C2-406E-8B4E-E6766913EC99}"/>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6F435F1-0271-4B72-9816-9B8E1CBDB33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Presentation overview</a:t>
            </a:r>
          </a:p>
        </p:txBody>
      </p:sp>
      <p:sp>
        <p:nvSpPr>
          <p:cNvPr id="4" name="">
            <a:extLst xmlns:a="http://schemas.openxmlformats.org/drawingml/2006/main">
              <a:ext uri="{FF2B5EF4-FFF2-40B4-BE49-F238E27FC236}">
                <a16:creationId xmlns:a16="http://schemas.microsoft.com/office/drawing/2014/main" id="{8572371A-F3F3-4270-BD37-D9DCA06650A2}"/>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 and replication</a:t>
            </a:r>
          </a:p>
        </p:txBody>
      </p:sp>
      <p:sp>
        <p:nvSpPr>
          <p:cNvPr id="5" name="">
            <a:extLst xmlns:a="http://schemas.openxmlformats.org/drawingml/2006/main">
              <a:ext uri="{FF2B5EF4-FFF2-40B4-BE49-F238E27FC236}">
                <a16:creationId xmlns:a16="http://schemas.microsoft.com/office/drawing/2014/main" id="{29006FD7-3A1C-4D3A-94D8-40CCD5EB5CB1}"/>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28975E6C-715F-463B-9169-AFAA52E41AA1}"/>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The original paper</a:t>
            </a:r>
          </a:p>
        </p:txBody>
      </p:sp>
      <p:sp>
        <p:nvSpPr>
          <p:cNvPr id="7" name="">
            <a:extLst xmlns:a="http://schemas.openxmlformats.org/drawingml/2006/main">
              <a:ext uri="{FF2B5EF4-FFF2-40B4-BE49-F238E27FC236}">
                <a16:creationId xmlns:a16="http://schemas.microsoft.com/office/drawing/2014/main" id="{AB3567B2-5BA9-4225-AE6B-32A4086E257B}"/>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Economic pricing restrictions, hidden macro states and adversarial instruments.</a:t>
            </a:r>
          </a:p>
        </p:txBody>
      </p:sp>
      <p:sp>
        <p:nvSpPr>
          <p:cNvPr id="8" name="">
            <a:extLst xmlns:a="http://schemas.openxmlformats.org/drawingml/2006/main">
              <a:ext uri="{FF2B5EF4-FFF2-40B4-BE49-F238E27FC236}">
                <a16:creationId xmlns:a16="http://schemas.microsoft.com/office/drawing/2014/main" id="{CAB02463-1F98-4F0D-A18A-A87662EA07F6}"/>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Our replication</a:t>
            </a:r>
          </a:p>
        </p:txBody>
      </p:sp>
      <p:sp>
        <p:nvSpPr>
          <p:cNvPr id="9" name="">
            <a:extLst xmlns:a="http://schemas.openxmlformats.org/drawingml/2006/main">
              <a:ext uri="{FF2B5EF4-FFF2-40B4-BE49-F238E27FC236}">
                <a16:creationId xmlns:a16="http://schemas.microsoft.com/office/drawing/2014/main" id="{A07D9CDE-DB44-492E-9696-8F06C8BE336B}"/>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Published benchmarks, local model rankings and validation checks.</a:t>
            </a:r>
          </a:p>
        </p:txBody>
      </p:sp>
      <p:sp>
        <p:nvSpPr>
          <p:cNvPr id="10" name="">
            <a:extLst xmlns:a="http://schemas.openxmlformats.org/drawingml/2006/main">
              <a:ext uri="{FF2B5EF4-FFF2-40B4-BE49-F238E27FC236}">
                <a16:creationId xmlns:a16="http://schemas.microsoft.com/office/drawing/2014/main" id="{9AADF758-6E99-41DB-A3C4-A7FFA070B854}"/>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New results from Codes 08–11</a:t>
            </a:r>
          </a:p>
        </p:txBody>
      </p:sp>
      <p:sp>
        <p:nvSpPr>
          <p:cNvPr id="11" name="">
            <a:extLst xmlns:a="http://schemas.openxmlformats.org/drawingml/2006/main">
              <a:ext uri="{FF2B5EF4-FFF2-40B4-BE49-F238E27FC236}">
                <a16:creationId xmlns:a16="http://schemas.microsoft.com/office/drawing/2014/main" id="{98D870CE-7B4B-42CD-BF0B-359DE6BB4568}"/>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Architecture, rolling windows, economic regimes and their combinations.</a:t>
            </a:r>
          </a:p>
        </p:txBody>
      </p:sp>
    </p:spTree>
    <p:extLst>
      <p:ext uri="{BB962C8B-B14F-4D97-AF65-F5344CB8AC3E}">
        <p14:creationId xmlns:p14="http://schemas.microsoft.com/office/powerpoint/2010/main" val="18769298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06BB68-7AF8-4663-BC8D-4557366AC5C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AE0E35-1322-470E-B44F-A2EEABD7E2A8}"/>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279DA66-9CAD-4574-AC8D-11E6C3A73DE2}"/>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original paper’s research question</a:t>
            </a:r>
          </a:p>
        </p:txBody>
      </p:sp>
      <p:sp>
        <p:nvSpPr>
          <p:cNvPr id="4" name="">
            <a:extLst xmlns:a="http://schemas.openxmlformats.org/drawingml/2006/main">
              <a:ext uri="{FF2B5EF4-FFF2-40B4-BE49-F238E27FC236}">
                <a16:creationId xmlns:a16="http://schemas.microsoft.com/office/drawing/2014/main" id="{F03944A3-A396-407E-A7AC-FAC90D8425B9}"/>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a:t>
            </a:r>
          </a:p>
        </p:txBody>
      </p:sp>
      <p:sp>
        <p:nvSpPr>
          <p:cNvPr id="5" name="">
            <a:extLst xmlns:a="http://schemas.openxmlformats.org/drawingml/2006/main">
              <a:ext uri="{FF2B5EF4-FFF2-40B4-BE49-F238E27FC236}">
                <a16:creationId xmlns:a16="http://schemas.microsoft.com/office/drawing/2014/main" id="{A3EFDE1E-170B-4872-99D3-B54265E5436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BAB20F6A-D77B-4B12-BA7D-6D3E9D6D0F0E}"/>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Estimate a pricing kernel</a:t>
            </a:r>
          </a:p>
        </p:txBody>
      </p:sp>
      <p:sp>
        <p:nvSpPr>
          <p:cNvPr id="7" name="">
            <a:extLst xmlns:a="http://schemas.openxmlformats.org/drawingml/2006/main">
              <a:ext uri="{FF2B5EF4-FFF2-40B4-BE49-F238E27FC236}">
                <a16:creationId xmlns:a16="http://schemas.microsoft.com/office/drawing/2014/main" id="{7B8852F1-CA01-40D2-A8EC-7CF4218167B4}"/>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Learn the stochastic discount factor that prices assets consistently with no arbitrage.</a:t>
            </a:r>
          </a:p>
        </p:txBody>
      </p:sp>
      <p:sp>
        <p:nvSpPr>
          <p:cNvPr id="8" name="">
            <a:extLst xmlns:a="http://schemas.openxmlformats.org/drawingml/2006/main">
              <a:ext uri="{FF2B5EF4-FFF2-40B4-BE49-F238E27FC236}">
                <a16:creationId xmlns:a16="http://schemas.microsoft.com/office/drawing/2014/main" id="{753FA649-4332-4CC6-BD6E-AC411B3D1CE8}"/>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Use a richer information set</a:t>
            </a:r>
          </a:p>
        </p:txBody>
      </p:sp>
      <p:sp>
        <p:nvSpPr>
          <p:cNvPr id="9" name="">
            <a:extLst xmlns:a="http://schemas.openxmlformats.org/drawingml/2006/main">
              <a:ext uri="{FF2B5EF4-FFF2-40B4-BE49-F238E27FC236}">
                <a16:creationId xmlns:a16="http://schemas.microsoft.com/office/drawing/2014/main" id="{C2858887-EF64-43E3-BD60-72D4717746B9}"/>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Firm characteristics and macroeconomic history allow risk exposures to vary over time.</a:t>
            </a:r>
          </a:p>
        </p:txBody>
      </p:sp>
      <p:sp>
        <p:nvSpPr>
          <p:cNvPr id="10" name="">
            <a:extLst xmlns:a="http://schemas.openxmlformats.org/drawingml/2006/main">
              <a:ext uri="{FF2B5EF4-FFF2-40B4-BE49-F238E27FC236}">
                <a16:creationId xmlns:a16="http://schemas.microsoft.com/office/drawing/2014/main" id="{13B4E837-039A-47D9-98A2-FAA0C78A2F06}"/>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Separate pricing from return prediction</a:t>
            </a:r>
          </a:p>
        </p:txBody>
      </p:sp>
      <p:sp>
        <p:nvSpPr>
          <p:cNvPr id="11" name="">
            <a:extLst xmlns:a="http://schemas.openxmlformats.org/drawingml/2006/main">
              <a:ext uri="{FF2B5EF4-FFF2-40B4-BE49-F238E27FC236}">
                <a16:creationId xmlns:a16="http://schemas.microsoft.com/office/drawing/2014/main" id="{F2082204-C09E-4823-B612-5A4FA59A6AD1}"/>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An economic moment objective guides the network toward pricing-relevant information.</a:t>
            </a:r>
          </a:p>
        </p:txBody>
      </p:sp>
    </p:spTree>
    <p:extLst>
      <p:ext uri="{BB962C8B-B14F-4D97-AF65-F5344CB8AC3E}">
        <p14:creationId xmlns:p14="http://schemas.microsoft.com/office/powerpoint/2010/main" val="11902089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50D9A2-4495-41A0-83DD-4690C27ECD0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13DABF-28CC-4D15-AAAC-D3E59D91DCB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C7607E-A2C8-485D-9994-52ABF85D605F}"/>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SDF and no-arbitrage objective</a:t>
            </a:r>
          </a:p>
        </p:txBody>
      </p:sp>
      <p:sp>
        <p:nvSpPr>
          <p:cNvPr id="4" name="">
            <a:extLst xmlns:a="http://schemas.openxmlformats.org/drawingml/2006/main">
              <a:ext uri="{FF2B5EF4-FFF2-40B4-BE49-F238E27FC236}">
                <a16:creationId xmlns:a16="http://schemas.microsoft.com/office/drawing/2014/main" id="{73909502-583F-479C-A8FF-D18CA556A43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a:t>
            </a:r>
          </a:p>
        </p:txBody>
      </p:sp>
      <p:sp>
        <p:nvSpPr>
          <p:cNvPr id="5" name="">
            <a:extLst xmlns:a="http://schemas.openxmlformats.org/drawingml/2006/main">
              <a:ext uri="{FF2B5EF4-FFF2-40B4-BE49-F238E27FC236}">
                <a16:creationId xmlns:a16="http://schemas.microsoft.com/office/drawing/2014/main" id="{2E40E3FE-7CB9-4951-B193-BA25A1C9FE1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6146AFAF-5C32-4B39-BDA2-6D38831D8A85}"/>
              </a:ext>
            </a:extLst>
          </p:cNvPr>
          <p:cNvSpPr>
            <a:spLocks xmlns:a="http://schemas.openxmlformats.org/drawingml/2006/main" noGrp="1"/>
          </p:cNvSpPr>
          <p:nvPr/>
        </p:nvSpPr>
        <p:spPr>
          <a:xfrm xmlns:a="http://schemas.openxmlformats.org/drawingml/2006/main">
            <a:off x="419100" y="1085850"/>
            <a:ext cx="828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3262"/>
                </a:solidFill>
                <a:latin typeface="Arial"/>
                <a:ea typeface="Arial"/>
                <a:cs typeface="Arial"/>
              </a:defRPr>
            </a:pPr>
            <a:r>
              <a:rPr sz="2400" b="1">
                <a:solidFill>
                  <a:srgbClr val="003262"/>
                </a:solidFill>
                <a:latin typeface="Arial"/>
                <a:ea typeface="Arial"/>
                <a:cs typeface="Arial"/>
              </a:rPr>
              <a:t>M(t+1) = 1 − Σ ω(i,t) Rᵉ(i,t+1)</a:t>
            </a:r>
          </a:p>
        </p:txBody>
      </p:sp>
      <p:sp>
        <p:nvSpPr>
          <p:cNvPr id="7" name="">
            <a:extLst xmlns:a="http://schemas.openxmlformats.org/drawingml/2006/main">
              <a:ext uri="{FF2B5EF4-FFF2-40B4-BE49-F238E27FC236}">
                <a16:creationId xmlns:a16="http://schemas.microsoft.com/office/drawing/2014/main" id="{847D2A85-6750-4A72-AA85-EE4E15C1130E}"/>
              </a:ext>
            </a:extLst>
          </p:cNvPr>
          <p:cNvSpPr>
            <a:spLocks xmlns:a="http://schemas.openxmlformats.org/drawingml/2006/main" noGrp="1"/>
          </p:cNvSpPr>
          <p:nvPr/>
        </p:nvSpPr>
        <p:spPr>
          <a:xfrm xmlns:a="http://schemas.openxmlformats.org/drawingml/2006/main">
            <a:off x="419100" y="1952625"/>
            <a:ext cx="828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3262"/>
                </a:solidFill>
                <a:latin typeface="Arial"/>
                <a:ea typeface="Arial"/>
                <a:cs typeface="Arial"/>
              </a:defRPr>
            </a:pPr>
            <a:r>
              <a:rPr sz="2250" b="1">
                <a:solidFill>
                  <a:srgbClr val="003262"/>
                </a:solidFill>
                <a:latin typeface="Arial"/>
                <a:ea typeface="Arial"/>
                <a:cs typeface="Arial"/>
              </a:rPr>
              <a:t>E[ M(t+1) Rᵉ(i,t+1) g(i,t) ] = 0</a:t>
            </a:r>
          </a:p>
        </p:txBody>
      </p:sp>
      <p:sp>
        <p:nvSpPr>
          <p:cNvPr id="8" name="">
            <a:extLst xmlns:a="http://schemas.openxmlformats.org/drawingml/2006/main">
              <a:ext uri="{FF2B5EF4-FFF2-40B4-BE49-F238E27FC236}">
                <a16:creationId xmlns:a16="http://schemas.microsoft.com/office/drawing/2014/main" id="{60372332-72FF-4634-94E0-21FD176C3BD0}"/>
              </a:ext>
            </a:extLst>
          </p:cNvPr>
          <p:cNvSpPr>
            <a:spLocks xmlns:a="http://schemas.openxmlformats.org/drawingml/2006/main" noGrp="1"/>
          </p:cNvSpPr>
          <p:nvPr/>
        </p:nvSpPr>
        <p:spPr>
          <a:xfrm xmlns:a="http://schemas.openxmlformats.org/drawingml/2006/main">
            <a:off x="419100" y="2876550"/>
            <a:ext cx="828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F2A37"/>
                </a:solidFill>
                <a:latin typeface="Arial"/>
                <a:ea typeface="Arial"/>
                <a:cs typeface="Arial"/>
              </a:defRPr>
            </a:pPr>
            <a:r>
              <a:rPr sz="1725" b="0">
                <a:solidFill>
                  <a:srgbClr val="1F2A37"/>
                </a:solidFill>
                <a:latin typeface="Arial"/>
                <a:ea typeface="Arial"/>
                <a:cs typeface="Arial"/>
              </a:rPr>
              <a:t>The SDF network reduces pricing errors. The adversary constructs instruments that expose the largest remaining errors.</a:t>
            </a:r>
          </a:p>
        </p:txBody>
      </p:sp>
      <p:sp>
        <p:nvSpPr>
          <p:cNvPr id="9" name="">
            <a:extLst xmlns:a="http://schemas.openxmlformats.org/drawingml/2006/main">
              <a:ext uri="{FF2B5EF4-FFF2-40B4-BE49-F238E27FC236}">
                <a16:creationId xmlns:a16="http://schemas.microsoft.com/office/drawing/2014/main" id="{1787616D-4431-467D-A706-B29289EF1572}"/>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economic objective determines what the networks learn to price.</a:t>
            </a:r>
          </a:p>
        </p:txBody>
      </p:sp>
    </p:spTree>
    <p:extLst>
      <p:ext uri="{BB962C8B-B14F-4D97-AF65-F5344CB8AC3E}">
        <p14:creationId xmlns:p14="http://schemas.microsoft.com/office/powerpoint/2010/main" val="12798458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646860-EEC4-45E5-A94E-4F9271FD395D}"/>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1B430F-F7E3-4BA0-A26A-BA89CDD29A41}"/>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23BDDC-D8CF-45A2-B1DB-D55437E287E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original model architecture</a:t>
            </a:r>
          </a:p>
        </p:txBody>
      </p:sp>
      <p:sp>
        <p:nvSpPr>
          <p:cNvPr id="4" name="">
            <a:extLst xmlns:a="http://schemas.openxmlformats.org/drawingml/2006/main">
              <a:ext uri="{FF2B5EF4-FFF2-40B4-BE49-F238E27FC236}">
                <a16:creationId xmlns:a16="http://schemas.microsoft.com/office/drawing/2014/main" id="{5A809EBD-A212-4559-A4EF-835151C52D9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a:t>
            </a:r>
          </a:p>
        </p:txBody>
      </p:sp>
      <p:sp>
        <p:nvSpPr>
          <p:cNvPr id="5" name="">
            <a:extLst xmlns:a="http://schemas.openxmlformats.org/drawingml/2006/main">
              <a:ext uri="{FF2B5EF4-FFF2-40B4-BE49-F238E27FC236}">
                <a16:creationId xmlns:a16="http://schemas.microsoft.com/office/drawing/2014/main" id="{C26FE79C-1A06-4ACB-9F82-72125038537C}"/>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5</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476500"/>
                <a:gridCol w="2933700"/>
                <a:gridCol w="2933700"/>
              </a:tblGrid>
              <a:tr h="571500">
                <a:tc>
                  <a:txBody>
                    <a:bodyPr/>
                    <a:lstStyle/>
                    <a:p>
                      <a:r>
                        <a:rPr sz="1350" b="1">
                          <a:solidFill>
                            <a:srgbClr val="FFFFFF"/>
                          </a:solidFill>
                          <a:latin typeface="Arial"/>
                          <a:ea typeface="Arial"/>
                          <a:cs typeface="Arial"/>
                        </a:rPr>
                        <a:t>Component</a:t>
                      </a:r>
                    </a:p>
                  </a:txBody>
                  <a:tcPr marL="91440" marR="91440" marT="45720" marB="45720">
                    <a:solidFill>
                      <a:srgbClr val="003262"/>
                    </a:solidFill>
                  </a:tcPr>
                </a:tc>
                <a:tc>
                  <a:txBody>
                    <a:bodyPr/>
                    <a:lstStyle/>
                    <a:p>
                      <a:r>
                        <a:rPr sz="1350" b="1">
                          <a:solidFill>
                            <a:srgbClr val="FFFFFF"/>
                          </a:solidFill>
                          <a:latin typeface="Arial"/>
                          <a:ea typeface="Arial"/>
                          <a:cs typeface="Arial"/>
                        </a:rPr>
                        <a:t>Input and role</a:t>
                      </a:r>
                    </a:p>
                  </a:txBody>
                  <a:tcPr marL="91440" marR="91440" marT="45720" marB="45720">
                    <a:solidFill>
                      <a:srgbClr val="003262"/>
                    </a:solidFill>
                  </a:tcPr>
                </a:tc>
                <a:tc>
                  <a:txBody>
                    <a:bodyPr/>
                    <a:lstStyle/>
                    <a:p>
                      <a:r>
                        <a:rPr sz="1350" b="1">
                          <a:solidFill>
                            <a:srgbClr val="FFFFFF"/>
                          </a:solidFill>
                          <a:latin typeface="Arial"/>
                          <a:ea typeface="Arial"/>
                          <a:cs typeface="Arial"/>
                        </a:rPr>
                        <a:t>Output</a:t>
                      </a:r>
                    </a:p>
                  </a:txBody>
                  <a:tcPr marL="91440" marR="91440" marT="45720" marB="45720">
                    <a:solidFill>
                      <a:srgbClr val="003262"/>
                    </a:solidFill>
                  </a:tcPr>
                </a:tc>
              </a:tr>
              <a:tr h="571500">
                <a:tc>
                  <a:txBody>
                    <a:bodyPr/>
                    <a:lstStyle/>
                    <a:p>
                      <a:r>
                        <a:rPr sz="1425" b="0">
                          <a:solidFill>
                            <a:srgbClr val="1F2A37"/>
                          </a:solidFill>
                          <a:latin typeface="Arial"/>
                          <a:ea typeface="Arial"/>
                          <a:cs typeface="Arial"/>
                        </a:rPr>
                        <a:t>Macro SDF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4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Pricing-weight network</a:t>
                      </a:r>
                    </a:p>
                  </a:txBody>
                  <a:tcPr marL="91440" marR="91440" marT="45720" marB="45720">
                    <a:solidFill>
                      <a:srgbClr val="FFFFFF"/>
                    </a:solidFill>
                  </a:tcPr>
                </a:tc>
                <a:tc>
                  <a:txBody>
                    <a:bodyPr/>
                    <a:lstStyle/>
                    <a:p>
                      <a:r>
                        <a:rPr sz="1425" b="0">
                          <a:solidFill>
                            <a:srgbClr val="1F2A37"/>
                          </a:solidFill>
                          <a:latin typeface="Arial"/>
                          <a:ea typeface="Arial"/>
                          <a:cs typeface="Arial"/>
                        </a:rPr>
                        <a:t>46 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Two layers of 64 units</a:t>
                      </a:r>
                    </a:p>
                  </a:txBody>
                  <a:tcPr marL="91440" marR="91440" marT="45720" marB="45720">
                    <a:solidFill>
                      <a:srgbClr val="FFFFFF"/>
                    </a:solidFill>
                  </a:tcPr>
                </a:tc>
              </a:tr>
              <a:tr h="571500">
                <a:tc>
                  <a:txBody>
                    <a:bodyPr/>
                    <a:lstStyle/>
                    <a:p>
                      <a:r>
                        <a:rPr sz="1425" b="0">
                          <a:solidFill>
                            <a:srgbClr val="1F2A37"/>
                          </a:solidFill>
                          <a:latin typeface="Arial"/>
                          <a:ea typeface="Arial"/>
                          <a:cs typeface="Arial"/>
                        </a:rPr>
                        <a:t>Macro instrument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32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Conditional network</a:t>
                      </a:r>
                    </a:p>
                  </a:txBody>
                  <a:tcPr marL="91440" marR="91440" marT="45720" marB="45720">
                    <a:solidFill>
                      <a:srgbClr val="FFFFFF"/>
                    </a:solidFill>
                  </a:tcPr>
                </a:tc>
                <a:tc>
                  <a:txBody>
                    <a:bodyPr/>
                    <a:lstStyle/>
                    <a:p>
                      <a:r>
                        <a:rPr sz="1425" b="0">
                          <a:solidFill>
                            <a:srgbClr val="1F2A37"/>
                          </a:solidFill>
                          <a:latin typeface="Arial"/>
                          <a:ea typeface="Arial"/>
                          <a:cs typeface="Arial"/>
                        </a:rPr>
                        <a:t>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8 bounded instruments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F3EBEAB-EF10-4019-B141-A4BA545BB7E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pricing objective links the SDF network and the adversarial instruments.</a:t>
            </a:r>
          </a:p>
        </p:txBody>
      </p:sp>
    </p:spTree>
    <p:extLst>
      <p:ext uri="{BB962C8B-B14F-4D97-AF65-F5344CB8AC3E}">
        <p14:creationId xmlns:p14="http://schemas.microsoft.com/office/powerpoint/2010/main" val="8463683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822D83-B0CF-4E27-A9C8-F422AE7DD642}"/>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3B22D1-7096-4608-909B-6B0AFE08F6A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BB12138-648D-4360-A159-2AE56497A0B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Data and chronological evaluation</a:t>
            </a:r>
          </a:p>
        </p:txBody>
      </p:sp>
      <p:sp>
        <p:nvSpPr>
          <p:cNvPr id="4" name="">
            <a:extLst xmlns:a="http://schemas.openxmlformats.org/drawingml/2006/main">
              <a:ext uri="{FF2B5EF4-FFF2-40B4-BE49-F238E27FC236}">
                <a16:creationId xmlns:a16="http://schemas.microsoft.com/office/drawing/2014/main" id="{CDC6314A-97E6-49E3-B1EC-E4737205E520}"/>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 and replication</a:t>
            </a:r>
          </a:p>
        </p:txBody>
      </p:sp>
      <p:sp>
        <p:nvSpPr>
          <p:cNvPr id="5" name="">
            <a:extLst xmlns:a="http://schemas.openxmlformats.org/drawingml/2006/main">
              <a:ext uri="{FF2B5EF4-FFF2-40B4-BE49-F238E27FC236}">
                <a16:creationId xmlns:a16="http://schemas.microsoft.com/office/drawing/2014/main" id="{77005B4E-2D9C-45F5-AF53-BA509CA8266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6</a:t>
            </a:r>
          </a:p>
        </p:txBody>
      </p:sp>
      <p:graphicFrame>
        <p:nvGraphicFramePr>
          <p:cNvPr id="14" name=""/>
          <p:cNvGraphicFramePr/>
          <p:nvPr/>
        </p:nvGraphicFramePr>
        <p:xfrm>
          <a:off xmlns:a="http://schemas.openxmlformats.org/drawingml/2006/main" x="400050" y="1019175"/>
          <a:ext xmlns:a="http://schemas.openxmlformats.org/drawingml/2006/main" cx="8343900" cy="2095500"/>
        </p:xfrm>
        <a:graphic xmlns:a="http://schemas.openxmlformats.org/drawingml/2006/main">
          <a:graphicData uri="http://schemas.openxmlformats.org/drawingml/2006/table">
            <a:tbl>
              <a:tblPr/>
              <a:tblGrid>
                <a:gridCol w="2667000"/>
                <a:gridCol w="2838450"/>
                <a:gridCol w="2838450"/>
              </a:tblGrid>
              <a:tr h="523875">
                <a:tc>
                  <a:txBody>
                    <a:bodyPr/>
                    <a:lstStyle/>
                    <a:p>
                      <a:r>
                        <a:rPr sz="1425" b="1">
                          <a:solidFill>
                            <a:srgbClr val="FFFFFF"/>
                          </a:solidFill>
                          <a:latin typeface="Arial"/>
                          <a:ea typeface="Arial"/>
                          <a:cs typeface="Arial"/>
                        </a:rPr>
                        <a:t>Sample</a:t>
                      </a:r>
                    </a:p>
                  </a:txBody>
                  <a:tcPr marL="91440" marR="91440" marT="45720" marB="45720">
                    <a:solidFill>
                      <a:srgbClr val="003262"/>
                    </a:solidFill>
                  </a:tcPr>
                </a:tc>
                <a:tc>
                  <a:txBody>
                    <a:bodyPr/>
                    <a:lstStyle/>
                    <a:p>
                      <a:r>
                        <a:rPr sz="1425" b="1">
                          <a:solidFill>
                            <a:srgbClr val="FFFFFF"/>
                          </a:solidFill>
                          <a:latin typeface="Arial"/>
                          <a:ea typeface="Arial"/>
                          <a:cs typeface="Arial"/>
                        </a:rPr>
                        <a:t>Period</a:t>
                      </a:r>
                    </a:p>
                  </a:txBody>
                  <a:tcPr marL="91440" marR="91440" marT="45720" marB="45720">
                    <a:solidFill>
                      <a:srgbClr val="003262"/>
                    </a:solidFill>
                  </a:tcPr>
                </a:tc>
                <a:tc>
                  <a:txBody>
                    <a:bodyPr/>
                    <a:lstStyle/>
                    <a:p>
                      <a:r>
                        <a:rPr sz="1425" b="1">
                          <a:solidFill>
                            <a:srgbClr val="FFFFFF"/>
                          </a:solidFill>
                          <a:latin typeface="Arial"/>
                          <a:ea typeface="Arial"/>
                          <a:cs typeface="Arial"/>
                        </a:rPr>
                        <a:t>Months</a:t>
                      </a:r>
                    </a:p>
                  </a:txBody>
                  <a:tcPr marL="91440" marR="91440" marT="45720" marB="45720">
                    <a:solidFill>
                      <a:srgbClr val="003262"/>
                    </a:solidFill>
                  </a:tcPr>
                </a:tc>
              </a:tr>
              <a:tr h="523875">
                <a:tc>
                  <a:txBody>
                    <a:bodyPr/>
                    <a:lstStyle/>
                    <a:p>
                      <a:r>
                        <a:rPr sz="1500" b="0">
                          <a:solidFill>
                            <a:srgbClr val="1F2A37"/>
                          </a:solidFill>
                          <a:latin typeface="Arial"/>
                          <a:ea typeface="Arial"/>
                          <a:cs typeface="Arial"/>
                        </a:rPr>
                        <a:t>Training</a:t>
                      </a:r>
                    </a:p>
                  </a:txBody>
                  <a:tcPr marL="91440" marR="91440" marT="45720" marB="45720">
                    <a:solidFill>
                      <a:srgbClr val="EEF3F8"/>
                    </a:solidFill>
                  </a:tcPr>
                </a:tc>
                <a:tc>
                  <a:txBody>
                    <a:bodyPr/>
                    <a:lstStyle/>
                    <a:p>
                      <a:r>
                        <a:rPr sz="1500" b="0">
                          <a:solidFill>
                            <a:srgbClr val="1F2A37"/>
                          </a:solidFill>
                          <a:latin typeface="Arial"/>
                          <a:ea typeface="Arial"/>
                          <a:cs typeface="Arial"/>
                        </a:rPr>
                        <a:t>1967–1986</a:t>
                      </a:r>
                    </a:p>
                  </a:txBody>
                  <a:tcPr marL="91440" marR="91440" marT="45720" marB="45720">
                    <a:solidFill>
                      <a:srgbClr val="EEF3F8"/>
                    </a:solidFill>
                  </a:tcPr>
                </a:tc>
                <a:tc>
                  <a:txBody>
                    <a:bodyPr/>
                    <a:lstStyle/>
                    <a:p>
                      <a:r>
                        <a:rPr sz="1500" b="0">
                          <a:solidFill>
                            <a:srgbClr val="1F2A37"/>
                          </a:solidFill>
                          <a:latin typeface="Arial"/>
                          <a:ea typeface="Arial"/>
                          <a:cs typeface="Arial"/>
                        </a:rPr>
                        <a:t>240</a:t>
                      </a:r>
                    </a:p>
                  </a:txBody>
                  <a:tcPr marL="91440" marR="91440" marT="45720" marB="45720">
                    <a:solidFill>
                      <a:srgbClr val="EEF3F8"/>
                    </a:solidFill>
                  </a:tcPr>
                </a:tc>
              </a:tr>
              <a:tr h="523875">
                <a:tc>
                  <a:txBody>
                    <a:bodyPr/>
                    <a:lstStyle/>
                    <a:p>
                      <a:r>
                        <a:rPr sz="1500" b="0">
                          <a:solidFill>
                            <a:srgbClr val="1F2A37"/>
                          </a:solidFill>
                          <a:latin typeface="Arial"/>
                          <a:ea typeface="Arial"/>
                          <a:cs typeface="Arial"/>
                        </a:rPr>
                        <a:t>Validation</a:t>
                      </a:r>
                    </a:p>
                  </a:txBody>
                  <a:tcPr marL="91440" marR="91440" marT="45720" marB="45720">
                    <a:solidFill>
                      <a:srgbClr val="FFFFFF"/>
                    </a:solidFill>
                  </a:tcPr>
                </a:tc>
                <a:tc>
                  <a:txBody>
                    <a:bodyPr/>
                    <a:lstStyle/>
                    <a:p>
                      <a:r>
                        <a:rPr sz="1500" b="0">
                          <a:solidFill>
                            <a:srgbClr val="1F2A37"/>
                          </a:solidFill>
                          <a:latin typeface="Arial"/>
                          <a:ea typeface="Arial"/>
                          <a:cs typeface="Arial"/>
                        </a:rPr>
                        <a:t>1987–1991</a:t>
                      </a:r>
                    </a:p>
                  </a:txBody>
                  <a:tcPr marL="91440" marR="91440" marT="45720" marB="45720">
                    <a:solidFill>
                      <a:srgbClr val="FFFFFF"/>
                    </a:solidFill>
                  </a:tcPr>
                </a:tc>
                <a:tc>
                  <a:txBody>
                    <a:bodyPr/>
                    <a:lstStyle/>
                    <a:p>
                      <a:r>
                        <a:rPr sz="1500" b="0">
                          <a:solidFill>
                            <a:srgbClr val="1F2A37"/>
                          </a:solidFill>
                          <a:latin typeface="Arial"/>
                          <a:ea typeface="Arial"/>
                          <a:cs typeface="Arial"/>
                        </a:rPr>
                        <a:t>60</a:t>
                      </a:r>
                    </a:p>
                  </a:txBody>
                  <a:tcPr marL="91440" marR="91440" marT="45720" marB="45720">
                    <a:solidFill>
                      <a:srgbClr val="FFFFFF"/>
                    </a:solidFill>
                  </a:tcPr>
                </a:tc>
              </a:tr>
              <a:tr h="523875">
                <a:tc>
                  <a:txBody>
                    <a:bodyPr/>
                    <a:lstStyle/>
                    <a:p>
                      <a:r>
                        <a:rPr sz="1500" b="0">
                          <a:solidFill>
                            <a:srgbClr val="1F2A37"/>
                          </a:solidFill>
                          <a:latin typeface="Arial"/>
                          <a:ea typeface="Arial"/>
                          <a:cs typeface="Arial"/>
                        </a:rPr>
                        <a:t>Test</a:t>
                      </a:r>
                    </a:p>
                  </a:txBody>
                  <a:tcPr marL="91440" marR="91440" marT="45720" marB="45720">
                    <a:solidFill>
                      <a:srgbClr val="EEF3F8"/>
                    </a:solidFill>
                  </a:tcPr>
                </a:tc>
                <a:tc>
                  <a:txBody>
                    <a:bodyPr/>
                    <a:lstStyle/>
                    <a:p>
                      <a:r>
                        <a:rPr sz="1500" b="0">
                          <a:solidFill>
                            <a:srgbClr val="1F2A37"/>
                          </a:solidFill>
                          <a:latin typeface="Arial"/>
                          <a:ea typeface="Arial"/>
                          <a:cs typeface="Arial"/>
                        </a:rPr>
                        <a:t>1992–2016</a:t>
                      </a:r>
                    </a:p>
                  </a:txBody>
                  <a:tcPr marL="91440" marR="91440" marT="45720" marB="45720">
                    <a:solidFill>
                      <a:srgbClr val="EEF3F8"/>
                    </a:solidFill>
                  </a:tcPr>
                </a:tc>
                <a:tc>
                  <a:txBody>
                    <a:bodyPr/>
                    <a:lstStyle/>
                    <a:p>
                      <a:r>
                        <a:rPr sz="1500" b="0">
                          <a:solidFill>
                            <a:srgbClr val="1F2A37"/>
                          </a:solidFill>
                          <a:latin typeface="Arial"/>
                          <a:ea typeface="Arial"/>
                          <a:cs typeface="Arial"/>
                        </a:rPr>
                        <a:t>300</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59A74093-3A6D-458D-A565-AD47F6571F6B}"/>
              </a:ext>
            </a:extLst>
          </p:cNvPr>
          <p:cNvSpPr>
            <a:spLocks xmlns:a="http://schemas.openxmlformats.org/drawingml/2006/main" noGrp="1"/>
          </p:cNvSpPr>
          <p:nvPr/>
        </p:nvSpPr>
        <p:spPr>
          <a:xfrm xmlns:a="http://schemas.openxmlformats.org/drawingml/2006/main">
            <a:off x="419100" y="335280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46 firm characteristics and 178 macroeconomic inputs</a:t>
            </a:r>
          </a:p>
        </p:txBody>
      </p:sp>
      <p:sp>
        <p:nvSpPr>
          <p:cNvPr id="8" name="">
            <a:extLst xmlns:a="http://schemas.openxmlformats.org/drawingml/2006/main">
              <a:ext uri="{FF2B5EF4-FFF2-40B4-BE49-F238E27FC236}">
                <a16:creationId xmlns:a16="http://schemas.microsoft.com/office/drawing/2014/main" id="{19BEF0BE-ADA9-41A1-87D3-AAA4113633B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Fit on training months and select checkpoints using validation months.</a:t>
            </a:r>
          </a:p>
        </p:txBody>
      </p:sp>
    </p:spTree>
    <p:extLst>
      <p:ext uri="{BB962C8B-B14F-4D97-AF65-F5344CB8AC3E}">
        <p14:creationId xmlns:p14="http://schemas.microsoft.com/office/powerpoint/2010/main" val="10914932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5A82E6-9837-43E6-AB47-EF671D2AFBC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371473-ED28-4A28-8460-D58C21C5042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92F5DAB-8056-4DFF-A0D6-0D399A9CF8D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paper’s published results</a:t>
            </a:r>
          </a:p>
        </p:txBody>
      </p:sp>
      <p:sp>
        <p:nvSpPr>
          <p:cNvPr id="4" name="">
            <a:extLst xmlns:a="http://schemas.openxmlformats.org/drawingml/2006/main">
              <a:ext uri="{FF2B5EF4-FFF2-40B4-BE49-F238E27FC236}">
                <a16:creationId xmlns:a16="http://schemas.microsoft.com/office/drawing/2014/main" id="{7F4ABFB2-7BB1-421F-81A5-D00FF61963CA}"/>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a:t>
            </a:r>
          </a:p>
        </p:txBody>
      </p:sp>
      <p:sp>
        <p:nvSpPr>
          <p:cNvPr id="5" name="">
            <a:extLst xmlns:a="http://schemas.openxmlformats.org/drawingml/2006/main">
              <a:ext uri="{FF2B5EF4-FFF2-40B4-BE49-F238E27FC236}">
                <a16:creationId xmlns:a16="http://schemas.microsoft.com/office/drawing/2014/main" id="{D902EB75-CC34-4FF3-88B3-4FC8F852DC1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7</a:t>
            </a:r>
          </a:p>
        </p:txBody>
      </p:sp>
      <p:graphicFrame>
        <p:nvGraphicFramePr>
          <p:cNvPr id="13" name=""/>
          <p:cNvGraphicFramePr/>
          <p:nvPr/>
        </p:nvGraphicFramePr>
        <p:xfrm>
          <a:off xmlns:a="http://schemas.openxmlformats.org/drawingml/2006/main" x="400050" y="1019175"/>
          <a:ext xmlns:a="http://schemas.openxmlformats.org/drawingml/2006/main" cx="8343900" cy="2686050"/>
        </p:xfrm>
        <a:graphic xmlns:a="http://schemas.openxmlformats.org/drawingml/2006/main">
          <a:graphicData uri="http://schemas.openxmlformats.org/drawingml/2006/table">
            <a:tbl>
              <a:tblPr/>
              <a:tblGrid>
                <a:gridCol w="2476500"/>
                <a:gridCol w="1955800"/>
                <a:gridCol w="1955800"/>
                <a:gridCol w="1955800"/>
              </a:tblGrid>
              <a:tr h="537210">
                <a:tc>
                  <a:txBody>
                    <a:bodyPr/>
                    <a:lstStyle/>
                    <a:p>
                      <a:r>
                        <a:rPr sz="1425" b="1">
                          <a:solidFill>
                            <a:srgbClr val="FFFFFF"/>
                          </a:solidFill>
                          <a:latin typeface="Arial"/>
                          <a:ea typeface="Arial"/>
                          <a:cs typeface="Arial"/>
                        </a:rPr>
                        <a:t>Model</a:t>
                      </a:r>
                    </a:p>
                  </a:txBody>
                  <a:tcPr marL="91440" marR="91440" marT="45720" marB="45720">
                    <a:solidFill>
                      <a:srgbClr val="003262"/>
                    </a:solidFill>
                  </a:tcPr>
                </a:tc>
                <a:tc>
                  <a:txBody>
                    <a:bodyPr/>
                    <a:lstStyle/>
                    <a:p>
                      <a:r>
                        <a:rPr sz="1425" b="1">
                          <a:solidFill>
                            <a:srgbClr val="FFFFFF"/>
                          </a:solidFill>
                          <a:latin typeface="Arial"/>
                          <a:ea typeface="Arial"/>
                          <a:cs typeface="Arial"/>
                        </a:rPr>
                        <a:t>Train</a:t>
                      </a:r>
                    </a:p>
                  </a:txBody>
                  <a:tcPr marL="91440" marR="91440" marT="45720" marB="45720">
                    <a:solidFill>
                      <a:srgbClr val="003262"/>
                    </a:solidFill>
                  </a:tcPr>
                </a:tc>
                <a:tc>
                  <a:txBody>
                    <a:bodyPr/>
                    <a:lstStyle/>
                    <a:p>
                      <a:r>
                        <a:rPr sz="1425" b="1">
                          <a:solidFill>
                            <a:srgbClr val="FFFFFF"/>
                          </a:solidFill>
                          <a:latin typeface="Arial"/>
                          <a:ea typeface="Arial"/>
                          <a:cs typeface="Arial"/>
                        </a:rPr>
                        <a:t>Validation</a:t>
                      </a:r>
                    </a:p>
                  </a:txBody>
                  <a:tcPr marL="91440" marR="91440" marT="45720" marB="45720">
                    <a:solidFill>
                      <a:srgbClr val="003262"/>
                    </a:solidFill>
                  </a:tcPr>
                </a:tc>
                <a:tc>
                  <a:txBody>
                    <a:bodyPr/>
                    <a:lstStyle/>
                    <a:p>
                      <a:r>
                        <a:rPr sz="1425" b="1">
                          <a:solidFill>
                            <a:srgbClr val="FFFFFF"/>
                          </a:solidFill>
                          <a:latin typeface="Arial"/>
                          <a:ea typeface="Arial"/>
                          <a:cs typeface="Arial"/>
                        </a:rPr>
                        <a:t>Test</a:t>
                      </a:r>
                    </a:p>
                  </a:txBody>
                  <a:tcPr marL="91440" marR="91440" marT="45720" marB="45720">
                    <a:solidFill>
                      <a:srgbClr val="003262"/>
                    </a:solidFill>
                  </a:tcPr>
                </a:tc>
              </a:tr>
              <a:tr h="537210">
                <a:tc>
                  <a:txBody>
                    <a:bodyPr/>
                    <a:lstStyle/>
                    <a:p>
                      <a:r>
                        <a:rPr sz="1500" b="0">
                          <a:solidFill>
                            <a:srgbClr val="1F2A37"/>
                          </a:solidFill>
                          <a:latin typeface="Arial"/>
                          <a:ea typeface="Arial"/>
                          <a:cs typeface="Arial"/>
                        </a:rPr>
                        <a:t>LS</a:t>
                      </a:r>
                    </a:p>
                  </a:txBody>
                  <a:tcPr marL="91440" marR="91440" marT="45720" marB="45720">
                    <a:solidFill>
                      <a:srgbClr val="EEF3F8"/>
                    </a:solidFill>
                  </a:tcPr>
                </a:tc>
                <a:tc>
                  <a:txBody>
                    <a:bodyPr/>
                    <a:lstStyle/>
                    <a:p>
                      <a:r>
                        <a:rPr sz="1500" b="0">
                          <a:solidFill>
                            <a:srgbClr val="1F2A37"/>
                          </a:solidFill>
                          <a:latin typeface="Arial"/>
                          <a:ea typeface="Arial"/>
                          <a:cs typeface="Arial"/>
                        </a:rPr>
                        <a:t>1.800</a:t>
                      </a:r>
                    </a:p>
                  </a:txBody>
                  <a:tcPr marL="91440" marR="91440" marT="45720" marB="45720">
                    <a:solidFill>
                      <a:srgbClr val="EEF3F8"/>
                    </a:solidFill>
                  </a:tcPr>
                </a:tc>
                <a:tc>
                  <a:txBody>
                    <a:bodyPr/>
                    <a:lstStyle/>
                    <a:p>
                      <a:r>
                        <a:rPr sz="1500" b="0">
                          <a:solidFill>
                            <a:srgbClr val="1F2A37"/>
                          </a:solidFill>
                          <a:latin typeface="Arial"/>
                          <a:ea typeface="Arial"/>
                          <a:cs typeface="Arial"/>
                        </a:rPr>
                        <a:t>0.580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EN</a:t>
                      </a:r>
                    </a:p>
                  </a:txBody>
                  <a:tcPr marL="91440" marR="91440" marT="45720" marB="45720">
                    <a:solidFill>
                      <a:srgbClr val="FFFFFF"/>
                    </a:solidFill>
                  </a:tcPr>
                </a:tc>
                <a:tc>
                  <a:txBody>
                    <a:bodyPr/>
                    <a:lstStyle/>
                    <a:p>
                      <a:r>
                        <a:rPr sz="1500" b="0">
                          <a:solidFill>
                            <a:srgbClr val="1F2A37"/>
                          </a:solidFill>
                          <a:latin typeface="Arial"/>
                          <a:ea typeface="Arial"/>
                          <a:cs typeface="Arial"/>
                        </a:rPr>
                        <a:t>1.370</a:t>
                      </a:r>
                    </a:p>
                  </a:txBody>
                  <a:tcPr marL="91440" marR="91440" marT="45720" marB="45720">
                    <a:solidFill>
                      <a:srgbClr val="FFFFFF"/>
                    </a:solidFill>
                  </a:tcPr>
                </a:tc>
                <a:tc>
                  <a:txBody>
                    <a:bodyPr/>
                    <a:lstStyle/>
                    <a:p>
                      <a:r>
                        <a:rPr sz="1500" b="0">
                          <a:solidFill>
                            <a:srgbClr val="1F2A37"/>
                          </a:solidFill>
                          <a:latin typeface="Arial"/>
                          <a:ea typeface="Arial"/>
                          <a:cs typeface="Arial"/>
                        </a:rPr>
                        <a:t>1.150</a:t>
                      </a:r>
                    </a:p>
                  </a:txBody>
                  <a:tcPr marL="91440" marR="91440" marT="45720" marB="45720">
                    <a:solidFill>
                      <a:srgbClr val="FFFFFF"/>
                    </a:solidFill>
                  </a:tcPr>
                </a:tc>
                <a:tc>
                  <a:txBody>
                    <a:bodyPr/>
                    <a:lstStyle/>
                    <a:p>
                      <a:r>
                        <a:rPr sz="1500" b="0">
                          <a:solidFill>
                            <a:srgbClr val="1F2A37"/>
                          </a:solidFill>
                          <a:latin typeface="Arial"/>
                          <a:ea typeface="Arial"/>
                          <a:cs typeface="Arial"/>
                        </a:rPr>
                        <a:t>0.500</a:t>
                      </a:r>
                    </a:p>
                  </a:txBody>
                  <a:tcPr marL="91440" marR="91440" marT="45720" marB="45720">
                    <a:solidFill>
                      <a:srgbClr val="FFFFFF"/>
                    </a:solidFill>
                  </a:tcPr>
                </a:tc>
              </a:tr>
              <a:tr h="537210">
                <a:tc>
                  <a:txBody>
                    <a:bodyPr/>
                    <a:lstStyle/>
                    <a:p>
                      <a:r>
                        <a:rPr sz="1500" b="0">
                          <a:solidFill>
                            <a:srgbClr val="1F2A37"/>
                          </a:solidFill>
                          <a:latin typeface="Arial"/>
                          <a:ea typeface="Arial"/>
                          <a:cs typeface="Arial"/>
                        </a:rPr>
                        <a:t>FFN</a:t>
                      </a:r>
                    </a:p>
                  </a:txBody>
                  <a:tcPr marL="91440" marR="91440" marT="45720" marB="45720">
                    <a:solidFill>
                      <a:srgbClr val="EEF3F8"/>
                    </a:solidFill>
                  </a:tcPr>
                </a:tc>
                <a:tc>
                  <a:txBody>
                    <a:bodyPr/>
                    <a:lstStyle/>
                    <a:p>
                      <a:r>
                        <a:rPr sz="1500" b="0">
                          <a:solidFill>
                            <a:srgbClr val="1F2A37"/>
                          </a:solidFill>
                          <a:latin typeface="Arial"/>
                          <a:ea typeface="Arial"/>
                          <a:cs typeface="Arial"/>
                        </a:rPr>
                        <a:t>0.450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c>
                  <a:txBody>
                    <a:bodyPr/>
                    <a:lstStyle/>
                    <a:p>
                      <a:r>
                        <a:rPr sz="1500" b="0">
                          <a:solidFill>
                            <a:srgbClr val="1F2A37"/>
                          </a:solidFill>
                          <a:latin typeface="Arial"/>
                          <a:ea typeface="Arial"/>
                          <a:cs typeface="Arial"/>
                        </a:rPr>
                        <a:t>0.440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GAN</a:t>
                      </a:r>
                    </a:p>
                  </a:txBody>
                  <a:tcPr marL="91440" marR="91440" marT="45720" marB="45720">
                    <a:solidFill>
                      <a:srgbClr val="FFFFFF"/>
                    </a:solidFill>
                  </a:tcPr>
                </a:tc>
                <a:tc>
                  <a:txBody>
                    <a:bodyPr/>
                    <a:lstStyle/>
                    <a:p>
                      <a:r>
                        <a:rPr sz="1500" b="0">
                          <a:solidFill>
                            <a:srgbClr val="1F2A37"/>
                          </a:solidFill>
                          <a:latin typeface="Arial"/>
                          <a:ea typeface="Arial"/>
                          <a:cs typeface="Arial"/>
                        </a:rPr>
                        <a:t>2.680</a:t>
                      </a:r>
                    </a:p>
                  </a:txBody>
                  <a:tcPr marL="91440" marR="91440" marT="45720" marB="45720">
                    <a:solidFill>
                      <a:srgbClr val="FFFFFF"/>
                    </a:solidFill>
                  </a:tcPr>
                </a:tc>
                <a:tc>
                  <a:txBody>
                    <a:bodyPr/>
                    <a:lstStyle/>
                    <a:p>
                      <a:r>
                        <a:rPr sz="1500" b="0">
                          <a:solidFill>
                            <a:srgbClr val="1F2A37"/>
                          </a:solidFill>
                          <a:latin typeface="Arial"/>
                          <a:ea typeface="Arial"/>
                          <a:cs typeface="Arial"/>
                        </a:rPr>
                        <a:t>1.430</a:t>
                      </a:r>
                    </a:p>
                  </a:txBody>
                  <a:tcPr marL="91440" marR="91440" marT="45720" marB="45720">
                    <a:solidFill>
                      <a:srgbClr val="FFFFFF"/>
                    </a:solidFill>
                  </a:tcPr>
                </a:tc>
                <a:tc>
                  <a:txBody>
                    <a:bodyPr/>
                    <a:lstStyle/>
                    <a:p>
                      <a:r>
                        <a:rPr sz="1500" b="0">
                          <a:solidFill>
                            <a:srgbClr val="1F2A37"/>
                          </a:solidFill>
                          <a:latin typeface="Arial"/>
                          <a:ea typeface="Arial"/>
                          <a:cs typeface="Arial"/>
                        </a:rPr>
                        <a:t>0.750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848E7D8-33EF-4613-BDBF-8D1CF7D32E62}"/>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GAN has the highest published monthly Sharpe in every split.</a:t>
            </a:r>
          </a:p>
        </p:txBody>
      </p:sp>
    </p:spTree>
    <p:extLst>
      <p:ext uri="{BB962C8B-B14F-4D97-AF65-F5344CB8AC3E}">
        <p14:creationId xmlns:p14="http://schemas.microsoft.com/office/powerpoint/2010/main" val="2005063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1220F5-5A04-4A4D-8C35-F5084FB48E0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0FE5FB-7327-4FAC-8673-B50EEAC891B5}"/>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89923FD-5154-4FE9-BC18-6BB7F5DE73D3}"/>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Replication versus the original paper</a:t>
            </a:r>
          </a:p>
        </p:txBody>
      </p:sp>
      <p:sp>
        <p:nvSpPr>
          <p:cNvPr id="4" name="">
            <a:extLst xmlns:a="http://schemas.openxmlformats.org/drawingml/2006/main">
              <a:ext uri="{FF2B5EF4-FFF2-40B4-BE49-F238E27FC236}">
                <a16:creationId xmlns:a16="http://schemas.microsoft.com/office/drawing/2014/main" id="{E962285B-3835-4FD3-A878-B2BA12ADD36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Our previous replication</a:t>
            </a:r>
          </a:p>
        </p:txBody>
      </p:sp>
      <p:sp>
        <p:nvSpPr>
          <p:cNvPr id="5" name="">
            <a:extLst xmlns:a="http://schemas.openxmlformats.org/drawingml/2006/main">
              <a:ext uri="{FF2B5EF4-FFF2-40B4-BE49-F238E27FC236}">
                <a16:creationId xmlns:a16="http://schemas.microsoft.com/office/drawing/2014/main" id="{413EEA37-63E0-4FF8-A1DA-D8257303B05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8</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43049ae6c6204447"/>
          </a:graphicData>
        </a:graphic>
      </p:graphicFrame>
      <p:sp>
        <p:nvSpPr>
          <p:cNvPr id="7" name="">
            <a:extLst xmlns:a="http://schemas.openxmlformats.org/drawingml/2006/main">
              <a:ext uri="{FF2B5EF4-FFF2-40B4-BE49-F238E27FC236}">
                <a16:creationId xmlns:a16="http://schemas.microsoft.com/office/drawing/2014/main" id="{D468A333-4696-4082-B4D3-F93A72537A7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GAN stays first, while FFN and EN exchange test-period ranks.</a:t>
            </a:r>
          </a:p>
        </p:txBody>
      </p:sp>
    </p:spTree>
    <p:extLst>
      <p:ext uri="{BB962C8B-B14F-4D97-AF65-F5344CB8AC3E}">
        <p14:creationId xmlns:p14="http://schemas.microsoft.com/office/powerpoint/2010/main" val="6544939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D375F2-1D27-4491-B0A2-D81F39546761}"/>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890FD5-C5E0-478C-9504-76C1126CDAB0}"/>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6F8ED0-882F-4CF9-BD95-08A7B7F4481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Replication validation and common signals</a:t>
            </a:r>
          </a:p>
        </p:txBody>
      </p:sp>
      <p:sp>
        <p:nvSpPr>
          <p:cNvPr id="4" name="">
            <a:extLst xmlns:a="http://schemas.openxmlformats.org/drawingml/2006/main">
              <a:ext uri="{FF2B5EF4-FFF2-40B4-BE49-F238E27FC236}">
                <a16:creationId xmlns:a16="http://schemas.microsoft.com/office/drawing/2014/main" id="{0EAB9885-E259-4B39-AD32-D7BAC1C4254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Our previous replication</a:t>
            </a:r>
          </a:p>
        </p:txBody>
      </p:sp>
      <p:sp>
        <p:nvSpPr>
          <p:cNvPr id="5" name="">
            <a:extLst xmlns:a="http://schemas.openxmlformats.org/drawingml/2006/main">
              <a:ext uri="{FF2B5EF4-FFF2-40B4-BE49-F238E27FC236}">
                <a16:creationId xmlns:a16="http://schemas.microsoft.com/office/drawing/2014/main" id="{ECEACBD2-FFE9-4413-92B5-C2584D3C1C9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9</a:t>
            </a:r>
          </a:p>
        </p:txBody>
      </p:sp>
      <p:graphicFrame>
        <p:nvGraphicFramePr>
          <p:cNvPr id="13" name=""/>
          <p:cNvGraphicFramePr/>
          <p:nvPr/>
        </p:nvGraphicFramePr>
        <p:xfrm>
          <a:off xmlns:a="http://schemas.openxmlformats.org/drawingml/2006/main" x="400050" y="1019175"/>
          <a:ext xmlns:a="http://schemas.openxmlformats.org/drawingml/2006/main" cx="8343900" cy="2781300"/>
        </p:xfrm>
        <a:graphic xmlns:a="http://schemas.openxmlformats.org/drawingml/2006/main">
          <a:graphicData uri="http://schemas.openxmlformats.org/drawingml/2006/table">
            <a:tbl>
              <a:tblPr/>
              <a:tblGrid>
                <a:gridCol w="2714625"/>
                <a:gridCol w="2814638"/>
                <a:gridCol w="2814638"/>
              </a:tblGrid>
              <a:tr h="556260">
                <a:tc>
                  <a:txBody>
                    <a:bodyPr/>
                    <a:lstStyle/>
                    <a:p>
                      <a:r>
                        <a:rPr sz="1350" b="1">
                          <a:solidFill>
                            <a:srgbClr val="FFFFFF"/>
                          </a:solidFill>
                          <a:latin typeface="Arial"/>
                          <a:ea typeface="Arial"/>
                          <a:cs typeface="Arial"/>
                        </a:rPr>
                        <a:t>Check</a:t>
                      </a:r>
                    </a:p>
                  </a:txBody>
                  <a:tcPr marL="91440" marR="91440" marT="45720" marB="45720">
                    <a:solidFill>
                      <a:srgbClr val="003262"/>
                    </a:solidFill>
                  </a:tcPr>
                </a:tc>
                <a:tc>
                  <a:txBody>
                    <a:bodyPr/>
                    <a:lstStyle/>
                    <a:p>
                      <a:r>
                        <a:rPr sz="1350" b="1">
                          <a:solidFill>
                            <a:srgbClr val="FFFFFF"/>
                          </a:solidFill>
                          <a:latin typeface="Arial"/>
                          <a:ea typeface="Arial"/>
                          <a:cs typeface="Arial"/>
                        </a:rPr>
                        <a:t>Our result</a:t>
                      </a:r>
                    </a:p>
                  </a:txBody>
                  <a:tcPr marL="91440" marR="91440" marT="45720" marB="45720">
                    <a:solidFill>
                      <a:srgbClr val="003262"/>
                    </a:solidFill>
                  </a:tcPr>
                </a:tc>
                <a:tc>
                  <a:txBody>
                    <a:bodyPr/>
                    <a:lstStyle/>
                    <a:p>
                      <a:r>
                        <a:rPr sz="1350" b="1">
                          <a:solidFill>
                            <a:srgbClr val="FFFFFF"/>
                          </a:solidFill>
                          <a:latin typeface="Arial"/>
                          <a:ea typeface="Arial"/>
                          <a:cs typeface="Arial"/>
                        </a:rPr>
                        <a:t>Reference</a:t>
                      </a:r>
                    </a:p>
                  </a:txBody>
                  <a:tcPr marL="91440" marR="91440" marT="45720" marB="45720">
                    <a:solidFill>
                      <a:srgbClr val="003262"/>
                    </a:solidFill>
                  </a:tcPr>
                </a:tc>
              </a:tr>
              <a:tr h="556260">
                <a:tc>
                  <a:txBody>
                    <a:bodyPr/>
                    <a:lstStyle/>
                    <a:p>
                      <a:r>
                        <a:rPr sz="1425" b="0">
                          <a:solidFill>
                            <a:srgbClr val="1F2A37"/>
                          </a:solidFill>
                          <a:latin typeface="Arial"/>
                          <a:ea typeface="Arial"/>
                          <a:cs typeface="Arial"/>
                        </a:rPr>
                        <a:t>FF-3 test Sharpe</a:t>
                      </a:r>
                    </a:p>
                  </a:txBody>
                  <a:tcPr marL="91440" marR="91440" marT="45720" marB="45720">
                    <a:solidFill>
                      <a:srgbClr val="EEF3F8"/>
                    </a:solidFill>
                  </a:tcPr>
                </a:tc>
                <a:tc>
                  <a:txBody>
                    <a:bodyPr/>
                    <a:lstStyle/>
                    <a:p>
                      <a:r>
                        <a:rPr sz="1425" b="0">
                          <a:solidFill>
                            <a:srgbClr val="1F2A37"/>
                          </a:solidFill>
                          <a:latin typeface="Arial"/>
                          <a:ea typeface="Arial"/>
                          <a:cs typeface="Arial"/>
                        </a:rPr>
                        <a:t>0.196</a:t>
                      </a:r>
                    </a:p>
                  </a:txBody>
                  <a:tcPr marL="91440" marR="91440" marT="45720" marB="45720">
                    <a:solidFill>
                      <a:srgbClr val="EEF3F8"/>
                    </a:solidFill>
                  </a:tcPr>
                </a:tc>
                <a:tc>
                  <a:txBody>
                    <a:bodyPr/>
                    <a:lstStyle/>
                    <a:p>
                      <a:r>
                        <a:rPr sz="1425" b="0">
                          <a:solidFill>
                            <a:srgbClr val="1F2A37"/>
                          </a:solidFill>
                          <a:latin typeface="Arial"/>
                          <a:ea typeface="Arial"/>
                          <a:cs typeface="Arial"/>
                        </a:rPr>
                        <a:t>Paper 0.190</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FF-5 test Sharpe</a:t>
                      </a:r>
                    </a:p>
                  </a:txBody>
                  <a:tcPr marL="91440" marR="91440" marT="45720" marB="45720">
                    <a:solidFill>
                      <a:srgbClr val="FFFFFF"/>
                    </a:solidFill>
                  </a:tcPr>
                </a:tc>
                <a:tc>
                  <a:txBody>
                    <a:bodyPr/>
                    <a:lstStyle/>
                    <a:p>
                      <a:r>
                        <a:rPr sz="1425" b="0">
                          <a:solidFill>
                            <a:srgbClr val="1F2A37"/>
                          </a:solidFill>
                          <a:latin typeface="Arial"/>
                          <a:ea typeface="Arial"/>
                          <a:cs typeface="Arial"/>
                        </a:rPr>
                        <a:t>0.223</a:t>
                      </a:r>
                    </a:p>
                  </a:txBody>
                  <a:tcPr marL="91440" marR="91440" marT="45720" marB="45720">
                    <a:solidFill>
                      <a:srgbClr val="FFFFFF"/>
                    </a:solidFill>
                  </a:tcPr>
                </a:tc>
                <a:tc>
                  <a:txBody>
                    <a:bodyPr/>
                    <a:lstStyle/>
                    <a:p>
                      <a:r>
                        <a:rPr sz="1425" b="0">
                          <a:solidFill>
                            <a:srgbClr val="1F2A37"/>
                          </a:solidFill>
                          <a:latin typeface="Arial"/>
                          <a:ea typeface="Arial"/>
                          <a:cs typeface="Arial"/>
                        </a:rPr>
                        <a:t>Paper 0.220</a:t>
                      </a:r>
                    </a:p>
                  </a:txBody>
                  <a:tcPr marL="91440" marR="91440" marT="45720" marB="45720">
                    <a:solidFill>
                      <a:srgbClr val="FFFFFF"/>
                    </a:solidFill>
                  </a:tcPr>
                </a:tc>
              </a:tr>
              <a:tr h="556260">
                <a:tc>
                  <a:txBody>
                    <a:bodyPr/>
                    <a:lstStyle/>
                    <a:p>
                      <a:r>
                        <a:rPr sz="1425" b="0">
                          <a:solidFill>
                            <a:srgbClr val="1F2A37"/>
                          </a:solidFill>
                          <a:latin typeface="Arial"/>
                          <a:ea typeface="Arial"/>
                          <a:cs typeface="Arial"/>
                        </a:rPr>
                        <a:t>GAN test correlation</a:t>
                      </a:r>
                    </a:p>
                  </a:txBody>
                  <a:tcPr marL="91440" marR="91440" marT="45720" marB="45720">
                    <a:solidFill>
                      <a:srgbClr val="EEF3F8"/>
                    </a:solidFill>
                  </a:tcPr>
                </a:tc>
                <a:tc>
                  <a:txBody>
                    <a:bodyPr/>
                    <a:lstStyle/>
                    <a:p>
                      <a:r>
                        <a:rPr sz="1425" b="0">
                          <a:solidFill>
                            <a:srgbClr val="1F2A37"/>
                          </a:solidFill>
                          <a:latin typeface="Arial"/>
                          <a:ea typeface="Arial"/>
                          <a:cs typeface="Arial"/>
                        </a:rPr>
                        <a:t>0.800</a:t>
                      </a:r>
                    </a:p>
                  </a:txBody>
                  <a:tcPr marL="91440" marR="91440" marT="45720" marB="45720">
                    <a:solidFill>
                      <a:srgbClr val="EEF3F8"/>
                    </a:solidFill>
                  </a:tcPr>
                </a:tc>
                <a:tc>
                  <a:txBody>
                    <a:bodyPr/>
                    <a:lstStyle/>
                    <a:p>
                      <a:r>
                        <a:rPr sz="1425" b="0">
                          <a:solidFill>
                            <a:srgbClr val="1F2A37"/>
                          </a:solidFill>
                          <a:latin typeface="Arial"/>
                          <a:ea typeface="Arial"/>
                          <a:cs typeface="Arial"/>
                        </a:rPr>
                        <a:t>Authors’ monthly GAN</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Leading characteristics</a:t>
                      </a:r>
                    </a:p>
                  </a:txBody>
                  <a:tcPr marL="91440" marR="91440" marT="45720" marB="45720">
                    <a:solidFill>
                      <a:srgbClr val="FFFFFF"/>
                    </a:solidFill>
                  </a:tcPr>
                </a:tc>
                <a:tc>
                  <a:txBody>
                    <a:bodyPr/>
                    <a:lstStyle/>
                    <a:p>
                      <a:r>
                        <a:rPr sz="1425" b="0">
                          <a:solidFill>
                            <a:srgbClr val="1F2A37"/>
                          </a:solidFill>
                          <a:latin typeface="Arial"/>
                          <a:ea typeface="Arial"/>
                          <a:cs typeface="Arial"/>
                        </a:rPr>
                        <a:t>ST_REV, SUV, r12_2</a:t>
                      </a:r>
                    </a:p>
                  </a:txBody>
                  <a:tcPr marL="91440" marR="91440" marT="45720" marB="45720">
                    <a:solidFill>
                      <a:srgbClr val="FFFFFF"/>
                    </a:solidFill>
                  </a:tcPr>
                </a:tc>
                <a:tc>
                  <a:txBody>
                    <a:bodyPr/>
                    <a:lstStyle/>
                    <a:p>
                      <a:r>
                        <a:rPr sz="1425" b="0">
                          <a:solidFill>
                            <a:srgbClr val="1F2A37"/>
                          </a:solidFill>
                          <a:latin typeface="Arial"/>
                          <a:ea typeface="Arial"/>
                          <a:cs typeface="Arial"/>
                        </a:rPr>
                        <a:t>Same top three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32AB331-AED9-410C-9DED-1E29779EC01B}"/>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These checks support the replication’s economic similarity to the original.</a:t>
            </a:r>
          </a:p>
        </p:txBody>
      </p:sp>
    </p:spTree>
    <p:extLst>
      <p:ext uri="{BB962C8B-B14F-4D97-AF65-F5344CB8AC3E}">
        <p14:creationId xmlns:p14="http://schemas.microsoft.com/office/powerpoint/2010/main" val="13245851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B86B19-1258-4ED4-9BE0-6015E436B38F}"/>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A934D5-6C33-48CC-90E9-360DC368A5D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125853-01DD-4398-905A-0B1951F1D52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Questions left by the previous presentations</a:t>
            </a:r>
          </a:p>
        </p:txBody>
      </p:sp>
      <p:sp>
        <p:nvSpPr>
          <p:cNvPr id="4" name="">
            <a:extLst xmlns:a="http://schemas.openxmlformats.org/drawingml/2006/main">
              <a:ext uri="{FF2B5EF4-FFF2-40B4-BE49-F238E27FC236}">
                <a16:creationId xmlns:a16="http://schemas.microsoft.com/office/drawing/2014/main" id="{F26B0CAC-B6E3-44CD-8084-8F995135EB8F}"/>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Motivation for the new work</a:t>
            </a:r>
          </a:p>
        </p:txBody>
      </p:sp>
      <p:sp>
        <p:nvSpPr>
          <p:cNvPr id="5" name="">
            <a:extLst xmlns:a="http://schemas.openxmlformats.org/drawingml/2006/main">
              <a:ext uri="{FF2B5EF4-FFF2-40B4-BE49-F238E27FC236}">
                <a16:creationId xmlns:a16="http://schemas.microsoft.com/office/drawing/2014/main" id="{3419FBED-804A-406D-9E12-269573A79AA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3D5B2867-FAB6-4BE7-8218-78BC71E23BB5}"/>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Architecture</a:t>
            </a:r>
          </a:p>
        </p:txBody>
      </p:sp>
      <p:sp>
        <p:nvSpPr>
          <p:cNvPr id="7" name="">
            <a:extLst xmlns:a="http://schemas.openxmlformats.org/drawingml/2006/main">
              <a:ext uri="{FF2B5EF4-FFF2-40B4-BE49-F238E27FC236}">
                <a16:creationId xmlns:a16="http://schemas.microsoft.com/office/drawing/2014/main" id="{50B508B4-BD5E-4A70-8693-A9A0B9A25FF4}"/>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Would causal attention change the learned macro representation?</a:t>
            </a:r>
          </a:p>
        </p:txBody>
      </p:sp>
      <p:sp>
        <p:nvSpPr>
          <p:cNvPr id="8" name="">
            <a:extLst xmlns:a="http://schemas.openxmlformats.org/drawingml/2006/main">
              <a:ext uri="{FF2B5EF4-FFF2-40B4-BE49-F238E27FC236}">
                <a16:creationId xmlns:a16="http://schemas.microsoft.com/office/drawing/2014/main" id="{E25A935A-97C8-42C5-81B9-E02D076942F1}"/>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Time variation</a:t>
            </a:r>
          </a:p>
        </p:txBody>
      </p:sp>
      <p:sp>
        <p:nvSpPr>
          <p:cNvPr id="9" name="">
            <a:extLst xmlns:a="http://schemas.openxmlformats.org/drawingml/2006/main">
              <a:ext uri="{FF2B5EF4-FFF2-40B4-BE49-F238E27FC236}">
                <a16:creationId xmlns:a16="http://schemas.microsoft.com/office/drawing/2014/main" id="{C8FE54F0-A1CC-475E-B413-67DD0C76E308}"/>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Does one full-test Sharpe hide changes in relative performance?</a:t>
            </a:r>
          </a:p>
        </p:txBody>
      </p:sp>
      <p:sp>
        <p:nvSpPr>
          <p:cNvPr id="10" name="">
            <a:extLst xmlns:a="http://schemas.openxmlformats.org/drawingml/2006/main">
              <a:ext uri="{FF2B5EF4-FFF2-40B4-BE49-F238E27FC236}">
                <a16:creationId xmlns:a16="http://schemas.microsoft.com/office/drawing/2014/main" id="{BC108275-8B2D-49CF-80C2-49EB466F67F8}"/>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Economic conditions</a:t>
            </a:r>
          </a:p>
        </p:txBody>
      </p:sp>
      <p:sp>
        <p:nvSpPr>
          <p:cNvPr id="11" name="">
            <a:extLst xmlns:a="http://schemas.openxmlformats.org/drawingml/2006/main">
              <a:ext uri="{FF2B5EF4-FFF2-40B4-BE49-F238E27FC236}">
                <a16:creationId xmlns:a16="http://schemas.microsoft.com/office/drawing/2014/main" id="{5E17AB11-31EF-47C5-8360-46C0FEC6A9C4}"/>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Do recession and volatility groups explain where the models differ?</a:t>
            </a:r>
          </a:p>
        </p:txBody>
      </p:sp>
    </p:spTree>
    <p:extLst>
      <p:ext uri="{BB962C8B-B14F-4D97-AF65-F5344CB8AC3E}">
        <p14:creationId xmlns:p14="http://schemas.microsoft.com/office/powerpoint/2010/main" val="15165269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3FB5AC-1ECB-4A58-A059-DCEAA9A607B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A3BB4E-890E-4FF2-A41D-7E51D101490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BD614DB-9CDC-4162-AE66-49F379547FC4}"/>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What Codes 08–11 add</a:t>
            </a:r>
          </a:p>
        </p:txBody>
      </p:sp>
      <p:sp>
        <p:nvSpPr>
          <p:cNvPr id="4" name="">
            <a:extLst xmlns:a="http://schemas.openxmlformats.org/drawingml/2006/main">
              <a:ext uri="{FF2B5EF4-FFF2-40B4-BE49-F238E27FC236}">
                <a16:creationId xmlns:a16="http://schemas.microsoft.com/office/drawing/2014/main" id="{C781C1D6-DE53-472C-97C9-E5E34F87D9C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New results</a:t>
            </a:r>
          </a:p>
        </p:txBody>
      </p:sp>
      <p:sp>
        <p:nvSpPr>
          <p:cNvPr id="5" name="">
            <a:extLst xmlns:a="http://schemas.openxmlformats.org/drawingml/2006/main">
              <a:ext uri="{FF2B5EF4-FFF2-40B4-BE49-F238E27FC236}">
                <a16:creationId xmlns:a16="http://schemas.microsoft.com/office/drawing/2014/main" id="{B7A70E53-2C26-4091-B73A-0807922CF994}"/>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11</a:t>
            </a:r>
          </a:p>
        </p:txBody>
      </p:sp>
      <p:graphicFrame>
        <p:nvGraphicFramePr>
          <p:cNvPr id="13" name=""/>
          <p:cNvGraphicFramePr/>
          <p:nvPr/>
        </p:nvGraphicFramePr>
        <p:xfrm>
          <a:off xmlns:a="http://schemas.openxmlformats.org/drawingml/2006/main" x="400050" y="1019175"/>
          <a:ext xmlns:a="http://schemas.openxmlformats.org/drawingml/2006/main" cx="8343900" cy="2876550"/>
        </p:xfrm>
        <a:graphic xmlns:a="http://schemas.openxmlformats.org/drawingml/2006/main">
          <a:graphicData uri="http://schemas.openxmlformats.org/drawingml/2006/table">
            <a:tbl>
              <a:tblPr/>
              <a:tblGrid>
                <a:gridCol w="952500"/>
                <a:gridCol w="3695700"/>
                <a:gridCol w="3695700"/>
              </a:tblGrid>
              <a:tr h="575310">
                <a:tc>
                  <a:txBody>
                    <a:bodyPr/>
                    <a:lstStyle/>
                    <a:p>
                      <a:r>
                        <a:rPr sz="1275" b="1">
                          <a:solidFill>
                            <a:srgbClr val="FFFFFF"/>
                          </a:solidFill>
                          <a:latin typeface="Arial"/>
                          <a:ea typeface="Arial"/>
                          <a:cs typeface="Arial"/>
                        </a:rPr>
                        <a:t>Code</a:t>
                      </a:r>
                    </a:p>
                  </a:txBody>
                  <a:tcPr marL="91440" marR="91440" marT="45720" marB="45720">
                    <a:solidFill>
                      <a:srgbClr val="003262"/>
                    </a:solidFill>
                  </a:tcPr>
                </a:tc>
                <a:tc>
                  <a:txBody>
                    <a:bodyPr/>
                    <a:lstStyle/>
                    <a:p>
                      <a:r>
                        <a:rPr sz="1275" b="1">
                          <a:solidFill>
                            <a:srgbClr val="FFFFFF"/>
                          </a:solidFill>
                          <a:latin typeface="Arial"/>
                          <a:ea typeface="Arial"/>
                          <a:cs typeface="Arial"/>
                        </a:rPr>
                        <a:t>Analysis</a:t>
                      </a:r>
                    </a:p>
                  </a:txBody>
                  <a:tcPr marL="91440" marR="91440" marT="45720" marB="45720">
                    <a:solidFill>
                      <a:srgbClr val="003262"/>
                    </a:solidFill>
                  </a:tcPr>
                </a:tc>
                <a:tc>
                  <a:txBody>
                    <a:bodyPr/>
                    <a:lstStyle/>
                    <a:p>
                      <a:r>
                        <a:rPr sz="1275" b="1">
                          <a:solidFill>
                            <a:srgbClr val="FFFFFF"/>
                          </a:solidFill>
                          <a:latin typeface="Arial"/>
                          <a:ea typeface="Arial"/>
                          <a:cs typeface="Arial"/>
                        </a:rPr>
                        <a:t>Question</a:t>
                      </a:r>
                    </a:p>
                  </a:txBody>
                  <a:tcPr marL="91440" marR="91440" marT="45720" marB="45720">
                    <a:solidFill>
                      <a:srgbClr val="003262"/>
                    </a:solidFill>
                  </a:tcPr>
                </a:tc>
              </a:tr>
              <a:tr h="575310">
                <a:tc>
                  <a:txBody>
                    <a:bodyPr/>
                    <a:lstStyle/>
                    <a:p>
                      <a:r>
                        <a:rPr sz="1350" b="0">
                          <a:solidFill>
                            <a:srgbClr val="1F2A37"/>
                          </a:solidFill>
                          <a:latin typeface="Arial"/>
                          <a:ea typeface="Arial"/>
                          <a:cs typeface="Arial"/>
                        </a:rPr>
                        <a:t>08</a:t>
                      </a:r>
                    </a:p>
                  </a:txBody>
                  <a:tcPr marL="91440" marR="91440" marT="45720" marB="45720">
                    <a:solidFill>
                      <a:srgbClr val="EEF3F8"/>
                    </a:solidFill>
                  </a:tcPr>
                </a:tc>
                <a:tc>
                  <a:txBody>
                    <a:bodyPr/>
                    <a:lstStyle/>
                    <a:p>
                      <a:r>
                        <a:rPr sz="1350" b="0">
                          <a:solidFill>
                            <a:srgbClr val="1F2A37"/>
                          </a:solidFill>
                          <a:latin typeface="Arial"/>
                          <a:ea typeface="Arial"/>
                          <a:cs typeface="Arial"/>
                        </a:rPr>
                        <a:t>LSTM versus Transformer</a:t>
                      </a:r>
                    </a:p>
                  </a:txBody>
                  <a:tcPr marL="91440" marR="91440" marT="45720" marB="45720">
                    <a:solidFill>
                      <a:srgbClr val="EEF3F8"/>
                    </a:solidFill>
                  </a:tcPr>
                </a:tc>
                <a:tc>
                  <a:txBody>
                    <a:bodyPr/>
                    <a:lstStyle/>
                    <a:p>
                      <a:r>
                        <a:rPr sz="1350" b="0">
                          <a:solidFill>
                            <a:srgbClr val="1F2A37"/>
                          </a:solidFill>
                          <a:latin typeface="Arial"/>
                          <a:ea typeface="Arial"/>
                          <a:cs typeface="Arial"/>
                        </a:rPr>
                        <a:t>Which encoder works at a common budget?</a:t>
                      </a:r>
                    </a:p>
                  </a:txBody>
                  <a:tcPr marL="91440" marR="91440" marT="45720" marB="45720">
                    <a:solidFill>
                      <a:srgbClr val="EEF3F8"/>
                    </a:solidFill>
                  </a:tcPr>
                </a:tc>
              </a:tr>
              <a:tr h="575310">
                <a:tc>
                  <a:txBody>
                    <a:bodyPr/>
                    <a:lstStyle/>
                    <a:p>
                      <a:r>
                        <a:rPr sz="1350" b="0">
                          <a:solidFill>
                            <a:srgbClr val="1F2A37"/>
                          </a:solidFill>
                          <a:latin typeface="Arial"/>
                          <a:ea typeface="Arial"/>
                          <a:cs typeface="Arial"/>
                        </a:rPr>
                        <a:t>09</a:t>
                      </a:r>
                    </a:p>
                  </a:txBody>
                  <a:tcPr marL="91440" marR="91440" marT="45720" marB="45720">
                    <a:solidFill>
                      <a:srgbClr val="FFFFFF"/>
                    </a:solidFill>
                  </a:tcPr>
                </a:tc>
                <a:tc>
                  <a:txBody>
                    <a:bodyPr/>
                    <a:lstStyle/>
                    <a:p>
                      <a:r>
                        <a:rPr sz="1350" b="0">
                          <a:solidFill>
                            <a:srgbClr val="1F2A37"/>
                          </a:solidFill>
                          <a:latin typeface="Arial"/>
                          <a:ea typeface="Arial"/>
                          <a:cs typeface="Arial"/>
                        </a:rPr>
                        <a:t>36/60-month rolling evaluation</a:t>
                      </a:r>
                    </a:p>
                  </a:txBody>
                  <a:tcPr marL="91440" marR="91440" marT="45720" marB="45720">
                    <a:solidFill>
                      <a:srgbClr val="FFFFFF"/>
                    </a:solidFill>
                  </a:tcPr>
                </a:tc>
                <a:tc>
                  <a:txBody>
                    <a:bodyPr/>
                    <a:lstStyle/>
                    <a:p>
                      <a:r>
                        <a:rPr sz="1350" b="0">
                          <a:solidFill>
                            <a:srgbClr val="1F2A37"/>
                          </a:solidFill>
                          <a:latin typeface="Arial"/>
                          <a:ea typeface="Arial"/>
                          <a:cs typeface="Arial"/>
                        </a:rPr>
                        <a:t>When does performance change?</a:t>
                      </a:r>
                    </a:p>
                  </a:txBody>
                  <a:tcPr marL="91440" marR="91440" marT="45720" marB="45720">
                    <a:solidFill>
                      <a:srgbClr val="FFFFFF"/>
                    </a:solidFill>
                  </a:tcPr>
                </a:tc>
              </a:tr>
              <a:tr h="575310">
                <a:tc>
                  <a:txBody>
                    <a:bodyPr/>
                    <a:lstStyle/>
                    <a:p>
                      <a:r>
                        <a:rPr sz="1350" b="0">
                          <a:solidFill>
                            <a:srgbClr val="1F2A37"/>
                          </a:solidFill>
                          <a:latin typeface="Arial"/>
                          <a:ea typeface="Arial"/>
                          <a:cs typeface="Arial"/>
                        </a:rPr>
                        <a:t>10</a:t>
                      </a:r>
                    </a:p>
                  </a:txBody>
                  <a:tcPr marL="91440" marR="91440" marT="45720" marB="45720">
                    <a:solidFill>
                      <a:srgbClr val="EEF3F8"/>
                    </a:solidFill>
                  </a:tcPr>
                </a:tc>
                <a:tc>
                  <a:txBody>
                    <a:bodyPr/>
                    <a:lstStyle/>
                    <a:p>
                      <a:r>
                        <a:rPr sz="1350" b="0">
                          <a:solidFill>
                            <a:srgbClr val="1F2A37"/>
                          </a:solidFill>
                          <a:latin typeface="Arial"/>
                          <a:ea typeface="Arial"/>
                          <a:cs typeface="Arial"/>
                        </a:rPr>
                        <a:t>Recession and volatility regimes</a:t>
                      </a:r>
                    </a:p>
                  </a:txBody>
                  <a:tcPr marL="91440" marR="91440" marT="45720" marB="45720">
                    <a:solidFill>
                      <a:srgbClr val="EEF3F8"/>
                    </a:solidFill>
                  </a:tcPr>
                </a:tc>
                <a:tc>
                  <a:txBody>
                    <a:bodyPr/>
                    <a:lstStyle/>
                    <a:p>
                      <a:r>
                        <a:rPr sz="1350" b="0">
                          <a:solidFill>
                            <a:srgbClr val="1F2A37"/>
                          </a:solidFill>
                          <a:latin typeface="Arial"/>
                          <a:ea typeface="Arial"/>
                          <a:cs typeface="Arial"/>
                        </a:rPr>
                        <a:t>Where do return and risk differ?</a:t>
                      </a:r>
                    </a:p>
                  </a:txBody>
                  <a:tcPr marL="91440" marR="91440" marT="45720" marB="45720">
                    <a:solidFill>
                      <a:srgbClr val="EEF3F8"/>
                    </a:solidFill>
                  </a:tcPr>
                </a:tc>
              </a:tr>
              <a:tr h="575310">
                <a:tc>
                  <a:txBody>
                    <a:bodyPr/>
                    <a:lstStyle/>
                    <a:p>
                      <a:r>
                        <a:rPr sz="1350" b="0">
                          <a:solidFill>
                            <a:srgbClr val="1F2A37"/>
                          </a:solidFill>
                          <a:latin typeface="Arial"/>
                          <a:ea typeface="Arial"/>
                          <a:cs typeface="Arial"/>
                        </a:rPr>
                        <a:t>11</a:t>
                      </a:r>
                    </a:p>
                  </a:txBody>
                  <a:tcPr marL="91440" marR="91440" marT="45720" marB="45720">
                    <a:solidFill>
                      <a:srgbClr val="FFFFFF"/>
                    </a:solidFill>
                  </a:tcPr>
                </a:tc>
                <a:tc>
                  <a:txBody>
                    <a:bodyPr/>
                    <a:lstStyle/>
                    <a:p>
                      <a:r>
                        <a:rPr sz="1350" b="0">
                          <a:solidFill>
                            <a:srgbClr val="1F2A37"/>
                          </a:solidFill>
                          <a:latin typeface="Arial"/>
                          <a:ea typeface="Arial"/>
                          <a:cs typeface="Arial"/>
                        </a:rPr>
                        <a:t>Consolidation and combinations</a:t>
                      </a:r>
                    </a:p>
                  </a:txBody>
                  <a:tcPr marL="91440" marR="91440" marT="45720" marB="45720">
                    <a:solidFill>
                      <a:srgbClr val="FFFFFF"/>
                    </a:solidFill>
                  </a:tcPr>
                </a:tc>
                <a:tc>
                  <a:txBody>
                    <a:bodyPr/>
                    <a:lstStyle/>
                    <a:p>
                      <a:r>
                        <a:rPr sz="1350" b="0">
                          <a:solidFill>
                            <a:srgbClr val="1F2A37"/>
                          </a:solidFill>
                          <a:latin typeface="Arial"/>
                          <a:ea typeface="Arial"/>
                          <a:cs typeface="Arial"/>
                        </a:rPr>
                        <a:t>How do the comparisons fit together?</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998F6BD-A0F7-41E4-A15D-4AEEA0F843B1}"/>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new contribution is a linked evaluation of architecture and economic conditions.</a:t>
            </a:r>
          </a:p>
        </p:txBody>
      </p:sp>
    </p:spTree>
    <p:extLst>
      <p:ext uri="{BB962C8B-B14F-4D97-AF65-F5344CB8AC3E}">
        <p14:creationId xmlns:p14="http://schemas.microsoft.com/office/powerpoint/2010/main" val="19003780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E7F825-497E-4369-A339-374BCDDB57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DC2DAA-8F02-469A-A75C-B51EE427910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CCE30F-29E5-4DCF-AB9D-10C6A70DEFB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completed experiment uses shorter training</a:t>
            </a:r>
          </a:p>
        </p:txBody>
      </p:sp>
      <p:sp>
        <p:nvSpPr>
          <p:cNvPr id="4" name="">
            <a:extLst xmlns:a="http://schemas.openxmlformats.org/drawingml/2006/main">
              <a:ext uri="{FF2B5EF4-FFF2-40B4-BE49-F238E27FC236}">
                <a16:creationId xmlns:a16="http://schemas.microsoft.com/office/drawing/2014/main" id="{B1E2F26F-0F64-4EE2-AAEB-076C428A2FCD}"/>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a:t>
            </a:r>
          </a:p>
        </p:txBody>
      </p:sp>
      <p:sp>
        <p:nvSpPr>
          <p:cNvPr id="5" name="">
            <a:extLst xmlns:a="http://schemas.openxmlformats.org/drawingml/2006/main">
              <a:ext uri="{FF2B5EF4-FFF2-40B4-BE49-F238E27FC236}">
                <a16:creationId xmlns:a16="http://schemas.microsoft.com/office/drawing/2014/main" id="{2450774F-FDE0-47E7-A921-5097F13BD1AC}"/>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12</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857500"/>
                <a:gridCol w="2743200"/>
                <a:gridCol w="2743200"/>
              </a:tblGrid>
              <a:tr h="476250">
                <a:tc>
                  <a:txBody>
                    <a:bodyPr/>
                    <a:lstStyle/>
                    <a:p>
                      <a:r>
                        <a:rPr sz="1350" b="1">
                          <a:solidFill>
                            <a:srgbClr val="FFFFFF"/>
                          </a:solidFill>
                          <a:latin typeface="Arial"/>
                          <a:ea typeface="Arial"/>
                          <a:cs typeface="Arial"/>
                        </a:rPr>
                        <a:t>Setting</a:t>
                      </a:r>
                    </a:p>
                  </a:txBody>
                  <a:tcPr marL="91440" marR="91440" marT="45720" marB="45720">
                    <a:solidFill>
                      <a:srgbClr val="003262"/>
                    </a:solidFill>
                  </a:tcPr>
                </a:tc>
                <a:tc>
                  <a:txBody>
                    <a:bodyPr/>
                    <a:lstStyle/>
                    <a:p>
                      <a:r>
                        <a:rPr sz="1350" b="1">
                          <a:solidFill>
                            <a:srgbClr val="FFFFFF"/>
                          </a:solidFill>
                          <a:latin typeface="Arial"/>
                          <a:ea typeface="Arial"/>
                          <a:cs typeface="Arial"/>
                        </a:rPr>
                        <a:t>Audited author setup</a:t>
                      </a:r>
                    </a:p>
                  </a:txBody>
                  <a:tcPr marL="91440" marR="91440" marT="45720" marB="45720">
                    <a:solidFill>
                      <a:srgbClr val="003262"/>
                    </a:solidFill>
                  </a:tcPr>
                </a:tc>
                <a:tc>
                  <a:txBody>
                    <a:bodyPr/>
                    <a:lstStyle/>
                    <a:p>
                      <a:r>
                        <a:rPr sz="1350" b="1">
                          <a:solidFill>
                            <a:srgbClr val="FFFFFF"/>
                          </a:solidFill>
                          <a:latin typeface="Arial"/>
                          <a:ea typeface="Arial"/>
                          <a:cs typeface="Arial"/>
                        </a:rPr>
                        <a:t>Our completed run</a:t>
                      </a:r>
                    </a:p>
                  </a:txBody>
                  <a:tcPr marL="91440" marR="91440" marT="45720" marB="45720">
                    <a:solidFill>
                      <a:srgbClr val="003262"/>
                    </a:solidFill>
                  </a:tcPr>
                </a:tc>
              </a:tr>
              <a:tr h="476250">
                <a:tc>
                  <a:txBody>
                    <a:bodyPr/>
                    <a:lstStyle/>
                    <a:p>
                      <a:r>
                        <a:rPr sz="1425" b="0">
                          <a:solidFill>
                            <a:srgbClr val="1F2A37"/>
                          </a:solidFill>
                          <a:latin typeface="Arial"/>
                          <a:ea typeface="Arial"/>
                          <a:cs typeface="Arial"/>
                        </a:rPr>
                        <a:t>Stage 1 / 2 / 3 epochs</a:t>
                      </a:r>
                    </a:p>
                  </a:txBody>
                  <a:tcPr marL="91440" marR="91440" marT="45720" marB="45720">
                    <a:solidFill>
                      <a:srgbClr val="EEF3F8"/>
                    </a:solidFill>
                  </a:tcPr>
                </a:tc>
                <a:tc>
                  <a:txBody>
                    <a:bodyPr/>
                    <a:lstStyle/>
                    <a:p>
                      <a:r>
                        <a:rPr sz="1425" b="0">
                          <a:solidFill>
                            <a:srgbClr val="1F2A37"/>
                          </a:solidFill>
                          <a:latin typeface="Arial"/>
                          <a:ea typeface="Arial"/>
                          <a:cs typeface="Arial"/>
                        </a:rPr>
                        <a:t>256 / 64 / 1024</a:t>
                      </a:r>
                    </a:p>
                  </a:txBody>
                  <a:tcPr marL="91440" marR="91440" marT="45720" marB="45720">
                    <a:solidFill>
                      <a:srgbClr val="EEF3F8"/>
                    </a:solidFill>
                  </a:tcPr>
                </a:tc>
                <a:tc>
                  <a:txBody>
                    <a:bodyPr/>
                    <a:lstStyle/>
                    <a:p>
                      <a:r>
                        <a:rPr sz="1425" b="0">
                          <a:solidFill>
                            <a:srgbClr val="1F2A37"/>
                          </a:solidFill>
                          <a:latin typeface="Arial"/>
                          <a:ea typeface="Arial"/>
                          <a:cs typeface="Arial"/>
                        </a:rPr>
                        <a:t>16 / 4 / 48</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Optimizer passes</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Checkpoint warm-up</a:t>
                      </a:r>
                    </a:p>
                  </a:txBody>
                  <a:tcPr marL="91440" marR="91440" marT="45720" marB="45720">
                    <a:solidFill>
                      <a:srgbClr val="EEF3F8"/>
                    </a:solidFill>
                  </a:tcPr>
                </a:tc>
                <a:tc>
                  <a:txBody>
                    <a:bodyPr/>
                    <a:lstStyle/>
                    <a:p>
                      <a:r>
                        <a:rPr sz="1425" b="0">
                          <a:solidFill>
                            <a:srgbClr val="1F2A37"/>
                          </a:solidFill>
                          <a:latin typeface="Arial"/>
                          <a:ea typeface="Arial"/>
                          <a:cs typeface="Arial"/>
                        </a:rPr>
                        <a:t>64 epochs</a:t>
                      </a:r>
                    </a:p>
                  </a:txBody>
                  <a:tcPr marL="91440" marR="91440" marT="45720" marB="45720">
                    <a:solidFill>
                      <a:srgbClr val="EEF3F8"/>
                    </a:solidFill>
                  </a:tcPr>
                </a:tc>
                <a:tc>
                  <a:txBody>
                    <a:bodyPr/>
                    <a:lstStyle/>
                    <a:p>
                      <a:r>
                        <a:rPr sz="1425" b="0">
                          <a:solidFill>
                            <a:srgbClr val="1F2A37"/>
                          </a:solidFill>
                          <a:latin typeface="Arial"/>
                          <a:ea typeface="Arial"/>
                          <a:cs typeface="Arial"/>
                        </a:rPr>
                        <a:t>4 epochs</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Seeds per architecture</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Training framework</a:t>
                      </a:r>
                    </a:p>
                  </a:txBody>
                  <a:tcPr marL="91440" marR="91440" marT="45720" marB="45720">
                    <a:solidFill>
                      <a:srgbClr val="EEF3F8"/>
                    </a:solidFill>
                  </a:tcPr>
                </a:tc>
                <a:tc>
                  <a:txBody>
                    <a:bodyPr/>
                    <a:lstStyle/>
                    <a:p>
                      <a:r>
                        <a:rPr sz="1425" b="0">
                          <a:solidFill>
                            <a:srgbClr val="1F2A37"/>
                          </a:solidFill>
                          <a:latin typeface="Arial"/>
                          <a:ea typeface="Arial"/>
                          <a:cs typeface="Arial"/>
                        </a:rPr>
                        <a:t>TensorFlow author code</a:t>
                      </a:r>
                    </a:p>
                  </a:txBody>
                  <a:tcPr marL="91440" marR="91440" marT="45720" marB="45720">
                    <a:solidFill>
                      <a:srgbClr val="EEF3F8"/>
                    </a:solidFill>
                  </a:tcPr>
                </a:tc>
                <a:tc>
                  <a:txBody>
                    <a:bodyPr/>
                    <a:lstStyle/>
                    <a:p>
                      <a:r>
                        <a:rPr sz="1425" b="0">
                          <a:solidFill>
                            <a:srgbClr val="1F2A37"/>
                          </a:solidFill>
                          <a:latin typeface="Arial"/>
                          <a:ea typeface="Arial"/>
                          <a:cs typeface="Arial"/>
                        </a:rPr>
                        <a:t>PyTorch port</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D1C44BA3-2A79-409A-A887-95A1957B270D}"/>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All 18 new models completed in 12.9 minutes. Full training remains a separate test.</a:t>
            </a:r>
          </a:p>
        </p:txBody>
      </p:sp>
    </p:spTree>
    <p:extLst>
      <p:ext uri="{BB962C8B-B14F-4D97-AF65-F5344CB8AC3E}">
        <p14:creationId xmlns:p14="http://schemas.microsoft.com/office/powerpoint/2010/main" val="4796970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5E91A1-E148-4D2D-A440-317838AF276B}"/>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CD65F9-3179-4199-AC0E-7E888939D08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392935-F9B4-48B9-9211-3A9FE2BABA3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LSTM and Transformer encoder comparison</a:t>
            </a:r>
          </a:p>
        </p:txBody>
      </p:sp>
      <p:sp>
        <p:nvSpPr>
          <p:cNvPr id="4" name="">
            <a:extLst xmlns:a="http://schemas.openxmlformats.org/drawingml/2006/main">
              <a:ext uri="{FF2B5EF4-FFF2-40B4-BE49-F238E27FC236}">
                <a16:creationId xmlns:a16="http://schemas.microsoft.com/office/drawing/2014/main" id="{EE837C1A-A2DD-4FD3-ACD8-0FD611858311}"/>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a:t>
            </a:r>
          </a:p>
        </p:txBody>
      </p:sp>
      <p:sp>
        <p:nvSpPr>
          <p:cNvPr id="5" name="">
            <a:extLst xmlns:a="http://schemas.openxmlformats.org/drawingml/2006/main">
              <a:ext uri="{FF2B5EF4-FFF2-40B4-BE49-F238E27FC236}">
                <a16:creationId xmlns:a16="http://schemas.microsoft.com/office/drawing/2014/main" id="{4773C0A0-1621-4820-9BBF-AF4FE414824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13</a:t>
            </a:r>
          </a:p>
        </p:txBody>
      </p:sp>
      <p:graphicFrame>
        <p:nvGraphicFramePr>
          <p:cNvPr id="13" name=""/>
          <p:cNvGraphicFramePr/>
          <p:nvPr/>
        </p:nvGraphicFramePr>
        <p:xfrm>
          <a:off xmlns:a="http://schemas.openxmlformats.org/drawingml/2006/main" x="400050" y="1019175"/>
          <a:ext xmlns:a="http://schemas.openxmlformats.org/drawingml/2006/main" cx="8343900" cy="3048000"/>
        </p:xfrm>
        <a:graphic xmlns:a="http://schemas.openxmlformats.org/drawingml/2006/main">
          <a:graphicData uri="http://schemas.openxmlformats.org/drawingml/2006/table">
            <a:tbl>
              <a:tblPr/>
              <a:tblGrid>
                <a:gridCol w="2762250"/>
                <a:gridCol w="2790825"/>
                <a:gridCol w="2790825"/>
              </a:tblGrid>
              <a:tr h="435429">
                <a:tc>
                  <a:txBody>
                    <a:bodyPr/>
                    <a:lstStyle/>
                    <a:p>
                      <a:r>
                        <a:rPr sz="1350" b="1">
                          <a:solidFill>
                            <a:srgbClr val="FFFFFF"/>
                          </a:solidFill>
                          <a:latin typeface="Arial"/>
                          <a:ea typeface="Arial"/>
                          <a:cs typeface="Arial"/>
                        </a:rPr>
                        <a:t>Choice</a:t>
                      </a:r>
                    </a:p>
                  </a:txBody>
                  <a:tcPr marL="91440" marR="91440" marT="45720" marB="45720">
                    <a:solidFill>
                      <a:srgbClr val="003262"/>
                    </a:solidFill>
                  </a:tcPr>
                </a:tc>
                <a:tc>
                  <a:txBody>
                    <a:bodyPr/>
                    <a:lstStyle/>
                    <a:p>
                      <a:r>
                        <a:rPr sz="1350" b="1">
                          <a:solidFill>
                            <a:srgbClr val="FFFFFF"/>
                          </a:solidFill>
                          <a:latin typeface="Arial"/>
                          <a:ea typeface="Arial"/>
                          <a:cs typeface="Arial"/>
                        </a:rPr>
                        <a:t>LSTM</a:t>
                      </a:r>
                    </a:p>
                  </a:txBody>
                  <a:tcPr marL="91440" marR="91440" marT="45720" marB="45720">
                    <a:solidFill>
                      <a:srgbClr val="003262"/>
                    </a:solidFill>
                  </a:tcPr>
                </a:tc>
                <a:tc>
                  <a:txBody>
                    <a:bodyPr/>
                    <a:lstStyle/>
                    <a:p>
                      <a:r>
                        <a:rPr sz="1350" b="1">
                          <a:solidFill>
                            <a:srgbClr val="FFFFFF"/>
                          </a:solidFill>
                          <a:latin typeface="Arial"/>
                          <a:ea typeface="Arial"/>
                          <a:cs typeface="Arial"/>
                        </a:rPr>
                        <a:t>Transformer</a:t>
                      </a:r>
                    </a:p>
                  </a:txBody>
                  <a:tcPr marL="91440" marR="91440" marT="45720" marB="45720">
                    <a:solidFill>
                      <a:srgbClr val="003262"/>
                    </a:solidFill>
                  </a:tcPr>
                </a:tc>
              </a:tr>
              <a:tr h="435429">
                <a:tc>
                  <a:txBody>
                    <a:bodyPr/>
                    <a:lstStyle/>
                    <a:p>
                      <a:r>
                        <a:rPr sz="1425" b="0">
                          <a:solidFill>
                            <a:srgbClr val="1F2A37"/>
                          </a:solidFill>
                          <a:latin typeface="Arial"/>
                          <a:ea typeface="Arial"/>
                          <a:cs typeface="Arial"/>
                        </a:rPr>
                        <a:t>Sequence processing</a:t>
                      </a:r>
                    </a:p>
                  </a:txBody>
                  <a:tcPr marL="91440" marR="91440" marT="45720" marB="45720">
                    <a:solidFill>
                      <a:srgbClr val="EEF3F8"/>
                    </a:solidFill>
                  </a:tcPr>
                </a:tc>
                <a:tc>
                  <a:txBody>
                    <a:bodyPr/>
                    <a:lstStyle/>
                    <a:p>
                      <a:r>
                        <a:rPr sz="1425" b="0">
                          <a:solidFill>
                            <a:srgbClr val="1F2A37"/>
                          </a:solidFill>
                          <a:latin typeface="Arial"/>
                          <a:ea typeface="Arial"/>
                          <a:cs typeface="Arial"/>
                        </a:rPr>
                        <a:t>Recurrent state</a:t>
                      </a:r>
                    </a:p>
                  </a:txBody>
                  <a:tcPr marL="91440" marR="91440" marT="45720" marB="45720">
                    <a:solidFill>
                      <a:srgbClr val="EEF3F8"/>
                    </a:solidFill>
                  </a:tcPr>
                </a:tc>
                <a:tc>
                  <a:txBody>
                    <a:bodyPr/>
                    <a:lstStyle/>
                    <a:p>
                      <a:r>
                        <a:rPr sz="1425" b="0">
                          <a:solidFill>
                            <a:srgbClr val="1F2A37"/>
                          </a:solidFill>
                          <a:latin typeface="Arial"/>
                          <a:ea typeface="Arial"/>
                          <a:cs typeface="Arial"/>
                        </a:rPr>
                        <a:t>Causal self-attention</a:t>
                      </a:r>
                    </a:p>
                  </a:txBody>
                  <a:tcPr marL="91440" marR="91440" marT="45720" marB="45720">
                    <a:solidFill>
                      <a:srgbClr val="EEF3F8"/>
                    </a:solidFill>
                  </a:tcPr>
                </a:tc>
              </a:tr>
              <a:tr h="435429">
                <a:tc>
                  <a:txBody>
                    <a:bodyPr/>
                    <a:lstStyle/>
                    <a:p>
                      <a:r>
                        <a:rPr sz="1425" b="0">
                          <a:solidFill>
                            <a:srgbClr val="1F2A37"/>
                          </a:solidFill>
                          <a:latin typeface="Arial"/>
                          <a:ea typeface="Arial"/>
                          <a:cs typeface="Arial"/>
                        </a:rPr>
                        <a:t>Macro inputs</a:t>
                      </a:r>
                    </a:p>
                  </a:txBody>
                  <a:tcPr marL="91440" marR="91440" marT="45720" marB="45720">
                    <a:solidFill>
                      <a:srgbClr val="FFFFFF"/>
                    </a:solidFill>
                  </a:tcPr>
                </a:tc>
                <a:tc>
                  <a:txBody>
                    <a:bodyPr/>
                    <a:lstStyle/>
                    <a:p>
                      <a:r>
                        <a:rPr sz="1425" b="0">
                          <a:solidFill>
                            <a:srgbClr val="1F2A37"/>
                          </a:solidFill>
                          <a:latin typeface="Arial"/>
                          <a:ea typeface="Arial"/>
                          <a:cs typeface="Arial"/>
                        </a:rPr>
                        <a:t>178</a:t>
                      </a:r>
                    </a:p>
                  </a:txBody>
                  <a:tcPr marL="91440" marR="91440" marT="45720" marB="45720">
                    <a:solidFill>
                      <a:srgbClr val="FFFFFF"/>
                    </a:solidFill>
                  </a:tcPr>
                </a:tc>
                <a:tc>
                  <a:txBody>
                    <a:bodyPr/>
                    <a:lstStyle/>
                    <a:p>
                      <a:r>
                        <a:rPr sz="1425" b="0">
                          <a:solidFill>
                            <a:srgbClr val="1F2A37"/>
                          </a:solidFill>
                          <a:latin typeface="Arial"/>
                          <a:ea typeface="Arial"/>
                          <a:cs typeface="Arial"/>
                        </a:rPr>
                        <a:t>178</a:t>
                      </a:r>
                    </a:p>
                  </a:txBody>
                  <a:tcPr marL="91440" marR="91440" marT="45720" marB="45720">
                    <a:solidFill>
                      <a:srgbClr val="FFFFFF"/>
                    </a:solidFill>
                  </a:tcPr>
                </a:tc>
              </a:tr>
              <a:tr h="435429">
                <a:tc>
                  <a:txBody>
                    <a:bodyPr/>
                    <a:lstStyle/>
                    <a:p>
                      <a:r>
                        <a:rPr sz="1425" b="0">
                          <a:solidFill>
                            <a:srgbClr val="1F2A37"/>
                          </a:solidFill>
                          <a:latin typeface="Arial"/>
                          <a:ea typeface="Arial"/>
                          <a:cs typeface="Arial"/>
                        </a:rPr>
                        <a:t>SDF / instrument states</a:t>
                      </a:r>
                    </a:p>
                  </a:txBody>
                  <a:tcPr marL="91440" marR="91440" marT="45720" marB="45720">
                    <a:solidFill>
                      <a:srgbClr val="EEF3F8"/>
                    </a:solidFill>
                  </a:tcPr>
                </a:tc>
                <a:tc>
                  <a:txBody>
                    <a:bodyPr/>
                    <a:lstStyle/>
                    <a:p>
                      <a:r>
                        <a:rPr sz="1425" b="0">
                          <a:solidFill>
                            <a:srgbClr val="1F2A37"/>
                          </a:solidFill>
                          <a:latin typeface="Arial"/>
                          <a:ea typeface="Arial"/>
                          <a:cs typeface="Arial"/>
                        </a:rPr>
                        <a:t>4 / 32</a:t>
                      </a:r>
                    </a:p>
                  </a:txBody>
                  <a:tcPr marL="91440" marR="91440" marT="45720" marB="45720">
                    <a:solidFill>
                      <a:srgbClr val="EEF3F8"/>
                    </a:solidFill>
                  </a:tcPr>
                </a:tc>
                <a:tc>
                  <a:txBody>
                    <a:bodyPr/>
                    <a:lstStyle/>
                    <a:p>
                      <a:r>
                        <a:rPr sz="1425" b="0">
                          <a:solidFill>
                            <a:srgbClr val="1F2A37"/>
                          </a:solidFill>
                          <a:latin typeface="Arial"/>
                          <a:ea typeface="Arial"/>
                          <a:cs typeface="Arial"/>
                        </a:rPr>
                        <a:t>4 / 32</a:t>
                      </a:r>
                    </a:p>
                  </a:txBody>
                  <a:tcPr marL="91440" marR="91440" marT="45720" marB="45720">
                    <a:solidFill>
                      <a:srgbClr val="EEF3F8"/>
                    </a:solidFill>
                  </a:tcPr>
                </a:tc>
              </a:tr>
              <a:tr h="435429">
                <a:tc>
                  <a:txBody>
                    <a:bodyPr/>
                    <a:lstStyle/>
                    <a:p>
                      <a:r>
                        <a:rPr sz="1425" b="0">
                          <a:solidFill>
                            <a:srgbClr val="1F2A37"/>
                          </a:solidFill>
                          <a:latin typeface="Arial"/>
                          <a:ea typeface="Arial"/>
                          <a:cs typeface="Arial"/>
                        </a:rPr>
                        <a:t>Transformer specification</a:t>
                      </a:r>
                    </a:p>
                  </a:txBody>
                  <a:tcPr marL="91440" marR="91440" marT="45720" marB="45720">
                    <a:solidFill>
                      <a:srgbClr val="FFFFFF"/>
                    </a:solidFill>
                  </a:tcPr>
                </a:tc>
                <a:tc>
                  <a:txBody>
                    <a:bodyPr/>
                    <a:lstStyle/>
                    <a:p>
                      <a:r>
                        <a:rPr sz="1425" b="0">
                          <a:solidFill>
                            <a:srgbClr val="1F2A37"/>
                          </a:solidFill>
                          <a:latin typeface="Arial"/>
                          <a:ea typeface="Arial"/>
                          <a:cs typeface="Arial"/>
                        </a:rPr>
                        <a:t>Not applicable</a:t>
                      </a:r>
                    </a:p>
                  </a:txBody>
                  <a:tcPr marL="91440" marR="91440" marT="45720" marB="45720">
                    <a:solidFill>
                      <a:srgbClr val="FFFFFF"/>
                    </a:solidFill>
                  </a:tcPr>
                </a:tc>
                <a:tc>
                  <a:txBody>
                    <a:bodyPr/>
                    <a:lstStyle/>
                    <a:p>
                      <a:r>
                        <a:rPr sz="1425" b="0">
                          <a:solidFill>
                            <a:srgbClr val="1F2A37"/>
                          </a:solidFill>
                          <a:latin typeface="Arial"/>
                          <a:ea typeface="Arial"/>
                          <a:cs typeface="Arial"/>
                        </a:rPr>
                        <a:t>2 layers, 4 heads, width 32</a:t>
                      </a:r>
                    </a:p>
                  </a:txBody>
                  <a:tcPr marL="91440" marR="91440" marT="45720" marB="45720">
                    <a:solidFill>
                      <a:srgbClr val="FFFFFF"/>
                    </a:solidFill>
                  </a:tcPr>
                </a:tc>
              </a:tr>
              <a:tr h="435429">
                <a:tc>
                  <a:txBody>
                    <a:bodyPr/>
                    <a:lstStyle/>
                    <a:p>
                      <a:r>
                        <a:rPr sz="1425" b="0">
                          <a:solidFill>
                            <a:srgbClr val="1F2A37"/>
                          </a:solidFill>
                          <a:latin typeface="Arial"/>
                          <a:ea typeface="Arial"/>
                          <a:cs typeface="Arial"/>
                        </a:rPr>
                        <a:t>Economic objective</a:t>
                      </a:r>
                    </a:p>
                  </a:txBody>
                  <a:tcPr marL="91440" marR="91440" marT="45720" marB="45720">
                    <a:solidFill>
                      <a:srgbClr val="EEF3F8"/>
                    </a:solidFill>
                  </a:tcPr>
                </a:tc>
                <a:tc>
                  <a:txBody>
                    <a:bodyPr/>
                    <a:lstStyle/>
                    <a:p>
                      <a:r>
                        <a:rPr sz="1425" b="0">
                          <a:solidFill>
                            <a:srgbClr val="1F2A37"/>
                          </a:solidFill>
                          <a:latin typeface="Arial"/>
                          <a:ea typeface="Arial"/>
                          <a:cs typeface="Arial"/>
                        </a:rPr>
                        <a:t>Shared</a:t>
                      </a:r>
                    </a:p>
                  </a:txBody>
                  <a:tcPr marL="91440" marR="91440" marT="45720" marB="45720">
                    <a:solidFill>
                      <a:srgbClr val="EEF3F8"/>
                    </a:solidFill>
                  </a:tcPr>
                </a:tc>
                <a:tc>
                  <a:txBody>
                    <a:bodyPr/>
                    <a:lstStyle/>
                    <a:p>
                      <a:r>
                        <a:rPr sz="1425" b="0">
                          <a:solidFill>
                            <a:srgbClr val="1F2A37"/>
                          </a:solidFill>
                          <a:latin typeface="Arial"/>
                          <a:ea typeface="Arial"/>
                          <a:cs typeface="Arial"/>
                        </a:rPr>
                        <a:t>Shared</a:t>
                      </a:r>
                    </a:p>
                  </a:txBody>
                  <a:tcPr marL="91440" marR="91440" marT="45720" marB="45720">
                    <a:solidFill>
                      <a:srgbClr val="EEF3F8"/>
                    </a:solidFill>
                  </a:tcPr>
                </a:tc>
              </a:tr>
              <a:tr h="435429">
                <a:tc>
                  <a:txBody>
                    <a:bodyPr/>
                    <a:lstStyle/>
                    <a:p>
                      <a:r>
                        <a:rPr sz="1425" b="0">
                          <a:solidFill>
                            <a:srgbClr val="1F2A37"/>
                          </a:solidFill>
                          <a:latin typeface="Arial"/>
                          <a:ea typeface="Arial"/>
                          <a:cs typeface="Arial"/>
                        </a:rPr>
                        <a:t>Training seeds and schedule</a:t>
                      </a:r>
                    </a:p>
                  </a:txBody>
                  <a:tcPr marL="91440" marR="91440" marT="45720" marB="45720">
                    <a:solidFill>
                      <a:srgbClr val="FFFFFF"/>
                    </a:solidFill>
                  </a:tcPr>
                </a:tc>
                <a:tc>
                  <a:txBody>
                    <a:bodyPr/>
                    <a:lstStyle/>
                    <a:p>
                      <a:r>
                        <a:rPr sz="1425" b="0">
                          <a:solidFill>
                            <a:srgbClr val="1F2A37"/>
                          </a:solidFill>
                          <a:latin typeface="Arial"/>
                          <a:ea typeface="Arial"/>
                          <a:cs typeface="Arial"/>
                        </a:rPr>
                        <a:t>Shared</a:t>
                      </a:r>
                    </a:p>
                  </a:txBody>
                  <a:tcPr marL="91440" marR="91440" marT="45720" marB="45720">
                    <a:solidFill>
                      <a:srgbClr val="FFFFFF"/>
                    </a:solidFill>
                  </a:tcPr>
                </a:tc>
                <a:tc>
                  <a:txBody>
                    <a:bodyPr/>
                    <a:lstStyle/>
                    <a:p>
                      <a:r>
                        <a:rPr sz="1425" b="0">
                          <a:solidFill>
                            <a:srgbClr val="1F2A37"/>
                          </a:solidFill>
                          <a:latin typeface="Arial"/>
                          <a:ea typeface="Arial"/>
                          <a:cs typeface="Arial"/>
                        </a:rPr>
                        <a:t>Shared</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6D49308-5179-4508-8532-3AD4E8E50626}"/>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comparison replaces both macro encoders and keeps the output dimensions.</a:t>
            </a:r>
          </a:p>
        </p:txBody>
      </p:sp>
    </p:spTree>
    <p:extLst>
      <p:ext uri="{BB962C8B-B14F-4D97-AF65-F5344CB8AC3E}">
        <p14:creationId xmlns:p14="http://schemas.microsoft.com/office/powerpoint/2010/main" val="5897952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F90ABC-40EF-48B6-9525-C8C0C9EDDB0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3A444F-409D-404B-8786-B842638729E0}"/>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67F56D-1D48-4873-8E82-88807198F0E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Train, validation and test comparison</a:t>
            </a:r>
          </a:p>
        </p:txBody>
      </p:sp>
      <p:sp>
        <p:nvSpPr>
          <p:cNvPr id="4" name="">
            <a:extLst xmlns:a="http://schemas.openxmlformats.org/drawingml/2006/main">
              <a:ext uri="{FF2B5EF4-FFF2-40B4-BE49-F238E27FC236}">
                <a16:creationId xmlns:a16="http://schemas.microsoft.com/office/drawing/2014/main" id="{6DF98A7D-CB2F-4844-991A-F47F93EEA3B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 and Code 11</a:t>
            </a:r>
          </a:p>
        </p:txBody>
      </p:sp>
      <p:sp>
        <p:nvSpPr>
          <p:cNvPr id="5" name="">
            <a:extLst xmlns:a="http://schemas.openxmlformats.org/drawingml/2006/main">
              <a:ext uri="{FF2B5EF4-FFF2-40B4-BE49-F238E27FC236}">
                <a16:creationId xmlns:a16="http://schemas.microsoft.com/office/drawing/2014/main" id="{B844C165-4D61-42F4-AED6-FE0A0BE26669}"/>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14</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f0719fa217bb43e7"/>
          </a:graphicData>
        </a:graphic>
      </p:graphicFrame>
      <p:sp>
        <p:nvSpPr>
          <p:cNvPr id="7" name="">
            <a:extLst xmlns:a="http://schemas.openxmlformats.org/drawingml/2006/main">
              <a:ext uri="{FF2B5EF4-FFF2-40B4-BE49-F238E27FC236}">
                <a16:creationId xmlns:a16="http://schemas.microsoft.com/office/drawing/2014/main" id="{D74E6589-7E4E-4C71-91C4-1A7090ADB83E}"/>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new LSTM exceeds Transformer in all three splits under the reduced budget.</a:t>
            </a:r>
          </a:p>
        </p:txBody>
      </p:sp>
    </p:spTree>
    <p:extLst>
      <p:ext uri="{BB962C8B-B14F-4D97-AF65-F5344CB8AC3E}">
        <p14:creationId xmlns:p14="http://schemas.microsoft.com/office/powerpoint/2010/main" val="137849263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642444-997F-4B41-B6B5-698B1895D86E}"/>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41864E-7499-4EA4-A180-3FF88416723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6D0C25F-ACF5-4D66-AA24-F47DFFE5C42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Full-test Sharpe across the five portfolios</a:t>
            </a:r>
          </a:p>
        </p:txBody>
      </p:sp>
      <p:sp>
        <p:nvSpPr>
          <p:cNvPr id="4" name="">
            <a:extLst xmlns:a="http://schemas.openxmlformats.org/drawingml/2006/main">
              <a:ext uri="{FF2B5EF4-FFF2-40B4-BE49-F238E27FC236}">
                <a16:creationId xmlns:a16="http://schemas.microsoft.com/office/drawing/2014/main" id="{612915E9-4B68-48D9-8E0C-3E53FC09642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9207D6C9-286B-4C67-B38E-261EE5906C1E}"/>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15</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40bf53cdba454155"/>
          </a:graphicData>
        </a:graphic>
      </p:graphicFrame>
      <p:sp>
        <p:nvSpPr>
          <p:cNvPr id="7" name="">
            <a:extLst xmlns:a="http://schemas.openxmlformats.org/drawingml/2006/main">
              <a:ext uri="{FF2B5EF4-FFF2-40B4-BE49-F238E27FC236}">
                <a16:creationId xmlns:a16="http://schemas.microsoft.com/office/drawing/2014/main" id="{8B456C4C-8908-4063-BA07-AB601C63181B}"/>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Author GAN 0.750, Code 07 0.612, new LSTM 0.459, Transformer 0.304.</a:t>
            </a:r>
          </a:p>
        </p:txBody>
      </p:sp>
    </p:spTree>
    <p:extLst>
      <p:ext uri="{BB962C8B-B14F-4D97-AF65-F5344CB8AC3E}">
        <p14:creationId xmlns:p14="http://schemas.microsoft.com/office/powerpoint/2010/main" val="30252051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D17F24-D08A-4A39-BE7A-24B9EBFA8767}"/>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2F2442-DE33-4AD6-9E44-355530E87B1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97B267-EA26-4227-92C2-FF5D44DCA5E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Return and risk explain the architecture gap</a:t>
            </a:r>
          </a:p>
        </p:txBody>
      </p:sp>
      <p:sp>
        <p:nvSpPr>
          <p:cNvPr id="4" name="">
            <a:extLst xmlns:a="http://schemas.openxmlformats.org/drawingml/2006/main">
              <a:ext uri="{FF2B5EF4-FFF2-40B4-BE49-F238E27FC236}">
                <a16:creationId xmlns:a16="http://schemas.microsoft.com/office/drawing/2014/main" id="{889D4E29-DB3E-41F5-9C84-2E34FBCEC4D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 and Code 11</a:t>
            </a:r>
          </a:p>
        </p:txBody>
      </p:sp>
      <p:sp>
        <p:nvSpPr>
          <p:cNvPr id="5" name="">
            <a:extLst xmlns:a="http://schemas.openxmlformats.org/drawingml/2006/main">
              <a:ext uri="{FF2B5EF4-FFF2-40B4-BE49-F238E27FC236}">
                <a16:creationId xmlns:a16="http://schemas.microsoft.com/office/drawing/2014/main" id="{BF84E4CA-6980-4511-8190-E145B1A03E9E}"/>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16</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381250"/>
                <a:gridCol w="1987550"/>
                <a:gridCol w="1987550"/>
                <a:gridCol w="1987550"/>
              </a:tblGrid>
              <a:tr h="476250">
                <a:tc>
                  <a:txBody>
                    <a:bodyPr/>
                    <a:lstStyle/>
                    <a:p>
                      <a:r>
                        <a:rPr sz="1350" b="1">
                          <a:solidFill>
                            <a:srgbClr val="FFFFFF"/>
                          </a:solidFill>
                          <a:latin typeface="Arial"/>
                          <a:ea typeface="Arial"/>
                          <a:cs typeface="Arial"/>
                        </a:rPr>
                        <a:t>Portfolio</a:t>
                      </a:r>
                    </a:p>
                  </a:txBody>
                  <a:tcPr marL="91440" marR="91440" marT="45720" marB="45720">
                    <a:solidFill>
                      <a:srgbClr val="003262"/>
                    </a:solidFill>
                  </a:tcPr>
                </a:tc>
                <a:tc>
                  <a:txBody>
                    <a:bodyPr/>
                    <a:lstStyle/>
                    <a:p>
                      <a:r>
                        <a:rPr sz="1350" b="1">
                          <a:solidFill>
                            <a:srgbClr val="FFFFFF"/>
                          </a:solidFill>
                          <a:latin typeface="Arial"/>
                          <a:ea typeface="Arial"/>
                          <a:cs typeface="Arial"/>
                        </a:rPr>
                        <a:t>Mean monthly</a:t>
                      </a:r>
                    </a:p>
                  </a:txBody>
                  <a:tcPr marL="91440" marR="91440" marT="45720" marB="45720">
                    <a:solidFill>
                      <a:srgbClr val="003262"/>
                    </a:solidFill>
                  </a:tcPr>
                </a:tc>
                <a:tc>
                  <a:txBody>
                    <a:bodyPr/>
                    <a:lstStyle/>
                    <a:p>
                      <a:r>
                        <a:rPr sz="1350" b="1">
                          <a:solidFill>
                            <a:srgbClr val="FFFFFF"/>
                          </a:solidFill>
                          <a:latin typeface="Arial"/>
                          <a:ea typeface="Arial"/>
                          <a:cs typeface="Arial"/>
                        </a:rPr>
                        <a:t>Annual volatility</a:t>
                      </a:r>
                    </a:p>
                  </a:txBody>
                  <a:tcPr marL="91440" marR="91440" marT="45720" marB="45720">
                    <a:solidFill>
                      <a:srgbClr val="003262"/>
                    </a:solidFill>
                  </a:tcPr>
                </a:tc>
                <a:tc>
                  <a:txBody>
                    <a:bodyPr/>
                    <a:lstStyle/>
                    <a:p>
                      <a:r>
                        <a:rPr sz="1350" b="1">
                          <a:solidFill>
                            <a:srgbClr val="FFFFFF"/>
                          </a:solidFill>
                          <a:latin typeface="Arial"/>
                          <a:ea typeface="Arial"/>
                          <a:cs typeface="Arial"/>
                        </a:rPr>
                        <a:t>Max drawdown</a:t>
                      </a:r>
                    </a:p>
                  </a:txBody>
                  <a:tcPr marL="91440" marR="91440" marT="45720" marB="45720">
                    <a:solidFill>
                      <a:srgbClr val="003262"/>
                    </a:solidFill>
                  </a:tcPr>
                </a:tc>
              </a:tr>
              <a:tr h="476250">
                <a:tc>
                  <a:txBody>
                    <a:bodyPr/>
                    <a:lstStyle/>
                    <a:p>
                      <a:r>
                        <a:rPr sz="1425" b="0">
                          <a:solidFill>
                            <a:srgbClr val="1F2A37"/>
                          </a:solidFill>
                          <a:latin typeface="Arial"/>
                          <a:ea typeface="Arial"/>
                          <a:cs typeface="Arial"/>
                        </a:rPr>
                        <a:t>Authors GAN</a:t>
                      </a:r>
                    </a:p>
                  </a:txBody>
                  <a:tcPr marL="91440" marR="91440" marT="45720" marB="45720">
                    <a:solidFill>
                      <a:srgbClr val="EEF3F8"/>
                    </a:solidFill>
                  </a:tcPr>
                </a:tc>
                <a:tc>
                  <a:txBody>
                    <a:bodyPr/>
                    <a:lstStyle/>
                    <a:p>
                      <a:r>
                        <a:rPr sz="1425" b="0">
                          <a:solidFill>
                            <a:srgbClr val="1F2A37"/>
                          </a:solidFill>
                          <a:latin typeface="Arial"/>
                          <a:ea typeface="Arial"/>
                          <a:cs typeface="Arial"/>
                        </a:rPr>
                        <a:t>0.78%</a:t>
                      </a:r>
                    </a:p>
                  </a:txBody>
                  <a:tcPr marL="91440" marR="91440" marT="45720" marB="45720">
                    <a:solidFill>
                      <a:srgbClr val="EEF3F8"/>
                    </a:solidFill>
                  </a:tcPr>
                </a:tc>
                <a:tc>
                  <a:txBody>
                    <a:bodyPr/>
                    <a:lstStyle/>
                    <a:p>
                      <a:r>
                        <a:rPr sz="1425" b="0">
                          <a:solidFill>
                            <a:srgbClr val="1F2A37"/>
                          </a:solidFill>
                          <a:latin typeface="Arial"/>
                          <a:ea typeface="Arial"/>
                          <a:cs typeface="Arial"/>
                        </a:rPr>
                        <a:t>3.61%</a:t>
                      </a:r>
                    </a:p>
                  </a:txBody>
                  <a:tcPr marL="91440" marR="91440" marT="45720" marB="45720">
                    <a:solidFill>
                      <a:srgbClr val="EEF3F8"/>
                    </a:solidFill>
                  </a:tcPr>
                </a:tc>
                <a:tc>
                  <a:txBody>
                    <a:bodyPr/>
                    <a:lstStyle/>
                    <a:p>
                      <a:r>
                        <a:rPr sz="1425" b="0">
                          <a:solidFill>
                            <a:srgbClr val="1F2A37"/>
                          </a:solidFill>
                          <a:latin typeface="Arial"/>
                          <a:ea typeface="Arial"/>
                          <a:cs typeface="Arial"/>
                        </a:rPr>
                        <a:t>-7.02%</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Code 07 GAN</a:t>
                      </a:r>
                    </a:p>
                  </a:txBody>
                  <a:tcPr marL="91440" marR="91440" marT="45720" marB="45720">
                    <a:solidFill>
                      <a:srgbClr val="FFFFFF"/>
                    </a:solidFill>
                  </a:tcPr>
                </a:tc>
                <a:tc>
                  <a:txBody>
                    <a:bodyPr/>
                    <a:lstStyle/>
                    <a:p>
                      <a:r>
                        <a:rPr sz="1425" b="0">
                          <a:solidFill>
                            <a:srgbClr val="1F2A37"/>
                          </a:solidFill>
                          <a:latin typeface="Arial"/>
                          <a:ea typeface="Arial"/>
                          <a:cs typeface="Arial"/>
                        </a:rPr>
                        <a:t>0.70%</a:t>
                      </a:r>
                    </a:p>
                  </a:txBody>
                  <a:tcPr marL="91440" marR="91440" marT="45720" marB="45720">
                    <a:solidFill>
                      <a:srgbClr val="FFFFFF"/>
                    </a:solidFill>
                  </a:tcPr>
                </a:tc>
                <a:tc>
                  <a:txBody>
                    <a:bodyPr/>
                    <a:lstStyle/>
                    <a:p>
                      <a:r>
                        <a:rPr sz="1425" b="0">
                          <a:solidFill>
                            <a:srgbClr val="1F2A37"/>
                          </a:solidFill>
                          <a:latin typeface="Arial"/>
                          <a:ea typeface="Arial"/>
                          <a:cs typeface="Arial"/>
                        </a:rPr>
                        <a:t>3.96%</a:t>
                      </a:r>
                    </a:p>
                  </a:txBody>
                  <a:tcPr marL="91440" marR="91440" marT="45720" marB="45720">
                    <a:solidFill>
                      <a:srgbClr val="FFFFFF"/>
                    </a:solidFill>
                  </a:tcPr>
                </a:tc>
                <a:tc>
                  <a:txBody>
                    <a:bodyPr/>
                    <a:lstStyle/>
                    <a:p>
                      <a:r>
                        <a:rPr sz="1425" b="0">
                          <a:solidFill>
                            <a:srgbClr val="1F2A37"/>
                          </a:solidFill>
                          <a:latin typeface="Arial"/>
                          <a:ea typeface="Arial"/>
                          <a:cs typeface="Arial"/>
                        </a:rPr>
                        <a:t>-6.51%</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New LSTM</a:t>
                      </a:r>
                    </a:p>
                  </a:txBody>
                  <a:tcPr marL="91440" marR="91440" marT="45720" marB="45720">
                    <a:solidFill>
                      <a:srgbClr val="EEF3F8"/>
                    </a:solidFill>
                  </a:tcPr>
                </a:tc>
                <a:tc>
                  <a:txBody>
                    <a:bodyPr/>
                    <a:lstStyle/>
                    <a:p>
                      <a:r>
                        <a:rPr sz="1425" b="0">
                          <a:solidFill>
                            <a:srgbClr val="1F2A37"/>
                          </a:solidFill>
                          <a:latin typeface="Arial"/>
                          <a:ea typeface="Arial"/>
                          <a:cs typeface="Arial"/>
                        </a:rPr>
                        <a:t>0.51%</a:t>
                      </a:r>
                    </a:p>
                  </a:txBody>
                  <a:tcPr marL="91440" marR="91440" marT="45720" marB="45720">
                    <a:solidFill>
                      <a:srgbClr val="EEF3F8"/>
                    </a:solidFill>
                  </a:tcPr>
                </a:tc>
                <a:tc>
                  <a:txBody>
                    <a:bodyPr/>
                    <a:lstStyle/>
                    <a:p>
                      <a:r>
                        <a:rPr sz="1425" b="0">
                          <a:solidFill>
                            <a:srgbClr val="1F2A37"/>
                          </a:solidFill>
                          <a:latin typeface="Arial"/>
                          <a:ea typeface="Arial"/>
                          <a:cs typeface="Arial"/>
                        </a:rPr>
                        <a:t>3.87%</a:t>
                      </a:r>
                    </a:p>
                  </a:txBody>
                  <a:tcPr marL="91440" marR="91440" marT="45720" marB="45720">
                    <a:solidFill>
                      <a:srgbClr val="EEF3F8"/>
                    </a:solidFill>
                  </a:tcPr>
                </a:tc>
                <a:tc>
                  <a:txBody>
                    <a:bodyPr/>
                    <a:lstStyle/>
                    <a:p>
                      <a:r>
                        <a:rPr sz="1425" b="0">
                          <a:solidFill>
                            <a:srgbClr val="1F2A37"/>
                          </a:solidFill>
                          <a:latin typeface="Arial"/>
                          <a:ea typeface="Arial"/>
                          <a:cs typeface="Arial"/>
                        </a:rPr>
                        <a:t>-11.14%</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Transformer</a:t>
                      </a:r>
                    </a:p>
                  </a:txBody>
                  <a:tcPr marL="91440" marR="91440" marT="45720" marB="45720">
                    <a:solidFill>
                      <a:srgbClr val="FFFFFF"/>
                    </a:solidFill>
                  </a:tcPr>
                </a:tc>
                <a:tc>
                  <a:txBody>
                    <a:bodyPr/>
                    <a:lstStyle/>
                    <a:p>
                      <a:r>
                        <a:rPr sz="1425" b="0">
                          <a:solidFill>
                            <a:srgbClr val="1F2A37"/>
                          </a:solidFill>
                          <a:latin typeface="Arial"/>
                          <a:ea typeface="Arial"/>
                          <a:cs typeface="Arial"/>
                        </a:rPr>
                        <a:t>0.42%</a:t>
                      </a:r>
                    </a:p>
                  </a:txBody>
                  <a:tcPr marL="91440" marR="91440" marT="45720" marB="45720">
                    <a:solidFill>
                      <a:srgbClr val="FFFFFF"/>
                    </a:solidFill>
                  </a:tcPr>
                </a:tc>
                <a:tc>
                  <a:txBody>
                    <a:bodyPr/>
                    <a:lstStyle/>
                    <a:p>
                      <a:r>
                        <a:rPr sz="1425" b="0">
                          <a:solidFill>
                            <a:srgbClr val="1F2A37"/>
                          </a:solidFill>
                          <a:latin typeface="Arial"/>
                          <a:ea typeface="Arial"/>
                          <a:cs typeface="Arial"/>
                        </a:rPr>
                        <a:t>4.82%</a:t>
                      </a:r>
                    </a:p>
                  </a:txBody>
                  <a:tcPr marL="91440" marR="91440" marT="45720" marB="45720">
                    <a:solidFill>
                      <a:srgbClr val="FFFFFF"/>
                    </a:solidFill>
                  </a:tcPr>
                </a:tc>
                <a:tc>
                  <a:txBody>
                    <a:bodyPr/>
                    <a:lstStyle/>
                    <a:p>
                      <a:r>
                        <a:rPr sz="1425" b="0">
                          <a:solidFill>
                            <a:srgbClr val="1F2A37"/>
                          </a:solidFill>
                          <a:latin typeface="Arial"/>
                          <a:ea typeface="Arial"/>
                          <a:cs typeface="Arial"/>
                        </a:rPr>
                        <a:t>-15.35%</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50/50 blend</a:t>
                      </a:r>
                    </a:p>
                  </a:txBody>
                  <a:tcPr marL="91440" marR="91440" marT="45720" marB="45720">
                    <a:solidFill>
                      <a:srgbClr val="EEF3F8"/>
                    </a:solidFill>
                  </a:tcPr>
                </a:tc>
                <a:tc>
                  <a:txBody>
                    <a:bodyPr/>
                    <a:lstStyle/>
                    <a:p>
                      <a:r>
                        <a:rPr sz="1425" b="0">
                          <a:solidFill>
                            <a:srgbClr val="1F2A37"/>
                          </a:solidFill>
                          <a:latin typeface="Arial"/>
                          <a:ea typeface="Arial"/>
                          <a:cs typeface="Arial"/>
                        </a:rPr>
                        <a:t>0.47%</a:t>
                      </a:r>
                    </a:p>
                  </a:txBody>
                  <a:tcPr marL="91440" marR="91440" marT="45720" marB="45720">
                    <a:solidFill>
                      <a:srgbClr val="EEF3F8"/>
                    </a:solidFill>
                  </a:tcPr>
                </a:tc>
                <a:tc>
                  <a:txBody>
                    <a:bodyPr/>
                    <a:lstStyle/>
                    <a:p>
                      <a:r>
                        <a:rPr sz="1425" b="0">
                          <a:solidFill>
                            <a:srgbClr val="1F2A37"/>
                          </a:solidFill>
                          <a:latin typeface="Arial"/>
                          <a:ea typeface="Arial"/>
                          <a:cs typeface="Arial"/>
                        </a:rPr>
                        <a:t>3.50%</a:t>
                      </a:r>
                    </a:p>
                  </a:txBody>
                  <a:tcPr marL="91440" marR="91440" marT="45720" marB="45720">
                    <a:solidFill>
                      <a:srgbClr val="EEF3F8"/>
                    </a:solidFill>
                  </a:tcPr>
                </a:tc>
                <a:tc>
                  <a:txBody>
                    <a:bodyPr/>
                    <a:lstStyle/>
                    <a:p>
                      <a:r>
                        <a:rPr sz="1425" b="0">
                          <a:solidFill>
                            <a:srgbClr val="1F2A37"/>
                          </a:solidFill>
                          <a:latin typeface="Arial"/>
                          <a:ea typeface="Arial"/>
                          <a:cs typeface="Arial"/>
                        </a:rPr>
                        <a:t>-6.57%</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5A956433-BB65-4BB5-ACA7-3BA5E9088691}"/>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Transformer combines a lower mean return with greater volatility than new LSTM.</a:t>
            </a:r>
          </a:p>
        </p:txBody>
      </p:sp>
    </p:spTree>
    <p:extLst>
      <p:ext uri="{BB962C8B-B14F-4D97-AF65-F5344CB8AC3E}">
        <p14:creationId xmlns:p14="http://schemas.microsoft.com/office/powerpoint/2010/main" val="10748358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3DE073-B26F-4843-9EE9-DD2B08897A9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7E0B16-1200-49D9-B9F3-7C9D19DFEDAA}"/>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E424809-D763-4EC0-8A45-FC9C766FB1B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Initialization sensitivity across nine seeds</a:t>
            </a:r>
          </a:p>
        </p:txBody>
      </p:sp>
      <p:sp>
        <p:nvSpPr>
          <p:cNvPr id="4" name="">
            <a:extLst xmlns:a="http://schemas.openxmlformats.org/drawingml/2006/main">
              <a:ext uri="{FF2B5EF4-FFF2-40B4-BE49-F238E27FC236}">
                <a16:creationId xmlns:a16="http://schemas.microsoft.com/office/drawing/2014/main" id="{D2F374DF-8703-4362-9B8D-F9D2A03B5F7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a:t>
            </a:r>
          </a:p>
        </p:txBody>
      </p:sp>
      <p:sp>
        <p:nvSpPr>
          <p:cNvPr id="5" name="">
            <a:extLst xmlns:a="http://schemas.openxmlformats.org/drawingml/2006/main">
              <a:ext uri="{FF2B5EF4-FFF2-40B4-BE49-F238E27FC236}">
                <a16:creationId xmlns:a16="http://schemas.microsoft.com/office/drawing/2014/main" id="{D41EED42-6EE8-40D8-8D6F-DDF4F063654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17</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de99c4d703ce41c4"/>
          </a:graphicData>
        </a:graphic>
      </p:graphicFrame>
      <p:sp>
        <p:nvSpPr>
          <p:cNvPr id="7" name="">
            <a:extLst xmlns:a="http://schemas.openxmlformats.org/drawingml/2006/main">
              <a:ext uri="{FF2B5EF4-FFF2-40B4-BE49-F238E27FC236}">
                <a16:creationId xmlns:a16="http://schemas.microsoft.com/office/drawing/2014/main" id="{AB753EF8-7632-4161-AF68-43E165992DA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Ensemble Sharpe uses averaged raw weights, rather than the mean member Sharpe.</a:t>
            </a:r>
          </a:p>
        </p:txBody>
      </p:sp>
    </p:spTree>
    <p:extLst>
      <p:ext uri="{BB962C8B-B14F-4D97-AF65-F5344CB8AC3E}">
        <p14:creationId xmlns:p14="http://schemas.microsoft.com/office/powerpoint/2010/main" val="174441150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A8BDB8-B4E4-4259-BD1C-2AF50D5829C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94E85A-FB84-45DE-B185-72097D7B005A}"/>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781F9B-C0A0-4F9D-B838-1A268B57732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Rolling evaluation uses fixed saved models</a:t>
            </a:r>
          </a:p>
        </p:txBody>
      </p:sp>
      <p:sp>
        <p:nvSpPr>
          <p:cNvPr id="4" name="">
            <a:extLst xmlns:a="http://schemas.openxmlformats.org/drawingml/2006/main">
              <a:ext uri="{FF2B5EF4-FFF2-40B4-BE49-F238E27FC236}">
                <a16:creationId xmlns:a16="http://schemas.microsoft.com/office/drawing/2014/main" id="{3E899157-D676-4E13-9AB7-850FAE2360EF}"/>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09</a:t>
            </a:r>
          </a:p>
        </p:txBody>
      </p:sp>
      <p:sp>
        <p:nvSpPr>
          <p:cNvPr id="5" name="">
            <a:extLst xmlns:a="http://schemas.openxmlformats.org/drawingml/2006/main">
              <a:ext uri="{FF2B5EF4-FFF2-40B4-BE49-F238E27FC236}">
                <a16:creationId xmlns:a16="http://schemas.microsoft.com/office/drawing/2014/main" id="{17696259-80A6-45DA-8BAB-4E35E277C861}"/>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18</a:t>
            </a:r>
          </a:p>
        </p:txBody>
      </p:sp>
      <p:graphicFrame>
        <p:nvGraphicFramePr>
          <p:cNvPr id="14" name=""/>
          <p:cNvGraphicFramePr/>
          <p:nvPr/>
        </p:nvGraphicFramePr>
        <p:xfrm>
          <a:off xmlns:a="http://schemas.openxmlformats.org/drawingml/2006/main" x="400050" y="1019175"/>
          <a:ext xmlns:a="http://schemas.openxmlformats.org/drawingml/2006/main" cx="8343900" cy="2524125"/>
        </p:xfrm>
        <a:graphic xmlns:a="http://schemas.openxmlformats.org/drawingml/2006/main">
          <a:graphicData uri="http://schemas.openxmlformats.org/drawingml/2006/table">
            <a:tbl>
              <a:tblPr/>
              <a:tblGrid>
                <a:gridCol w="2762250"/>
                <a:gridCol w="2790825"/>
                <a:gridCol w="2790825"/>
              </a:tblGrid>
              <a:tr h="504825">
                <a:tc>
                  <a:txBody>
                    <a:bodyPr/>
                    <a:lstStyle/>
                    <a:p>
                      <a:r>
                        <a:rPr sz="1350" b="1">
                          <a:solidFill>
                            <a:srgbClr val="FFFFFF"/>
                          </a:solidFill>
                          <a:latin typeface="Arial"/>
                          <a:ea typeface="Arial"/>
                          <a:cs typeface="Arial"/>
                        </a:rPr>
                        <a:t>Definition</a:t>
                      </a:r>
                    </a:p>
                  </a:txBody>
                  <a:tcPr marL="91440" marR="91440" marT="45720" marB="45720">
                    <a:solidFill>
                      <a:srgbClr val="003262"/>
                    </a:solidFill>
                  </a:tcPr>
                </a:tc>
                <a:tc>
                  <a:txBody>
                    <a:bodyPr/>
                    <a:lstStyle/>
                    <a:p>
                      <a:r>
                        <a:rPr sz="1350" b="1">
                          <a:solidFill>
                            <a:srgbClr val="FFFFFF"/>
                          </a:solidFill>
                          <a:latin typeface="Arial"/>
                          <a:ea typeface="Arial"/>
                          <a:cs typeface="Arial"/>
                        </a:rPr>
                        <a:t>36 months</a:t>
                      </a:r>
                    </a:p>
                  </a:txBody>
                  <a:tcPr marL="91440" marR="91440" marT="45720" marB="45720">
                    <a:solidFill>
                      <a:srgbClr val="003262"/>
                    </a:solidFill>
                  </a:tcPr>
                </a:tc>
                <a:tc>
                  <a:txBody>
                    <a:bodyPr/>
                    <a:lstStyle/>
                    <a:p>
                      <a:r>
                        <a:rPr sz="1350" b="1">
                          <a:solidFill>
                            <a:srgbClr val="FFFFFF"/>
                          </a:solidFill>
                          <a:latin typeface="Arial"/>
                          <a:ea typeface="Arial"/>
                          <a:cs typeface="Arial"/>
                        </a:rPr>
                        <a:t>60 months</a:t>
                      </a:r>
                    </a:p>
                  </a:txBody>
                  <a:tcPr marL="91440" marR="91440" marT="45720" marB="45720">
                    <a:solidFill>
                      <a:srgbClr val="003262"/>
                    </a:solidFill>
                  </a:tcPr>
                </a:tc>
              </a:tr>
              <a:tr h="504825">
                <a:tc>
                  <a:txBody>
                    <a:bodyPr/>
                    <a:lstStyle/>
                    <a:p>
                      <a:r>
                        <a:rPr sz="1425" b="0">
                          <a:solidFill>
                            <a:srgbClr val="1F2A37"/>
                          </a:solidFill>
                          <a:latin typeface="Arial"/>
                          <a:ea typeface="Arial"/>
                          <a:cs typeface="Arial"/>
                        </a:rPr>
                        <a:t>Complete windows</a:t>
                      </a:r>
                    </a:p>
                  </a:txBody>
                  <a:tcPr marL="91440" marR="91440" marT="45720" marB="45720">
                    <a:solidFill>
                      <a:srgbClr val="EEF3F8"/>
                    </a:solidFill>
                  </a:tcPr>
                </a:tc>
                <a:tc>
                  <a:txBody>
                    <a:bodyPr/>
                    <a:lstStyle/>
                    <a:p>
                      <a:r>
                        <a:rPr sz="1425" b="0">
                          <a:solidFill>
                            <a:srgbClr val="1F2A37"/>
                          </a:solidFill>
                          <a:latin typeface="Arial"/>
                          <a:ea typeface="Arial"/>
                          <a:cs typeface="Arial"/>
                        </a:rPr>
                        <a:t>265</a:t>
                      </a:r>
                    </a:p>
                  </a:txBody>
                  <a:tcPr marL="91440" marR="91440" marT="45720" marB="45720">
                    <a:solidFill>
                      <a:srgbClr val="EEF3F8"/>
                    </a:solidFill>
                  </a:tcPr>
                </a:tc>
                <a:tc>
                  <a:txBody>
                    <a:bodyPr/>
                    <a:lstStyle/>
                    <a:p>
                      <a:r>
                        <a:rPr sz="1425" b="0">
                          <a:solidFill>
                            <a:srgbClr val="1F2A37"/>
                          </a:solidFill>
                          <a:latin typeface="Arial"/>
                          <a:ea typeface="Arial"/>
                          <a:cs typeface="Arial"/>
                        </a:rPr>
                        <a:t>241</a:t>
                      </a:r>
                    </a:p>
                  </a:txBody>
                  <a:tcPr marL="91440" marR="91440" marT="45720" marB="45720">
                    <a:solidFill>
                      <a:srgbClr val="EEF3F8"/>
                    </a:solidFill>
                  </a:tcPr>
                </a:tc>
              </a:tr>
              <a:tr h="504825">
                <a:tc>
                  <a:txBody>
                    <a:bodyPr/>
                    <a:lstStyle/>
                    <a:p>
                      <a:r>
                        <a:rPr sz="1425" b="0">
                          <a:solidFill>
                            <a:srgbClr val="1F2A37"/>
                          </a:solidFill>
                          <a:latin typeface="Arial"/>
                          <a:ea typeface="Arial"/>
                          <a:cs typeface="Arial"/>
                        </a:rPr>
                        <a:t>First endpoint</a:t>
                      </a:r>
                    </a:p>
                  </a:txBody>
                  <a:tcPr marL="91440" marR="91440" marT="45720" marB="45720">
                    <a:solidFill>
                      <a:srgbClr val="FFFFFF"/>
                    </a:solidFill>
                  </a:tcPr>
                </a:tc>
                <a:tc>
                  <a:txBody>
                    <a:bodyPr/>
                    <a:lstStyle/>
                    <a:p>
                      <a:r>
                        <a:rPr sz="1425" b="0">
                          <a:solidFill>
                            <a:srgbClr val="1F2A37"/>
                          </a:solidFill>
                          <a:latin typeface="Arial"/>
                          <a:ea typeface="Arial"/>
                          <a:cs typeface="Arial"/>
                        </a:rPr>
                        <a:t>December 1994</a:t>
                      </a:r>
                    </a:p>
                  </a:txBody>
                  <a:tcPr marL="91440" marR="91440" marT="45720" marB="45720">
                    <a:solidFill>
                      <a:srgbClr val="FFFFFF"/>
                    </a:solidFill>
                  </a:tcPr>
                </a:tc>
                <a:tc>
                  <a:txBody>
                    <a:bodyPr/>
                    <a:lstStyle/>
                    <a:p>
                      <a:r>
                        <a:rPr sz="1425" b="0">
                          <a:solidFill>
                            <a:srgbClr val="1F2A37"/>
                          </a:solidFill>
                          <a:latin typeface="Arial"/>
                          <a:ea typeface="Arial"/>
                          <a:cs typeface="Arial"/>
                        </a:rPr>
                        <a:t>December 1996</a:t>
                      </a:r>
                    </a:p>
                  </a:txBody>
                  <a:tcPr marL="91440" marR="91440" marT="45720" marB="45720">
                    <a:solidFill>
                      <a:srgbClr val="FFFFFF"/>
                    </a:solidFill>
                  </a:tcPr>
                </a:tc>
              </a:tr>
              <a:tr h="504825">
                <a:tc>
                  <a:txBody>
                    <a:bodyPr/>
                    <a:lstStyle/>
                    <a:p>
                      <a:r>
                        <a:rPr sz="1425" b="0">
                          <a:solidFill>
                            <a:srgbClr val="1F2A37"/>
                          </a:solidFill>
                          <a:latin typeface="Arial"/>
                          <a:ea typeface="Arial"/>
                          <a:cs typeface="Arial"/>
                        </a:rPr>
                        <a:t>Last endpoint</a:t>
                      </a:r>
                    </a:p>
                  </a:txBody>
                  <a:tcPr marL="91440" marR="91440" marT="45720" marB="45720">
                    <a:solidFill>
                      <a:srgbClr val="EEF3F8"/>
                    </a:solidFill>
                  </a:tcPr>
                </a:tc>
                <a:tc>
                  <a:txBody>
                    <a:bodyPr/>
                    <a:lstStyle/>
                    <a:p>
                      <a:r>
                        <a:rPr sz="1425" b="0">
                          <a:solidFill>
                            <a:srgbClr val="1F2A37"/>
                          </a:solidFill>
                          <a:latin typeface="Arial"/>
                          <a:ea typeface="Arial"/>
                          <a:cs typeface="Arial"/>
                        </a:rPr>
                        <a:t>December 2016</a:t>
                      </a:r>
                    </a:p>
                  </a:txBody>
                  <a:tcPr marL="91440" marR="91440" marT="45720" marB="45720">
                    <a:solidFill>
                      <a:srgbClr val="EEF3F8"/>
                    </a:solidFill>
                  </a:tcPr>
                </a:tc>
                <a:tc>
                  <a:txBody>
                    <a:bodyPr/>
                    <a:lstStyle/>
                    <a:p>
                      <a:r>
                        <a:rPr sz="1425" b="0">
                          <a:solidFill>
                            <a:srgbClr val="1F2A37"/>
                          </a:solidFill>
                          <a:latin typeface="Arial"/>
                          <a:ea typeface="Arial"/>
                          <a:cs typeface="Arial"/>
                        </a:rPr>
                        <a:t>December 2016</a:t>
                      </a:r>
                    </a:p>
                  </a:txBody>
                  <a:tcPr marL="91440" marR="91440" marT="45720" marB="45720">
                    <a:solidFill>
                      <a:srgbClr val="EEF3F8"/>
                    </a:solidFill>
                  </a:tcPr>
                </a:tc>
              </a:tr>
              <a:tr h="504825">
                <a:tc>
                  <a:txBody>
                    <a:bodyPr/>
                    <a:lstStyle/>
                    <a:p>
                      <a:r>
                        <a:rPr sz="1425" b="0">
                          <a:solidFill>
                            <a:srgbClr val="1F2A37"/>
                          </a:solidFill>
                          <a:latin typeface="Arial"/>
                          <a:ea typeface="Arial"/>
                          <a:cs typeface="Arial"/>
                        </a:rPr>
                        <a:t>Statistic</a:t>
                      </a:r>
                    </a:p>
                  </a:txBody>
                  <a:tcPr marL="91440" marR="91440" marT="45720" marB="45720">
                    <a:solidFill>
                      <a:srgbClr val="FFFFFF"/>
                    </a:solidFill>
                  </a:tcPr>
                </a:tc>
                <a:tc>
                  <a:txBody>
                    <a:bodyPr/>
                    <a:lstStyle/>
                    <a:p>
                      <a:r>
                        <a:rPr sz="1425" b="0">
                          <a:solidFill>
                            <a:srgbClr val="1F2A37"/>
                          </a:solidFill>
                          <a:latin typeface="Arial"/>
                          <a:ea typeface="Arial"/>
                          <a:cs typeface="Arial"/>
                        </a:rPr>
                        <a:t>Annualized rolling Sharpe</a:t>
                      </a:r>
                    </a:p>
                  </a:txBody>
                  <a:tcPr marL="91440" marR="91440" marT="45720" marB="45720">
                    <a:solidFill>
                      <a:srgbClr val="FFFFFF"/>
                    </a:solidFill>
                  </a:tcPr>
                </a:tc>
                <a:tc>
                  <a:txBody>
                    <a:bodyPr/>
                    <a:lstStyle/>
                    <a:p>
                      <a:r>
                        <a:rPr sz="1425" b="0">
                          <a:solidFill>
                            <a:srgbClr val="1F2A37"/>
                          </a:solidFill>
                          <a:latin typeface="Arial"/>
                          <a:ea typeface="Arial"/>
                          <a:cs typeface="Arial"/>
                        </a:rPr>
                        <a:t>Annualized rolling Sharpe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802EA1A-C7A6-49B0-8411-8594303811B9}"/>
              </a:ext>
            </a:extLst>
          </p:cNvPr>
          <p:cNvSpPr>
            <a:spLocks xmlns:a="http://schemas.openxmlformats.org/drawingml/2006/main" noGrp="1"/>
          </p:cNvSpPr>
          <p:nvPr/>
        </p:nvSpPr>
        <p:spPr>
          <a:xfrm xmlns:a="http://schemas.openxmlformats.org/drawingml/2006/main">
            <a:off x="419100" y="3743325"/>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F2A37"/>
                </a:solidFill>
                <a:latin typeface="Arial"/>
                <a:ea typeface="Arial"/>
                <a:cs typeface="Arial"/>
              </a:defRPr>
            </a:pPr>
            <a:r>
              <a:rPr sz="1500" b="0">
                <a:solidFill>
                  <a:srgbClr val="1F2A37"/>
                </a:solidFill>
                <a:latin typeface="Arial"/>
                <a:ea typeface="Arial"/>
                <a:cs typeface="Arial"/>
              </a:rPr>
              <a:t>Each window reuses earlier returns. Longer windows smooth short episodes.</a:t>
            </a:r>
          </a:p>
        </p:txBody>
      </p:sp>
      <p:sp>
        <p:nvSpPr>
          <p:cNvPr id="8" name="">
            <a:extLst xmlns:a="http://schemas.openxmlformats.org/drawingml/2006/main">
              <a:ext uri="{FF2B5EF4-FFF2-40B4-BE49-F238E27FC236}">
                <a16:creationId xmlns:a16="http://schemas.microsoft.com/office/drawing/2014/main" id="{54EA176A-93EB-4AF9-ADEE-71AABD462728}"/>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This experiment evaluates fixed models. It does not refit an expanding-window model.</a:t>
            </a:r>
          </a:p>
        </p:txBody>
      </p:sp>
    </p:spTree>
    <p:extLst>
      <p:ext uri="{BB962C8B-B14F-4D97-AF65-F5344CB8AC3E}">
        <p14:creationId xmlns:p14="http://schemas.microsoft.com/office/powerpoint/2010/main" val="57411636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147A2A-5C35-4D98-967A-2E4237544D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0D14CC-FFFE-480B-95C0-029D20E8AE88}"/>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1BB0DE-CFE9-4F68-B837-F47050FBED3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36-month rolling Sharpe</a:t>
            </a:r>
          </a:p>
        </p:txBody>
      </p:sp>
      <p:sp>
        <p:nvSpPr>
          <p:cNvPr id="4" name="">
            <a:extLst xmlns:a="http://schemas.openxmlformats.org/drawingml/2006/main">
              <a:ext uri="{FF2B5EF4-FFF2-40B4-BE49-F238E27FC236}">
                <a16:creationId xmlns:a16="http://schemas.microsoft.com/office/drawing/2014/main" id="{654B2988-9924-4CBA-9260-EB484430E54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09 and Code 11</a:t>
            </a:r>
          </a:p>
        </p:txBody>
      </p:sp>
      <p:sp>
        <p:nvSpPr>
          <p:cNvPr id="5" name="">
            <a:extLst xmlns:a="http://schemas.openxmlformats.org/drawingml/2006/main">
              <a:ext uri="{FF2B5EF4-FFF2-40B4-BE49-F238E27FC236}">
                <a16:creationId xmlns:a16="http://schemas.microsoft.com/office/drawing/2014/main" id="{8CCBE63B-202E-4122-93CE-DFA5D3F0D995}"/>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19</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e9b7faaf2b434e35"/>
          </a:graphicData>
        </a:graphic>
      </p:graphicFrame>
      <p:sp>
        <p:nvSpPr>
          <p:cNvPr id="7" name="">
            <a:extLst xmlns:a="http://schemas.openxmlformats.org/drawingml/2006/main">
              <a:ext uri="{FF2B5EF4-FFF2-40B4-BE49-F238E27FC236}">
                <a16:creationId xmlns:a16="http://schemas.microsoft.com/office/drawing/2014/main" id="{A41A7049-9B93-46C0-BB64-7E670A3508B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Transformer beats new LSTM in 36.6% of complete windows.</a:t>
            </a:r>
          </a:p>
        </p:txBody>
      </p:sp>
    </p:spTree>
    <p:extLst>
      <p:ext uri="{BB962C8B-B14F-4D97-AF65-F5344CB8AC3E}">
        <p14:creationId xmlns:p14="http://schemas.microsoft.com/office/powerpoint/2010/main" val="109915239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27ACBB-E2DA-4487-897A-2FB20074348C}"/>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605B23-5CAE-43DC-8275-3601649540F6}"/>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14022C-8105-498E-A3F2-286DC1C20BF2}"/>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60-month rolling Sharpe</a:t>
            </a:r>
          </a:p>
        </p:txBody>
      </p:sp>
      <p:sp>
        <p:nvSpPr>
          <p:cNvPr id="4" name="">
            <a:extLst xmlns:a="http://schemas.openxmlformats.org/drawingml/2006/main">
              <a:ext uri="{FF2B5EF4-FFF2-40B4-BE49-F238E27FC236}">
                <a16:creationId xmlns:a16="http://schemas.microsoft.com/office/drawing/2014/main" id="{73717C9D-E9D0-4639-AF87-9FA344198F1A}"/>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09 and Code 11</a:t>
            </a:r>
          </a:p>
        </p:txBody>
      </p:sp>
      <p:sp>
        <p:nvSpPr>
          <p:cNvPr id="5" name="">
            <a:extLst xmlns:a="http://schemas.openxmlformats.org/drawingml/2006/main">
              <a:ext uri="{FF2B5EF4-FFF2-40B4-BE49-F238E27FC236}">
                <a16:creationId xmlns:a16="http://schemas.microsoft.com/office/drawing/2014/main" id="{76B3433C-28E5-4500-818B-78F3D580D472}"/>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20</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935337ece30f4cd4"/>
          </a:graphicData>
        </a:graphic>
      </p:graphicFrame>
      <p:sp>
        <p:nvSpPr>
          <p:cNvPr id="7" name="">
            <a:extLst xmlns:a="http://schemas.openxmlformats.org/drawingml/2006/main">
              <a:ext uri="{FF2B5EF4-FFF2-40B4-BE49-F238E27FC236}">
                <a16:creationId xmlns:a16="http://schemas.microsoft.com/office/drawing/2014/main" id="{2FA93CC1-7D50-42FE-B237-844A1AAB2CE3}"/>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Transformer beats new LSTM in 19.9% of complete windows.</a:t>
            </a:r>
          </a:p>
        </p:txBody>
      </p:sp>
    </p:spTree>
    <p:extLst>
      <p:ext uri="{BB962C8B-B14F-4D97-AF65-F5344CB8AC3E}">
        <p14:creationId xmlns:p14="http://schemas.microsoft.com/office/powerpoint/2010/main" val="55632064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C117D4-D60A-49A6-953E-BE48F6E9E80E}"/>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0BA902-08C2-40CC-927B-602199C2651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E218C4-6146-4633-B57E-A463AEF8DA66}"/>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Mean rolling Sharpe comparison</a:t>
            </a:r>
          </a:p>
        </p:txBody>
      </p:sp>
      <p:sp>
        <p:nvSpPr>
          <p:cNvPr id="4" name="">
            <a:extLst xmlns:a="http://schemas.openxmlformats.org/drawingml/2006/main">
              <a:ext uri="{FF2B5EF4-FFF2-40B4-BE49-F238E27FC236}">
                <a16:creationId xmlns:a16="http://schemas.microsoft.com/office/drawing/2014/main" id="{D363B145-FC73-47B6-A3A2-2F3DAF69025A}"/>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09 and Code 11</a:t>
            </a:r>
          </a:p>
        </p:txBody>
      </p:sp>
      <p:sp>
        <p:nvSpPr>
          <p:cNvPr id="5" name="">
            <a:extLst xmlns:a="http://schemas.openxmlformats.org/drawingml/2006/main">
              <a:ext uri="{FF2B5EF4-FFF2-40B4-BE49-F238E27FC236}">
                <a16:creationId xmlns:a16="http://schemas.microsoft.com/office/drawing/2014/main" id="{CBC2FB64-68DA-4D7B-9607-854E7A55A3F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21</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952750"/>
                <a:gridCol w="2695575"/>
                <a:gridCol w="2695575"/>
              </a:tblGrid>
              <a:tr h="476250">
                <a:tc>
                  <a:txBody>
                    <a:bodyPr/>
                    <a:lstStyle/>
                    <a:p>
                      <a:r>
                        <a:rPr sz="1575" b="1">
                          <a:solidFill>
                            <a:srgbClr val="FFFFFF"/>
                          </a:solidFill>
                          <a:latin typeface="Arial"/>
                          <a:ea typeface="Arial"/>
                          <a:cs typeface="Arial"/>
                        </a:rPr>
                        <a:t>Portfolio</a:t>
                      </a:r>
                    </a:p>
                  </a:txBody>
                  <a:tcPr marL="91440" marR="91440" marT="45720" marB="45720">
                    <a:solidFill>
                      <a:srgbClr val="003262"/>
                    </a:solidFill>
                  </a:tcPr>
                </a:tc>
                <a:tc>
                  <a:txBody>
                    <a:bodyPr/>
                    <a:lstStyle/>
                    <a:p>
                      <a:r>
                        <a:rPr sz="1575" b="1">
                          <a:solidFill>
                            <a:srgbClr val="FFFFFF"/>
                          </a:solidFill>
                          <a:latin typeface="Arial"/>
                          <a:ea typeface="Arial"/>
                          <a:cs typeface="Arial"/>
                        </a:rPr>
                        <a:t>36-month mean</a:t>
                      </a:r>
                    </a:p>
                  </a:txBody>
                  <a:tcPr marL="91440" marR="91440" marT="45720" marB="45720">
                    <a:solidFill>
                      <a:srgbClr val="003262"/>
                    </a:solidFill>
                  </a:tcPr>
                </a:tc>
                <a:tc>
                  <a:txBody>
                    <a:bodyPr/>
                    <a:lstStyle/>
                    <a:p>
                      <a:r>
                        <a:rPr sz="1575" b="1">
                          <a:solidFill>
                            <a:srgbClr val="FFFFFF"/>
                          </a:solidFill>
                          <a:latin typeface="Arial"/>
                          <a:ea typeface="Arial"/>
                          <a:cs typeface="Arial"/>
                        </a:rPr>
                        <a:t>60-month mean</a:t>
                      </a:r>
                    </a:p>
                  </a:txBody>
                  <a:tcPr marL="91440" marR="91440" marT="45720" marB="45720">
                    <a:solidFill>
                      <a:srgbClr val="003262"/>
                    </a:solidFill>
                  </a:tcPr>
                </a:tc>
              </a:tr>
              <a:tr h="476250">
                <a:tc>
                  <a:txBody>
                    <a:bodyPr/>
                    <a:lstStyle/>
                    <a:p>
                      <a:r>
                        <a:rPr sz="1650" b="0">
                          <a:solidFill>
                            <a:srgbClr val="1F2A37"/>
                          </a:solidFill>
                          <a:latin typeface="Arial"/>
                          <a:ea typeface="Arial"/>
                          <a:cs typeface="Arial"/>
                        </a:rPr>
                        <a:t>Authors GAN</a:t>
                      </a:r>
                    </a:p>
                  </a:txBody>
                  <a:tcPr marL="91440" marR="91440" marT="45720" marB="45720">
                    <a:solidFill>
                      <a:srgbClr val="EEF3F8"/>
                    </a:solidFill>
                  </a:tcPr>
                </a:tc>
                <a:tc>
                  <a:txBody>
                    <a:bodyPr/>
                    <a:lstStyle/>
                    <a:p>
                      <a:r>
                        <a:rPr sz="1650" b="0">
                          <a:solidFill>
                            <a:srgbClr val="1F2A37"/>
                          </a:solidFill>
                          <a:latin typeface="Arial"/>
                          <a:ea typeface="Arial"/>
                          <a:cs typeface="Arial"/>
                        </a:rPr>
                        <a:t>3.638</a:t>
                      </a:r>
                    </a:p>
                  </a:txBody>
                  <a:tcPr marL="91440" marR="91440" marT="45720" marB="45720">
                    <a:solidFill>
                      <a:srgbClr val="EEF3F8"/>
                    </a:solidFill>
                  </a:tcPr>
                </a:tc>
                <a:tc>
                  <a:txBody>
                    <a:bodyPr/>
                    <a:lstStyle/>
                    <a:p>
                      <a:r>
                        <a:rPr sz="1650" b="0">
                          <a:solidFill>
                            <a:srgbClr val="1F2A37"/>
                          </a:solidFill>
                          <a:latin typeface="Arial"/>
                          <a:ea typeface="Arial"/>
                          <a:cs typeface="Arial"/>
                        </a:rPr>
                        <a:t>3.199</a:t>
                      </a:r>
                    </a:p>
                  </a:txBody>
                  <a:tcPr marL="91440" marR="91440" marT="45720" marB="45720">
                    <a:solidFill>
                      <a:srgbClr val="EEF3F8"/>
                    </a:solidFill>
                  </a:tcPr>
                </a:tc>
              </a:tr>
              <a:tr h="476250">
                <a:tc>
                  <a:txBody>
                    <a:bodyPr/>
                    <a:lstStyle/>
                    <a:p>
                      <a:r>
                        <a:rPr sz="1650" b="0">
                          <a:solidFill>
                            <a:srgbClr val="1F2A37"/>
                          </a:solidFill>
                          <a:latin typeface="Arial"/>
                          <a:ea typeface="Arial"/>
                          <a:cs typeface="Arial"/>
                        </a:rPr>
                        <a:t>Code 07 GAN</a:t>
                      </a:r>
                    </a:p>
                  </a:txBody>
                  <a:tcPr marL="91440" marR="91440" marT="45720" marB="45720">
                    <a:solidFill>
                      <a:srgbClr val="FFFFFF"/>
                    </a:solidFill>
                  </a:tcPr>
                </a:tc>
                <a:tc>
                  <a:txBody>
                    <a:bodyPr/>
                    <a:lstStyle/>
                    <a:p>
                      <a:r>
                        <a:rPr sz="1650" b="0">
                          <a:solidFill>
                            <a:srgbClr val="1F2A37"/>
                          </a:solidFill>
                          <a:latin typeface="Arial"/>
                          <a:ea typeface="Arial"/>
                          <a:cs typeface="Arial"/>
                        </a:rPr>
                        <a:t>2.890</a:t>
                      </a:r>
                    </a:p>
                  </a:txBody>
                  <a:tcPr marL="91440" marR="91440" marT="45720" marB="45720">
                    <a:solidFill>
                      <a:srgbClr val="FFFFFF"/>
                    </a:solidFill>
                  </a:tcPr>
                </a:tc>
                <a:tc>
                  <a:txBody>
                    <a:bodyPr/>
                    <a:lstStyle/>
                    <a:p>
                      <a:r>
                        <a:rPr sz="1650" b="0">
                          <a:solidFill>
                            <a:srgbClr val="1F2A37"/>
                          </a:solidFill>
                          <a:latin typeface="Arial"/>
                          <a:ea typeface="Arial"/>
                          <a:cs typeface="Arial"/>
                        </a:rPr>
                        <a:t>2.504</a:t>
                      </a:r>
                    </a:p>
                  </a:txBody>
                  <a:tcPr marL="91440" marR="91440" marT="45720" marB="45720">
                    <a:solidFill>
                      <a:srgbClr val="FFFFFF"/>
                    </a:solidFill>
                  </a:tcPr>
                </a:tc>
              </a:tr>
              <a:tr h="476250">
                <a:tc>
                  <a:txBody>
                    <a:bodyPr/>
                    <a:lstStyle/>
                    <a:p>
                      <a:r>
                        <a:rPr sz="1650" b="0">
                          <a:solidFill>
                            <a:srgbClr val="1F2A37"/>
                          </a:solidFill>
                          <a:latin typeface="Arial"/>
                          <a:ea typeface="Arial"/>
                          <a:cs typeface="Arial"/>
                        </a:rPr>
                        <a:t>New LSTM</a:t>
                      </a:r>
                    </a:p>
                  </a:txBody>
                  <a:tcPr marL="91440" marR="91440" marT="45720" marB="45720">
                    <a:solidFill>
                      <a:srgbClr val="EEF3F8"/>
                    </a:solidFill>
                  </a:tcPr>
                </a:tc>
                <a:tc>
                  <a:txBody>
                    <a:bodyPr/>
                    <a:lstStyle/>
                    <a:p>
                      <a:r>
                        <a:rPr sz="1650" b="0">
                          <a:solidFill>
                            <a:srgbClr val="1F2A37"/>
                          </a:solidFill>
                          <a:latin typeface="Arial"/>
                          <a:ea typeface="Arial"/>
                          <a:cs typeface="Arial"/>
                        </a:rPr>
                        <a:t>1.992</a:t>
                      </a:r>
                    </a:p>
                  </a:txBody>
                  <a:tcPr marL="91440" marR="91440" marT="45720" marB="45720">
                    <a:solidFill>
                      <a:srgbClr val="EEF3F8"/>
                    </a:solidFill>
                  </a:tcPr>
                </a:tc>
                <a:tc>
                  <a:txBody>
                    <a:bodyPr/>
                    <a:lstStyle/>
                    <a:p>
                      <a:r>
                        <a:rPr sz="1650" b="0">
                          <a:solidFill>
                            <a:srgbClr val="1F2A37"/>
                          </a:solidFill>
                          <a:latin typeface="Arial"/>
                          <a:ea typeface="Arial"/>
                          <a:cs typeface="Arial"/>
                        </a:rPr>
                        <a:t>1.795</a:t>
                      </a:r>
                    </a:p>
                  </a:txBody>
                  <a:tcPr marL="91440" marR="91440" marT="45720" marB="45720">
                    <a:solidFill>
                      <a:srgbClr val="EEF3F8"/>
                    </a:solidFill>
                  </a:tcPr>
                </a:tc>
              </a:tr>
              <a:tr h="476250">
                <a:tc>
                  <a:txBody>
                    <a:bodyPr/>
                    <a:lstStyle/>
                    <a:p>
                      <a:r>
                        <a:rPr sz="1650" b="0">
                          <a:solidFill>
                            <a:srgbClr val="1F2A37"/>
                          </a:solidFill>
                          <a:latin typeface="Arial"/>
                          <a:ea typeface="Arial"/>
                          <a:cs typeface="Arial"/>
                        </a:rPr>
                        <a:t>Transformer</a:t>
                      </a:r>
                    </a:p>
                  </a:txBody>
                  <a:tcPr marL="91440" marR="91440" marT="45720" marB="45720">
                    <a:solidFill>
                      <a:srgbClr val="FFFFFF"/>
                    </a:solidFill>
                  </a:tcPr>
                </a:tc>
                <a:tc>
                  <a:txBody>
                    <a:bodyPr/>
                    <a:lstStyle/>
                    <a:p>
                      <a:r>
                        <a:rPr sz="1650" b="0">
                          <a:solidFill>
                            <a:srgbClr val="1F2A37"/>
                          </a:solidFill>
                          <a:latin typeface="Arial"/>
                          <a:ea typeface="Arial"/>
                          <a:cs typeface="Arial"/>
                        </a:rPr>
                        <a:t>1.467</a:t>
                      </a:r>
                    </a:p>
                  </a:txBody>
                  <a:tcPr marL="91440" marR="91440" marT="45720" marB="45720">
                    <a:solidFill>
                      <a:srgbClr val="FFFFFF"/>
                    </a:solidFill>
                  </a:tcPr>
                </a:tc>
                <a:tc>
                  <a:txBody>
                    <a:bodyPr/>
                    <a:lstStyle/>
                    <a:p>
                      <a:r>
                        <a:rPr sz="1650" b="0">
                          <a:solidFill>
                            <a:srgbClr val="1F2A37"/>
                          </a:solidFill>
                          <a:latin typeface="Arial"/>
                          <a:ea typeface="Arial"/>
                          <a:cs typeface="Arial"/>
                        </a:rPr>
                        <a:t>1.228</a:t>
                      </a:r>
                    </a:p>
                  </a:txBody>
                  <a:tcPr marL="91440" marR="91440" marT="45720" marB="45720">
                    <a:solidFill>
                      <a:srgbClr val="FFFFFF"/>
                    </a:solidFill>
                  </a:tcPr>
                </a:tc>
              </a:tr>
              <a:tr h="476250">
                <a:tc>
                  <a:txBody>
                    <a:bodyPr/>
                    <a:lstStyle/>
                    <a:p>
                      <a:r>
                        <a:rPr sz="1650" b="0">
                          <a:solidFill>
                            <a:srgbClr val="1F2A37"/>
                          </a:solidFill>
                          <a:latin typeface="Arial"/>
                          <a:ea typeface="Arial"/>
                          <a:cs typeface="Arial"/>
                        </a:rPr>
                        <a:t>50/50 blend</a:t>
                      </a:r>
                    </a:p>
                  </a:txBody>
                  <a:tcPr marL="91440" marR="91440" marT="45720" marB="45720">
                    <a:solidFill>
                      <a:srgbClr val="EEF3F8"/>
                    </a:solidFill>
                  </a:tcPr>
                </a:tc>
                <a:tc>
                  <a:txBody>
                    <a:bodyPr/>
                    <a:lstStyle/>
                    <a:p>
                      <a:r>
                        <a:rPr sz="1650" b="0">
                          <a:solidFill>
                            <a:srgbClr val="1F2A37"/>
                          </a:solidFill>
                          <a:latin typeface="Arial"/>
                          <a:ea typeface="Arial"/>
                          <a:cs typeface="Arial"/>
                        </a:rPr>
                        <a:t>2.166</a:t>
                      </a:r>
                    </a:p>
                  </a:txBody>
                  <a:tcPr marL="91440" marR="91440" marT="45720" marB="45720">
                    <a:solidFill>
                      <a:srgbClr val="EEF3F8"/>
                    </a:solidFill>
                  </a:tcPr>
                </a:tc>
                <a:tc>
                  <a:txBody>
                    <a:bodyPr/>
                    <a:lstStyle/>
                    <a:p>
                      <a:r>
                        <a:rPr sz="1650" b="0">
                          <a:solidFill>
                            <a:srgbClr val="1F2A37"/>
                          </a:solidFill>
                          <a:latin typeface="Arial"/>
                          <a:ea typeface="Arial"/>
                          <a:cs typeface="Arial"/>
                        </a:rPr>
                        <a:t>1.871</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944E223F-8CEE-4A4F-AA7E-4CBAC9E1ACD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LSTM has the higher average, while the 36-month Transformer median is slightly higher.</a:t>
            </a:r>
          </a:p>
        </p:txBody>
      </p:sp>
    </p:spTree>
    <p:extLst>
      <p:ext uri="{BB962C8B-B14F-4D97-AF65-F5344CB8AC3E}">
        <p14:creationId xmlns:p14="http://schemas.microsoft.com/office/powerpoint/2010/main" val="30132861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D634FC-F0F4-45C2-BF94-11E516E86D4C}"/>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FD680B-A6E6-4655-A1D9-8D9D929D6E58}"/>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8CEEC7-7F43-4A59-99A7-BCDF6580408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Economic regime definitions and sample sizes</a:t>
            </a:r>
          </a:p>
        </p:txBody>
      </p:sp>
      <p:sp>
        <p:nvSpPr>
          <p:cNvPr id="4" name="">
            <a:extLst xmlns:a="http://schemas.openxmlformats.org/drawingml/2006/main">
              <a:ext uri="{FF2B5EF4-FFF2-40B4-BE49-F238E27FC236}">
                <a16:creationId xmlns:a16="http://schemas.microsoft.com/office/drawing/2014/main" id="{3FD9A3EA-D2FF-437E-8B5F-81B293D5F449}"/>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10</a:t>
            </a:r>
          </a:p>
        </p:txBody>
      </p:sp>
      <p:sp>
        <p:nvSpPr>
          <p:cNvPr id="5" name="">
            <a:extLst xmlns:a="http://schemas.openxmlformats.org/drawingml/2006/main">
              <a:ext uri="{FF2B5EF4-FFF2-40B4-BE49-F238E27FC236}">
                <a16:creationId xmlns:a16="http://schemas.microsoft.com/office/drawing/2014/main" id="{5CAFB517-B427-4681-8564-876CA28C88F2}"/>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22</a:t>
            </a:r>
          </a:p>
        </p:txBody>
      </p:sp>
      <p:graphicFrame>
        <p:nvGraphicFramePr>
          <p:cNvPr id="14" name=""/>
          <p:cNvGraphicFramePr/>
          <p:nvPr/>
        </p:nvGraphicFramePr>
        <p:xfrm>
          <a:off xmlns:a="http://schemas.openxmlformats.org/drawingml/2006/main" x="400050" y="1019175"/>
          <a:ext xmlns:a="http://schemas.openxmlformats.org/drawingml/2006/main" cx="8343900" cy="1714500"/>
        </p:xfrm>
        <a:graphic xmlns:a="http://schemas.openxmlformats.org/drawingml/2006/main">
          <a:graphicData uri="http://schemas.openxmlformats.org/drawingml/2006/table">
            <a:tbl>
              <a:tblPr/>
              <a:tblGrid>
                <a:gridCol w="2095500"/>
                <a:gridCol w="3124200"/>
                <a:gridCol w="3124200"/>
              </a:tblGrid>
              <a:tr h="571500">
                <a:tc>
                  <a:txBody>
                    <a:bodyPr/>
                    <a:lstStyle/>
                    <a:p>
                      <a:r>
                        <a:rPr sz="1425" b="1">
                          <a:solidFill>
                            <a:srgbClr val="FFFFFF"/>
                          </a:solidFill>
                          <a:latin typeface="Arial"/>
                          <a:ea typeface="Arial"/>
                          <a:cs typeface="Arial"/>
                        </a:rPr>
                        <a:t>Regime family</a:t>
                      </a:r>
                    </a:p>
                  </a:txBody>
                  <a:tcPr marL="91440" marR="91440" marT="45720" marB="45720">
                    <a:solidFill>
                      <a:srgbClr val="003262"/>
                    </a:solidFill>
                  </a:tcPr>
                </a:tc>
                <a:tc>
                  <a:txBody>
                    <a:bodyPr/>
                    <a:lstStyle/>
                    <a:p>
                      <a:r>
                        <a:rPr sz="1425" b="1">
                          <a:solidFill>
                            <a:srgbClr val="FFFFFF"/>
                          </a:solidFill>
                          <a:latin typeface="Arial"/>
                          <a:ea typeface="Arial"/>
                          <a:cs typeface="Arial"/>
                        </a:rPr>
                        <a:t>Definition</a:t>
                      </a:r>
                    </a:p>
                  </a:txBody>
                  <a:tcPr marL="91440" marR="91440" marT="45720" marB="45720">
                    <a:solidFill>
                      <a:srgbClr val="003262"/>
                    </a:solidFill>
                  </a:tcPr>
                </a:tc>
                <a:tc>
                  <a:txBody>
                    <a:bodyPr/>
                    <a:lstStyle/>
                    <a:p>
                      <a:r>
                        <a:rPr sz="1425" b="1">
                          <a:solidFill>
                            <a:srgbClr val="FFFFFF"/>
                          </a:solidFill>
                          <a:latin typeface="Arial"/>
                          <a:ea typeface="Arial"/>
                          <a:cs typeface="Arial"/>
                        </a:rPr>
                        <a:t>Test months</a:t>
                      </a:r>
                    </a:p>
                  </a:txBody>
                  <a:tcPr marL="91440" marR="91440" marT="45720" marB="45720">
                    <a:solidFill>
                      <a:srgbClr val="003262"/>
                    </a:solidFill>
                  </a:tcPr>
                </a:tc>
              </a:tr>
              <a:tr h="571500">
                <a:tc>
                  <a:txBody>
                    <a:bodyPr/>
                    <a:lstStyle/>
                    <a:p>
                      <a:r>
                        <a:rPr sz="1500" b="0">
                          <a:solidFill>
                            <a:srgbClr val="1F2A37"/>
                          </a:solidFill>
                          <a:latin typeface="Arial"/>
                          <a:ea typeface="Arial"/>
                          <a:cs typeface="Arial"/>
                        </a:rPr>
                        <a:t>Business cycle</a:t>
                      </a:r>
                    </a:p>
                  </a:txBody>
                  <a:tcPr marL="91440" marR="91440" marT="45720" marB="45720">
                    <a:solidFill>
                      <a:srgbClr val="EEF3F8"/>
                    </a:solidFill>
                  </a:tcPr>
                </a:tc>
                <a:tc>
                  <a:txBody>
                    <a:bodyPr/>
                    <a:lstStyle/>
                    <a:p>
                      <a:r>
                        <a:rPr sz="1500" b="0">
                          <a:solidFill>
                            <a:srgbClr val="1F2A37"/>
                          </a:solidFill>
                          <a:latin typeface="Arial"/>
                          <a:ea typeface="Arial"/>
                          <a:cs typeface="Arial"/>
                        </a:rPr>
                        <a:t>NBER expansion / recession</a:t>
                      </a:r>
                    </a:p>
                  </a:txBody>
                  <a:tcPr marL="91440" marR="91440" marT="45720" marB="45720">
                    <a:solidFill>
                      <a:srgbClr val="EEF3F8"/>
                    </a:solidFill>
                  </a:tcPr>
                </a:tc>
                <a:tc>
                  <a:txBody>
                    <a:bodyPr/>
                    <a:lstStyle/>
                    <a:p>
                      <a:r>
                        <a:rPr sz="1500" b="0">
                          <a:solidFill>
                            <a:srgbClr val="1F2A37"/>
                          </a:solidFill>
                          <a:latin typeface="Arial"/>
                          <a:ea typeface="Arial"/>
                          <a:cs typeface="Arial"/>
                        </a:rPr>
                        <a:t>274 / 26</a:t>
                      </a:r>
                    </a:p>
                  </a:txBody>
                  <a:tcPr marL="91440" marR="91440" marT="45720" marB="45720">
                    <a:solidFill>
                      <a:srgbClr val="EEF3F8"/>
                    </a:solidFill>
                  </a:tcPr>
                </a:tc>
              </a:tr>
              <a:tr h="571500">
                <a:tc>
                  <a:txBody>
                    <a:bodyPr/>
                    <a:lstStyle/>
                    <a:p>
                      <a:r>
                        <a:rPr sz="1500" b="0">
                          <a:solidFill>
                            <a:srgbClr val="1F2A37"/>
                          </a:solidFill>
                          <a:latin typeface="Arial"/>
                          <a:ea typeface="Arial"/>
                          <a:cs typeface="Arial"/>
                        </a:rPr>
                        <a:t>Market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High / low previous-12-month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123 / 177</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DE7D37E-E98F-4E6F-B3DE-4401E932802C}"/>
              </a:ext>
            </a:extLst>
          </p:cNvPr>
          <p:cNvSpPr>
            <a:spLocks xmlns:a="http://schemas.openxmlformats.org/drawingml/2006/main" noGrp="1"/>
          </p:cNvSpPr>
          <p:nvPr/>
        </p:nvSpPr>
        <p:spPr>
          <a:xfrm xmlns:a="http://schemas.openxmlformats.org/drawingml/2006/main">
            <a:off x="419100" y="30003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F2A37"/>
                </a:solidFill>
                <a:latin typeface="Arial"/>
                <a:ea typeface="Arial"/>
                <a:cs typeface="Arial"/>
              </a:defRPr>
            </a:pPr>
            <a:r>
              <a:rPr sz="1725" b="0">
                <a:solidFill>
                  <a:srgbClr val="1F2A37"/>
                </a:solidFill>
                <a:latin typeface="Arial"/>
                <a:ea typeface="Arial"/>
                <a:cs typeface="Arial"/>
              </a:rPr>
              <a:t>The volatility cutoff comes from the training sample. Recession dates are retrospective.</a:t>
            </a:r>
          </a:p>
        </p:txBody>
      </p:sp>
      <p:sp>
        <p:nvSpPr>
          <p:cNvPr id="8" name="">
            <a:extLst xmlns:a="http://schemas.openxmlformats.org/drawingml/2006/main">
              <a:ext uri="{FF2B5EF4-FFF2-40B4-BE49-F238E27FC236}">
                <a16:creationId xmlns:a16="http://schemas.microsoft.com/office/drawing/2014/main" id="{BD9142C7-4F8D-4A7E-9E2B-B19536798E08}"/>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These are separate partitions. Recession estimates depend on only 26 months.</a:t>
            </a:r>
          </a:p>
        </p:txBody>
      </p:sp>
    </p:spTree>
    <p:extLst>
      <p:ext uri="{BB962C8B-B14F-4D97-AF65-F5344CB8AC3E}">
        <p14:creationId xmlns:p14="http://schemas.microsoft.com/office/powerpoint/2010/main" val="72606162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8F9DA4-E56E-46D2-A425-2DB842AD5391}"/>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A81175-8326-4630-9E03-C27901F2FBA3}"/>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53D54F-0C64-4863-A119-C1B538FE8EB3}"/>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Business-cycle Sharpe comparison</a:t>
            </a:r>
          </a:p>
        </p:txBody>
      </p:sp>
      <p:sp>
        <p:nvSpPr>
          <p:cNvPr id="4" name="">
            <a:extLst xmlns:a="http://schemas.openxmlformats.org/drawingml/2006/main">
              <a:ext uri="{FF2B5EF4-FFF2-40B4-BE49-F238E27FC236}">
                <a16:creationId xmlns:a16="http://schemas.microsoft.com/office/drawing/2014/main" id="{49A9702F-3D2B-4B5E-9757-B393C4DC6E2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10 and Code 11</a:t>
            </a:r>
          </a:p>
        </p:txBody>
      </p:sp>
      <p:sp>
        <p:nvSpPr>
          <p:cNvPr id="5" name="">
            <a:extLst xmlns:a="http://schemas.openxmlformats.org/drawingml/2006/main">
              <a:ext uri="{FF2B5EF4-FFF2-40B4-BE49-F238E27FC236}">
                <a16:creationId xmlns:a16="http://schemas.microsoft.com/office/drawing/2014/main" id="{C16C7F8C-3A1F-4476-9FA3-4D1079C950F9}"/>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23</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c3ca0898997c41bd"/>
          </a:graphicData>
        </a:graphic>
      </p:graphicFrame>
      <p:sp>
        <p:nvSpPr>
          <p:cNvPr id="7" name="">
            <a:extLst xmlns:a="http://schemas.openxmlformats.org/drawingml/2006/main">
              <a:ext uri="{FF2B5EF4-FFF2-40B4-BE49-F238E27FC236}">
                <a16:creationId xmlns:a16="http://schemas.microsoft.com/office/drawing/2014/main" id="{9A2EB062-738C-445D-A2C0-D87225290ED7}"/>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New LSTM outperforms Transformer in both groups. Code 07 exceeds authors GAN in recession.</a:t>
            </a:r>
          </a:p>
        </p:txBody>
      </p:sp>
    </p:spTree>
    <p:extLst>
      <p:ext uri="{BB962C8B-B14F-4D97-AF65-F5344CB8AC3E}">
        <p14:creationId xmlns:p14="http://schemas.microsoft.com/office/powerpoint/2010/main" val="13254514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BF317A-9BEB-439C-89C6-807591512C8F}"/>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82F893-3FA7-453E-A247-7F8B76B69501}"/>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A59F5A-9342-4986-8840-1D031B142B93}"/>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Market-volatility Sharpe comparison</a:t>
            </a:r>
          </a:p>
        </p:txBody>
      </p:sp>
      <p:sp>
        <p:nvSpPr>
          <p:cNvPr id="4" name="">
            <a:extLst xmlns:a="http://schemas.openxmlformats.org/drawingml/2006/main">
              <a:ext uri="{FF2B5EF4-FFF2-40B4-BE49-F238E27FC236}">
                <a16:creationId xmlns:a16="http://schemas.microsoft.com/office/drawing/2014/main" id="{349D761B-6393-4977-9021-4BDCB1D2C310}"/>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10 and Code 11</a:t>
            </a:r>
          </a:p>
        </p:txBody>
      </p:sp>
      <p:sp>
        <p:nvSpPr>
          <p:cNvPr id="5" name="">
            <a:extLst xmlns:a="http://schemas.openxmlformats.org/drawingml/2006/main">
              <a:ext uri="{FF2B5EF4-FFF2-40B4-BE49-F238E27FC236}">
                <a16:creationId xmlns:a16="http://schemas.microsoft.com/office/drawing/2014/main" id="{4ADF9E09-B50C-4BB3-B1A2-4106357E5E6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24</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e3713e5b460f49aa"/>
          </a:graphicData>
        </a:graphic>
      </p:graphicFrame>
      <p:sp>
        <p:nvSpPr>
          <p:cNvPr id="7" name="">
            <a:extLst xmlns:a="http://schemas.openxmlformats.org/drawingml/2006/main">
              <a:ext uri="{FF2B5EF4-FFF2-40B4-BE49-F238E27FC236}">
                <a16:creationId xmlns:a16="http://schemas.microsoft.com/office/drawing/2014/main" id="{98E0E6AA-9472-4E23-9B6D-FE69F3E274E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New LSTM and Transformer are closest in low-volatility months.</a:t>
            </a:r>
          </a:p>
        </p:txBody>
      </p:sp>
    </p:spTree>
    <p:extLst>
      <p:ext uri="{BB962C8B-B14F-4D97-AF65-F5344CB8AC3E}">
        <p14:creationId xmlns:p14="http://schemas.microsoft.com/office/powerpoint/2010/main" val="163576591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D1C6DC-9078-47B5-85E3-3A233C9B4838}"/>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7E8B6E-5615-47DD-B64A-C2CA6C9139B6}"/>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E46B02-14C6-4C36-A9DF-6898EEFC192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Conditional months and rolling endpoints</a:t>
            </a:r>
          </a:p>
        </p:txBody>
      </p:sp>
      <p:sp>
        <p:nvSpPr>
          <p:cNvPr id="4" name="">
            <a:extLst xmlns:a="http://schemas.openxmlformats.org/drawingml/2006/main">
              <a:ext uri="{FF2B5EF4-FFF2-40B4-BE49-F238E27FC236}">
                <a16:creationId xmlns:a16="http://schemas.microsoft.com/office/drawing/2014/main" id="{C78E351A-0836-42E3-86F0-D366A596112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BF7FA82F-CB9D-4AA3-8809-321B4E278E6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25</a:t>
            </a:r>
          </a:p>
        </p:txBody>
      </p:sp>
      <p:graphicFrame>
        <p:nvGraphicFramePr>
          <p:cNvPr id="14" name=""/>
          <p:cNvGraphicFramePr/>
          <p:nvPr/>
        </p:nvGraphicFramePr>
        <p:xfrm>
          <a:off xmlns:a="http://schemas.openxmlformats.org/drawingml/2006/main" x="400050" y="1019175"/>
          <a:ext xmlns:a="http://schemas.openxmlformats.org/drawingml/2006/main" cx="8343900" cy="2171700"/>
        </p:xfrm>
        <a:graphic xmlns:a="http://schemas.openxmlformats.org/drawingml/2006/main">
          <a:graphicData uri="http://schemas.openxmlformats.org/drawingml/2006/table">
            <a:tbl>
              <a:tblPr/>
              <a:tblGrid>
                <a:gridCol w="2286000"/>
                <a:gridCol w="3028950"/>
                <a:gridCol w="3028950"/>
              </a:tblGrid>
              <a:tr h="723900">
                <a:tc>
                  <a:txBody>
                    <a:bodyPr/>
                    <a:lstStyle/>
                    <a:p>
                      <a:r>
                        <a:rPr sz="1350" b="1">
                          <a:solidFill>
                            <a:srgbClr val="FFFFFF"/>
                          </a:solidFill>
                          <a:latin typeface="Arial"/>
                          <a:ea typeface="Arial"/>
                          <a:cs typeface="Arial"/>
                        </a:rPr>
                        <a:t>Analysis</a:t>
                      </a:r>
                    </a:p>
                  </a:txBody>
                  <a:tcPr marL="91440" marR="91440" marT="45720" marB="45720">
                    <a:solidFill>
                      <a:srgbClr val="003262"/>
                    </a:solidFill>
                  </a:tcPr>
                </a:tc>
                <a:tc>
                  <a:txBody>
                    <a:bodyPr/>
                    <a:lstStyle/>
                    <a:p>
                      <a:r>
                        <a:rPr sz="1350" b="1">
                          <a:solidFill>
                            <a:srgbClr val="FFFFFF"/>
                          </a:solidFill>
                          <a:latin typeface="Arial"/>
                          <a:ea typeface="Arial"/>
                          <a:cs typeface="Arial"/>
                        </a:rPr>
                        <a:t>Returns used</a:t>
                      </a:r>
                    </a:p>
                  </a:txBody>
                  <a:tcPr marL="91440" marR="91440" marT="45720" marB="45720">
                    <a:solidFill>
                      <a:srgbClr val="003262"/>
                    </a:solidFill>
                  </a:tcPr>
                </a:tc>
                <a:tc>
                  <a:txBody>
                    <a:bodyPr/>
                    <a:lstStyle/>
                    <a:p>
                      <a:r>
                        <a:rPr sz="1350" b="1">
                          <a:solidFill>
                            <a:srgbClr val="FFFFFF"/>
                          </a:solidFill>
                          <a:latin typeface="Arial"/>
                          <a:ea typeface="Arial"/>
                          <a:cs typeface="Arial"/>
                        </a:rPr>
                        <a:t>Question</a:t>
                      </a:r>
                    </a:p>
                  </a:txBody>
                  <a:tcPr marL="91440" marR="91440" marT="45720" marB="45720">
                    <a:solidFill>
                      <a:srgbClr val="003262"/>
                    </a:solidFill>
                  </a:tcPr>
                </a:tc>
              </a:tr>
              <a:tr h="723900">
                <a:tc>
                  <a:txBody>
                    <a:bodyPr/>
                    <a:lstStyle/>
                    <a:p>
                      <a:r>
                        <a:rPr sz="1425" b="0">
                          <a:solidFill>
                            <a:srgbClr val="1F2A37"/>
                          </a:solidFill>
                          <a:latin typeface="Arial"/>
                          <a:ea typeface="Arial"/>
                          <a:cs typeface="Arial"/>
                        </a:rPr>
                        <a:t>Conditional regime Sharpe</a:t>
                      </a:r>
                    </a:p>
                  </a:txBody>
                  <a:tcPr marL="91440" marR="91440" marT="45720" marB="45720">
                    <a:solidFill>
                      <a:srgbClr val="EEF3F8"/>
                    </a:solidFill>
                  </a:tcPr>
                </a:tc>
                <a:tc>
                  <a:txBody>
                    <a:bodyPr/>
                    <a:lstStyle/>
                    <a:p>
                      <a:r>
                        <a:rPr sz="1425" b="0">
                          <a:solidFill>
                            <a:srgbClr val="1F2A37"/>
                          </a:solidFill>
                          <a:latin typeface="Arial"/>
                          <a:ea typeface="Arial"/>
                          <a:cs typeface="Arial"/>
                        </a:rPr>
                        <a:t>Only labeled months</a:t>
                      </a:r>
                    </a:p>
                  </a:txBody>
                  <a:tcPr marL="91440" marR="91440" marT="45720" marB="45720">
                    <a:solidFill>
                      <a:srgbClr val="EEF3F8"/>
                    </a:solidFill>
                  </a:tcPr>
                </a:tc>
                <a:tc>
                  <a:txBody>
                    <a:bodyPr/>
                    <a:lstStyle/>
                    <a:p>
                      <a:r>
                        <a:rPr sz="1425" b="0">
                          <a:solidFill>
                            <a:srgbClr val="1F2A37"/>
                          </a:solidFill>
                          <a:latin typeface="Arial"/>
                          <a:ea typeface="Arial"/>
                          <a:cs typeface="Arial"/>
                        </a:rPr>
                        <a:t>How does performance differ within the state?</a:t>
                      </a:r>
                    </a:p>
                  </a:txBody>
                  <a:tcPr marL="91440" marR="91440" marT="45720" marB="45720">
                    <a:solidFill>
                      <a:srgbClr val="EEF3F8"/>
                    </a:solidFill>
                  </a:tcPr>
                </a:tc>
              </a:tr>
              <a:tr h="723900">
                <a:tc>
                  <a:txBody>
                    <a:bodyPr/>
                    <a:lstStyle/>
                    <a:p>
                      <a:r>
                        <a:rPr sz="1425" b="0">
                          <a:solidFill>
                            <a:srgbClr val="1F2A37"/>
                          </a:solidFill>
                          <a:latin typeface="Arial"/>
                          <a:ea typeface="Arial"/>
                          <a:cs typeface="Arial"/>
                        </a:rPr>
                        <a:t>Rolling by endpoint regime</a:t>
                      </a:r>
                    </a:p>
                  </a:txBody>
                  <a:tcPr marL="91440" marR="91440" marT="45720" marB="45720">
                    <a:solidFill>
                      <a:srgbClr val="FFFFFF"/>
                    </a:solidFill>
                  </a:tcPr>
                </a:tc>
                <a:tc>
                  <a:txBody>
                    <a:bodyPr/>
                    <a:lstStyle/>
                    <a:p>
                      <a:r>
                        <a:rPr sz="1425" b="0">
                          <a:solidFill>
                            <a:srgbClr val="1F2A37"/>
                          </a:solidFill>
                          <a:latin typeface="Arial"/>
                          <a:ea typeface="Arial"/>
                          <a:cs typeface="Arial"/>
                        </a:rPr>
                        <a:t>All returns in each trailing window</a:t>
                      </a:r>
                    </a:p>
                  </a:txBody>
                  <a:tcPr marL="91440" marR="91440" marT="45720" marB="45720">
                    <a:solidFill>
                      <a:srgbClr val="FFFFFF"/>
                    </a:solidFill>
                  </a:tcPr>
                </a:tc>
                <a:tc>
                  <a:txBody>
                    <a:bodyPr/>
                    <a:lstStyle/>
                    <a:p>
                      <a:r>
                        <a:rPr sz="1425" b="0">
                          <a:solidFill>
                            <a:srgbClr val="1F2A37"/>
                          </a:solidFill>
                          <a:latin typeface="Arial"/>
                          <a:ea typeface="Arial"/>
                          <a:cs typeface="Arial"/>
                        </a:rPr>
                        <a:t>What trailing performance do we observe in that state?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91FBFC3-6091-48DA-A139-3CC5C024ED95}"/>
              </a:ext>
            </a:extLst>
          </p:cNvPr>
          <p:cNvSpPr>
            <a:spLocks xmlns:a="http://schemas.openxmlformats.org/drawingml/2006/main" noGrp="1"/>
          </p:cNvSpPr>
          <p:nvPr/>
        </p:nvSpPr>
        <p:spPr>
          <a:xfrm xmlns:a="http://schemas.openxmlformats.org/drawingml/2006/main">
            <a:off x="419100" y="3438525"/>
            <a:ext cx="828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3262"/>
                </a:solidFill>
                <a:latin typeface="Arial"/>
                <a:ea typeface="Arial"/>
                <a:cs typeface="Arial"/>
              </a:defRPr>
            </a:pPr>
            <a:r>
              <a:rPr sz="1725" b="1">
                <a:solidFill>
                  <a:srgbClr val="003262"/>
                </a:solidFill>
                <a:latin typeface="Arial"/>
                <a:ea typeface="Arial"/>
                <a:cs typeface="Arial"/>
              </a:rPr>
              <a:t>A 36-month recession-ending window can include many expansion months.</a:t>
            </a:r>
          </a:p>
        </p:txBody>
      </p:sp>
      <p:sp>
        <p:nvSpPr>
          <p:cNvPr id="8" name="">
            <a:extLst xmlns:a="http://schemas.openxmlformats.org/drawingml/2006/main">
              <a:ext uri="{FF2B5EF4-FFF2-40B4-BE49-F238E27FC236}">
                <a16:creationId xmlns:a16="http://schemas.microsoft.com/office/drawing/2014/main" id="{7D05E220-4946-4DDF-9697-F740AEC57797}"/>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two measures can rank the models differently because they use different returns.</a:t>
            </a:r>
          </a:p>
        </p:txBody>
      </p:sp>
    </p:spTree>
    <p:extLst>
      <p:ext uri="{BB962C8B-B14F-4D97-AF65-F5344CB8AC3E}">
        <p14:creationId xmlns:p14="http://schemas.microsoft.com/office/powerpoint/2010/main" val="149498227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AC04D6-9538-4BC0-BAE9-BAA5E3CBBFEC}"/>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948569-1F33-4ADC-89D1-AB4A9ED6C9A0}"/>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D4D978-3BC0-4D34-A3BF-531D0396F9B6}"/>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36-month rolling performance by endpoint regime</a:t>
            </a:r>
          </a:p>
        </p:txBody>
      </p:sp>
      <p:sp>
        <p:nvSpPr>
          <p:cNvPr id="4" name="">
            <a:extLst xmlns:a="http://schemas.openxmlformats.org/drawingml/2006/main">
              <a:ext uri="{FF2B5EF4-FFF2-40B4-BE49-F238E27FC236}">
                <a16:creationId xmlns:a16="http://schemas.microsoft.com/office/drawing/2014/main" id="{53AAA346-D2D3-46B4-B2BE-74A8C9354319}"/>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EB1B29AA-DA79-4891-B5AF-27239EF25B3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26</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68097206c625433e"/>
          </a:graphicData>
        </a:graphic>
      </p:graphicFrame>
      <p:sp>
        <p:nvSpPr>
          <p:cNvPr id="7" name="">
            <a:extLst xmlns:a="http://schemas.openxmlformats.org/drawingml/2006/main">
              <a:ext uri="{FF2B5EF4-FFF2-40B4-BE49-F238E27FC236}">
                <a16:creationId xmlns:a16="http://schemas.microsoft.com/office/drawing/2014/main" id="{4DFC5407-2935-4F2D-BB99-CD0D78BE3631}"/>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In recession-ending windows, Transformer 1.409 slightly exceeds new LSTM 1.383.</a:t>
            </a:r>
          </a:p>
        </p:txBody>
      </p:sp>
    </p:spTree>
    <p:extLst>
      <p:ext uri="{BB962C8B-B14F-4D97-AF65-F5344CB8AC3E}">
        <p14:creationId xmlns:p14="http://schemas.microsoft.com/office/powerpoint/2010/main" val="3716875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ED3245-0030-40E3-A1F2-5E88CA37B8B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5C483A-6970-44D9-9788-D71B9BFA47F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F0AAAF8-3EC7-4EAB-8532-95B20F1F4CE3}"/>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60-month rolling performance by endpoint regime</a:t>
            </a:r>
          </a:p>
        </p:txBody>
      </p:sp>
      <p:sp>
        <p:nvSpPr>
          <p:cNvPr id="4" name="">
            <a:extLst xmlns:a="http://schemas.openxmlformats.org/drawingml/2006/main">
              <a:ext uri="{FF2B5EF4-FFF2-40B4-BE49-F238E27FC236}">
                <a16:creationId xmlns:a16="http://schemas.microsoft.com/office/drawing/2014/main" id="{961334D2-81A4-49CF-9F5E-61235BB3545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80983EC1-496C-4D2E-80B3-FD01E1519A8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27</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d314f2a7bae04576"/>
          </a:graphicData>
        </a:graphic>
      </p:graphicFrame>
      <p:sp>
        <p:nvSpPr>
          <p:cNvPr id="7" name="">
            <a:extLst xmlns:a="http://schemas.openxmlformats.org/drawingml/2006/main">
              <a:ext uri="{FF2B5EF4-FFF2-40B4-BE49-F238E27FC236}">
                <a16:creationId xmlns:a16="http://schemas.microsoft.com/office/drawing/2014/main" id="{450AF6F9-7758-432D-938A-475C23220DA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In recession-ending windows, new LSTM 1.893 exceeds Transformer 1.775.</a:t>
            </a:r>
          </a:p>
        </p:txBody>
      </p:sp>
    </p:spTree>
    <p:extLst>
      <p:ext uri="{BB962C8B-B14F-4D97-AF65-F5344CB8AC3E}">
        <p14:creationId xmlns:p14="http://schemas.microsoft.com/office/powerpoint/2010/main" val="162845630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A60EFE-88EC-4CC3-B807-2DDFF4777DA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5C5544-C8D0-4DF3-BAED-0C2383FE882D}"/>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00E2E48-C4CB-4348-9AEA-2C58B0665F3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fixed 50/50 architecture blend</a:t>
            </a:r>
          </a:p>
        </p:txBody>
      </p:sp>
      <p:sp>
        <p:nvSpPr>
          <p:cNvPr id="4" name="">
            <a:extLst xmlns:a="http://schemas.openxmlformats.org/drawingml/2006/main">
              <a:ext uri="{FF2B5EF4-FFF2-40B4-BE49-F238E27FC236}">
                <a16:creationId xmlns:a16="http://schemas.microsoft.com/office/drawing/2014/main" id="{1C689AF5-14B4-47C6-A4BF-922E23A43744}"/>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F9CCF823-E31C-480E-BAD2-DC450F3F754C}"/>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28</a:t>
            </a:r>
          </a:p>
        </p:txBody>
      </p:sp>
      <p:graphicFrame>
        <p:nvGraphicFramePr>
          <p:cNvPr id="14" name=""/>
          <p:cNvGraphicFramePr/>
          <p:nvPr/>
        </p:nvGraphicFramePr>
        <p:xfrm>
          <a:off xmlns:a="http://schemas.openxmlformats.org/drawingml/2006/main" x="400050" y="1019175"/>
          <a:ext xmlns:a="http://schemas.openxmlformats.org/drawingml/2006/main" cx="8343900" cy="2286000"/>
        </p:xfrm>
        <a:graphic xmlns:a="http://schemas.openxmlformats.org/drawingml/2006/main">
          <a:graphicData uri="http://schemas.openxmlformats.org/drawingml/2006/table">
            <a:tbl>
              <a:tblPr/>
              <a:tblGrid>
                <a:gridCol w="2857500"/>
                <a:gridCol w="1828800"/>
                <a:gridCol w="1828800"/>
                <a:gridCol w="1828800"/>
              </a:tblGrid>
              <a:tr h="571500">
                <a:tc>
                  <a:txBody>
                    <a:bodyPr/>
                    <a:lstStyle/>
                    <a:p>
                      <a:r>
                        <a:rPr sz="1650" b="1">
                          <a:solidFill>
                            <a:srgbClr val="FFFFFF"/>
                          </a:solidFill>
                          <a:latin typeface="Arial"/>
                          <a:ea typeface="Arial"/>
                          <a:cs typeface="Arial"/>
                        </a:rPr>
                        <a:t>Portfolio</a:t>
                      </a:r>
                    </a:p>
                  </a:txBody>
                  <a:tcPr marL="91440" marR="91440" marT="45720" marB="45720">
                    <a:solidFill>
                      <a:srgbClr val="003262"/>
                    </a:solidFill>
                  </a:tcPr>
                </a:tc>
                <a:tc>
                  <a:txBody>
                    <a:bodyPr/>
                    <a:lstStyle/>
                    <a:p>
                      <a:r>
                        <a:rPr sz="1650" b="1">
                          <a:solidFill>
                            <a:srgbClr val="FFFFFF"/>
                          </a:solidFill>
                          <a:latin typeface="Arial"/>
                          <a:ea typeface="Arial"/>
                          <a:cs typeface="Arial"/>
                        </a:rPr>
                        <a:t>Train</a:t>
                      </a:r>
                    </a:p>
                  </a:txBody>
                  <a:tcPr marL="91440" marR="91440" marT="45720" marB="45720">
                    <a:solidFill>
                      <a:srgbClr val="003262"/>
                    </a:solidFill>
                  </a:tcPr>
                </a:tc>
                <a:tc>
                  <a:txBody>
                    <a:bodyPr/>
                    <a:lstStyle/>
                    <a:p>
                      <a:r>
                        <a:rPr sz="1650" b="1">
                          <a:solidFill>
                            <a:srgbClr val="FFFFFF"/>
                          </a:solidFill>
                          <a:latin typeface="Arial"/>
                          <a:ea typeface="Arial"/>
                          <a:cs typeface="Arial"/>
                        </a:rPr>
                        <a:t>Validation</a:t>
                      </a:r>
                    </a:p>
                  </a:txBody>
                  <a:tcPr marL="91440" marR="91440" marT="45720" marB="45720">
                    <a:solidFill>
                      <a:srgbClr val="003262"/>
                    </a:solidFill>
                  </a:tcPr>
                </a:tc>
                <a:tc>
                  <a:txBody>
                    <a:bodyPr/>
                    <a:lstStyle/>
                    <a:p>
                      <a:r>
                        <a:rPr sz="1650" b="1">
                          <a:solidFill>
                            <a:srgbClr val="FFFFFF"/>
                          </a:solidFill>
                          <a:latin typeface="Arial"/>
                          <a:ea typeface="Arial"/>
                          <a:cs typeface="Arial"/>
                        </a:rPr>
                        <a:t>Test</a:t>
                      </a:r>
                    </a:p>
                  </a:txBody>
                  <a:tcPr marL="91440" marR="91440" marT="45720" marB="45720">
                    <a:solidFill>
                      <a:srgbClr val="003262"/>
                    </a:solidFill>
                  </a:tcPr>
                </a:tc>
              </a:tr>
              <a:tr h="571500">
                <a:tc>
                  <a:txBody>
                    <a:bodyPr/>
                    <a:lstStyle/>
                    <a:p>
                      <a:r>
                        <a:rPr sz="1725" b="0">
                          <a:solidFill>
                            <a:srgbClr val="1F2A37"/>
                          </a:solidFill>
                          <a:latin typeface="Arial"/>
                          <a:ea typeface="Arial"/>
                          <a:cs typeface="Arial"/>
                        </a:rPr>
                        <a:t>LSTM</a:t>
                      </a:r>
                    </a:p>
                  </a:txBody>
                  <a:tcPr marL="91440" marR="91440" marT="45720" marB="45720">
                    <a:solidFill>
                      <a:srgbClr val="EEF3F8"/>
                    </a:solidFill>
                  </a:tcPr>
                </a:tc>
                <a:tc>
                  <a:txBody>
                    <a:bodyPr/>
                    <a:lstStyle/>
                    <a:p>
                      <a:r>
                        <a:rPr sz="1725" b="0">
                          <a:solidFill>
                            <a:srgbClr val="1F2A37"/>
                          </a:solidFill>
                          <a:latin typeface="Arial"/>
                          <a:ea typeface="Arial"/>
                          <a:cs typeface="Arial"/>
                        </a:rPr>
                        <a:t>1.308</a:t>
                      </a:r>
                    </a:p>
                  </a:txBody>
                  <a:tcPr marL="91440" marR="91440" marT="45720" marB="45720">
                    <a:solidFill>
                      <a:srgbClr val="EEF3F8"/>
                    </a:solidFill>
                  </a:tcPr>
                </a:tc>
                <a:tc>
                  <a:txBody>
                    <a:bodyPr/>
                    <a:lstStyle/>
                    <a:p>
                      <a:r>
                        <a:rPr sz="1725" b="0">
                          <a:solidFill>
                            <a:srgbClr val="1F2A37"/>
                          </a:solidFill>
                          <a:latin typeface="Arial"/>
                          <a:ea typeface="Arial"/>
                          <a:cs typeface="Arial"/>
                        </a:rPr>
                        <a:t>0.750</a:t>
                      </a:r>
                    </a:p>
                  </a:txBody>
                  <a:tcPr marL="91440" marR="91440" marT="45720" marB="45720">
                    <a:solidFill>
                      <a:srgbClr val="EEF3F8"/>
                    </a:solidFill>
                  </a:tcPr>
                </a:tc>
                <a:tc>
                  <a:txBody>
                    <a:bodyPr/>
                    <a:lstStyle/>
                    <a:p>
                      <a:r>
                        <a:rPr sz="1725" b="0">
                          <a:solidFill>
                            <a:srgbClr val="1F2A37"/>
                          </a:solidFill>
                          <a:latin typeface="Arial"/>
                          <a:ea typeface="Arial"/>
                          <a:cs typeface="Arial"/>
                        </a:rPr>
                        <a:t>0.459</a:t>
                      </a:r>
                    </a:p>
                  </a:txBody>
                  <a:tcPr marL="91440" marR="91440" marT="45720" marB="45720">
                    <a:solidFill>
                      <a:srgbClr val="EEF3F8"/>
                    </a:solidFill>
                  </a:tcPr>
                </a:tc>
              </a:tr>
              <a:tr h="571500">
                <a:tc>
                  <a:txBody>
                    <a:bodyPr/>
                    <a:lstStyle/>
                    <a:p>
                      <a:r>
                        <a:rPr sz="1725" b="0">
                          <a:solidFill>
                            <a:srgbClr val="1F2A37"/>
                          </a:solidFill>
                          <a:latin typeface="Arial"/>
                          <a:ea typeface="Arial"/>
                          <a:cs typeface="Arial"/>
                        </a:rPr>
                        <a:t>Transformer</a:t>
                      </a:r>
                    </a:p>
                  </a:txBody>
                  <a:tcPr marL="91440" marR="91440" marT="45720" marB="45720">
                    <a:solidFill>
                      <a:srgbClr val="FFFFFF"/>
                    </a:solidFill>
                  </a:tcPr>
                </a:tc>
                <a:tc>
                  <a:txBody>
                    <a:bodyPr/>
                    <a:lstStyle/>
                    <a:p>
                      <a:r>
                        <a:rPr sz="1725" b="0">
                          <a:solidFill>
                            <a:srgbClr val="1F2A37"/>
                          </a:solidFill>
                          <a:latin typeface="Arial"/>
                          <a:ea typeface="Arial"/>
                          <a:cs typeface="Arial"/>
                        </a:rPr>
                        <a:t>1.049</a:t>
                      </a:r>
                    </a:p>
                  </a:txBody>
                  <a:tcPr marL="91440" marR="91440" marT="45720" marB="45720">
                    <a:solidFill>
                      <a:srgbClr val="FFFFFF"/>
                    </a:solidFill>
                  </a:tcPr>
                </a:tc>
                <a:tc>
                  <a:txBody>
                    <a:bodyPr/>
                    <a:lstStyle/>
                    <a:p>
                      <a:r>
                        <a:rPr sz="1725" b="0">
                          <a:solidFill>
                            <a:srgbClr val="1F2A37"/>
                          </a:solidFill>
                          <a:latin typeface="Arial"/>
                          <a:ea typeface="Arial"/>
                          <a:cs typeface="Arial"/>
                        </a:rPr>
                        <a:t>0.589</a:t>
                      </a:r>
                    </a:p>
                  </a:txBody>
                  <a:tcPr marL="91440" marR="91440" marT="45720" marB="45720">
                    <a:solidFill>
                      <a:srgbClr val="FFFFFF"/>
                    </a:solidFill>
                  </a:tcPr>
                </a:tc>
                <a:tc>
                  <a:txBody>
                    <a:bodyPr/>
                    <a:lstStyle/>
                    <a:p>
                      <a:r>
                        <a:rPr sz="1725" b="0">
                          <a:solidFill>
                            <a:srgbClr val="1F2A37"/>
                          </a:solidFill>
                          <a:latin typeface="Arial"/>
                          <a:ea typeface="Arial"/>
                          <a:cs typeface="Arial"/>
                        </a:rPr>
                        <a:t>0.304</a:t>
                      </a:r>
                    </a:p>
                  </a:txBody>
                  <a:tcPr marL="91440" marR="91440" marT="45720" marB="45720">
                    <a:solidFill>
                      <a:srgbClr val="FFFFFF"/>
                    </a:solidFill>
                  </a:tcPr>
                </a:tc>
              </a:tr>
              <a:tr h="571500">
                <a:tc>
                  <a:txBody>
                    <a:bodyPr/>
                    <a:lstStyle/>
                    <a:p>
                      <a:r>
                        <a:rPr sz="1725" b="0">
                          <a:solidFill>
                            <a:srgbClr val="1F2A37"/>
                          </a:solidFill>
                          <a:latin typeface="Arial"/>
                          <a:ea typeface="Arial"/>
                          <a:cs typeface="Arial"/>
                        </a:rPr>
                        <a:t>50/50 blend</a:t>
                      </a:r>
                    </a:p>
                  </a:txBody>
                  <a:tcPr marL="91440" marR="91440" marT="45720" marB="45720">
                    <a:solidFill>
                      <a:srgbClr val="EEF3F8"/>
                    </a:solidFill>
                  </a:tcPr>
                </a:tc>
                <a:tc>
                  <a:txBody>
                    <a:bodyPr/>
                    <a:lstStyle/>
                    <a:p>
                      <a:r>
                        <a:rPr sz="1725" b="0">
                          <a:solidFill>
                            <a:srgbClr val="1F2A37"/>
                          </a:solidFill>
                          <a:latin typeface="Arial"/>
                          <a:ea typeface="Arial"/>
                          <a:cs typeface="Arial"/>
                        </a:rPr>
                        <a:t>1.414</a:t>
                      </a:r>
                    </a:p>
                  </a:txBody>
                  <a:tcPr marL="91440" marR="91440" marT="45720" marB="45720">
                    <a:solidFill>
                      <a:srgbClr val="EEF3F8"/>
                    </a:solidFill>
                  </a:tcPr>
                </a:tc>
                <a:tc>
                  <a:txBody>
                    <a:bodyPr/>
                    <a:lstStyle/>
                    <a:p>
                      <a:r>
                        <a:rPr sz="1725" b="0">
                          <a:solidFill>
                            <a:srgbClr val="1F2A37"/>
                          </a:solidFill>
                          <a:latin typeface="Arial"/>
                          <a:ea typeface="Arial"/>
                          <a:cs typeface="Arial"/>
                        </a:rPr>
                        <a:t>0.915</a:t>
                      </a:r>
                    </a:p>
                  </a:txBody>
                  <a:tcPr marL="91440" marR="91440" marT="45720" marB="45720">
                    <a:solidFill>
                      <a:srgbClr val="EEF3F8"/>
                    </a:solidFill>
                  </a:tcPr>
                </a:tc>
                <a:tc>
                  <a:txBody>
                    <a:bodyPr/>
                    <a:lstStyle/>
                    <a:p>
                      <a:r>
                        <a:rPr sz="1725" b="0">
                          <a:solidFill>
                            <a:srgbClr val="1F2A37"/>
                          </a:solidFill>
                          <a:latin typeface="Arial"/>
                          <a:ea typeface="Arial"/>
                          <a:cs typeface="Arial"/>
                        </a:rPr>
                        <a:t>0.463</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02B98E31-E027-4EAC-96EF-DF3E8BEAF08D}"/>
              </a:ext>
            </a:extLst>
          </p:cNvPr>
          <p:cNvSpPr>
            <a:spLocks xmlns:a="http://schemas.openxmlformats.org/drawingml/2006/main" noGrp="1"/>
          </p:cNvSpPr>
          <p:nvPr/>
        </p:nvSpPr>
        <p:spPr>
          <a:xfrm xmlns:a="http://schemas.openxmlformats.org/drawingml/2006/main">
            <a:off x="419100" y="353377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Test correlation between architectures is 0.292. Averaging lowers volatility.</a:t>
            </a:r>
          </a:p>
        </p:txBody>
      </p:sp>
      <p:sp>
        <p:nvSpPr>
          <p:cNvPr id="8" name="">
            <a:extLst xmlns:a="http://schemas.openxmlformats.org/drawingml/2006/main">
              <a:ext uri="{FF2B5EF4-FFF2-40B4-BE49-F238E27FC236}">
                <a16:creationId xmlns:a16="http://schemas.microsoft.com/office/drawing/2014/main" id="{38687B10-52AC-462A-9AF7-F3B5736C16F1}"/>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Blend test Sharpe improves only slightly: 0.463 versus LSTM 0.459.</a:t>
            </a:r>
          </a:p>
        </p:txBody>
      </p:sp>
    </p:spTree>
    <p:extLst>
      <p:ext uri="{BB962C8B-B14F-4D97-AF65-F5344CB8AC3E}">
        <p14:creationId xmlns:p14="http://schemas.microsoft.com/office/powerpoint/2010/main" val="95719493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A5C6CC-EDA6-4C55-8D4F-2AF4EF700997}"/>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B9B006-2F80-4427-A119-9E6B95576BD9}"/>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BCF164D-04CE-44D8-9559-2C60419F7F77}"/>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What the new comparisons show</a:t>
            </a:r>
          </a:p>
        </p:txBody>
      </p:sp>
      <p:sp>
        <p:nvSpPr>
          <p:cNvPr id="4" name="">
            <a:extLst xmlns:a="http://schemas.openxmlformats.org/drawingml/2006/main">
              <a:ext uri="{FF2B5EF4-FFF2-40B4-BE49-F238E27FC236}">
                <a16:creationId xmlns:a16="http://schemas.microsoft.com/office/drawing/2014/main" id="{E183EA24-5843-445E-847B-E9F4EAF6659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Codes 08–11</a:t>
            </a:r>
          </a:p>
        </p:txBody>
      </p:sp>
      <p:sp>
        <p:nvSpPr>
          <p:cNvPr id="5" name="">
            <a:extLst xmlns:a="http://schemas.openxmlformats.org/drawingml/2006/main">
              <a:ext uri="{FF2B5EF4-FFF2-40B4-BE49-F238E27FC236}">
                <a16:creationId xmlns:a16="http://schemas.microsoft.com/office/drawing/2014/main" id="{E48BA3F0-3561-4CD8-870A-94329A4BE4F4}"/>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29</a:t>
            </a:r>
          </a:p>
        </p:txBody>
      </p:sp>
      <p:sp>
        <p:nvSpPr>
          <p:cNvPr id="6" name="">
            <a:extLst xmlns:a="http://schemas.openxmlformats.org/drawingml/2006/main">
              <a:ext uri="{FF2B5EF4-FFF2-40B4-BE49-F238E27FC236}">
                <a16:creationId xmlns:a16="http://schemas.microsoft.com/office/drawing/2014/main" id="{09211B69-388D-466A-A249-C0901D44CCCA}"/>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Overall architecture result</a:t>
            </a:r>
          </a:p>
        </p:txBody>
      </p:sp>
      <p:sp>
        <p:nvSpPr>
          <p:cNvPr id="7" name="">
            <a:extLst xmlns:a="http://schemas.openxmlformats.org/drawingml/2006/main">
              <a:ext uri="{FF2B5EF4-FFF2-40B4-BE49-F238E27FC236}">
                <a16:creationId xmlns:a16="http://schemas.microsoft.com/office/drawing/2014/main" id="{7DB913D7-8145-4766-AF1F-DA50B4EDE2B6}"/>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New LSTM has higher full-test Sharpe and lower risk at the shared reduced budget.</a:t>
            </a:r>
          </a:p>
        </p:txBody>
      </p:sp>
      <p:sp>
        <p:nvSpPr>
          <p:cNvPr id="8" name="">
            <a:extLst xmlns:a="http://schemas.openxmlformats.org/drawingml/2006/main">
              <a:ext uri="{FF2B5EF4-FFF2-40B4-BE49-F238E27FC236}">
                <a16:creationId xmlns:a16="http://schemas.microsoft.com/office/drawing/2014/main" id="{9839D212-050E-46BD-918D-3D65E34023BB}"/>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Time and regime variation</a:t>
            </a:r>
          </a:p>
        </p:txBody>
      </p:sp>
      <p:sp>
        <p:nvSpPr>
          <p:cNvPr id="9" name="">
            <a:extLst xmlns:a="http://schemas.openxmlformats.org/drawingml/2006/main">
              <a:ext uri="{FF2B5EF4-FFF2-40B4-BE49-F238E27FC236}">
                <a16:creationId xmlns:a16="http://schemas.microsoft.com/office/drawing/2014/main" id="{F647FEDD-5C87-4086-84E0-FB2B064BBD36}"/>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Relative performance changes. Recession-ending windows differ from recession-only returns.</a:t>
            </a:r>
          </a:p>
        </p:txBody>
      </p:sp>
      <p:sp>
        <p:nvSpPr>
          <p:cNvPr id="10" name="">
            <a:extLst xmlns:a="http://schemas.openxmlformats.org/drawingml/2006/main">
              <a:ext uri="{FF2B5EF4-FFF2-40B4-BE49-F238E27FC236}">
                <a16:creationId xmlns:a16="http://schemas.microsoft.com/office/drawing/2014/main" id="{7E0E8263-00AD-4B3C-A59F-E302B3BBA5B8}"/>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Combination result</a:t>
            </a:r>
          </a:p>
        </p:txBody>
      </p:sp>
      <p:sp>
        <p:nvSpPr>
          <p:cNvPr id="11" name="">
            <a:extLst xmlns:a="http://schemas.openxmlformats.org/drawingml/2006/main">
              <a:ext uri="{FF2B5EF4-FFF2-40B4-BE49-F238E27FC236}">
                <a16:creationId xmlns:a16="http://schemas.microsoft.com/office/drawing/2014/main" id="{FF5F5CB8-8B4D-4F5B-9FB1-E0A69663B3C9}"/>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A fixed blend helps in some groups, with only a small full-test Sharpe gain.</a:t>
            </a:r>
          </a:p>
        </p:txBody>
      </p:sp>
    </p:spTree>
    <p:extLst>
      <p:ext uri="{BB962C8B-B14F-4D97-AF65-F5344CB8AC3E}">
        <p14:creationId xmlns:p14="http://schemas.microsoft.com/office/powerpoint/2010/main" val="176954147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17147A1-4282-4375-A070-723DF257B0E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878C28-9DFC-4626-A39A-F692560AB2A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4C9DBA-2D47-4C10-93D1-31A94C40500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Limitations and the next experiment</a:t>
            </a:r>
          </a:p>
        </p:txBody>
      </p:sp>
      <p:sp>
        <p:nvSpPr>
          <p:cNvPr id="4" name="">
            <a:extLst xmlns:a="http://schemas.openxmlformats.org/drawingml/2006/main">
              <a:ext uri="{FF2B5EF4-FFF2-40B4-BE49-F238E27FC236}">
                <a16:creationId xmlns:a16="http://schemas.microsoft.com/office/drawing/2014/main" id="{63AD3EA9-1F57-4B89-A774-E0F4ADFD856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Codes 08–11</a:t>
            </a:r>
          </a:p>
        </p:txBody>
      </p:sp>
      <p:sp>
        <p:nvSpPr>
          <p:cNvPr id="5" name="">
            <a:extLst xmlns:a="http://schemas.openxmlformats.org/drawingml/2006/main">
              <a:ext uri="{FF2B5EF4-FFF2-40B4-BE49-F238E27FC236}">
                <a16:creationId xmlns:a16="http://schemas.microsoft.com/office/drawing/2014/main" id="{20378ADC-A92F-430F-83A7-5C2C4AFD91C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6E6A8F08-319D-479C-A7A0-C9C6A4E2BABD}"/>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The training budget limits the conclusion</a:t>
            </a:r>
          </a:p>
        </p:txBody>
      </p:sp>
      <p:sp>
        <p:nvSpPr>
          <p:cNvPr id="7" name="">
            <a:extLst xmlns:a="http://schemas.openxmlformats.org/drawingml/2006/main">
              <a:ext uri="{FF2B5EF4-FFF2-40B4-BE49-F238E27FC236}">
                <a16:creationId xmlns:a16="http://schemas.microsoft.com/office/drawing/2014/main" id="{F24A8D68-D7DA-4F5B-8358-C8B86DC8292F}"/>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Our completed 16/4/48 run does not reproduce the authors’ full schedule or tuning search.</a:t>
            </a:r>
          </a:p>
        </p:txBody>
      </p:sp>
      <p:sp>
        <p:nvSpPr>
          <p:cNvPr id="8" name="">
            <a:extLst xmlns:a="http://schemas.openxmlformats.org/drawingml/2006/main">
              <a:ext uri="{FF2B5EF4-FFF2-40B4-BE49-F238E27FC236}">
                <a16:creationId xmlns:a16="http://schemas.microsoft.com/office/drawing/2014/main" id="{92A48E7C-0F84-4C8C-B502-DE249B2AD03F}"/>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The evidence is descriptive</a:t>
            </a:r>
          </a:p>
        </p:txBody>
      </p:sp>
      <p:sp>
        <p:nvSpPr>
          <p:cNvPr id="9" name="">
            <a:extLst xmlns:a="http://schemas.openxmlformats.org/drawingml/2006/main">
              <a:ext uri="{FF2B5EF4-FFF2-40B4-BE49-F238E27FC236}">
                <a16:creationId xmlns:a16="http://schemas.microsoft.com/office/drawing/2014/main" id="{425E80DB-9E35-4B9D-B4CD-61247FB06E75}"/>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Windows overlap, recession samples are small, and test results have been examined previously.</a:t>
            </a:r>
          </a:p>
        </p:txBody>
      </p:sp>
      <p:sp>
        <p:nvSpPr>
          <p:cNvPr id="10" name="">
            <a:extLst xmlns:a="http://schemas.openxmlformats.org/drawingml/2006/main">
              <a:ext uri="{FF2B5EF4-FFF2-40B4-BE49-F238E27FC236}">
                <a16:creationId xmlns:a16="http://schemas.microsoft.com/office/drawing/2014/main" id="{2154D4B1-8E1F-4F25-B866-BB33A374A109}"/>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A full GPU experiment is the next test</a:t>
            </a:r>
          </a:p>
        </p:txBody>
      </p:sp>
      <p:sp>
        <p:nvSpPr>
          <p:cNvPr id="11" name="">
            <a:extLst xmlns:a="http://schemas.openxmlformats.org/drawingml/2006/main">
              <a:ext uri="{FF2B5EF4-FFF2-40B4-BE49-F238E27FC236}">
                <a16:creationId xmlns:a16="http://schemas.microsoft.com/office/drawing/2014/main" id="{6AED685D-818F-422B-B54F-64EE7A4C97C0}"/>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Benchmark one model, then train both architectures with nine seeds and refresh Codes 09–11.</a:t>
            </a:r>
          </a:p>
        </p:txBody>
      </p:sp>
    </p:spTree>
    <p:extLst>
      <p:ext uri="{BB962C8B-B14F-4D97-AF65-F5344CB8AC3E}">
        <p14:creationId xmlns:p14="http://schemas.microsoft.com/office/powerpoint/2010/main" val="11335140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2026-10-06T01:49:17.2590000Z</dcterms:created>
  <dcterms:modified xsi:type="dcterms:W3CDTF">2026-10-06T01:49:17.2590000Z</dcterms:modified>
</coreProperties>
</file>