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6.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7.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8.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9.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10.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11.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3580dc82d68434b" /><Relationship Type="http://schemas.openxmlformats.org/officeDocument/2006/relationships/extended-properties" Target="/docProps/app.xml" Id="Rdb8565a058b241d3" /><Relationship Type="http://schemas.openxmlformats.org/officeDocument/2006/relationships/officeDocument" Target="/ppt/presentation.xml" Id="Re59a493231504e64" /></Relationships>
</file>

<file path=ppt/presentation.xml><?xml version="1.0" encoding="utf-8"?>
<p:presentation xmlns:p="http://schemas.openxmlformats.org/presentationml/2006/main">
  <p:sldMasterIdLst>
    <p:sldMasterId xmlns:r="http://schemas.openxmlformats.org/officeDocument/2006/relationships" id="2147483648" r:id="R5b6de816ecc141c6"/>
  </p:sldMasterIdLst>
  <p:notesMasterIdLst>
    <p:notesMasterId xmlns:r="http://schemas.openxmlformats.org/officeDocument/2006/relationships" r:id="R0706bf91ca194ae5"/>
  </p:notesMasterIdLst>
  <p:sldIdLst>
    <p:sldId xmlns:r="http://schemas.openxmlformats.org/officeDocument/2006/relationships" id="256" r:id="R7a57d3345bf746c4"/>
    <p:sldId xmlns:r="http://schemas.openxmlformats.org/officeDocument/2006/relationships" id="257" r:id="R9792ff27890044d1"/>
    <p:sldId xmlns:r="http://schemas.openxmlformats.org/officeDocument/2006/relationships" id="258" r:id="R15cff50cc792482f"/>
    <p:sldId xmlns:r="http://schemas.openxmlformats.org/officeDocument/2006/relationships" id="259" r:id="Rb683a26c4f1c4b61"/>
    <p:sldId xmlns:r="http://schemas.openxmlformats.org/officeDocument/2006/relationships" id="260" r:id="R9435fa6a6b794fcb"/>
    <p:sldId xmlns:r="http://schemas.openxmlformats.org/officeDocument/2006/relationships" id="261" r:id="R3577bd9d8e6b456c"/>
    <p:sldId xmlns:r="http://schemas.openxmlformats.org/officeDocument/2006/relationships" id="262" r:id="Rbbbfbccad0074726"/>
    <p:sldId xmlns:r="http://schemas.openxmlformats.org/officeDocument/2006/relationships" id="263" r:id="Reb9c9a5da02a42e6"/>
    <p:sldId xmlns:r="http://schemas.openxmlformats.org/officeDocument/2006/relationships" id="264" r:id="R3a802af1466a4b30"/>
    <p:sldId xmlns:r="http://schemas.openxmlformats.org/officeDocument/2006/relationships" id="265" r:id="R04823d1e700c49ec"/>
    <p:sldId xmlns:r="http://schemas.openxmlformats.org/officeDocument/2006/relationships" id="266" r:id="R7c072aefebdb486c"/>
    <p:sldId xmlns:r="http://schemas.openxmlformats.org/officeDocument/2006/relationships" id="267" r:id="Ra9b3ddd84b4b4d3a"/>
    <p:sldId xmlns:r="http://schemas.openxmlformats.org/officeDocument/2006/relationships" id="268" r:id="R58701fa2f1bf47b7"/>
    <p:sldId xmlns:r="http://schemas.openxmlformats.org/officeDocument/2006/relationships" id="269" r:id="R0a3ef180854a491f"/>
    <p:sldId xmlns:r="http://schemas.openxmlformats.org/officeDocument/2006/relationships" id="270" r:id="Rde9f351a50a84532"/>
    <p:sldId xmlns:r="http://schemas.openxmlformats.org/officeDocument/2006/relationships" id="271" r:id="R906e2eb6dcfd413b"/>
    <p:sldId xmlns:r="http://schemas.openxmlformats.org/officeDocument/2006/relationships" id="272" r:id="R924ecad19be24047"/>
    <p:sldId xmlns:r="http://schemas.openxmlformats.org/officeDocument/2006/relationships" id="273" r:id="R8eae08c0aa194c30"/>
    <p:sldId xmlns:r="http://schemas.openxmlformats.org/officeDocument/2006/relationships" id="274" r:id="Rcb9d77b663e94819"/>
    <p:sldId xmlns:r="http://schemas.openxmlformats.org/officeDocument/2006/relationships" id="275" r:id="R45d336bc1a8a4fd9"/>
    <p:sldId xmlns:r="http://schemas.openxmlformats.org/officeDocument/2006/relationships" id="276" r:id="Rf09987a0a376495c"/>
    <p:sldId xmlns:r="http://schemas.openxmlformats.org/officeDocument/2006/relationships" id="277" r:id="Rab9f007b796944ae"/>
    <p:sldId xmlns:r="http://schemas.openxmlformats.org/officeDocument/2006/relationships" id="278" r:id="Ra0222e4d36414a50"/>
    <p:sldId xmlns:r="http://schemas.openxmlformats.org/officeDocument/2006/relationships" id="279" r:id="R81c0618a318f4f7c"/>
    <p:sldId xmlns:r="http://schemas.openxmlformats.org/officeDocument/2006/relationships" id="280" r:id="Rd24ae6cf302040a4"/>
    <p:sldId xmlns:r="http://schemas.openxmlformats.org/officeDocument/2006/relationships" id="281" r:id="R4e93538a1ee14947"/>
    <p:sldId xmlns:r="http://schemas.openxmlformats.org/officeDocument/2006/relationships" id="282" r:id="R4ca4d00060fb4a2e"/>
    <p:sldId xmlns:r="http://schemas.openxmlformats.org/officeDocument/2006/relationships" id="283" r:id="Rd6d7341a81b34e4e"/>
    <p:sldId xmlns:r="http://schemas.openxmlformats.org/officeDocument/2006/relationships" id="284" r:id="R9c5fe7bad02d4898"/>
    <p:sldId xmlns:r="http://schemas.openxmlformats.org/officeDocument/2006/relationships" id="285" r:id="R27969caa2a1a4366"/>
    <p:sldId xmlns:r="http://schemas.openxmlformats.org/officeDocument/2006/relationships" id="286" r:id="R94783ede3a624658"/>
    <p:sldId xmlns:r="http://schemas.openxmlformats.org/officeDocument/2006/relationships" id="287" r:id="Ra0f4084c2e324546"/>
    <p:sldId xmlns:r="http://schemas.openxmlformats.org/officeDocument/2006/relationships" id="288" r:id="Rbfddc552873a4544"/>
    <p:sldId xmlns:r="http://schemas.openxmlformats.org/officeDocument/2006/relationships" id="289" r:id="Rd9d8e9215b18455c"/>
    <p:sldId xmlns:r="http://schemas.openxmlformats.org/officeDocument/2006/relationships" id="290" r:id="R256df12a9f0f49bf"/>
    <p:sldId xmlns:r="http://schemas.openxmlformats.org/officeDocument/2006/relationships" id="291" r:id="Rc7a602f594bf46b4"/>
    <p:sldId xmlns:r="http://schemas.openxmlformats.org/officeDocument/2006/relationships" id="292" r:id="Rbf91a69c39e6489a"/>
    <p:sldId xmlns:r="http://schemas.openxmlformats.org/officeDocument/2006/relationships" id="293" r:id="R8617d0301b5c41ed"/>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a50e59a66344ae" /><Relationship Type="http://schemas.openxmlformats.org/officeDocument/2006/relationships/slideMaster" Target="/ppt/slideMasters/slideMaster1.xml" Id="R5b6de816ecc141c6" /><Relationship Type="http://schemas.openxmlformats.org/officeDocument/2006/relationships/notesMaster" Target="/ppt/notesMasters/notesMaster1.xml" Id="R0706bf91ca194ae5" /><Relationship Type="http://schemas.openxmlformats.org/officeDocument/2006/relationships/presProps" Target="/ppt/presProps.xml" Id="R20101377e59644ac" /><Relationship Type="http://schemas.openxmlformats.org/officeDocument/2006/relationships/tableStyles" Target="/ppt/tableStyles.xml" Id="R1eab484dc6f34121" /><Relationship Type="http://schemas.openxmlformats.org/officeDocument/2006/relationships/slide" Target="/ppt/slides/slide1.xml" Id="R7a57d3345bf746c4" /><Relationship Type="http://schemas.openxmlformats.org/officeDocument/2006/relationships/slide" Target="/ppt/slides/slide2.xml" Id="R9792ff27890044d1" /><Relationship Type="http://schemas.openxmlformats.org/officeDocument/2006/relationships/slide" Target="/ppt/slides/slide3.xml" Id="R15cff50cc792482f" /><Relationship Type="http://schemas.openxmlformats.org/officeDocument/2006/relationships/slide" Target="/ppt/slides/slide4.xml" Id="Rb683a26c4f1c4b61" /><Relationship Type="http://schemas.openxmlformats.org/officeDocument/2006/relationships/slide" Target="/ppt/slides/slide5.xml" Id="R9435fa6a6b794fcb" /><Relationship Type="http://schemas.openxmlformats.org/officeDocument/2006/relationships/slide" Target="/ppt/slides/slide6.xml" Id="R3577bd9d8e6b456c" /><Relationship Type="http://schemas.openxmlformats.org/officeDocument/2006/relationships/slide" Target="/ppt/slides/slide7.xml" Id="Rbbbfbccad0074726" /><Relationship Type="http://schemas.openxmlformats.org/officeDocument/2006/relationships/slide" Target="/ppt/slides/slide8.xml" Id="Reb9c9a5da02a42e6" /><Relationship Type="http://schemas.openxmlformats.org/officeDocument/2006/relationships/slide" Target="/ppt/slides/slide9.xml" Id="R3a802af1466a4b30" /><Relationship Type="http://schemas.openxmlformats.org/officeDocument/2006/relationships/slide" Target="/ppt/slides/slide10.xml" Id="R04823d1e700c49ec" /><Relationship Type="http://schemas.openxmlformats.org/officeDocument/2006/relationships/slide" Target="/ppt/slides/slide11.xml" Id="R7c072aefebdb486c" /><Relationship Type="http://schemas.openxmlformats.org/officeDocument/2006/relationships/slide" Target="/ppt/slides/slide12.xml" Id="Ra9b3ddd84b4b4d3a" /><Relationship Type="http://schemas.openxmlformats.org/officeDocument/2006/relationships/slide" Target="/ppt/slides/slide13.xml" Id="R58701fa2f1bf47b7" /><Relationship Type="http://schemas.openxmlformats.org/officeDocument/2006/relationships/slide" Target="/ppt/slides/slide14.xml" Id="R0a3ef180854a491f" /><Relationship Type="http://schemas.openxmlformats.org/officeDocument/2006/relationships/slide" Target="/ppt/slides/slide15.xml" Id="Rde9f351a50a84532" /><Relationship Type="http://schemas.openxmlformats.org/officeDocument/2006/relationships/slide" Target="/ppt/slides/slide16.xml" Id="R906e2eb6dcfd413b" /><Relationship Type="http://schemas.openxmlformats.org/officeDocument/2006/relationships/slide" Target="/ppt/slides/slide17.xml" Id="R924ecad19be24047" /><Relationship Type="http://schemas.openxmlformats.org/officeDocument/2006/relationships/slide" Target="/ppt/slides/slide18.xml" Id="R8eae08c0aa194c30" /><Relationship Type="http://schemas.openxmlformats.org/officeDocument/2006/relationships/slide" Target="/ppt/slides/slide19.xml" Id="Rcb9d77b663e94819" /><Relationship Type="http://schemas.openxmlformats.org/officeDocument/2006/relationships/slide" Target="/ppt/slides/slide20.xml" Id="R45d336bc1a8a4fd9" /><Relationship Type="http://schemas.openxmlformats.org/officeDocument/2006/relationships/slide" Target="/ppt/slides/slide21.xml" Id="Rf09987a0a376495c" /><Relationship Type="http://schemas.openxmlformats.org/officeDocument/2006/relationships/slide" Target="/ppt/slides/slide22.xml" Id="Rab9f007b796944ae" /><Relationship Type="http://schemas.openxmlformats.org/officeDocument/2006/relationships/slide" Target="/ppt/slides/slide23.xml" Id="Ra0222e4d36414a50" /><Relationship Type="http://schemas.openxmlformats.org/officeDocument/2006/relationships/slide" Target="/ppt/slides/slide24.xml" Id="R81c0618a318f4f7c" /><Relationship Type="http://schemas.openxmlformats.org/officeDocument/2006/relationships/slide" Target="/ppt/slides/slide25.xml" Id="Rd24ae6cf302040a4" /><Relationship Type="http://schemas.openxmlformats.org/officeDocument/2006/relationships/slide" Target="/ppt/slides/slide26.xml" Id="R4e93538a1ee14947" /><Relationship Type="http://schemas.openxmlformats.org/officeDocument/2006/relationships/slide" Target="/ppt/slides/slide27.xml" Id="R4ca4d00060fb4a2e" /><Relationship Type="http://schemas.openxmlformats.org/officeDocument/2006/relationships/slide" Target="/ppt/slides/slide28.xml" Id="Rd6d7341a81b34e4e" /><Relationship Type="http://schemas.openxmlformats.org/officeDocument/2006/relationships/slide" Target="/ppt/slides/slide29.xml" Id="R9c5fe7bad02d4898" /><Relationship Type="http://schemas.openxmlformats.org/officeDocument/2006/relationships/slide" Target="/ppt/slides/slide30.xml" Id="R27969caa2a1a4366" /><Relationship Type="http://schemas.openxmlformats.org/officeDocument/2006/relationships/slide" Target="/ppt/slides/slide31.xml" Id="R94783ede3a624658" /><Relationship Type="http://schemas.openxmlformats.org/officeDocument/2006/relationships/slide" Target="/ppt/slides/slide32.xml" Id="Ra0f4084c2e324546" /><Relationship Type="http://schemas.openxmlformats.org/officeDocument/2006/relationships/slide" Target="/ppt/slides/slide33.xml" Id="Rbfddc552873a4544" /><Relationship Type="http://schemas.openxmlformats.org/officeDocument/2006/relationships/slide" Target="/ppt/slides/slide34.xml" Id="Rd9d8e9215b18455c" /><Relationship Type="http://schemas.openxmlformats.org/officeDocument/2006/relationships/slide" Target="/ppt/slides/slide35.xml" Id="R256df12a9f0f49bf" /><Relationship Type="http://schemas.openxmlformats.org/officeDocument/2006/relationships/slide" Target="/ppt/slides/slide36.xml" Id="Rc7a602f594bf46b4" /><Relationship Type="http://schemas.openxmlformats.org/officeDocument/2006/relationships/slide" Target="/ppt/slides/slide37.xml" Id="Rbf91a69c39e6489a" /><Relationship Type="http://schemas.openxmlformats.org/officeDocument/2006/relationships/slide" Target="/ppt/slides/slide38.xml" Id="R8617d0301b5c41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d2ddbc411749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4da552bcde443d" /><Relationship Type="http://schemas.openxmlformats.org/officeDocument/2006/relationships/notesMaster" Target="/ppt/notesMasters/notesMaster1.xml" Id="R5c1d1abf34de4a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c0f53bfccc43bc" /><Relationship Type="http://schemas.openxmlformats.org/officeDocument/2006/relationships/notesMaster" Target="/ppt/notesMasters/notesMaster1.xml" Id="Ref0344b1a8184c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24e17cbee44607" /><Relationship Type="http://schemas.openxmlformats.org/officeDocument/2006/relationships/notesMaster" Target="/ppt/notesMasters/notesMaster1.xml" Id="R7ccd9cfc11de45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47981dd0534580" /><Relationship Type="http://schemas.openxmlformats.org/officeDocument/2006/relationships/notesMaster" Target="/ppt/notesMasters/notesMaster1.xml" Id="R498341972e4b4c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87e4c395cd49f7" /><Relationship Type="http://schemas.openxmlformats.org/officeDocument/2006/relationships/notesMaster" Target="/ppt/notesMasters/notesMaster1.xml" Id="R7513e5e0c20b49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9db3efebe44526" /><Relationship Type="http://schemas.openxmlformats.org/officeDocument/2006/relationships/notesMaster" Target="/ppt/notesMasters/notesMaster1.xml" Id="R8cf9197ca77b4e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3c3b8550934615" /><Relationship Type="http://schemas.openxmlformats.org/officeDocument/2006/relationships/notesMaster" Target="/ppt/notesMasters/notesMaster1.xml" Id="R9d8fe246125349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8effeb2f3b458d" /><Relationship Type="http://schemas.openxmlformats.org/officeDocument/2006/relationships/notesMaster" Target="/ppt/notesMasters/notesMaster1.xml" Id="R86d4a29e3e7841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0494bca2a040a6" /><Relationship Type="http://schemas.openxmlformats.org/officeDocument/2006/relationships/notesMaster" Target="/ppt/notesMasters/notesMaster1.xml" Id="R91731a6f7c7d4b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65e40181b941c7" /><Relationship Type="http://schemas.openxmlformats.org/officeDocument/2006/relationships/notesMaster" Target="/ppt/notesMasters/notesMaster1.xml" Id="Ree65e120e7094b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00619c01374103" /><Relationship Type="http://schemas.openxmlformats.org/officeDocument/2006/relationships/notesMaster" Target="/ppt/notesMasters/notesMaster1.xml" Id="R63eac186fb7447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653800a8dcc40ae" /><Relationship Type="http://schemas.openxmlformats.org/officeDocument/2006/relationships/notesMaster" Target="/ppt/notesMasters/notesMaster1.xml" Id="R2cd0ba3b1c5348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3800f2fb6d04832" /><Relationship Type="http://schemas.openxmlformats.org/officeDocument/2006/relationships/notesMaster" Target="/ppt/notesMasters/notesMaster1.xml" Id="R0d07e1dc28ad4b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72a7965e1404f8a" /><Relationship Type="http://schemas.openxmlformats.org/officeDocument/2006/relationships/notesMaster" Target="/ppt/notesMasters/notesMaster1.xml" Id="R5a7ddad823324a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8d7041c31640cb" /><Relationship Type="http://schemas.openxmlformats.org/officeDocument/2006/relationships/notesMaster" Target="/ppt/notesMasters/notesMaster1.xml" Id="Ra616e2127a934f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42de2511f4849da" /><Relationship Type="http://schemas.openxmlformats.org/officeDocument/2006/relationships/notesMaster" Target="/ppt/notesMasters/notesMaster1.xml" Id="Rac1822c345074d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167e55a20884b5e" /><Relationship Type="http://schemas.openxmlformats.org/officeDocument/2006/relationships/notesMaster" Target="/ppt/notesMasters/notesMaster1.xml" Id="Rc98eaa5121c04b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2084ae4e8bd40ce" /><Relationship Type="http://schemas.openxmlformats.org/officeDocument/2006/relationships/notesMaster" Target="/ppt/notesMasters/notesMaster1.xml" Id="Rbe351892af314e1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9e376f81b748be" /><Relationship Type="http://schemas.openxmlformats.org/officeDocument/2006/relationships/notesMaster" Target="/ppt/notesMasters/notesMaster1.xml" Id="Re2910d8b3c434fb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0d1ec2a947f4c7b" /><Relationship Type="http://schemas.openxmlformats.org/officeDocument/2006/relationships/notesMaster" Target="/ppt/notesMasters/notesMaster1.xml" Id="R34c9a54e3f3641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1585bbb84ce4fe4" /><Relationship Type="http://schemas.openxmlformats.org/officeDocument/2006/relationships/notesMaster" Target="/ppt/notesMasters/notesMaster1.xml" Id="Rc0fc9adcbdd04dc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05771a79b5142f6" /><Relationship Type="http://schemas.openxmlformats.org/officeDocument/2006/relationships/notesMaster" Target="/ppt/notesMasters/notesMaster1.xml" Id="Rd5f70f159f5846f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3a65d735e324d65" /><Relationship Type="http://schemas.openxmlformats.org/officeDocument/2006/relationships/notesMaster" Target="/ppt/notesMasters/notesMaster1.xml" Id="Rb7311d4db74944d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70f17f6f5ba436c" /><Relationship Type="http://schemas.openxmlformats.org/officeDocument/2006/relationships/notesMaster" Target="/ppt/notesMasters/notesMaster1.xml" Id="R4bee2a49663b4a1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18aa8490ac0453c" /><Relationship Type="http://schemas.openxmlformats.org/officeDocument/2006/relationships/notesMaster" Target="/ppt/notesMasters/notesMaster1.xml" Id="R186b85d35986482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bb4dd588d824c03" /><Relationship Type="http://schemas.openxmlformats.org/officeDocument/2006/relationships/notesMaster" Target="/ppt/notesMasters/notesMaster1.xml" Id="R90d33554ad1745f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23aa6650d75454f" /><Relationship Type="http://schemas.openxmlformats.org/officeDocument/2006/relationships/notesMaster" Target="/ppt/notesMasters/notesMaster1.xml" Id="R5f368026b8de429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583e076ea9e4351" /><Relationship Type="http://schemas.openxmlformats.org/officeDocument/2006/relationships/notesMaster" Target="/ppt/notesMasters/notesMaster1.xml" Id="R9e42fb3f9b0647e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9d8de3906244e72" /><Relationship Type="http://schemas.openxmlformats.org/officeDocument/2006/relationships/notesMaster" Target="/ppt/notesMasters/notesMaster1.xml" Id="Rc8c6a951b3bf42f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9dd622286994827" /><Relationship Type="http://schemas.openxmlformats.org/officeDocument/2006/relationships/notesMaster" Target="/ppt/notesMasters/notesMaster1.xml" Id="Rab79c2a863bd4c3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fadba5a3504486f" /><Relationship Type="http://schemas.openxmlformats.org/officeDocument/2006/relationships/notesMaster" Target="/ppt/notesMasters/notesMaster1.xml" Id="Rd56a8b62c9414ff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6442ac5b23b4657" /><Relationship Type="http://schemas.openxmlformats.org/officeDocument/2006/relationships/notesMaster" Target="/ppt/notesMasters/notesMaster1.xml" Id="R1a85fe7d9ead449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9d0640a0ecc4f1c" /><Relationship Type="http://schemas.openxmlformats.org/officeDocument/2006/relationships/notesMaster" Target="/ppt/notesMasters/notesMaster1.xml" Id="R882e52bd194f452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204e0d8c522438f" /><Relationship Type="http://schemas.openxmlformats.org/officeDocument/2006/relationships/notesMaster" Target="/ppt/notesMasters/notesMaster1.xml" Id="R0a8d838d2bdd4c0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f572a27e1cd45b8" /><Relationship Type="http://schemas.openxmlformats.org/officeDocument/2006/relationships/notesMaster" Target="/ppt/notesMasters/notesMaster1.xml" Id="R073ec478d8a94e2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4abf5e983894e9d" /><Relationship Type="http://schemas.openxmlformats.org/officeDocument/2006/relationships/notesMaster" Target="/ppt/notesMasters/notesMaster1.xml" Id="Re5060fed9c1a41b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a1e3d77d64f4a74" /><Relationship Type="http://schemas.openxmlformats.org/officeDocument/2006/relationships/notesMaster" Target="/ppt/notesMasters/notesMaster1.xml" Id="R4bc8cd876b17403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a48bf47315f4209" /><Relationship Type="http://schemas.openxmlformats.org/officeDocument/2006/relationships/notesMaster" Target="/ppt/notesMasters/notesMaster1.xml" Id="Rd6670ced265c4e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Asset Pricing with Deep Learning: Replication and Extensions. Eight sections: main paper, replication, Transformer, rolling windows, regime change, uncertainty, combination, summary. Source photograph and logo retained from the earlier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extension sections: Transformer, rolling windows, regime change, and uncertainty. The combination section compares results jointly before the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Corrected the earlier slides: 46 firm characteristics, 64 hidden units, and 0.95 dropout retention (0.05 dropout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All numbers on this slide are monthly Table I Sharpe ratios. Annualized values multiply by square root of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Local values recomputed with population standard deviation for consistency. This changes the earlier presentation’s GAN test 0.611 to 0.612 after rounding. Source results/rolling_oos_reduced_schedule/tables/all_models_vs_paper_monthly_sharpe.csv.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previous replication deck slides 11, 14, 15. results/tables/gan_official_sdf_comparison.csv. Fama–French benchmark values retain the earlier deck’s displayed convention.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3: Transformer. Extension 1. Does causal attention improve on LSTM under a common training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Author training repository commit 6c26b9dad01e76b214ab8f5566c42a29e99677c9, https://github.com/LouisChen1992/Deep_Learning_Asset_Pricing. Schedule is from audited executable configuration, not a claim that every source detail matches.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configuration in results/paper_matched_reduced_schedule/manifest.json.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Source results/rolling_oos_reduced_schedule/tables/all_models_vs_paper_monthly_sharpe.csv. Original paper and Code 07 use different estimation procedures from the matched new 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recomputed risks from aligned saved test returns. Trading costs omitted. Drawdown includes initial wealth of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results/paper_matched_reduced_schedule/tables/member_performance.csv. Same-numbered seeds are descriptive pairs, not identical random draws. Seed dispersion shares one market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4: Rolling windows. Extension 2. How does the performance of fixed saved models change over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Complete windows: 265 for 36 months and 241 for 60 months. Annualized Sharpe equals monthly mean / monthly population std multiplied by sqrt(12).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Authors monthly series verified to match published rounded split Sharpes. Source results/consolidated_comparison/tables/official_extended_rolling_series.csv. Every monthly value retained. Sparse year labels are displayed on the category axis.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Authors monthly series verified to match published rounded split Sharpes. Source results/consolidated_comparison/tables/official_extended_rolling_series.csv. Every monthly value retained. Sparse year labels are displayed on the category axis.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results/consolidated_comparison/tables/official_extended_rolling_summary.csv. Means of overlapping rolling ratios are not full-period Sharpe ratios.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5: Regime change. Extension 3. Where do model results differ across business-cycle and volatility regimes?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results/regime_analysis/tables/monthly_regime_labels.csv. https://fred.stlouisfed.org/series/USREC. Fama–French market returns define lagged volatility with training median threshold 0.039783.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results/consolidated_comparison/tables/official_extended_regime_comparison.csv. Author GAN regime statistics are newly computed from the supplied monthly series, not published regime table entries.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results/consolidated_comparison/tables/official_extended_regime_comparison.csv. Author GAN regime statistics are newly computed from the supplied monthly series, not published regime table entries.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Figure copied unchanged from results/bootstrap_uncertainty/local_only/figures/local_regime_comparison.png. Interpret with the preceding method and results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6: Uncertainty. Extension 4. How precisely do we estimate the differences in Sharpe ratios?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No models are retrained. The circular bootstrap samples contiguous return blocks with identical indices for every portfolio. Pointwise intervals concern one comparison. Simultaneous intervals use the maximum absolute centered bootstrap error across ten pairs for each block length.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Figure copied unchanged from results/bootstrap_uncertainty/figures/model_sharpe_intervals.png. Interpret with the preceding method and results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paired_sharpe_difference_intervals.csv. Difference is A minus B. Pointwise basic intervals and simultaneous intervals adjust for different families. Simultaneous family contains all ten pairs among the five portfolios.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interval_method_comparison.csv. Status labels correspond to the 12-month block choice. Basic intervals reflect the bootstrap error distribution around the observed estimate. Percentile intervals use raw bootstrap quantiles. Simultaneous intervals control the ten-comparison family under the bootstrap approximation. Method disagreement limits robustness.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paired_sharpe_difference_intervals.csv. Values are pointwise basic interval widths in monthly Sharpe units. The observed difference is fixed because all methods reuse the same return history. Blocks are sensitivity choices, not independent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rolling_comparison_counts.csv. All complete windows use 2,000 draws and 6-month blocks. Figure counts refer to LSTM minus Transformer using pointwise basic intervals. Simultaneous tables adjust ten pairs within each window, not across time. Overlapping windows are dependent.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Figure copied unchanged from results/bootstrap_uncertainty/figures/paired_difference_intervals.png. Interpret with the preceding method and results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7: Combination. Joint comparisons across architectures, rolling windows, economic regimes, and the fixed portfolio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results/consolidated_comparison/tables/architecture_blend_split_comparison.csv. Blend returns equal 0.5*LSTM+0.5*Transformer, without additional gross renormalization. Added after prior test review. Weights are fixed and not optimized.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Endpoint labels group completed trailing statistics. A recession-ending window may contain expansion months. No regime switching rule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results/consolidated_comparison/tables/official_extended_endpoint_regimes.csv. These are mean annualized trailing Sharpes classified by end-month state. They are not Sharpe ratios of regime-only returns. Window observations overlap.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results/consolidated_comparison/tables/official_extended_endpoint_regimes.csv. These are mean annualized trailing Sharpes classified by end-month state. They are not Sharpe ratios of regime-only returns. Window observations overlap.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Sources: published GAN 0.75; supplied author series 0.749920; results/consolidated_comparison/tables/official_extended_test_returns.csv. The blend is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Additional sources: results/bootstrap_uncertainty/local_only/tables/overall_performance.csv, rolling_summary.csv, regime_comparison.csv, paired_intervals.csv. Monthly full-test and recession-only Sharpes differ from mean annualized rolling Sharpe. Local simultaneous intervals recalibrate all 21 local pairs. Regime entries are point estimates with no regime-specific confidence intervals. Recession contains only 26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Code 012 does not establish equivalence from an interval containing zero. Fixed equal-weight combination was considered after test inspection. Recession labels are retrospective. No transaction costs, genuinely unseen holdout, retraining uncertainty, or real-time vintage correction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6fab7167c24a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3f7f243a8a49ad" /><Relationship Type="http://schemas.openxmlformats.org/officeDocument/2006/relationships/slideLayout" Target="/ppt/slideLayouts/slideLayout1.xml" Id="R4909d03c185243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09d03c185243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33bce628b6442b" /><Relationship Type="http://schemas.openxmlformats.org/officeDocument/2006/relationships/image" Target="/ppt/media/image.png" Id="Ra4463300939344a4" /><Relationship Type="http://schemas.openxmlformats.org/officeDocument/2006/relationships/image" Target="/ppt/media/image2.png" Id="R4eecf0192f8c40f6" /><Relationship Type="http://schemas.openxmlformats.org/officeDocument/2006/relationships/notesSlide" Target="/ppt/notesSlides/notesSlide1.xml" Id="R1bf243d2318046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e08e56552c4b9f" /><Relationship Type="http://schemas.openxmlformats.org/officeDocument/2006/relationships/notesSlide" Target="/ppt/notesSlides/notesSlide2.xml" Id="Re718922c711346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844ae019d64a88" /><Relationship Type="http://schemas.openxmlformats.org/officeDocument/2006/relationships/notesSlide" Target="/ppt/notesSlides/notesSlide3.xml" Id="Rcb92fe2f9d124d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4ada36e0974a6c" /><Relationship Type="http://schemas.openxmlformats.org/officeDocument/2006/relationships/notesSlide" Target="/ppt/notesSlides/notesSlide4.xml" Id="R2d167801e9894b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80448fdfb6946d8" /><Relationship Type="http://schemas.openxmlformats.org/officeDocument/2006/relationships/chart" Target="/ppt/slides/charts/chart1.xml" Id="Rce505f44c21b4b4e" /><Relationship Type="http://schemas.openxmlformats.org/officeDocument/2006/relationships/notesSlide" Target="/ppt/notesSlides/notesSlide5.xml" Id="Rdd7f4d0c757148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74661962b54366" /><Relationship Type="http://schemas.openxmlformats.org/officeDocument/2006/relationships/notesSlide" Target="/ppt/notesSlides/notesSlide6.xml" Id="R677baccc2ca949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d9650b3ee34f23" /><Relationship Type="http://schemas.openxmlformats.org/officeDocument/2006/relationships/notesSlide" Target="/ppt/notesSlides/notesSlide7.xml" Id="Rcbfeaa953db24e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27f1ec7212d400d" /><Relationship Type="http://schemas.openxmlformats.org/officeDocument/2006/relationships/notesSlide" Target="/ppt/notesSlides/notesSlide8.xml" Id="Rfdc98256624348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feab833d684696" /><Relationship Type="http://schemas.openxmlformats.org/officeDocument/2006/relationships/notesSlide" Target="/ppt/notesSlides/notesSlide9.xml" Id="R9b022151013843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f8c50f5b4dc45a4" /><Relationship Type="http://schemas.openxmlformats.org/officeDocument/2006/relationships/chart" Target="/ppt/slides/charts/chart2.xml" Id="R7153b710fa184a36" /><Relationship Type="http://schemas.openxmlformats.org/officeDocument/2006/relationships/notesSlide" Target="/ppt/notesSlides/notesSlide10.xml" Id="Rb587db8877fc4d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0033892d3f74194" /><Relationship Type="http://schemas.openxmlformats.org/officeDocument/2006/relationships/notesSlide" Target="/ppt/notesSlides/notesSlide11.xml" Id="Rffd4b4569f274d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364f9ba8eb40b4" /><Relationship Type="http://schemas.openxmlformats.org/officeDocument/2006/relationships/chart" Target="/ppt/slides/charts/chart3.xml" Id="Rf161b257b8454569" /><Relationship Type="http://schemas.openxmlformats.org/officeDocument/2006/relationships/notesSlide" Target="/ppt/notesSlides/notesSlide12.xml" Id="R691cd8c011f941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54b5ea4123d496d" /><Relationship Type="http://schemas.openxmlformats.org/officeDocument/2006/relationships/notesSlide" Target="/ppt/notesSlides/notesSlide13.xml" Id="Re225c87d75c04f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1e5f0d7f53843ce" /><Relationship Type="http://schemas.openxmlformats.org/officeDocument/2006/relationships/notesSlide" Target="/ppt/notesSlides/notesSlide14.xml" Id="R3cf7a332d18b4e0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504b24b4d724461" /><Relationship Type="http://schemas.openxmlformats.org/officeDocument/2006/relationships/chart" Target="/ppt/slides/charts/chart4.xml" Id="R4de57cea0ff447f9" /><Relationship Type="http://schemas.openxmlformats.org/officeDocument/2006/relationships/notesSlide" Target="/ppt/notesSlides/notesSlide15.xml" Id="Re33e2c9e578145c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8e17cfada014e0e" /><Relationship Type="http://schemas.openxmlformats.org/officeDocument/2006/relationships/chart" Target="/ppt/slides/charts/chart5.xml" Id="R1265be4a310d43a4" /><Relationship Type="http://schemas.openxmlformats.org/officeDocument/2006/relationships/notesSlide" Target="/ppt/notesSlides/notesSlide16.xml" Id="R8122886318a244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077f867f2364bf5" /><Relationship Type="http://schemas.openxmlformats.org/officeDocument/2006/relationships/notesSlide" Target="/ppt/notesSlides/notesSlide17.xml" Id="Rab9eab5157b9483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fe7f98860164d5a" /><Relationship Type="http://schemas.openxmlformats.org/officeDocument/2006/relationships/notesSlide" Target="/ppt/notesSlides/notesSlide18.xml" Id="R78ed3efddbb648d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b721ed2100345d9" /><Relationship Type="http://schemas.openxmlformats.org/officeDocument/2006/relationships/notesSlide" Target="/ppt/notesSlides/notesSlide19.xml" Id="R41d15e07bd0c4b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0a401cfbf344c92" /><Relationship Type="http://schemas.openxmlformats.org/officeDocument/2006/relationships/chart" Target="/ppt/slides/charts/chart6.xml" Id="Rc23385b1b04b45f5" /><Relationship Type="http://schemas.openxmlformats.org/officeDocument/2006/relationships/notesSlide" Target="/ppt/notesSlides/notesSlide20.xml" Id="Rdd4b5997d3c3458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9792ee5e12b4aef" /><Relationship Type="http://schemas.openxmlformats.org/officeDocument/2006/relationships/chart" Target="/ppt/slides/charts/chart7.xml" Id="R743024ae104c41e5" /><Relationship Type="http://schemas.openxmlformats.org/officeDocument/2006/relationships/notesSlide" Target="/ppt/notesSlides/notesSlide21.xml" Id="R5b2fae59cd5447d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f36bbdaf87349e4" /><Relationship Type="http://schemas.openxmlformats.org/officeDocument/2006/relationships/image" Target="/ppt/media/image3.png" Id="R82934f8d747c4605" /><Relationship Type="http://schemas.openxmlformats.org/officeDocument/2006/relationships/notesSlide" Target="/ppt/notesSlides/notesSlide22.xml" Id="Ra89e590b71124cb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f50eafda3184204" /><Relationship Type="http://schemas.openxmlformats.org/officeDocument/2006/relationships/notesSlide" Target="/ppt/notesSlides/notesSlide23.xml" Id="R2e696305072e4d4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a396176ac224acd" /><Relationship Type="http://schemas.openxmlformats.org/officeDocument/2006/relationships/notesSlide" Target="/ppt/notesSlides/notesSlide24.xml" Id="R6ab2eb97c133434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388272f43be439f" /><Relationship Type="http://schemas.openxmlformats.org/officeDocument/2006/relationships/image" Target="/ppt/media/image4.png" Id="R5c82657ed18347e4" /><Relationship Type="http://schemas.openxmlformats.org/officeDocument/2006/relationships/notesSlide" Target="/ppt/notesSlides/notesSlide25.xml" Id="Raf1c3effa2dd40e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305c40a99074c6e" /><Relationship Type="http://schemas.openxmlformats.org/officeDocument/2006/relationships/notesSlide" Target="/ppt/notesSlides/notesSlide26.xml" Id="R1337e6d9910749b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b33fba2f7ea426b" /><Relationship Type="http://schemas.openxmlformats.org/officeDocument/2006/relationships/notesSlide" Target="/ppt/notesSlides/notesSlide27.xml" Id="R2dd5199bdeed4ed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42ba31ee9a24b69" /><Relationship Type="http://schemas.openxmlformats.org/officeDocument/2006/relationships/chart" Target="/ppt/slides/charts/chart8.xml" Id="R367375abaa1148d8" /><Relationship Type="http://schemas.openxmlformats.org/officeDocument/2006/relationships/notesSlide" Target="/ppt/notesSlides/notesSlide28.xml" Id="Ra25931760316426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98d35e7aa74454c" /><Relationship Type="http://schemas.openxmlformats.org/officeDocument/2006/relationships/notesSlide" Target="/ppt/notesSlides/notesSlide29.xml" Id="Rbe6247e08fdd492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1583e8ec6c14314" /><Relationship Type="http://schemas.openxmlformats.org/officeDocument/2006/relationships/image" Target="/ppt/media/image5.png" Id="Rb6ff5d87cbad4cac" /><Relationship Type="http://schemas.openxmlformats.org/officeDocument/2006/relationships/notesSlide" Target="/ppt/notesSlides/notesSlide30.xml" Id="R29320f8e3e97422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9720cf8981c4838" /><Relationship Type="http://schemas.openxmlformats.org/officeDocument/2006/relationships/notesSlide" Target="/ppt/notesSlides/notesSlide31.xml" Id="Rabdf4208ad284d2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b8a824be018499b" /><Relationship Type="http://schemas.openxmlformats.org/officeDocument/2006/relationships/notesSlide" Target="/ppt/notesSlides/notesSlide32.xml" Id="R8263c0435c6544b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244a62d934d4cff" /><Relationship Type="http://schemas.openxmlformats.org/officeDocument/2006/relationships/notesSlide" Target="/ppt/notesSlides/notesSlide33.xml" Id="R016119fac1414cd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21c6016261d417b" /><Relationship Type="http://schemas.openxmlformats.org/officeDocument/2006/relationships/chart" Target="/ppt/slides/charts/chart9.xml" Id="R83083846cfaf48c0" /><Relationship Type="http://schemas.openxmlformats.org/officeDocument/2006/relationships/notesSlide" Target="/ppt/notesSlides/notesSlide34.xml" Id="R236bf844f9da44b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ef167b462054f60" /><Relationship Type="http://schemas.openxmlformats.org/officeDocument/2006/relationships/chart" Target="/ppt/slides/charts/chart10.xml" Id="R150de99240bd4a88" /><Relationship Type="http://schemas.openxmlformats.org/officeDocument/2006/relationships/notesSlide" Target="/ppt/notesSlides/notesSlide35.xml" Id="R2e29571c483f4fd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012cfd92e25495b" /><Relationship Type="http://schemas.openxmlformats.org/officeDocument/2006/relationships/chart" Target="/ppt/slides/charts/chart11.xml" Id="Rd279d6ce1ec742da" /><Relationship Type="http://schemas.openxmlformats.org/officeDocument/2006/relationships/notesSlide" Target="/ppt/notesSlides/notesSlide36.xml" Id="Rb985a944efbe451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4ecf4dd289d4f66" /><Relationship Type="http://schemas.openxmlformats.org/officeDocument/2006/relationships/notesSlide" Target="/ppt/notesSlides/notesSlide37.xml" Id="Ra02b65f797bc42f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6830de012b34217" /><Relationship Type="http://schemas.openxmlformats.org/officeDocument/2006/relationships/notesSlide" Target="/ppt/notesSlides/notesSlide38.xml" Id="R346c2aec903f41c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4.xlsx"/></Relationships>
</file>

<file path=ppt/slides/charts/_rels/chart4.xml.rels><Relationships xmlns="http://schemas.openxmlformats.org/package/2006/relationships"><Relationship Id="rIdChartSnapshot1" Type="http://schemas.openxmlformats.org/officeDocument/2006/relationships/package" Target="../../embeddings/chart-data-snapshot-005.xlsx"/></Relationships>
</file>

<file path=ppt/slides/charts/_rels/chart5.xml.rels><Relationships xmlns="http://schemas.openxmlformats.org/package/2006/relationships"><Relationship Id="rIdChartSnapshot1" Type="http://schemas.openxmlformats.org/officeDocument/2006/relationships/package" Target="../../embeddings/chart-data-snapshot-006.xlsx"/></Relationships>
</file>

<file path=ppt/slides/charts/_rels/chart6.xml.rels><Relationships xmlns="http://schemas.openxmlformats.org/package/2006/relationships"><Relationship Id="rIdChartSnapshot1" Type="http://schemas.openxmlformats.org/officeDocument/2006/relationships/package" Target="../../embeddings/chart-data-snapshot-007.xlsx"/></Relationships>
</file>

<file path=ppt/slides/charts/_rels/chart7.xml.rels><Relationships xmlns="http://schemas.openxmlformats.org/package/2006/relationships"><Relationship Id="rIdChartSnapshot1" Type="http://schemas.openxmlformats.org/officeDocument/2006/relationships/package" Target="../../embeddings/chart-data-snapshot-008.xlsx"/></Relationships>
</file>

<file path=ppt/slides/charts/_rels/chart8.xml.rels><Relationships xmlns="http://schemas.openxmlformats.org/package/2006/relationships"><Relationship Id="rIdChartSnapshot1" Type="http://schemas.openxmlformats.org/officeDocument/2006/relationships/package" Target="../../embeddings/chart-data-snapshot-011.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paper</c:v>
          </c:tx>
          <c:spPr>
            <a:solidFill xmlns:a="http://schemas.openxmlformats.org/drawingml/2006/main">
              <a:srgbClr val="94A3B8"/>
            </a:solidFill>
          </c:spPr>
          <c:cat>
            <c:strRef>
              <c:f>'Chart Data'!$A$2:$A$5</c:f>
              <c:strCache>
                <c:ptCount val="4"/>
                <c:pt idx="0">
                  <c:v>LS</c:v>
                </c:pt>
                <c:pt idx="1">
                  <c:v>EN</c:v>
                </c:pt>
                <c:pt idx="2">
                  <c:v>FFN</c:v>
                </c:pt>
                <c:pt idx="3">
                  <c:v>GAN</c:v>
                </c:pt>
              </c:strCache>
            </c:strRef>
          </c:cat>
          <c:val>
            <c:numRef>
              <c:f>'Chart Data'!$B$2:$B$5</c:f>
              <c:numCache>
                <c:formatCode>0.000</c:formatCode>
                <c:ptCount val="4"/>
                <c:pt idx="0">
                  <c:v>0.42</c:v>
                </c:pt>
                <c:pt idx="1">
                  <c:v>0.5</c:v>
                </c:pt>
                <c:pt idx="2">
                  <c:v>0.44</c:v>
                </c:pt>
                <c:pt idx="3">
                  <c:v>0.75</c:v>
                </c:pt>
              </c:numCache>
            </c:numRef>
          </c:val>
        </c:ser>
        <c:ser>
          <c:idx val="1"/>
          <c:order val="1"/>
          <c:tx>
            <c:v>Code 07 replication</c:v>
          </c:tx>
          <c:spPr>
            <a:solidFill xmlns:a="http://schemas.openxmlformats.org/drawingml/2006/main">
              <a:srgbClr val="003262"/>
            </a:solidFill>
          </c:spPr>
          <c:cat>
            <c:strRef>
              <c:f>'Chart Data'!$C$2:$C$5</c:f>
              <c:strCache>
                <c:ptCount val="4"/>
                <c:pt idx="0">
                  <c:v>LS</c:v>
                </c:pt>
                <c:pt idx="1">
                  <c:v>EN</c:v>
                </c:pt>
                <c:pt idx="2">
                  <c:v>FFN</c:v>
                </c:pt>
                <c:pt idx="3">
                  <c:v>GAN</c:v>
                </c:pt>
              </c:strCache>
            </c:strRef>
          </c:cat>
          <c:val>
            <c:numRef>
              <c:f>'Chart Data'!$D$2:$D$5</c:f>
              <c:numCache>
                <c:formatCode>0.000</c:formatCode>
                <c:ptCount val="4"/>
                <c:pt idx="0">
                  <c:v>0.40639203</c:v>
                </c:pt>
                <c:pt idx="1">
                  <c:v>0.41150844</c:v>
                </c:pt>
                <c:pt idx="2">
                  <c:v>0.56952059</c:v>
                </c:pt>
                <c:pt idx="3">
                  <c:v>0.61188757</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Data'!$A$2:$A$4</c:f>
              <c:strCache>
                <c:ptCount val="3"/>
                <c:pt idx="0">
                  <c:v>Train</c:v>
                </c:pt>
                <c:pt idx="1">
                  <c:v>Validation</c:v>
                </c:pt>
                <c:pt idx="2">
                  <c:v>Test</c:v>
                </c:pt>
              </c:strCache>
            </c:strRef>
          </c:cat>
          <c:val>
            <c:numRef>
              <c:f>'Chart Data'!$B$2:$B$4</c:f>
              <c:numCache>
                <c:formatCode>0.000</c:formatCode>
                <c:ptCount val="3"/>
                <c:pt idx="0">
                  <c:v>2.68</c:v>
                </c:pt>
                <c:pt idx="1">
                  <c:v>1.43</c:v>
                </c:pt>
                <c:pt idx="2">
                  <c:v>0.75</c:v>
                </c:pt>
              </c:numCache>
            </c:numRef>
          </c:val>
        </c:ser>
        <c:ser>
          <c:idx val="1"/>
          <c:order val="1"/>
          <c:tx>
            <c:v>Replicated GAN</c:v>
          </c:tx>
          <c:spPr>
            <a:solidFill xmlns:a="http://schemas.openxmlformats.org/drawingml/2006/main">
              <a:srgbClr val="003262"/>
            </a:solidFill>
          </c:spPr>
          <c:cat>
            <c:strRef>
              <c:f>'Chart Data'!$C$2:$C$4</c:f>
              <c:strCache>
                <c:ptCount val="3"/>
                <c:pt idx="0">
                  <c:v>Train</c:v>
                </c:pt>
                <c:pt idx="1">
                  <c:v>Validation</c:v>
                </c:pt>
                <c:pt idx="2">
                  <c:v>Test</c:v>
                </c:pt>
              </c:strCache>
            </c:strRef>
          </c:cat>
          <c:val>
            <c:numRef>
              <c:f>'Chart Data'!$D$2:$D$4</c:f>
              <c:numCache>
                <c:formatCode>0.000</c:formatCode>
                <c:ptCount val="3"/>
                <c:pt idx="0">
                  <c:v>2.22351534</c:v>
                </c:pt>
                <c:pt idx="1">
                  <c:v>1.18540902</c:v>
                </c:pt>
                <c:pt idx="2">
                  <c:v>0.61188757</c:v>
                </c:pt>
              </c:numCache>
            </c:numRef>
          </c:val>
        </c:ser>
        <c:ser>
          <c:idx val="2"/>
          <c:order val="2"/>
          <c:tx>
            <c:v>Extension LSTM</c:v>
          </c:tx>
          <c:spPr>
            <a:solidFill xmlns:a="http://schemas.openxmlformats.org/drawingml/2006/main">
              <a:srgbClr val="2563EB"/>
            </a:solidFill>
          </c:spPr>
          <c:cat>
            <c:strRef>
              <c:f>'Chart Data'!$E$2:$E$4</c:f>
              <c:strCache>
                <c:ptCount val="3"/>
                <c:pt idx="0">
                  <c:v>Train</c:v>
                </c:pt>
                <c:pt idx="1">
                  <c:v>Validation</c:v>
                </c:pt>
                <c:pt idx="2">
                  <c:v>Test</c:v>
                </c:pt>
              </c:strCache>
            </c:strRef>
          </c:cat>
          <c:val>
            <c:numRef>
              <c:f>'Chart Data'!$F$2:$F$4</c:f>
              <c:numCache>
                <c:formatCode>0.000</c:formatCode>
                <c:ptCount val="3"/>
                <c:pt idx="0">
                  <c:v>1.30755655</c:v>
                </c:pt>
                <c:pt idx="1">
                  <c:v>0.75013562</c:v>
                </c:pt>
                <c:pt idx="2">
                  <c:v>0.45929328</c:v>
                </c:pt>
              </c:numCache>
            </c:numRef>
          </c:val>
        </c:ser>
        <c:ser>
          <c:idx val="3"/>
          <c:order val="3"/>
          <c:tx>
            <c:v>Transformer</c:v>
          </c:tx>
          <c:spPr>
            <a:solidFill xmlns:a="http://schemas.openxmlformats.org/drawingml/2006/main">
              <a:srgbClr val="B7790B"/>
            </a:solidFill>
          </c:spPr>
          <c:cat>
            <c:strRef>
              <c:f>'Chart Data'!$G$2:$G$4</c:f>
              <c:strCache>
                <c:ptCount val="3"/>
                <c:pt idx="0">
                  <c:v>Train</c:v>
                </c:pt>
                <c:pt idx="1">
                  <c:v>Validation</c:v>
                </c:pt>
                <c:pt idx="2">
                  <c:v>Test</c:v>
                </c:pt>
              </c:strCache>
            </c:strRef>
          </c:cat>
          <c:val>
            <c:numRef>
              <c:f>'Chart Data'!$H$2:$H$4</c:f>
              <c:numCache>
                <c:formatCode>0.000</c:formatCode>
                <c:ptCount val="3"/>
                <c:pt idx="0">
                  <c:v>1.04903636</c:v>
                </c:pt>
                <c:pt idx="1">
                  <c:v>0.58874548</c:v>
                </c:pt>
                <c:pt idx="2">
                  <c:v>0.3044769</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LSTM</c:v>
          </c:tx>
          <c:spPr>
            <a:solidFill xmlns:a="http://schemas.openxmlformats.org/drawingml/2006/main">
              <a:srgbClr val="2563EB"/>
            </a:solidFill>
          </c:spPr>
          <c:cat>
            <c:numRef>
              <c:f>'Chart Data'!$A$2:$A$10</c:f>
              <c:numCache>
                <c:formatCode>General</c:formatCode>
                <c:ptCount val="9"/>
                <c:pt idx="0">
                  <c:v>42</c:v>
                </c:pt>
                <c:pt idx="1">
                  <c:v>43</c:v>
                </c:pt>
                <c:pt idx="2">
                  <c:v>44</c:v>
                </c:pt>
                <c:pt idx="3">
                  <c:v>45</c:v>
                </c:pt>
                <c:pt idx="4">
                  <c:v>46</c:v>
                </c:pt>
                <c:pt idx="5">
                  <c:v>47</c:v>
                </c:pt>
                <c:pt idx="6">
                  <c:v>48</c:v>
                </c:pt>
                <c:pt idx="7">
                  <c:v>49</c:v>
                </c:pt>
                <c:pt idx="8">
                  <c:v>50</c:v>
                </c:pt>
              </c:numCache>
            </c:numRef>
          </c:cat>
          <c:val>
            <c:numRef>
              <c:f>'Chart Data'!$B$2:$B$10</c:f>
              <c:numCache>
                <c:formatCode>0.000</c:formatCode>
                <c:ptCount val="9"/>
                <c:pt idx="0">
                  <c:v>0.21084745</c:v>
                </c:pt>
                <c:pt idx="1">
                  <c:v>0.0446975</c:v>
                </c:pt>
                <c:pt idx="2">
                  <c:v>0.25841846</c:v>
                </c:pt>
                <c:pt idx="3">
                  <c:v>0.05875021</c:v>
                </c:pt>
                <c:pt idx="4">
                  <c:v>0.07713826</c:v>
                </c:pt>
                <c:pt idx="5">
                  <c:v>0.20549772</c:v>
                </c:pt>
                <c:pt idx="6">
                  <c:v>0.14048901</c:v>
                </c:pt>
                <c:pt idx="7">
                  <c:v>0.4116077</c:v>
                </c:pt>
                <c:pt idx="8">
                  <c:v>0.19885725</c:v>
                </c:pt>
              </c:numCache>
            </c:numRef>
          </c:val>
        </c:ser>
        <c:ser>
          <c:idx val="1"/>
          <c:order val="1"/>
          <c:tx>
            <c:v>Transformer</c:v>
          </c:tx>
          <c:spPr>
            <a:solidFill xmlns:a="http://schemas.openxmlformats.org/drawingml/2006/main">
              <a:srgbClr val="B7790B"/>
            </a:solidFill>
          </c:spPr>
          <c:invertIfNegative val="0"/>
          <c:cat>
            <c:numRef>
              <c:f>'Chart Data'!$C$2:$C$10</c:f>
              <c:numCache>
                <c:formatCode>General</c:formatCode>
                <c:ptCount val="9"/>
                <c:pt idx="0">
                  <c:v>42</c:v>
                </c:pt>
                <c:pt idx="1">
                  <c:v>43</c:v>
                </c:pt>
                <c:pt idx="2">
                  <c:v>44</c:v>
                </c:pt>
                <c:pt idx="3">
                  <c:v>45</c:v>
                </c:pt>
                <c:pt idx="4">
                  <c:v>46</c:v>
                </c:pt>
                <c:pt idx="5">
                  <c:v>47</c:v>
                </c:pt>
                <c:pt idx="6">
                  <c:v>48</c:v>
                </c:pt>
                <c:pt idx="7">
                  <c:v>49</c:v>
                </c:pt>
                <c:pt idx="8">
                  <c:v>50</c:v>
                </c:pt>
              </c:numCache>
            </c:numRef>
          </c:cat>
          <c:val>
            <c:numRef>
              <c:f>'Chart Data'!$D$2:$D$10</c:f>
              <c:numCache>
                <c:formatCode>0.000</c:formatCode>
                <c:ptCount val="9"/>
                <c:pt idx="0">
                  <c:v>0.26267458</c:v>
                </c:pt>
                <c:pt idx="1">
                  <c:v>0.03959994</c:v>
                </c:pt>
                <c:pt idx="2">
                  <c:v>0.35565899</c:v>
                </c:pt>
                <c:pt idx="3">
                  <c:v>0.02842386</c:v>
                </c:pt>
                <c:pt idx="4">
                  <c:v>0.07815787</c:v>
                </c:pt>
                <c:pt idx="5">
                  <c:v>0.11771104</c:v>
                </c:pt>
                <c:pt idx="6">
                  <c:v>0.14520252</c:v>
                </c:pt>
                <c:pt idx="7">
                  <c:v>0.29280523</c:v>
                </c:pt>
                <c:pt idx="8">
                  <c:v>-0.00583761</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8"/>
          <c:min val="-0.1"/>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Paper GAN</c:v>
          </c:tx>
          <c:spPr>
            <a:solidFill xmlns:a="http://schemas.openxmlformats.org/drawingml/2006/main">
              <a:srgbClr val="94A3B8"/>
            </a:solidFill>
            <a:ln xmlns:a="http://schemas.openxmlformats.org/drawingml/2006/main" w="20003">
              <a:solidFill>
                <a:srgbClr val="94A3B8"/>
              </a:solidFill>
            </a:ln>
          </c:spPr>
          <c:marker>
            <c:symbol val="none"/>
          </c:marker>
          <c:xVal>
            <c:numRef>
              <c:f>'Chart Data'!$A$2:$A$266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Data'!$B$2:$B$266</c:f>
              <c:numCache>
                <c:formatCode>0.000</c:formatCode>
                <c:ptCount val="265"/>
                <c:pt idx="0">
                  <c:v>4.3622389</c:v>
                </c:pt>
                <c:pt idx="1">
                  <c:v>4.77971264</c:v>
                </c:pt>
                <c:pt idx="2">
                  <c:v>5.8243755</c:v>
                </c:pt>
                <c:pt idx="3">
                  <c:v>5.95470623</c:v>
                </c:pt>
                <c:pt idx="4">
                  <c:v>5.88456279</c:v>
                </c:pt>
                <c:pt idx="5">
                  <c:v>5.86484575</c:v>
                </c:pt>
                <c:pt idx="6">
                  <c:v>5.97513852</c:v>
                </c:pt>
                <c:pt idx="7">
                  <c:v>5.97580107</c:v>
                </c:pt>
                <c:pt idx="8">
                  <c:v>5.95880261</c:v>
                </c:pt>
                <c:pt idx="9">
                  <c:v>5.98327742</c:v>
                </c:pt>
                <c:pt idx="10">
                  <c:v>6.15180326</c:v>
                </c:pt>
                <c:pt idx="11">
                  <c:v>6.1288098</c:v>
                </c:pt>
                <c:pt idx="12">
                  <c:v>6.13804984</c:v>
                </c:pt>
                <c:pt idx="13">
                  <c:v>6.20989281</c:v>
                </c:pt>
                <c:pt idx="14">
                  <c:v>6.13882422</c:v>
                </c:pt>
                <c:pt idx="15">
                  <c:v>5.71777152</c:v>
                </c:pt>
                <c:pt idx="16">
                  <c:v>5.33514108</c:v>
                </c:pt>
                <c:pt idx="17">
                  <c:v>5.79384395</c:v>
                </c:pt>
                <c:pt idx="18">
                  <c:v>5.77127487</c:v>
                </c:pt>
                <c:pt idx="19">
                  <c:v>5.78103975</c:v>
                </c:pt>
                <c:pt idx="20">
                  <c:v>5.8745457</c:v>
                </c:pt>
                <c:pt idx="21">
                  <c:v>5.80194483</c:v>
                </c:pt>
                <c:pt idx="22">
                  <c:v>6.10921564</c:v>
                </c:pt>
                <c:pt idx="23">
                  <c:v>7.10385881</c:v>
                </c:pt>
                <c:pt idx="24">
                  <c:v>7.15027416</c:v>
                </c:pt>
                <c:pt idx="25">
                  <c:v>7.25006679</c:v>
                </c:pt>
                <c:pt idx="26">
                  <c:v>7.74193605</c:v>
                </c:pt>
                <c:pt idx="27">
                  <c:v>7.91253047</c:v>
                </c:pt>
                <c:pt idx="28">
                  <c:v>7.92443853</c:v>
                </c:pt>
                <c:pt idx="29">
                  <c:v>8.18155322</c:v>
                </c:pt>
                <c:pt idx="30">
                  <c:v>7.93203614</c:v>
                </c:pt>
                <c:pt idx="31">
                  <c:v>7.85611824</c:v>
                </c:pt>
                <c:pt idx="32">
                  <c:v>7.35706594</c:v>
                </c:pt>
                <c:pt idx="33">
                  <c:v>7.40418685</c:v>
                </c:pt>
                <c:pt idx="34">
                  <c:v>7.44218056</c:v>
                </c:pt>
                <c:pt idx="35">
                  <c:v>7.74430337</c:v>
                </c:pt>
                <c:pt idx="36">
                  <c:v>8.11409423</c:v>
                </c:pt>
                <c:pt idx="37">
                  <c:v>8.01935931</c:v>
                </c:pt>
                <c:pt idx="38">
                  <c:v>7.96500238</c:v>
                </c:pt>
                <c:pt idx="39">
                  <c:v>7.94113894</c:v>
                </c:pt>
                <c:pt idx="40">
                  <c:v>7.83263005</c:v>
                </c:pt>
                <c:pt idx="41">
                  <c:v>7.99941199</c:v>
                </c:pt>
                <c:pt idx="42">
                  <c:v>7.88913849</c:v>
                </c:pt>
                <c:pt idx="43">
                  <c:v>7.56340778</c:v>
                </c:pt>
                <c:pt idx="44">
                  <c:v>7.39396014</c:v>
                </c:pt>
                <c:pt idx="45">
                  <c:v>7.26457236</c:v>
                </c:pt>
                <c:pt idx="46">
                  <c:v>7.32433658</c:v>
                </c:pt>
                <c:pt idx="47">
                  <c:v>7.06112971</c:v>
                </c:pt>
                <c:pt idx="48">
                  <c:v>7.06334183</c:v>
                </c:pt>
                <c:pt idx="49">
                  <c:v>6.93309876</c:v>
                </c:pt>
                <c:pt idx="50">
                  <c:v>6.94357739</c:v>
                </c:pt>
                <c:pt idx="51">
                  <c:v>6.74787717</c:v>
                </c:pt>
                <c:pt idx="52">
                  <c:v>6.60904593</c:v>
                </c:pt>
                <c:pt idx="53">
                  <c:v>6.58682722</c:v>
                </c:pt>
                <c:pt idx="54">
                  <c:v>6.60273956</c:v>
                </c:pt>
                <c:pt idx="55">
                  <c:v>6.5622518</c:v>
                </c:pt>
                <c:pt idx="56">
                  <c:v>6.56176396</c:v>
                </c:pt>
                <c:pt idx="57">
                  <c:v>6.4886676</c:v>
                </c:pt>
                <c:pt idx="58">
                  <c:v>6.3329984</c:v>
                </c:pt>
                <c:pt idx="59">
                  <c:v>6.29847613</c:v>
                </c:pt>
                <c:pt idx="60">
                  <c:v>6.26345187</c:v>
                </c:pt>
                <c:pt idx="61">
                  <c:v>5.76821258</c:v>
                </c:pt>
                <c:pt idx="62">
                  <c:v>5.55221682</c:v>
                </c:pt>
                <c:pt idx="63">
                  <c:v>5.55794448</c:v>
                </c:pt>
                <c:pt idx="64">
                  <c:v>5.14928291</c:v>
                </c:pt>
                <c:pt idx="65">
                  <c:v>4.91092318</c:v>
                </c:pt>
                <c:pt idx="66">
                  <c:v>4.87499813</c:v>
                </c:pt>
                <c:pt idx="67">
                  <c:v>4.97445615</c:v>
                </c:pt>
                <c:pt idx="68">
                  <c:v>5.22200447</c:v>
                </c:pt>
                <c:pt idx="69">
                  <c:v>5.30084273</c:v>
                </c:pt>
                <c:pt idx="70">
                  <c:v>5.26482008</c:v>
                </c:pt>
                <c:pt idx="71">
                  <c:v>5.18075821</c:v>
                </c:pt>
                <c:pt idx="72">
                  <c:v>5.16855782</c:v>
                </c:pt>
                <c:pt idx="73">
                  <c:v>5.06970733</c:v>
                </c:pt>
                <c:pt idx="74">
                  <c:v>4.55603799</c:v>
                </c:pt>
                <c:pt idx="75">
                  <c:v>4.36787634</c:v>
                </c:pt>
                <c:pt idx="76">
                  <c:v>4.45557848</c:v>
                </c:pt>
                <c:pt idx="77">
                  <c:v>4.46097755</c:v>
                </c:pt>
                <c:pt idx="78">
                  <c:v>4.38159643</c:v>
                </c:pt>
                <c:pt idx="79">
                  <c:v>4.54114791</c:v>
                </c:pt>
                <c:pt idx="80">
                  <c:v>4.60647579</c:v>
                </c:pt>
                <c:pt idx="81">
                  <c:v>4.58007508</c:v>
                </c:pt>
                <c:pt idx="82">
                  <c:v>4.55464727</c:v>
                </c:pt>
                <c:pt idx="83">
                  <c:v>4.28125724</c:v>
                </c:pt>
                <c:pt idx="84">
                  <c:v>4.24738127</c:v>
                </c:pt>
                <c:pt idx="85">
                  <c:v>4.2433366</c:v>
                </c:pt>
                <c:pt idx="86">
                  <c:v>4.34672743</c:v>
                </c:pt>
                <c:pt idx="87">
                  <c:v>4.38873671</c:v>
                </c:pt>
                <c:pt idx="88">
                  <c:v>4.72762498</c:v>
                </c:pt>
                <c:pt idx="89">
                  <c:v>4.86511518</c:v>
                </c:pt>
                <c:pt idx="90">
                  <c:v>4.8757076</c:v>
                </c:pt>
                <c:pt idx="91">
                  <c:v>4.68222445</c:v>
                </c:pt>
                <c:pt idx="92">
                  <c:v>4.67565604</c:v>
                </c:pt>
                <c:pt idx="93">
                  <c:v>4.8295139</c:v>
                </c:pt>
                <c:pt idx="94">
                  <c:v>4.6899498</c:v>
                </c:pt>
                <c:pt idx="95">
                  <c:v>3.37639638</c:v>
                </c:pt>
                <c:pt idx="96">
                  <c:v>3.36287365</c:v>
                </c:pt>
                <c:pt idx="97">
                  <c:v>3.31063405</c:v>
                </c:pt>
                <c:pt idx="98">
                  <c:v>3.2761283</c:v>
                </c:pt>
                <c:pt idx="99">
                  <c:v>3.13135372</c:v>
                </c:pt>
                <c:pt idx="100">
                  <c:v>2.94158669</c:v>
                </c:pt>
                <c:pt idx="101">
                  <c:v>2.83077717</c:v>
                </c:pt>
                <c:pt idx="102">
                  <c:v>2.64612275</c:v>
                </c:pt>
                <c:pt idx="103">
                  <c:v>2.42027557</c:v>
                </c:pt>
                <c:pt idx="104">
                  <c:v>2.30046639</c:v>
                </c:pt>
                <c:pt idx="105">
                  <c:v>2.31556932</c:v>
                </c:pt>
                <c:pt idx="106">
                  <c:v>2.28495612</c:v>
                </c:pt>
                <c:pt idx="107">
                  <c:v>2.17287948</c:v>
                </c:pt>
                <c:pt idx="108">
                  <c:v>2.12821204</c:v>
                </c:pt>
                <c:pt idx="109">
                  <c:v>2.14682087</c:v>
                </c:pt>
                <c:pt idx="110">
                  <c:v>2.04005475</c:v>
                </c:pt>
                <c:pt idx="111">
                  <c:v>2.04403907</c:v>
                </c:pt>
                <c:pt idx="112">
                  <c:v>1.97916592</c:v>
                </c:pt>
                <c:pt idx="113">
                  <c:v>1.9196421</c:v>
                </c:pt>
                <c:pt idx="114">
                  <c:v>1.94995215</c:v>
                </c:pt>
                <c:pt idx="115">
                  <c:v>1.89886035</c:v>
                </c:pt>
                <c:pt idx="116">
                  <c:v>1.87929664</c:v>
                </c:pt>
                <c:pt idx="117">
                  <c:v>1.88865138</c:v>
                </c:pt>
                <c:pt idx="118">
                  <c:v>1.85093334</c:v>
                </c:pt>
                <c:pt idx="119">
                  <c:v>1.92130467</c:v>
                </c:pt>
                <c:pt idx="120">
                  <c:v>1.87819215</c:v>
                </c:pt>
                <c:pt idx="121">
                  <c:v>1.8526888</c:v>
                </c:pt>
                <c:pt idx="122">
                  <c:v>1.75961296</c:v>
                </c:pt>
                <c:pt idx="123">
                  <c:v>1.80992048</c:v>
                </c:pt>
                <c:pt idx="124">
                  <c:v>1.77035645</c:v>
                </c:pt>
                <c:pt idx="125">
                  <c:v>1.74786481</c:v>
                </c:pt>
                <c:pt idx="126">
                  <c:v>1.68331424</c:v>
                </c:pt>
                <c:pt idx="127">
                  <c:v>1.55324004</c:v>
                </c:pt>
                <c:pt idx="128">
                  <c:v>1.53167065</c:v>
                </c:pt>
                <c:pt idx="129">
                  <c:v>1.39273649</c:v>
                </c:pt>
                <c:pt idx="130">
                  <c:v>1.35585141</c:v>
                </c:pt>
                <c:pt idx="131">
                  <c:v>2.04709835</c:v>
                </c:pt>
                <c:pt idx="132">
                  <c:v>2.27460302</c:v>
                </c:pt>
                <c:pt idx="133">
                  <c:v>2.18901182</c:v>
                </c:pt>
                <c:pt idx="134">
                  <c:v>2.26755126</c:v>
                </c:pt>
                <c:pt idx="135">
                  <c:v>2.33361596</c:v>
                </c:pt>
                <c:pt idx="136">
                  <c:v>2.83783135</c:v>
                </c:pt>
                <c:pt idx="137">
                  <c:v>3.16296877</c:v>
                </c:pt>
                <c:pt idx="138">
                  <c:v>3.40025561</c:v>
                </c:pt>
                <c:pt idx="139">
                  <c:v>4.07391738</c:v>
                </c:pt>
                <c:pt idx="140">
                  <c:v>4.3184875</c:v>
                </c:pt>
                <c:pt idx="141">
                  <c:v>4.3475019</c:v>
                </c:pt>
                <c:pt idx="142">
                  <c:v>4.34059909</c:v>
                </c:pt>
                <c:pt idx="143">
                  <c:v>4.99829334</c:v>
                </c:pt>
                <c:pt idx="144">
                  <c:v>4.97796277</c:v>
                </c:pt>
                <c:pt idx="145">
                  <c:v>4.62409456</c:v>
                </c:pt>
                <c:pt idx="146">
                  <c:v>4.5620639</c:v>
                </c:pt>
                <c:pt idx="147">
                  <c:v>4.68624648</c:v>
                </c:pt>
                <c:pt idx="148">
                  <c:v>4.74836784</c:v>
                </c:pt>
                <c:pt idx="149">
                  <c:v>4.60487923</c:v>
                </c:pt>
                <c:pt idx="150">
                  <c:v>4.44474566</c:v>
                </c:pt>
                <c:pt idx="151">
                  <c:v>3.70845236</c:v>
                </c:pt>
                <c:pt idx="152">
                  <c:v>3.61628539</c:v>
                </c:pt>
                <c:pt idx="153">
                  <c:v>3.67962876</c:v>
                </c:pt>
                <c:pt idx="154">
                  <c:v>3.73022023</c:v>
                </c:pt>
                <c:pt idx="155">
                  <c:v>3.66908011</c:v>
                </c:pt>
                <c:pt idx="156">
                  <c:v>3.68655151</c:v>
                </c:pt>
                <c:pt idx="157">
                  <c:v>3.82547513</c:v>
                </c:pt>
                <c:pt idx="158">
                  <c:v>3.57853598</c:v>
                </c:pt>
                <c:pt idx="159">
                  <c:v>3.54811609</c:v>
                </c:pt>
                <c:pt idx="160">
                  <c:v>3.56364808</c:v>
                </c:pt>
                <c:pt idx="161">
                  <c:v>3.15017809</c:v>
                </c:pt>
                <c:pt idx="162">
                  <c:v>2.3477998</c:v>
                </c:pt>
                <c:pt idx="163">
                  <c:v>2.36955755</c:v>
                </c:pt>
                <c:pt idx="164">
                  <c:v>2.20385503</c:v>
                </c:pt>
                <c:pt idx="165">
                  <c:v>2.23140439</c:v>
                </c:pt>
                <c:pt idx="166">
                  <c:v>2.17402785</c:v>
                </c:pt>
                <c:pt idx="167">
                  <c:v>2.21432792</c:v>
                </c:pt>
                <c:pt idx="168">
                  <c:v>2.27578311</c:v>
                </c:pt>
                <c:pt idx="169">
                  <c:v>2.36866794</c:v>
                </c:pt>
                <c:pt idx="170">
                  <c:v>1.93893554</c:v>
                </c:pt>
                <c:pt idx="171">
                  <c:v>1.92510278</c:v>
                </c:pt>
                <c:pt idx="172">
                  <c:v>0.80886574</c:v>
                </c:pt>
                <c:pt idx="173">
                  <c:v>0.82189621</c:v>
                </c:pt>
                <c:pt idx="174">
                  <c:v>0.90726286</c:v>
                </c:pt>
                <c:pt idx="175">
                  <c:v>0.88889424</c:v>
                </c:pt>
                <c:pt idx="176">
                  <c:v>0.72332257</c:v>
                </c:pt>
                <c:pt idx="177">
                  <c:v>0.69125938</c:v>
                </c:pt>
                <c:pt idx="178">
                  <c:v>0.67697957</c:v>
                </c:pt>
                <c:pt idx="179">
                  <c:v>0.65461306</c:v>
                </c:pt>
                <c:pt idx="180">
                  <c:v>0.55359989</c:v>
                </c:pt>
                <c:pt idx="181">
                  <c:v>0.62525257</c:v>
                </c:pt>
                <c:pt idx="182">
                  <c:v>0.60996877</c:v>
                </c:pt>
                <c:pt idx="183">
                  <c:v>0.5994906</c:v>
                </c:pt>
                <c:pt idx="184">
                  <c:v>0.50778195</c:v>
                </c:pt>
                <c:pt idx="185">
                  <c:v>0.45052111</c:v>
                </c:pt>
                <c:pt idx="186">
                  <c:v>0.43980559</c:v>
                </c:pt>
                <c:pt idx="187">
                  <c:v>0.5423186</c:v>
                </c:pt>
                <c:pt idx="188">
                  <c:v>0.51891423</c:v>
                </c:pt>
                <c:pt idx="189">
                  <c:v>0.58748566</c:v>
                </c:pt>
                <c:pt idx="190">
                  <c:v>0.60543013</c:v>
                </c:pt>
                <c:pt idx="191">
                  <c:v>0.59062339</c:v>
                </c:pt>
                <c:pt idx="192">
                  <c:v>0.5939499</c:v>
                </c:pt>
                <c:pt idx="193">
                  <c:v>0.56224649</c:v>
                </c:pt>
                <c:pt idx="194">
                  <c:v>0.44846524</c:v>
                </c:pt>
                <c:pt idx="195">
                  <c:v>0.44123779</c:v>
                </c:pt>
                <c:pt idx="196">
                  <c:v>0.37767858</c:v>
                </c:pt>
                <c:pt idx="197">
                  <c:v>0.43791324</c:v>
                </c:pt>
                <c:pt idx="198">
                  <c:v>0.55356585</c:v>
                </c:pt>
                <c:pt idx="199">
                  <c:v>0.39999308</c:v>
                </c:pt>
                <c:pt idx="200">
                  <c:v>0.48964686</c:v>
                </c:pt>
                <c:pt idx="201">
                  <c:v>0.50033696</c:v>
                </c:pt>
                <c:pt idx="202">
                  <c:v>0.65211109</c:v>
                </c:pt>
                <c:pt idx="203">
                  <c:v>0.63785916</c:v>
                </c:pt>
                <c:pt idx="204">
                  <c:v>0.54210397</c:v>
                </c:pt>
                <c:pt idx="205">
                  <c:v>0.46589502</c:v>
                </c:pt>
                <c:pt idx="206">
                  <c:v>0.66293322</c:v>
                </c:pt>
                <c:pt idx="207">
                  <c:v>0.7174139</c:v>
                </c:pt>
                <c:pt idx="208">
                  <c:v>2.12915175</c:v>
                </c:pt>
                <c:pt idx="209">
                  <c:v>2.13075389</c:v>
                </c:pt>
                <c:pt idx="210">
                  <c:v>2.08953097</c:v>
                </c:pt>
                <c:pt idx="211">
                  <c:v>2.10758766</c:v>
                </c:pt>
                <c:pt idx="212">
                  <c:v>2.42132404</c:v>
                </c:pt>
                <c:pt idx="213">
                  <c:v>2.5212514</c:v>
                </c:pt>
                <c:pt idx="214">
                  <c:v>2.62477944</c:v>
                </c:pt>
                <c:pt idx="215">
                  <c:v>2.73447281</c:v>
                </c:pt>
                <c:pt idx="216">
                  <c:v>2.7819155</c:v>
                </c:pt>
                <c:pt idx="217">
                  <c:v>2.79036206</c:v>
                </c:pt>
                <c:pt idx="218">
                  <c:v>2.93812735</c:v>
                </c:pt>
                <c:pt idx="219">
                  <c:v>2.92857526</c:v>
                </c:pt>
                <c:pt idx="220">
                  <c:v>3.39599794</c:v>
                </c:pt>
                <c:pt idx="221">
                  <c:v>3.69725693</c:v>
                </c:pt>
                <c:pt idx="222">
                  <c:v>3.66027317</c:v>
                </c:pt>
                <c:pt idx="223">
                  <c:v>3.68232585</c:v>
                </c:pt>
                <c:pt idx="224">
                  <c:v>3.77233429</c:v>
                </c:pt>
                <c:pt idx="225">
                  <c:v>3.79629909</c:v>
                </c:pt>
                <c:pt idx="226">
                  <c:v>3.78971808</c:v>
                </c:pt>
                <c:pt idx="227">
                  <c:v>3.90867177</c:v>
                </c:pt>
                <c:pt idx="228">
                  <c:v>3.8593251</c:v>
                </c:pt>
                <c:pt idx="229">
                  <c:v>3.80005241</c:v>
                </c:pt>
                <c:pt idx="230">
                  <c:v>3.73185733</c:v>
                </c:pt>
                <c:pt idx="231">
                  <c:v>3.84520345</c:v>
                </c:pt>
                <c:pt idx="232">
                  <c:v>3.40946097</c:v>
                </c:pt>
                <c:pt idx="233">
                  <c:v>3.3449948</c:v>
                </c:pt>
                <c:pt idx="234">
                  <c:v>3.2622079</c:v>
                </c:pt>
                <c:pt idx="235">
                  <c:v>3.42358572</c:v>
                </c:pt>
                <c:pt idx="236">
                  <c:v>3.24669967</c:v>
                </c:pt>
                <c:pt idx="237">
                  <c:v>2.99494996</c:v>
                </c:pt>
                <c:pt idx="238">
                  <c:v>3.16127772</c:v>
                </c:pt>
                <c:pt idx="239">
                  <c:v>3.13994746</c:v>
                </c:pt>
                <c:pt idx="240">
                  <c:v>2.41745093</c:v>
                </c:pt>
                <c:pt idx="241">
                  <c:v>2.43059108</c:v>
                </c:pt>
                <c:pt idx="242">
                  <c:v>2.43652271</c:v>
                </c:pt>
                <c:pt idx="243">
                  <c:v>2.41972285</c:v>
                </c:pt>
                <c:pt idx="244">
                  <c:v>2.37886508</c:v>
                </c:pt>
                <c:pt idx="245">
                  <c:v>2.37059345</c:v>
                </c:pt>
                <c:pt idx="246">
                  <c:v>2.25307843</c:v>
                </c:pt>
                <c:pt idx="247">
                  <c:v>2.20984432</c:v>
                </c:pt>
                <c:pt idx="248">
                  <c:v>2.24277672</c:v>
                </c:pt>
                <c:pt idx="249">
                  <c:v>2.3037351</c:v>
                </c:pt>
                <c:pt idx="250">
                  <c:v>2.3212478</c:v>
                </c:pt>
                <c:pt idx="251">
                  <c:v>2.31549726</c:v>
                </c:pt>
                <c:pt idx="252">
                  <c:v>2.46764567</c:v>
                </c:pt>
                <c:pt idx="253">
                  <c:v>2.47023757</c:v>
                </c:pt>
                <c:pt idx="254">
                  <c:v>2.3092302</c:v>
                </c:pt>
                <c:pt idx="255">
                  <c:v>2.14499938</c:v>
                </c:pt>
                <c:pt idx="256">
                  <c:v>1.60743068</c:v>
                </c:pt>
                <c:pt idx="257">
                  <c:v>1.73403733</c:v>
                </c:pt>
                <c:pt idx="258">
                  <c:v>1.82058716</c:v>
                </c:pt>
                <c:pt idx="259">
                  <c:v>1.68675522</c:v>
                </c:pt>
                <c:pt idx="260">
                  <c:v>1.60790071</c:v>
                </c:pt>
                <c:pt idx="261">
                  <c:v>1.5958477</c:v>
                </c:pt>
                <c:pt idx="262">
                  <c:v>1.52249054</c:v>
                </c:pt>
                <c:pt idx="263">
                  <c:v>1.4457142</c:v>
                </c:pt>
                <c:pt idx="264">
                  <c:v>1.39765761</c:v>
                </c:pt>
              </c:numCache>
            </c:numRef>
          </c:yVal>
        </c:ser>
        <c:ser>
          <c:idx val="1"/>
          <c:order val="1"/>
          <c:tx>
            <c:v>Replicated GAN</c:v>
          </c:tx>
          <c:spPr>
            <a:solidFill xmlns:a="http://schemas.openxmlformats.org/drawingml/2006/main">
              <a:srgbClr val="003262"/>
            </a:solidFill>
            <a:ln xmlns:a="http://schemas.openxmlformats.org/drawingml/2006/main" w="20003">
              <a:solidFill>
                <a:srgbClr val="003262"/>
              </a:solidFill>
            </a:ln>
          </c:spPr>
          <c:marker>
            <c:symbol val="none"/>
          </c:marker>
          <c:xVal>
            <c:numRef>
              <c:f>'Chart Data'!$C$2:$C$266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Data'!$D$2:$D$266</c:f>
              <c:numCache>
                <c:formatCode>0.000</c:formatCode>
                <c:ptCount val="265"/>
                <c:pt idx="0">
                  <c:v>4.35771524</c:v>
                </c:pt>
                <c:pt idx="1">
                  <c:v>4.73571406</c:v>
                </c:pt>
                <c:pt idx="2">
                  <c:v>5.28731228</c:v>
                </c:pt>
                <c:pt idx="3">
                  <c:v>5.30956763</c:v>
                </c:pt>
                <c:pt idx="4">
                  <c:v>5.3558775</c:v>
                </c:pt>
                <c:pt idx="5">
                  <c:v>5.25664504</c:v>
                </c:pt>
                <c:pt idx="6">
                  <c:v>5.34332183</c:v>
                </c:pt>
                <c:pt idx="7">
                  <c:v>5.20960636</c:v>
                </c:pt>
                <c:pt idx="8">
                  <c:v>5.16620153</c:v>
                </c:pt>
                <c:pt idx="9">
                  <c:v>5.17611227</c:v>
                </c:pt>
                <c:pt idx="10">
                  <c:v>5.34710643</c:v>
                </c:pt>
                <c:pt idx="11">
                  <c:v>5.38377255</c:v>
                </c:pt>
                <c:pt idx="12">
                  <c:v>5.41034167</c:v>
                </c:pt>
                <c:pt idx="13">
                  <c:v>5.77722431</c:v>
                </c:pt>
                <c:pt idx="14">
                  <c:v>5.70614181</c:v>
                </c:pt>
                <c:pt idx="15">
                  <c:v>5.76194481</c:v>
                </c:pt>
                <c:pt idx="16">
                  <c:v>5.40963829</c:v>
                </c:pt>
                <c:pt idx="17">
                  <c:v>5.58896543</c:v>
                </c:pt>
                <c:pt idx="18">
                  <c:v>5.57373526</c:v>
                </c:pt>
                <c:pt idx="19">
                  <c:v>5.57862533</c:v>
                </c:pt>
                <c:pt idx="20">
                  <c:v>5.55278329</c:v>
                </c:pt>
                <c:pt idx="21">
                  <c:v>5.44990387</c:v>
                </c:pt>
                <c:pt idx="22">
                  <c:v>5.67969619</c:v>
                </c:pt>
                <c:pt idx="23">
                  <c:v>6.08305242</c:v>
                </c:pt>
                <c:pt idx="24">
                  <c:v>6.23295874</c:v>
                </c:pt>
                <c:pt idx="25">
                  <c:v>6.08651579</c:v>
                </c:pt>
                <c:pt idx="26">
                  <c:v>6.69779815</c:v>
                </c:pt>
                <c:pt idx="27">
                  <c:v>6.88678567</c:v>
                </c:pt>
                <c:pt idx="28">
                  <c:v>6.89781986</c:v>
                </c:pt>
                <c:pt idx="29">
                  <c:v>7.22008243</c:v>
                </c:pt>
                <c:pt idx="30">
                  <c:v>7.1434033</c:v>
                </c:pt>
                <c:pt idx="31">
                  <c:v>7.26464961</c:v>
                </c:pt>
                <c:pt idx="32">
                  <c:v>6.89354325</c:v>
                </c:pt>
                <c:pt idx="33">
                  <c:v>6.96879909</c:v>
                </c:pt>
                <c:pt idx="34">
                  <c:v>6.92695897</c:v>
                </c:pt>
                <c:pt idx="35">
                  <c:v>7.07944728</c:v>
                </c:pt>
                <c:pt idx="36">
                  <c:v>7.35294703</c:v>
                </c:pt>
                <c:pt idx="37">
                  <c:v>7.35047429</c:v>
                </c:pt>
                <c:pt idx="38">
                  <c:v>7.33989944</c:v>
                </c:pt>
                <c:pt idx="39">
                  <c:v>7.35881006</c:v>
                </c:pt>
                <c:pt idx="40">
                  <c:v>7.0519877</c:v>
                </c:pt>
                <c:pt idx="41">
                  <c:v>7.21673559</c:v>
                </c:pt>
                <c:pt idx="42">
                  <c:v>7.40709554</c:v>
                </c:pt>
                <c:pt idx="43">
                  <c:v>7.57868636</c:v>
                </c:pt>
                <c:pt idx="44">
                  <c:v>7.64936827</c:v>
                </c:pt>
                <c:pt idx="45">
                  <c:v>7.5873724</c:v>
                </c:pt>
                <c:pt idx="46">
                  <c:v>7.54879875</c:v>
                </c:pt>
                <c:pt idx="47">
                  <c:v>7.35713973</c:v>
                </c:pt>
                <c:pt idx="48">
                  <c:v>7.29691544</c:v>
                </c:pt>
                <c:pt idx="49">
                  <c:v>7.22934427</c:v>
                </c:pt>
                <c:pt idx="50">
                  <c:v>7.35832538</c:v>
                </c:pt>
                <c:pt idx="51">
                  <c:v>6.01325745</c:v>
                </c:pt>
                <c:pt idx="52">
                  <c:v>5.05297595</c:v>
                </c:pt>
                <c:pt idx="53">
                  <c:v>5.20560997</c:v>
                </c:pt>
                <c:pt idx="54">
                  <c:v>5.244057</c:v>
                </c:pt>
                <c:pt idx="55">
                  <c:v>5.2461493</c:v>
                </c:pt>
                <c:pt idx="56">
                  <c:v>5.09201122</c:v>
                </c:pt>
                <c:pt idx="57">
                  <c:v>5.03233495</c:v>
                </c:pt>
                <c:pt idx="58">
                  <c:v>5.01533124</c:v>
                </c:pt>
                <c:pt idx="59">
                  <c:v>5.16957517</c:v>
                </c:pt>
                <c:pt idx="60">
                  <c:v>4.39211982</c:v>
                </c:pt>
                <c:pt idx="61">
                  <c:v>4.37974183</c:v>
                </c:pt>
                <c:pt idx="62">
                  <c:v>2.29176415</c:v>
                </c:pt>
                <c:pt idx="63">
                  <c:v>2.30890098</c:v>
                </c:pt>
                <c:pt idx="64">
                  <c:v>2.30282231</c:v>
                </c:pt>
                <c:pt idx="65">
                  <c:v>2.20593314</c:v>
                </c:pt>
                <c:pt idx="66">
                  <c:v>2.23218721</c:v>
                </c:pt>
                <c:pt idx="67">
                  <c:v>2.25892021</c:v>
                </c:pt>
                <c:pt idx="68">
                  <c:v>2.33512605</c:v>
                </c:pt>
                <c:pt idx="69">
                  <c:v>2.38576804</c:v>
                </c:pt>
                <c:pt idx="70">
                  <c:v>2.38762084</c:v>
                </c:pt>
                <c:pt idx="71">
                  <c:v>2.38656336</c:v>
                </c:pt>
                <c:pt idx="72">
                  <c:v>2.37642521</c:v>
                </c:pt>
                <c:pt idx="73">
                  <c:v>2.35324208</c:v>
                </c:pt>
                <c:pt idx="74">
                  <c:v>2.30528223</c:v>
                </c:pt>
                <c:pt idx="75">
                  <c:v>2.31854475</c:v>
                </c:pt>
                <c:pt idx="76">
                  <c:v>2.36485265</c:v>
                </c:pt>
                <c:pt idx="77">
                  <c:v>2.3605959</c:v>
                </c:pt>
                <c:pt idx="78">
                  <c:v>2.31992907</c:v>
                </c:pt>
                <c:pt idx="79">
                  <c:v>2.38455992</c:v>
                </c:pt>
                <c:pt idx="80">
                  <c:v>2.37987592</c:v>
                </c:pt>
                <c:pt idx="81">
                  <c:v>2.3829419</c:v>
                </c:pt>
                <c:pt idx="82">
                  <c:v>2.33652237</c:v>
                </c:pt>
                <c:pt idx="83">
                  <c:v>2.08906465</c:v>
                </c:pt>
                <c:pt idx="84">
                  <c:v>2.04407067</c:v>
                </c:pt>
                <c:pt idx="85">
                  <c:v>2.11189335</c:v>
                </c:pt>
                <c:pt idx="86">
                  <c:v>2.15565496</c:v>
                </c:pt>
                <c:pt idx="87">
                  <c:v>2.32618889</c:v>
                </c:pt>
                <c:pt idx="88">
                  <c:v>2.60294185</c:v>
                </c:pt>
                <c:pt idx="89">
                  <c:v>2.65160779</c:v>
                </c:pt>
                <c:pt idx="90">
                  <c:v>2.6691663</c:v>
                </c:pt>
                <c:pt idx="91">
                  <c:v>2.72529545</c:v>
                </c:pt>
                <c:pt idx="92">
                  <c:v>2.79881537</c:v>
                </c:pt>
                <c:pt idx="93">
                  <c:v>2.90578234</c:v>
                </c:pt>
                <c:pt idx="94">
                  <c:v>2.81582337</c:v>
                </c:pt>
                <c:pt idx="95">
                  <c:v>2.29690651</c:v>
                </c:pt>
                <c:pt idx="96">
                  <c:v>2.52032823</c:v>
                </c:pt>
                <c:pt idx="97">
                  <c:v>2.42936803</c:v>
                </c:pt>
                <c:pt idx="98">
                  <c:v>3.11196213</c:v>
                </c:pt>
                <c:pt idx="99">
                  <c:v>2.94355865</c:v>
                </c:pt>
                <c:pt idx="100">
                  <c:v>2.73102346</c:v>
                </c:pt>
                <c:pt idx="101">
                  <c:v>2.3484632</c:v>
                </c:pt>
                <c:pt idx="102">
                  <c:v>2.18753979</c:v>
                </c:pt>
                <c:pt idx="103">
                  <c:v>2.02172472</c:v>
                </c:pt>
                <c:pt idx="104">
                  <c:v>1.96868264</c:v>
                </c:pt>
                <c:pt idx="105">
                  <c:v>1.96756149</c:v>
                </c:pt>
                <c:pt idx="106">
                  <c:v>1.94862026</c:v>
                </c:pt>
                <c:pt idx="107">
                  <c:v>1.8826364</c:v>
                </c:pt>
                <c:pt idx="108">
                  <c:v>1.87859563</c:v>
                </c:pt>
                <c:pt idx="109">
                  <c:v>1.88557082</c:v>
                </c:pt>
                <c:pt idx="110">
                  <c:v>1.79591917</c:v>
                </c:pt>
                <c:pt idx="111">
                  <c:v>1.72748291</c:v>
                </c:pt>
                <c:pt idx="112">
                  <c:v>1.66634497</c:v>
                </c:pt>
                <c:pt idx="113">
                  <c:v>1.61797951</c:v>
                </c:pt>
                <c:pt idx="114">
                  <c:v>1.67434069</c:v>
                </c:pt>
                <c:pt idx="115">
                  <c:v>1.60424494</c:v>
                </c:pt>
                <c:pt idx="116">
                  <c:v>1.54237126</c:v>
                </c:pt>
                <c:pt idx="117">
                  <c:v>1.55487988</c:v>
                </c:pt>
                <c:pt idx="118">
                  <c:v>1.54650066</c:v>
                </c:pt>
                <c:pt idx="119">
                  <c:v>1.76363516</c:v>
                </c:pt>
                <c:pt idx="120">
                  <c:v>1.75833207</c:v>
                </c:pt>
                <c:pt idx="121">
                  <c:v>1.74898656</c:v>
                </c:pt>
                <c:pt idx="122">
                  <c:v>1.69322104</c:v>
                </c:pt>
                <c:pt idx="123">
                  <c:v>1.64170761</c:v>
                </c:pt>
                <c:pt idx="124">
                  <c:v>1.47013764</c:v>
                </c:pt>
                <c:pt idx="125">
                  <c:v>1.4391042</c:v>
                </c:pt>
                <c:pt idx="126">
                  <c:v>1.3820806</c:v>
                </c:pt>
                <c:pt idx="127">
                  <c:v>1.17596048</c:v>
                </c:pt>
                <c:pt idx="128">
                  <c:v>1.12739318</c:v>
                </c:pt>
                <c:pt idx="129">
                  <c:v>1.0047989</c:v>
                </c:pt>
                <c:pt idx="130">
                  <c:v>1.00678067</c:v>
                </c:pt>
                <c:pt idx="131">
                  <c:v>1.47599821</c:v>
                </c:pt>
                <c:pt idx="132">
                  <c:v>1.41424931</c:v>
                </c:pt>
                <c:pt idx="133">
                  <c:v>1.44982354</c:v>
                </c:pt>
                <c:pt idx="134">
                  <c:v>1.54796855</c:v>
                </c:pt>
                <c:pt idx="135">
                  <c:v>1.59537218</c:v>
                </c:pt>
                <c:pt idx="136">
                  <c:v>1.84257811</c:v>
                </c:pt>
                <c:pt idx="137">
                  <c:v>3.03309187</c:v>
                </c:pt>
                <c:pt idx="138">
                  <c:v>3.21172203</c:v>
                </c:pt>
                <c:pt idx="139">
                  <c:v>3.63759713</c:v>
                </c:pt>
                <c:pt idx="140">
                  <c:v>3.68088627</c:v>
                </c:pt>
                <c:pt idx="141">
                  <c:v>3.65512312</c:v>
                </c:pt>
                <c:pt idx="142">
                  <c:v>3.66638214</c:v>
                </c:pt>
                <c:pt idx="143">
                  <c:v>3.50229378</c:v>
                </c:pt>
                <c:pt idx="144">
                  <c:v>3.53874226</c:v>
                </c:pt>
                <c:pt idx="145">
                  <c:v>3.36460666</c:v>
                </c:pt>
                <c:pt idx="146">
                  <c:v>3.30179906</c:v>
                </c:pt>
                <c:pt idx="147">
                  <c:v>3.40496586</c:v>
                </c:pt>
                <c:pt idx="148">
                  <c:v>3.47906408</c:v>
                </c:pt>
                <c:pt idx="149">
                  <c:v>3.40730425</c:v>
                </c:pt>
                <c:pt idx="150">
                  <c:v>3.2746444</c:v>
                </c:pt>
                <c:pt idx="151">
                  <c:v>2.93379305</c:v>
                </c:pt>
                <c:pt idx="152">
                  <c:v>2.92430628</c:v>
                </c:pt>
                <c:pt idx="153">
                  <c:v>2.88760891</c:v>
                </c:pt>
                <c:pt idx="154">
                  <c:v>2.90991585</c:v>
                </c:pt>
                <c:pt idx="155">
                  <c:v>2.56736296</c:v>
                </c:pt>
                <c:pt idx="156">
                  <c:v>2.68225853</c:v>
                </c:pt>
                <c:pt idx="157">
                  <c:v>2.77968192</c:v>
                </c:pt>
                <c:pt idx="158">
                  <c:v>2.60471756</c:v>
                </c:pt>
                <c:pt idx="159">
                  <c:v>2.66536305</c:v>
                </c:pt>
                <c:pt idx="160">
                  <c:v>2.98337943</c:v>
                </c:pt>
                <c:pt idx="161">
                  <c:v>2.86228806</c:v>
                </c:pt>
                <c:pt idx="162">
                  <c:v>2.43976122</c:v>
                </c:pt>
                <c:pt idx="163">
                  <c:v>2.73988383</c:v>
                </c:pt>
                <c:pt idx="164">
                  <c:v>2.62751433</c:v>
                </c:pt>
                <c:pt idx="165">
                  <c:v>2.72202915</c:v>
                </c:pt>
                <c:pt idx="166">
                  <c:v>2.55892164</c:v>
                </c:pt>
                <c:pt idx="167">
                  <c:v>2.65278481</c:v>
                </c:pt>
                <c:pt idx="168">
                  <c:v>2.6772221</c:v>
                </c:pt>
                <c:pt idx="169">
                  <c:v>2.63989644</c:v>
                </c:pt>
                <c:pt idx="170">
                  <c:v>2.56640479</c:v>
                </c:pt>
                <c:pt idx="171">
                  <c:v>2.57082835</c:v>
                </c:pt>
                <c:pt idx="172">
                  <c:v>1.25150391</c:v>
                </c:pt>
                <c:pt idx="173">
                  <c:v>1.238854</c:v>
                </c:pt>
                <c:pt idx="174">
                  <c:v>1.29385039</c:v>
                </c:pt>
                <c:pt idx="175">
                  <c:v>1.1162997</c:v>
                </c:pt>
                <c:pt idx="176">
                  <c:v>0.9344654</c:v>
                </c:pt>
                <c:pt idx="177">
                  <c:v>0.88427729</c:v>
                </c:pt>
                <c:pt idx="178">
                  <c:v>0.86138662</c:v>
                </c:pt>
                <c:pt idx="179">
                  <c:v>0.88588608</c:v>
                </c:pt>
                <c:pt idx="180">
                  <c:v>0.88642807</c:v>
                </c:pt>
                <c:pt idx="181">
                  <c:v>0.87403178</c:v>
                </c:pt>
                <c:pt idx="182">
                  <c:v>0.92161691</c:v>
                </c:pt>
                <c:pt idx="183">
                  <c:v>0.86071721</c:v>
                </c:pt>
                <c:pt idx="184">
                  <c:v>0.79017538</c:v>
                </c:pt>
                <c:pt idx="185">
                  <c:v>0.7224114</c:v>
                </c:pt>
                <c:pt idx="186">
                  <c:v>0.70929304</c:v>
                </c:pt>
                <c:pt idx="187">
                  <c:v>0.85524555</c:v>
                </c:pt>
                <c:pt idx="188">
                  <c:v>0.84742401</c:v>
                </c:pt>
                <c:pt idx="189">
                  <c:v>0.88642041</c:v>
                </c:pt>
                <c:pt idx="190">
                  <c:v>0.91047898</c:v>
                </c:pt>
                <c:pt idx="191">
                  <c:v>0.97785695</c:v>
                </c:pt>
                <c:pt idx="192">
                  <c:v>0.90064686</c:v>
                </c:pt>
                <c:pt idx="193">
                  <c:v>0.8338624</c:v>
                </c:pt>
                <c:pt idx="194">
                  <c:v>0.65510216</c:v>
                </c:pt>
                <c:pt idx="195">
                  <c:v>0.66852777</c:v>
                </c:pt>
                <c:pt idx="196">
                  <c:v>0.63447253</c:v>
                </c:pt>
                <c:pt idx="197">
                  <c:v>0.65715805</c:v>
                </c:pt>
                <c:pt idx="198">
                  <c:v>0.72522597</c:v>
                </c:pt>
                <c:pt idx="199">
                  <c:v>0.57651961</c:v>
                </c:pt>
                <c:pt idx="200">
                  <c:v>0.57396245</c:v>
                </c:pt>
                <c:pt idx="201">
                  <c:v>0.53609865</c:v>
                </c:pt>
                <c:pt idx="202">
                  <c:v>0.64900883</c:v>
                </c:pt>
                <c:pt idx="203">
                  <c:v>0.6444029</c:v>
                </c:pt>
                <c:pt idx="204">
                  <c:v>0.54142991</c:v>
                </c:pt>
                <c:pt idx="205">
                  <c:v>0.5938229</c:v>
                </c:pt>
                <c:pt idx="206">
                  <c:v>0.60384765</c:v>
                </c:pt>
                <c:pt idx="207">
                  <c:v>0.63295923</c:v>
                </c:pt>
                <c:pt idx="208">
                  <c:v>1.20627925</c:v>
                </c:pt>
                <c:pt idx="209">
                  <c:v>1.19627078</c:v>
                </c:pt>
                <c:pt idx="210">
                  <c:v>1.19013751</c:v>
                </c:pt>
                <c:pt idx="211">
                  <c:v>1.38372134</c:v>
                </c:pt>
                <c:pt idx="212">
                  <c:v>1.5266737</c:v>
                </c:pt>
                <c:pt idx="213">
                  <c:v>1.54033031</c:v>
                </c:pt>
                <c:pt idx="214">
                  <c:v>1.60574058</c:v>
                </c:pt>
                <c:pt idx="215">
                  <c:v>1.64895392</c:v>
                </c:pt>
                <c:pt idx="216">
                  <c:v>1.54139624</c:v>
                </c:pt>
                <c:pt idx="217">
                  <c:v>1.57957104</c:v>
                </c:pt>
                <c:pt idx="218">
                  <c:v>1.56509235</c:v>
                </c:pt>
                <c:pt idx="219">
                  <c:v>1.58787028</c:v>
                </c:pt>
                <c:pt idx="220">
                  <c:v>1.66565689</c:v>
                </c:pt>
                <c:pt idx="221">
                  <c:v>1.68439652</c:v>
                </c:pt>
                <c:pt idx="222">
                  <c:v>1.70019576</c:v>
                </c:pt>
                <c:pt idx="223">
                  <c:v>1.57801342</c:v>
                </c:pt>
                <c:pt idx="224">
                  <c:v>1.5483743</c:v>
                </c:pt>
                <c:pt idx="225">
                  <c:v>1.51915484</c:v>
                </c:pt>
                <c:pt idx="226">
                  <c:v>1.56244333</c:v>
                </c:pt>
                <c:pt idx="227">
                  <c:v>1.60760942</c:v>
                </c:pt>
                <c:pt idx="228">
                  <c:v>1.65442919</c:v>
                </c:pt>
                <c:pt idx="229">
                  <c:v>1.63810117</c:v>
                </c:pt>
                <c:pt idx="230">
                  <c:v>1.69404202</c:v>
                </c:pt>
                <c:pt idx="231">
                  <c:v>1.64906119</c:v>
                </c:pt>
                <c:pt idx="232">
                  <c:v>1.49295562</c:v>
                </c:pt>
                <c:pt idx="233">
                  <c:v>1.48203811</c:v>
                </c:pt>
                <c:pt idx="234">
                  <c:v>1.49708393</c:v>
                </c:pt>
                <c:pt idx="235">
                  <c:v>1.57935068</c:v>
                </c:pt>
                <c:pt idx="236">
                  <c:v>1.56673716</c:v>
                </c:pt>
                <c:pt idx="237">
                  <c:v>1.65496826</c:v>
                </c:pt>
                <c:pt idx="238">
                  <c:v>2.60183969</c:v>
                </c:pt>
                <c:pt idx="239">
                  <c:v>2.46866114</c:v>
                </c:pt>
                <c:pt idx="240">
                  <c:v>2.00142031</c:v>
                </c:pt>
                <c:pt idx="241">
                  <c:v>2.00102817</c:v>
                </c:pt>
                <c:pt idx="242">
                  <c:v>2.06876414</c:v>
                </c:pt>
                <c:pt idx="243">
                  <c:v>2.07844176</c:v>
                </c:pt>
                <c:pt idx="244">
                  <c:v>1.84434056</c:v>
                </c:pt>
                <c:pt idx="245">
                  <c:v>1.98264214</c:v>
                </c:pt>
                <c:pt idx="246">
                  <c:v>1.9043956</c:v>
                </c:pt>
                <c:pt idx="247">
                  <c:v>1.88835198</c:v>
                </c:pt>
                <c:pt idx="248">
                  <c:v>1.9929159</c:v>
                </c:pt>
                <c:pt idx="249">
                  <c:v>2.12853634</c:v>
                </c:pt>
                <c:pt idx="250">
                  <c:v>2.13787743</c:v>
                </c:pt>
                <c:pt idx="251">
                  <c:v>2.15470311</c:v>
                </c:pt>
                <c:pt idx="252">
                  <c:v>2.33389328</c:v>
                </c:pt>
                <c:pt idx="253">
                  <c:v>2.36931268</c:v>
                </c:pt>
                <c:pt idx="254">
                  <c:v>2.25332143</c:v>
                </c:pt>
                <c:pt idx="255">
                  <c:v>2.29065979</c:v>
                </c:pt>
                <c:pt idx="256">
                  <c:v>1.40343814</c:v>
                </c:pt>
                <c:pt idx="257">
                  <c:v>1.6122127</c:v>
                </c:pt>
                <c:pt idx="258">
                  <c:v>1.64836664</c:v>
                </c:pt>
                <c:pt idx="259">
                  <c:v>1.64804359</c:v>
                </c:pt>
                <c:pt idx="260">
                  <c:v>1.61261466</c:v>
                </c:pt>
                <c:pt idx="261">
                  <c:v>1.54408675</c:v>
                </c:pt>
                <c:pt idx="262">
                  <c:v>1.54076814</c:v>
                </c:pt>
                <c:pt idx="263">
                  <c:v>1.50170446</c:v>
                </c:pt>
                <c:pt idx="264">
                  <c:v>1.49852285</c:v>
                </c:pt>
              </c:numCache>
            </c:numRef>
          </c:yVal>
        </c:ser>
        <c:ser>
          <c:idx val="2"/>
          <c:order val="2"/>
          <c:tx>
            <c:v>Extension LSTM</c:v>
          </c:tx>
          <c:spPr>
            <a:solidFill xmlns:a="http://schemas.openxmlformats.org/drawingml/2006/main">
              <a:srgbClr val="2563EB"/>
            </a:solidFill>
            <a:ln xmlns:a="http://schemas.openxmlformats.org/drawingml/2006/main" w="20003">
              <a:solidFill>
                <a:srgbClr val="2563EB"/>
              </a:solidFill>
            </a:ln>
          </c:spPr>
          <c:marker>
            <c:symbol val="none"/>
          </c:marker>
          <c:xVal>
            <c:numRef>
              <c:f>'Chart Data'!$E$2:$E$266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Data'!$F$2:$F$266</c:f>
              <c:numCache>
                <c:formatCode>0.000</c:formatCode>
                <c:ptCount val="265"/>
                <c:pt idx="0">
                  <c:v>3.57005753</c:v>
                </c:pt>
                <c:pt idx="1">
                  <c:v>3.56325638</c:v>
                </c:pt>
                <c:pt idx="2">
                  <c:v>4.00284057</c:v>
                </c:pt>
                <c:pt idx="3">
                  <c:v>3.94281431</c:v>
                </c:pt>
                <c:pt idx="4">
                  <c:v>3.94063262</c:v>
                </c:pt>
                <c:pt idx="5">
                  <c:v>3.79557105</c:v>
                </c:pt>
                <c:pt idx="6">
                  <c:v>3.43992865</c:v>
                </c:pt>
                <c:pt idx="7">
                  <c:v>3.37854014</c:v>
                </c:pt>
                <c:pt idx="8">
                  <c:v>3.24872415</c:v>
                </c:pt>
                <c:pt idx="9">
                  <c:v>3.17685283</c:v>
                </c:pt>
                <c:pt idx="10">
                  <c:v>3.30152104</c:v>
                </c:pt>
                <c:pt idx="11">
                  <c:v>3.2913142</c:v>
                </c:pt>
                <c:pt idx="12">
                  <c:v>3.27393206</c:v>
                </c:pt>
                <c:pt idx="13">
                  <c:v>3.27664982</c:v>
                </c:pt>
                <c:pt idx="14">
                  <c:v>3.25182899</c:v>
                </c:pt>
                <c:pt idx="15">
                  <c:v>3.12043734</c:v>
                </c:pt>
                <c:pt idx="16">
                  <c:v>2.97418527</c:v>
                </c:pt>
                <c:pt idx="17">
                  <c:v>3.03997401</c:v>
                </c:pt>
                <c:pt idx="18">
                  <c:v>3.24272106</c:v>
                </c:pt>
                <c:pt idx="19">
                  <c:v>3.24165658</c:v>
                </c:pt>
                <c:pt idx="20">
                  <c:v>3.34759598</c:v>
                </c:pt>
                <c:pt idx="21">
                  <c:v>3.29142857</c:v>
                </c:pt>
                <c:pt idx="22">
                  <c:v>3.57004112</c:v>
                </c:pt>
                <c:pt idx="23">
                  <c:v>3.85067996</c:v>
                </c:pt>
                <c:pt idx="24">
                  <c:v>3.78134366</c:v>
                </c:pt>
                <c:pt idx="25">
                  <c:v>3.79263366</c:v>
                </c:pt>
                <c:pt idx="26">
                  <c:v>3.86283096</c:v>
                </c:pt>
                <c:pt idx="27">
                  <c:v>3.8882576</c:v>
                </c:pt>
                <c:pt idx="28">
                  <c:v>3.83476454</c:v>
                </c:pt>
                <c:pt idx="29">
                  <c:v>4.03622021</c:v>
                </c:pt>
                <c:pt idx="30">
                  <c:v>4.1371851</c:v>
                </c:pt>
                <c:pt idx="31">
                  <c:v>4.01414389</c:v>
                </c:pt>
                <c:pt idx="32">
                  <c:v>3.80964153</c:v>
                </c:pt>
                <c:pt idx="33">
                  <c:v>3.85683586</c:v>
                </c:pt>
                <c:pt idx="34">
                  <c:v>3.85771423</c:v>
                </c:pt>
                <c:pt idx="35">
                  <c:v>3.8689801</c:v>
                </c:pt>
                <c:pt idx="36">
                  <c:v>3.63272208</c:v>
                </c:pt>
                <c:pt idx="37">
                  <c:v>3.64172551</c:v>
                </c:pt>
                <c:pt idx="38">
                  <c:v>3.62596522</c:v>
                </c:pt>
                <c:pt idx="39">
                  <c:v>3.68152449</c:v>
                </c:pt>
                <c:pt idx="40">
                  <c:v>3.58497768</c:v>
                </c:pt>
                <c:pt idx="41">
                  <c:v>3.73545869</c:v>
                </c:pt>
                <c:pt idx="42">
                  <c:v>3.95157995</c:v>
                </c:pt>
                <c:pt idx="43">
                  <c:v>3.9457339</c:v>
                </c:pt>
                <c:pt idx="44">
                  <c:v>4.01884856</c:v>
                </c:pt>
                <c:pt idx="45">
                  <c:v>4.17498731</c:v>
                </c:pt>
                <c:pt idx="46">
                  <c:v>4.18224198</c:v>
                </c:pt>
                <c:pt idx="47">
                  <c:v>4.24467382</c:v>
                </c:pt>
                <c:pt idx="48">
                  <c:v>4.16737514</c:v>
                </c:pt>
                <c:pt idx="49">
                  <c:v>3.97348293</c:v>
                </c:pt>
                <c:pt idx="50">
                  <c:v>3.77533385</c:v>
                </c:pt>
                <c:pt idx="51">
                  <c:v>3.8286306</c:v>
                </c:pt>
                <c:pt idx="52">
                  <c:v>4.05543046</c:v>
                </c:pt>
                <c:pt idx="53">
                  <c:v>4.1144247</c:v>
                </c:pt>
                <c:pt idx="54">
                  <c:v>4.08772989</c:v>
                </c:pt>
                <c:pt idx="55">
                  <c:v>4.0929857</c:v>
                </c:pt>
                <c:pt idx="56">
                  <c:v>3.88671299</c:v>
                </c:pt>
                <c:pt idx="57">
                  <c:v>3.70863643</c:v>
                </c:pt>
                <c:pt idx="58">
                  <c:v>3.61713208</c:v>
                </c:pt>
                <c:pt idx="59">
                  <c:v>3.20259854</c:v>
                </c:pt>
                <c:pt idx="60">
                  <c:v>2.27163063</c:v>
                </c:pt>
                <c:pt idx="61">
                  <c:v>2.21426654</c:v>
                </c:pt>
                <c:pt idx="62">
                  <c:v>0.7296847</c:v>
                </c:pt>
                <c:pt idx="63">
                  <c:v>0.82458568</c:v>
                </c:pt>
                <c:pt idx="64">
                  <c:v>0.9384165</c:v>
                </c:pt>
                <c:pt idx="65">
                  <c:v>0.86581492</c:v>
                </c:pt>
                <c:pt idx="66">
                  <c:v>0.83192814</c:v>
                </c:pt>
                <c:pt idx="67">
                  <c:v>0.96928462</c:v>
                </c:pt>
                <c:pt idx="68">
                  <c:v>0.88167408</c:v>
                </c:pt>
                <c:pt idx="69">
                  <c:v>0.91249435</c:v>
                </c:pt>
                <c:pt idx="70">
                  <c:v>0.99027427</c:v>
                </c:pt>
                <c:pt idx="71">
                  <c:v>1.10618977</c:v>
                </c:pt>
                <c:pt idx="72">
                  <c:v>1.19650037</c:v>
                </c:pt>
                <c:pt idx="73">
                  <c:v>1.21977605</c:v>
                </c:pt>
                <c:pt idx="74">
                  <c:v>1.3049818</c:v>
                </c:pt>
                <c:pt idx="75">
                  <c:v>1.34198319</c:v>
                </c:pt>
                <c:pt idx="76">
                  <c:v>1.38266294</c:v>
                </c:pt>
                <c:pt idx="77">
                  <c:v>1.39913709</c:v>
                </c:pt>
                <c:pt idx="78">
                  <c:v>1.40206276</c:v>
                </c:pt>
                <c:pt idx="79">
                  <c:v>1.42291695</c:v>
                </c:pt>
                <c:pt idx="80">
                  <c:v>1.31437007</c:v>
                </c:pt>
                <c:pt idx="81">
                  <c:v>1.18708282</c:v>
                </c:pt>
                <c:pt idx="82">
                  <c:v>1.19627953</c:v>
                </c:pt>
                <c:pt idx="83">
                  <c:v>1.22762584</c:v>
                </c:pt>
                <c:pt idx="84">
                  <c:v>1.23383536</c:v>
                </c:pt>
                <c:pt idx="85">
                  <c:v>1.32140658</c:v>
                </c:pt>
                <c:pt idx="86">
                  <c:v>1.36427012</c:v>
                </c:pt>
                <c:pt idx="87">
                  <c:v>1.40364344</c:v>
                </c:pt>
                <c:pt idx="88">
                  <c:v>1.37579825</c:v>
                </c:pt>
                <c:pt idx="89">
                  <c:v>1.36350927</c:v>
                </c:pt>
                <c:pt idx="90">
                  <c:v>1.26434106</c:v>
                </c:pt>
                <c:pt idx="91">
                  <c:v>1.09024637</c:v>
                </c:pt>
                <c:pt idx="92">
                  <c:v>1.12295003</c:v>
                </c:pt>
                <c:pt idx="93">
                  <c:v>1.09511333</c:v>
                </c:pt>
                <c:pt idx="94">
                  <c:v>1.11008654</c:v>
                </c:pt>
                <c:pt idx="95">
                  <c:v>1.1503935</c:v>
                </c:pt>
                <c:pt idx="96">
                  <c:v>1.46255119</c:v>
                </c:pt>
                <c:pt idx="97">
                  <c:v>1.45780571</c:v>
                </c:pt>
                <c:pt idx="98">
                  <c:v>2.50538134</c:v>
                </c:pt>
                <c:pt idx="99">
                  <c:v>2.26700091</c:v>
                </c:pt>
                <c:pt idx="100">
                  <c:v>2.22217991</c:v>
                </c:pt>
                <c:pt idx="101">
                  <c:v>2.37365763</c:v>
                </c:pt>
                <c:pt idx="102">
                  <c:v>2.46366013</c:v>
                </c:pt>
                <c:pt idx="103">
                  <c:v>2.43143693</c:v>
                </c:pt>
                <c:pt idx="104">
                  <c:v>2.7708803</c:v>
                </c:pt>
                <c:pt idx="105">
                  <c:v>2.66299455</c:v>
                </c:pt>
                <c:pt idx="106">
                  <c:v>2.55385745</c:v>
                </c:pt>
                <c:pt idx="107">
                  <c:v>2.36398686</c:v>
                </c:pt>
                <c:pt idx="108">
                  <c:v>2.34629674</c:v>
                </c:pt>
                <c:pt idx="109">
                  <c:v>2.32657649</c:v>
                </c:pt>
                <c:pt idx="110">
                  <c:v>2.46856147</c:v>
                </c:pt>
                <c:pt idx="111">
                  <c:v>2.42703959</c:v>
                </c:pt>
                <c:pt idx="112">
                  <c:v>2.33834497</c:v>
                </c:pt>
                <c:pt idx="113">
                  <c:v>2.24991614</c:v>
                </c:pt>
                <c:pt idx="114">
                  <c:v>2.34041553</c:v>
                </c:pt>
                <c:pt idx="115">
                  <c:v>2.39341474</c:v>
                </c:pt>
                <c:pt idx="116">
                  <c:v>2.52038576</c:v>
                </c:pt>
                <c:pt idx="117">
                  <c:v>2.7702092</c:v>
                </c:pt>
                <c:pt idx="118">
                  <c:v>2.653174</c:v>
                </c:pt>
                <c:pt idx="119">
                  <c:v>2.643962</c:v>
                </c:pt>
                <c:pt idx="120">
                  <c:v>2.39454158</c:v>
                </c:pt>
                <c:pt idx="121">
                  <c:v>2.35629853</c:v>
                </c:pt>
                <c:pt idx="122">
                  <c:v>2.34973692</c:v>
                </c:pt>
                <c:pt idx="123">
                  <c:v>2.28110426</c:v>
                </c:pt>
                <c:pt idx="124">
                  <c:v>2.3419777</c:v>
                </c:pt>
                <c:pt idx="125">
                  <c:v>2.19282863</c:v>
                </c:pt>
                <c:pt idx="126">
                  <c:v>2.33136319</c:v>
                </c:pt>
                <c:pt idx="127">
                  <c:v>2.67072231</c:v>
                </c:pt>
                <c:pt idx="128">
                  <c:v>2.70321023</c:v>
                </c:pt>
                <c:pt idx="129">
                  <c:v>2.95922954</c:v>
                </c:pt>
                <c:pt idx="130">
                  <c:v>2.88257783</c:v>
                </c:pt>
                <c:pt idx="131">
                  <c:v>2.91726913</c:v>
                </c:pt>
                <c:pt idx="132">
                  <c:v>2.84521084</c:v>
                </c:pt>
                <c:pt idx="133">
                  <c:v>2.81872861</c:v>
                </c:pt>
                <c:pt idx="134">
                  <c:v>3.06396266</c:v>
                </c:pt>
                <c:pt idx="135">
                  <c:v>3.34879314</c:v>
                </c:pt>
                <c:pt idx="136">
                  <c:v>3.30198137</c:v>
                </c:pt>
                <c:pt idx="137">
                  <c:v>3.47410325</c:v>
                </c:pt>
                <c:pt idx="138">
                  <c:v>3.35559353</c:v>
                </c:pt>
                <c:pt idx="139">
                  <c:v>3.34412355</c:v>
                </c:pt>
                <c:pt idx="140">
                  <c:v>3.26519986</c:v>
                </c:pt>
                <c:pt idx="141">
                  <c:v>3.01852884</c:v>
                </c:pt>
                <c:pt idx="142">
                  <c:v>2.96307323</c:v>
                </c:pt>
                <c:pt idx="143">
                  <c:v>3.14328439</c:v>
                </c:pt>
                <c:pt idx="144">
                  <c:v>3.10348485</c:v>
                </c:pt>
                <c:pt idx="145">
                  <c:v>2.77823195</c:v>
                </c:pt>
                <c:pt idx="146">
                  <c:v>2.75654607</c:v>
                </c:pt>
                <c:pt idx="147">
                  <c:v>2.61032688</c:v>
                </c:pt>
                <c:pt idx="148">
                  <c:v>2.59292486</c:v>
                </c:pt>
                <c:pt idx="149">
                  <c:v>2.38366008</c:v>
                </c:pt>
                <c:pt idx="150">
                  <c:v>2.32377738</c:v>
                </c:pt>
                <c:pt idx="151">
                  <c:v>2.31529783</c:v>
                </c:pt>
                <c:pt idx="152">
                  <c:v>2.09204455</c:v>
                </c:pt>
                <c:pt idx="153">
                  <c:v>1.97461306</c:v>
                </c:pt>
                <c:pt idx="154">
                  <c:v>1.98126964</c:v>
                </c:pt>
                <c:pt idx="155">
                  <c:v>1.95648186</c:v>
                </c:pt>
                <c:pt idx="156">
                  <c:v>2.42656736</c:v>
                </c:pt>
                <c:pt idx="157">
                  <c:v>2.36215772</c:v>
                </c:pt>
                <c:pt idx="158">
                  <c:v>2.37845244</c:v>
                </c:pt>
                <c:pt idx="159">
                  <c:v>2.31377931</c:v>
                </c:pt>
                <c:pt idx="160">
                  <c:v>2.39036558</c:v>
                </c:pt>
                <c:pt idx="161">
                  <c:v>2.57373355</c:v>
                </c:pt>
                <c:pt idx="162">
                  <c:v>1.45611674</c:v>
                </c:pt>
                <c:pt idx="163">
                  <c:v>1.53115043</c:v>
                </c:pt>
                <c:pt idx="164">
                  <c:v>1.15652209</c:v>
                </c:pt>
                <c:pt idx="165">
                  <c:v>0.74118043</c:v>
                </c:pt>
                <c:pt idx="166">
                  <c:v>0.82173416</c:v>
                </c:pt>
                <c:pt idx="167">
                  <c:v>1.02960485</c:v>
                </c:pt>
                <c:pt idx="168">
                  <c:v>1.15470237</c:v>
                </c:pt>
                <c:pt idx="169">
                  <c:v>1.26380155</c:v>
                </c:pt>
                <c:pt idx="170">
                  <c:v>1.1513543</c:v>
                </c:pt>
                <c:pt idx="171">
                  <c:v>1.10752433</c:v>
                </c:pt>
                <c:pt idx="172">
                  <c:v>0.64557452</c:v>
                </c:pt>
                <c:pt idx="173">
                  <c:v>0.64183598</c:v>
                </c:pt>
                <c:pt idx="174">
                  <c:v>0.69447395</c:v>
                </c:pt>
                <c:pt idx="175">
                  <c:v>0.77842632</c:v>
                </c:pt>
                <c:pt idx="176">
                  <c:v>0.63296349</c:v>
                </c:pt>
                <c:pt idx="177">
                  <c:v>0.7701059</c:v>
                </c:pt>
                <c:pt idx="178">
                  <c:v>0.76807806</c:v>
                </c:pt>
                <c:pt idx="179">
                  <c:v>0.72768282</c:v>
                </c:pt>
                <c:pt idx="180">
                  <c:v>0.65641608</c:v>
                </c:pt>
                <c:pt idx="181">
                  <c:v>0.76064291</c:v>
                </c:pt>
                <c:pt idx="182">
                  <c:v>0.73421899</c:v>
                </c:pt>
                <c:pt idx="183">
                  <c:v>0.79529135</c:v>
                </c:pt>
                <c:pt idx="184">
                  <c:v>0.73412778</c:v>
                </c:pt>
                <c:pt idx="185">
                  <c:v>0.80190126</c:v>
                </c:pt>
                <c:pt idx="186">
                  <c:v>0.73546984</c:v>
                </c:pt>
                <c:pt idx="187">
                  <c:v>0.67081394</c:v>
                </c:pt>
                <c:pt idx="188">
                  <c:v>0.77660012</c:v>
                </c:pt>
                <c:pt idx="189">
                  <c:v>0.74098413</c:v>
                </c:pt>
                <c:pt idx="190">
                  <c:v>0.71220037</c:v>
                </c:pt>
                <c:pt idx="191">
                  <c:v>0.63581966</c:v>
                </c:pt>
                <c:pt idx="192">
                  <c:v>0.48940021</c:v>
                </c:pt>
                <c:pt idx="193">
                  <c:v>0.48682302</c:v>
                </c:pt>
                <c:pt idx="194">
                  <c:v>0.3387549</c:v>
                </c:pt>
                <c:pt idx="195">
                  <c:v>0.35355752</c:v>
                </c:pt>
                <c:pt idx="196">
                  <c:v>0.24925989</c:v>
                </c:pt>
                <c:pt idx="197">
                  <c:v>0.22198346</c:v>
                </c:pt>
                <c:pt idx="198">
                  <c:v>0.44127689</c:v>
                </c:pt>
                <c:pt idx="199">
                  <c:v>0.45107834</c:v>
                </c:pt>
                <c:pt idx="200">
                  <c:v>0.71827051</c:v>
                </c:pt>
                <c:pt idx="201">
                  <c:v>1.03982042</c:v>
                </c:pt>
                <c:pt idx="202">
                  <c:v>1.11779173</c:v>
                </c:pt>
                <c:pt idx="203">
                  <c:v>1.00490623</c:v>
                </c:pt>
                <c:pt idx="204">
                  <c:v>0.85019782</c:v>
                </c:pt>
                <c:pt idx="205">
                  <c:v>0.73321337</c:v>
                </c:pt>
                <c:pt idx="206">
                  <c:v>0.77139183</c:v>
                </c:pt>
                <c:pt idx="207">
                  <c:v>0.75384315</c:v>
                </c:pt>
                <c:pt idx="208">
                  <c:v>1.27343172</c:v>
                </c:pt>
                <c:pt idx="209">
                  <c:v>1.2450667</c:v>
                </c:pt>
                <c:pt idx="210">
                  <c:v>1.04953946</c:v>
                </c:pt>
                <c:pt idx="211">
                  <c:v>0.95634289</c:v>
                </c:pt>
                <c:pt idx="212">
                  <c:v>1.22570237</c:v>
                </c:pt>
                <c:pt idx="213">
                  <c:v>1.08274629</c:v>
                </c:pt>
                <c:pt idx="214">
                  <c:v>1.2283189</c:v>
                </c:pt>
                <c:pt idx="215">
                  <c:v>1.28957956</c:v>
                </c:pt>
                <c:pt idx="216">
                  <c:v>1.25449527</c:v>
                </c:pt>
                <c:pt idx="217">
                  <c:v>1.28938154</c:v>
                </c:pt>
                <c:pt idx="218">
                  <c:v>1.3390064</c:v>
                </c:pt>
                <c:pt idx="219">
                  <c:v>1.16633723</c:v>
                </c:pt>
                <c:pt idx="220">
                  <c:v>1.19169619</c:v>
                </c:pt>
                <c:pt idx="221">
                  <c:v>1.13523021</c:v>
                </c:pt>
                <c:pt idx="222">
                  <c:v>1.17689642</c:v>
                </c:pt>
                <c:pt idx="223">
                  <c:v>1.2111293</c:v>
                </c:pt>
                <c:pt idx="224">
                  <c:v>1.10697572</c:v>
                </c:pt>
                <c:pt idx="225">
                  <c:v>1.07926942</c:v>
                </c:pt>
                <c:pt idx="226">
                  <c:v>1.23784835</c:v>
                </c:pt>
                <c:pt idx="227">
                  <c:v>1.1479908</c:v>
                </c:pt>
                <c:pt idx="228">
                  <c:v>1.24228814</c:v>
                </c:pt>
                <c:pt idx="229">
                  <c:v>1.22795496</c:v>
                </c:pt>
                <c:pt idx="230">
                  <c:v>1.29019319</c:v>
                </c:pt>
                <c:pt idx="231">
                  <c:v>1.3040283</c:v>
                </c:pt>
                <c:pt idx="232">
                  <c:v>1.38016549</c:v>
                </c:pt>
                <c:pt idx="233">
                  <c:v>1.4107804</c:v>
                </c:pt>
                <c:pt idx="234">
                  <c:v>1.33973542</c:v>
                </c:pt>
                <c:pt idx="235">
                  <c:v>1.40565775</c:v>
                </c:pt>
                <c:pt idx="236">
                  <c:v>1.15470056</c:v>
                </c:pt>
                <c:pt idx="237">
                  <c:v>1.13315642</c:v>
                </c:pt>
                <c:pt idx="238">
                  <c:v>0.83477618</c:v>
                </c:pt>
                <c:pt idx="239">
                  <c:v>0.72790108</c:v>
                </c:pt>
                <c:pt idx="240">
                  <c:v>0.58531735</c:v>
                </c:pt>
                <c:pt idx="241">
                  <c:v>0.66999669</c:v>
                </c:pt>
                <c:pt idx="242">
                  <c:v>0.83262337</c:v>
                </c:pt>
                <c:pt idx="243">
                  <c:v>0.92480189</c:v>
                </c:pt>
                <c:pt idx="244">
                  <c:v>0.82988285</c:v>
                </c:pt>
                <c:pt idx="245">
                  <c:v>0.8608495</c:v>
                </c:pt>
                <c:pt idx="246">
                  <c:v>0.96318998</c:v>
                </c:pt>
                <c:pt idx="247">
                  <c:v>0.73266286</c:v>
                </c:pt>
                <c:pt idx="248">
                  <c:v>0.85170899</c:v>
                </c:pt>
                <c:pt idx="249">
                  <c:v>0.96197971</c:v>
                </c:pt>
                <c:pt idx="250">
                  <c:v>0.66484987</c:v>
                </c:pt>
                <c:pt idx="251">
                  <c:v>0.58844286</c:v>
                </c:pt>
                <c:pt idx="252">
                  <c:v>0.86653201</c:v>
                </c:pt>
                <c:pt idx="253">
                  <c:v>0.8477876</c:v>
                </c:pt>
                <c:pt idx="254">
                  <c:v>0.83868549</c:v>
                </c:pt>
                <c:pt idx="255">
                  <c:v>0.97779513</c:v>
                </c:pt>
                <c:pt idx="256">
                  <c:v>0.4785447</c:v>
                </c:pt>
                <c:pt idx="257">
                  <c:v>0.66510423</c:v>
                </c:pt>
                <c:pt idx="258">
                  <c:v>0.80536385</c:v>
                </c:pt>
                <c:pt idx="259">
                  <c:v>0.68702778</c:v>
                </c:pt>
                <c:pt idx="260">
                  <c:v>0.69534266</c:v>
                </c:pt>
                <c:pt idx="261">
                  <c:v>0.68273595</c:v>
                </c:pt>
                <c:pt idx="262">
                  <c:v>0.7261901</c:v>
                </c:pt>
                <c:pt idx="263">
                  <c:v>0.74456139</c:v>
                </c:pt>
                <c:pt idx="264">
                  <c:v>0.82025394</c:v>
                </c:pt>
              </c:numCache>
            </c:numRef>
          </c:yVal>
        </c:ser>
        <c:ser>
          <c:idx val="3"/>
          <c:order val="3"/>
          <c:tx>
            <c:v>Transformer</c:v>
          </c:tx>
          <c:spPr>
            <a:solidFill xmlns:a="http://schemas.openxmlformats.org/drawingml/2006/main">
              <a:srgbClr val="B7790B"/>
            </a:solidFill>
            <a:ln xmlns:a="http://schemas.openxmlformats.org/drawingml/2006/main" w="20003">
              <a:solidFill>
                <a:srgbClr val="B7790B"/>
              </a:solidFill>
            </a:ln>
          </c:spPr>
          <c:marker>
            <c:symbol val="none"/>
          </c:marker>
          <c:xVal>
            <c:numRef>
              <c:f>'Chart Data'!$G$2:$G$266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Data'!$H$2:$H$266</c:f>
              <c:numCache>
                <c:formatCode>0.000</c:formatCode>
                <c:ptCount val="265"/>
                <c:pt idx="0">
                  <c:v>1.36684231</c:v>
                </c:pt>
                <c:pt idx="1">
                  <c:v>1.27596507</c:v>
                </c:pt>
                <c:pt idx="2">
                  <c:v>1.6666648</c:v>
                </c:pt>
                <c:pt idx="3">
                  <c:v>1.74614131</c:v>
                </c:pt>
                <c:pt idx="4">
                  <c:v>1.74749784</c:v>
                </c:pt>
                <c:pt idx="5">
                  <c:v>1.75552827</c:v>
                </c:pt>
                <c:pt idx="6">
                  <c:v>1.81232416</c:v>
                </c:pt>
                <c:pt idx="7">
                  <c:v>1.86829283</c:v>
                </c:pt>
                <c:pt idx="8">
                  <c:v>1.95426198</c:v>
                </c:pt>
                <c:pt idx="9">
                  <c:v>1.81444463</c:v>
                </c:pt>
                <c:pt idx="10">
                  <c:v>2.00839776</c:v>
                </c:pt>
                <c:pt idx="11">
                  <c:v>2.1098099</c:v>
                </c:pt>
                <c:pt idx="12">
                  <c:v>2.1247695</c:v>
                </c:pt>
                <c:pt idx="13">
                  <c:v>2.04367197</c:v>
                </c:pt>
                <c:pt idx="14">
                  <c:v>2.08534879</c:v>
                </c:pt>
                <c:pt idx="15">
                  <c:v>1.91235083</c:v>
                </c:pt>
                <c:pt idx="16">
                  <c:v>1.64561436</c:v>
                </c:pt>
                <c:pt idx="17">
                  <c:v>1.54953345</c:v>
                </c:pt>
                <c:pt idx="18">
                  <c:v>1.71277011</c:v>
                </c:pt>
                <c:pt idx="19">
                  <c:v>1.86585646</c:v>
                </c:pt>
                <c:pt idx="20">
                  <c:v>1.81669066</c:v>
                </c:pt>
                <c:pt idx="21">
                  <c:v>1.82410825</c:v>
                </c:pt>
                <c:pt idx="22">
                  <c:v>2.04111283</c:v>
                </c:pt>
                <c:pt idx="23">
                  <c:v>2.27235047</c:v>
                </c:pt>
                <c:pt idx="24">
                  <c:v>2.26871535</c:v>
                </c:pt>
                <c:pt idx="25">
                  <c:v>2.02619885</c:v>
                </c:pt>
                <c:pt idx="26">
                  <c:v>2.3716007</c:v>
                </c:pt>
                <c:pt idx="27">
                  <c:v>2.63194839</c:v>
                </c:pt>
                <c:pt idx="28">
                  <c:v>2.60678034</c:v>
                </c:pt>
                <c:pt idx="29">
                  <c:v>2.76445319</c:v>
                </c:pt>
                <c:pt idx="30">
                  <c:v>2.78802559</c:v>
                </c:pt>
                <c:pt idx="31">
                  <c:v>2.62111334</c:v>
                </c:pt>
                <c:pt idx="32">
                  <c:v>2.2973943</c:v>
                </c:pt>
                <c:pt idx="33">
                  <c:v>2.33616484</c:v>
                </c:pt>
                <c:pt idx="34">
                  <c:v>2.15132868</c:v>
                </c:pt>
                <c:pt idx="35">
                  <c:v>2.15956268</c:v>
                </c:pt>
                <c:pt idx="36">
                  <c:v>2.2131038</c:v>
                </c:pt>
                <c:pt idx="37">
                  <c:v>1.99322866</c:v>
                </c:pt>
                <c:pt idx="38">
                  <c:v>1.98588432</c:v>
                </c:pt>
                <c:pt idx="39">
                  <c:v>1.97872142</c:v>
                </c:pt>
                <c:pt idx="40">
                  <c:v>1.79145168</c:v>
                </c:pt>
                <c:pt idx="41">
                  <c:v>1.85266666</c:v>
                </c:pt>
                <c:pt idx="42">
                  <c:v>1.73794383</c:v>
                </c:pt>
                <c:pt idx="43">
                  <c:v>1.68518162</c:v>
                </c:pt>
                <c:pt idx="44">
                  <c:v>1.56412533</c:v>
                </c:pt>
                <c:pt idx="45">
                  <c:v>1.59950764</c:v>
                </c:pt>
                <c:pt idx="46">
                  <c:v>1.45283107</c:v>
                </c:pt>
                <c:pt idx="47">
                  <c:v>1.47186549</c:v>
                </c:pt>
                <c:pt idx="48">
                  <c:v>1.37435082</c:v>
                </c:pt>
                <c:pt idx="49">
                  <c:v>1.25178716</c:v>
                </c:pt>
                <c:pt idx="50">
                  <c:v>1.25637533</c:v>
                </c:pt>
                <c:pt idx="51">
                  <c:v>1.11047583</c:v>
                </c:pt>
                <c:pt idx="52">
                  <c:v>1.34733646</c:v>
                </c:pt>
                <c:pt idx="53">
                  <c:v>1.49837002</c:v>
                </c:pt>
                <c:pt idx="54">
                  <c:v>1.57058097</c:v>
                </c:pt>
                <c:pt idx="55">
                  <c:v>1.49093475</c:v>
                </c:pt>
                <c:pt idx="56">
                  <c:v>1.42046046</c:v>
                </c:pt>
                <c:pt idx="57">
                  <c:v>1.3900461</c:v>
                </c:pt>
                <c:pt idx="58">
                  <c:v>1.22025703</c:v>
                </c:pt>
                <c:pt idx="59">
                  <c:v>1.14589176</c:v>
                </c:pt>
                <c:pt idx="60">
                  <c:v>0.94497434</c:v>
                </c:pt>
                <c:pt idx="61">
                  <c:v>1.14007573</c:v>
                </c:pt>
                <c:pt idx="62">
                  <c:v>0.67217805</c:v>
                </c:pt>
                <c:pt idx="63">
                  <c:v>0.79086655</c:v>
                </c:pt>
                <c:pt idx="64">
                  <c:v>0.78125351</c:v>
                </c:pt>
                <c:pt idx="65">
                  <c:v>0.77447063</c:v>
                </c:pt>
                <c:pt idx="66">
                  <c:v>0.70887926</c:v>
                </c:pt>
                <c:pt idx="67">
                  <c:v>0.88434315</c:v>
                </c:pt>
                <c:pt idx="68">
                  <c:v>1.12407615</c:v>
                </c:pt>
                <c:pt idx="69">
                  <c:v>1.30506041</c:v>
                </c:pt>
                <c:pt idx="70">
                  <c:v>1.4074864</c:v>
                </c:pt>
                <c:pt idx="71">
                  <c:v>1.47286852</c:v>
                </c:pt>
                <c:pt idx="72">
                  <c:v>1.47444285</c:v>
                </c:pt>
                <c:pt idx="73">
                  <c:v>0.61421246</c:v>
                </c:pt>
                <c:pt idx="74">
                  <c:v>0.77280209</c:v>
                </c:pt>
                <c:pt idx="75">
                  <c:v>0.80943237</c:v>
                </c:pt>
                <c:pt idx="76">
                  <c:v>0.84668952</c:v>
                </c:pt>
                <c:pt idx="77">
                  <c:v>0.89149321</c:v>
                </c:pt>
                <c:pt idx="78">
                  <c:v>0.9195997</c:v>
                </c:pt>
                <c:pt idx="79">
                  <c:v>1.03723149</c:v>
                </c:pt>
                <c:pt idx="80">
                  <c:v>1.1726142</c:v>
                </c:pt>
                <c:pt idx="81">
                  <c:v>1.27245964</c:v>
                </c:pt>
                <c:pt idx="82">
                  <c:v>1.10052829</c:v>
                </c:pt>
                <c:pt idx="83">
                  <c:v>0.87227021</c:v>
                </c:pt>
                <c:pt idx="84">
                  <c:v>0.88163859</c:v>
                </c:pt>
                <c:pt idx="85">
                  <c:v>1.0259192</c:v>
                </c:pt>
                <c:pt idx="86">
                  <c:v>1.14621693</c:v>
                </c:pt>
                <c:pt idx="87">
                  <c:v>1.23030153</c:v>
                </c:pt>
                <c:pt idx="88">
                  <c:v>1.33085812</c:v>
                </c:pt>
                <c:pt idx="89">
                  <c:v>1.38554905</c:v>
                </c:pt>
                <c:pt idx="90">
                  <c:v>1.44929027</c:v>
                </c:pt>
                <c:pt idx="91">
                  <c:v>1.51156845</c:v>
                </c:pt>
                <c:pt idx="92">
                  <c:v>1.50437671</c:v>
                </c:pt>
                <c:pt idx="93">
                  <c:v>1.53696842</c:v>
                </c:pt>
                <c:pt idx="94">
                  <c:v>1.42607387</c:v>
                </c:pt>
                <c:pt idx="95">
                  <c:v>1.15900363</c:v>
                </c:pt>
                <c:pt idx="96">
                  <c:v>1.27664099</c:v>
                </c:pt>
                <c:pt idx="97">
                  <c:v>1.22045373</c:v>
                </c:pt>
                <c:pt idx="98">
                  <c:v>1.32211158</c:v>
                </c:pt>
                <c:pt idx="99">
                  <c:v>1.25459</c:v>
                </c:pt>
                <c:pt idx="100">
                  <c:v>1.25596444</c:v>
                </c:pt>
                <c:pt idx="101">
                  <c:v>1.18342398</c:v>
                </c:pt>
                <c:pt idx="102">
                  <c:v>1.14607514</c:v>
                </c:pt>
                <c:pt idx="103">
                  <c:v>1.09609416</c:v>
                </c:pt>
                <c:pt idx="104">
                  <c:v>0.99470271</c:v>
                </c:pt>
                <c:pt idx="105">
                  <c:v>0.9455208</c:v>
                </c:pt>
                <c:pt idx="106">
                  <c:v>0.98052162</c:v>
                </c:pt>
                <c:pt idx="107">
                  <c:v>0.92765686</c:v>
                </c:pt>
                <c:pt idx="108">
                  <c:v>0.85156671</c:v>
                </c:pt>
                <c:pt idx="109">
                  <c:v>1.52543817</c:v>
                </c:pt>
                <c:pt idx="110">
                  <c:v>1.43923448</c:v>
                </c:pt>
                <c:pt idx="111">
                  <c:v>1.33280094</c:v>
                </c:pt>
                <c:pt idx="112">
                  <c:v>1.32675718</c:v>
                </c:pt>
                <c:pt idx="113">
                  <c:v>1.24061137</c:v>
                </c:pt>
                <c:pt idx="114">
                  <c:v>1.29278936</c:v>
                </c:pt>
                <c:pt idx="115">
                  <c:v>1.21940719</c:v>
                </c:pt>
                <c:pt idx="116">
                  <c:v>1.14185661</c:v>
                </c:pt>
                <c:pt idx="117">
                  <c:v>1.10594965</c:v>
                </c:pt>
                <c:pt idx="118">
                  <c:v>1.3876465</c:v>
                </c:pt>
                <c:pt idx="119">
                  <c:v>1.69755978</c:v>
                </c:pt>
                <c:pt idx="120">
                  <c:v>1.66568025</c:v>
                </c:pt>
                <c:pt idx="121">
                  <c:v>1.62307645</c:v>
                </c:pt>
                <c:pt idx="122">
                  <c:v>1.56219557</c:v>
                </c:pt>
                <c:pt idx="123">
                  <c:v>1.52747758</c:v>
                </c:pt>
                <c:pt idx="124">
                  <c:v>1.36494755</c:v>
                </c:pt>
                <c:pt idx="125">
                  <c:v>1.27640462</c:v>
                </c:pt>
                <c:pt idx="126">
                  <c:v>1.16696992</c:v>
                </c:pt>
                <c:pt idx="127">
                  <c:v>1.07189261</c:v>
                </c:pt>
                <c:pt idx="128">
                  <c:v>1.15196389</c:v>
                </c:pt>
                <c:pt idx="129">
                  <c:v>1.11888483</c:v>
                </c:pt>
                <c:pt idx="130">
                  <c:v>1.35751218</c:v>
                </c:pt>
                <c:pt idx="131">
                  <c:v>2.66706003</c:v>
                </c:pt>
                <c:pt idx="132">
                  <c:v>2.72076178</c:v>
                </c:pt>
                <c:pt idx="133">
                  <c:v>3.01596599</c:v>
                </c:pt>
                <c:pt idx="134">
                  <c:v>3.19229704</c:v>
                </c:pt>
                <c:pt idx="135">
                  <c:v>3.2311374</c:v>
                </c:pt>
                <c:pt idx="136">
                  <c:v>3.14926382</c:v>
                </c:pt>
                <c:pt idx="137">
                  <c:v>3.03976994</c:v>
                </c:pt>
                <c:pt idx="138">
                  <c:v>3.28959949</c:v>
                </c:pt>
                <c:pt idx="139">
                  <c:v>3.26017045</c:v>
                </c:pt>
                <c:pt idx="140">
                  <c:v>3.68380407</c:v>
                </c:pt>
                <c:pt idx="141">
                  <c:v>3.6258319</c:v>
                </c:pt>
                <c:pt idx="142">
                  <c:v>3.62603616</c:v>
                </c:pt>
                <c:pt idx="143">
                  <c:v>3.56038801</c:v>
                </c:pt>
                <c:pt idx="144">
                  <c:v>3.56650057</c:v>
                </c:pt>
                <c:pt idx="145">
                  <c:v>3.49259578</c:v>
                </c:pt>
                <c:pt idx="146">
                  <c:v>3.44725073</c:v>
                </c:pt>
                <c:pt idx="147">
                  <c:v>3.62022758</c:v>
                </c:pt>
                <c:pt idx="148">
                  <c:v>3.76881826</c:v>
                </c:pt>
                <c:pt idx="149">
                  <c:v>3.89110058</c:v>
                </c:pt>
                <c:pt idx="150">
                  <c:v>3.55138702</c:v>
                </c:pt>
                <c:pt idx="151">
                  <c:v>3.1318945</c:v>
                </c:pt>
                <c:pt idx="152">
                  <c:v>3.09139191</c:v>
                </c:pt>
                <c:pt idx="153">
                  <c:v>3.11039172</c:v>
                </c:pt>
                <c:pt idx="154">
                  <c:v>3.20322472</c:v>
                </c:pt>
                <c:pt idx="155">
                  <c:v>3.11333757</c:v>
                </c:pt>
                <c:pt idx="156">
                  <c:v>3.22033396</c:v>
                </c:pt>
                <c:pt idx="157">
                  <c:v>2.48390605</c:v>
                </c:pt>
                <c:pt idx="158">
                  <c:v>2.48390113</c:v>
                </c:pt>
                <c:pt idx="159">
                  <c:v>2.61085063</c:v>
                </c:pt>
                <c:pt idx="160">
                  <c:v>2.77421374</c:v>
                </c:pt>
                <c:pt idx="161">
                  <c:v>2.89575333</c:v>
                </c:pt>
                <c:pt idx="162">
                  <c:v>2.13646849</c:v>
                </c:pt>
                <c:pt idx="163">
                  <c:v>2.19866512</c:v>
                </c:pt>
                <c:pt idx="164">
                  <c:v>2.18261156</c:v>
                </c:pt>
                <c:pt idx="165">
                  <c:v>2.20878603</c:v>
                </c:pt>
                <c:pt idx="166">
                  <c:v>1.42454101</c:v>
                </c:pt>
                <c:pt idx="167">
                  <c:v>1.23408543</c:v>
                </c:pt>
                <c:pt idx="168">
                  <c:v>1.32948873</c:v>
                </c:pt>
                <c:pt idx="169">
                  <c:v>0.85798044</c:v>
                </c:pt>
                <c:pt idx="170">
                  <c:v>0.539912</c:v>
                </c:pt>
                <c:pt idx="171">
                  <c:v>0.41679037</c:v>
                </c:pt>
                <c:pt idx="172">
                  <c:v>0.17788708</c:v>
                </c:pt>
                <c:pt idx="173">
                  <c:v>0.28923507</c:v>
                </c:pt>
                <c:pt idx="174">
                  <c:v>0.2832743</c:v>
                </c:pt>
                <c:pt idx="175">
                  <c:v>0.29957071</c:v>
                </c:pt>
                <c:pt idx="176">
                  <c:v>-0.01160774</c:v>
                </c:pt>
                <c:pt idx="177">
                  <c:v>0.00938419</c:v>
                </c:pt>
                <c:pt idx="178">
                  <c:v>-0.00147819</c:v>
                </c:pt>
                <c:pt idx="179">
                  <c:v>0.05971296</c:v>
                </c:pt>
                <c:pt idx="180">
                  <c:v>0.03727963</c:v>
                </c:pt>
                <c:pt idx="181">
                  <c:v>-0.05213494</c:v>
                </c:pt>
                <c:pt idx="182">
                  <c:v>-0.03874021</c:v>
                </c:pt>
                <c:pt idx="183">
                  <c:v>-0.10138256</c:v>
                </c:pt>
                <c:pt idx="184">
                  <c:v>-0.30319413</c:v>
                </c:pt>
                <c:pt idx="185">
                  <c:v>-0.46271055</c:v>
                </c:pt>
                <c:pt idx="186">
                  <c:v>-0.43006013</c:v>
                </c:pt>
                <c:pt idx="187">
                  <c:v>-0.37541834</c:v>
                </c:pt>
                <c:pt idx="188">
                  <c:v>-0.37701068</c:v>
                </c:pt>
                <c:pt idx="189">
                  <c:v>-0.29980597</c:v>
                </c:pt>
                <c:pt idx="190">
                  <c:v>-0.32162976</c:v>
                </c:pt>
                <c:pt idx="191">
                  <c:v>-0.33847993</c:v>
                </c:pt>
                <c:pt idx="192">
                  <c:v>-0.37061024</c:v>
                </c:pt>
                <c:pt idx="193">
                  <c:v>-0.31500172</c:v>
                </c:pt>
                <c:pt idx="194">
                  <c:v>-0.47046248</c:v>
                </c:pt>
                <c:pt idx="195">
                  <c:v>-0.46715193</c:v>
                </c:pt>
                <c:pt idx="196">
                  <c:v>-0.50107181</c:v>
                </c:pt>
                <c:pt idx="197">
                  <c:v>-0.51807386</c:v>
                </c:pt>
                <c:pt idx="198">
                  <c:v>-0.37854668</c:v>
                </c:pt>
                <c:pt idx="199">
                  <c:v>-0.61413854</c:v>
                </c:pt>
                <c:pt idx="200">
                  <c:v>-0.6102357</c:v>
                </c:pt>
                <c:pt idx="201">
                  <c:v>-0.62812435</c:v>
                </c:pt>
                <c:pt idx="202">
                  <c:v>-0.27366858</c:v>
                </c:pt>
                <c:pt idx="203">
                  <c:v>-0.07877636</c:v>
                </c:pt>
                <c:pt idx="204">
                  <c:v>-0.11880501</c:v>
                </c:pt>
                <c:pt idx="205">
                  <c:v>0.13002954</c:v>
                </c:pt>
                <c:pt idx="206">
                  <c:v>0.35147697</c:v>
                </c:pt>
                <c:pt idx="207">
                  <c:v>0.46199134</c:v>
                </c:pt>
                <c:pt idx="208">
                  <c:v>0.86866262</c:v>
                </c:pt>
                <c:pt idx="209">
                  <c:v>0.78523814</c:v>
                </c:pt>
                <c:pt idx="210">
                  <c:v>0.87601583</c:v>
                </c:pt>
                <c:pt idx="211">
                  <c:v>0.90522303</c:v>
                </c:pt>
                <c:pt idx="212">
                  <c:v>1.51994992</c:v>
                </c:pt>
                <c:pt idx="213">
                  <c:v>1.42047697</c:v>
                </c:pt>
                <c:pt idx="214">
                  <c:v>1.41733986</c:v>
                </c:pt>
                <c:pt idx="215">
                  <c:v>1.38385456</c:v>
                </c:pt>
                <c:pt idx="216">
                  <c:v>1.27899835</c:v>
                </c:pt>
                <c:pt idx="217">
                  <c:v>1.54215002</c:v>
                </c:pt>
                <c:pt idx="218">
                  <c:v>1.53738617</c:v>
                </c:pt>
                <c:pt idx="219">
                  <c:v>1.58327992</c:v>
                </c:pt>
                <c:pt idx="220">
                  <c:v>2.03802685</c:v>
                </c:pt>
                <c:pt idx="221">
                  <c:v>1.92401709</c:v>
                </c:pt>
                <c:pt idx="222">
                  <c:v>1.94834225</c:v>
                </c:pt>
                <c:pt idx="223">
                  <c:v>1.77310149</c:v>
                </c:pt>
                <c:pt idx="224">
                  <c:v>1.65168987</c:v>
                </c:pt>
                <c:pt idx="225">
                  <c:v>1.54146017</c:v>
                </c:pt>
                <c:pt idx="226">
                  <c:v>1.52895507</c:v>
                </c:pt>
                <c:pt idx="227">
                  <c:v>1.65864704</c:v>
                </c:pt>
                <c:pt idx="228">
                  <c:v>1.57484744</c:v>
                </c:pt>
                <c:pt idx="229">
                  <c:v>1.33825169</c:v>
                </c:pt>
                <c:pt idx="230">
                  <c:v>1.48962383</c:v>
                </c:pt>
                <c:pt idx="231">
                  <c:v>1.48057736</c:v>
                </c:pt>
                <c:pt idx="232">
                  <c:v>1.49735365</c:v>
                </c:pt>
                <c:pt idx="233">
                  <c:v>1.5566345</c:v>
                </c:pt>
                <c:pt idx="234">
                  <c:v>1.55709813</c:v>
                </c:pt>
                <c:pt idx="235">
                  <c:v>1.78798325</c:v>
                </c:pt>
                <c:pt idx="236">
                  <c:v>1.7709198</c:v>
                </c:pt>
                <c:pt idx="237">
                  <c:v>1.79236391</c:v>
                </c:pt>
                <c:pt idx="238">
                  <c:v>1.7934856</c:v>
                </c:pt>
                <c:pt idx="239">
                  <c:v>1.79364057</c:v>
                </c:pt>
                <c:pt idx="240">
                  <c:v>1.79816076</c:v>
                </c:pt>
                <c:pt idx="241">
                  <c:v>1.85885718</c:v>
                </c:pt>
                <c:pt idx="242">
                  <c:v>1.84421873</c:v>
                </c:pt>
                <c:pt idx="243">
                  <c:v>1.92607034</c:v>
                </c:pt>
                <c:pt idx="244">
                  <c:v>1.54911647</c:v>
                </c:pt>
                <c:pt idx="245">
                  <c:v>1.72069912</c:v>
                </c:pt>
                <c:pt idx="246">
                  <c:v>1.6667419</c:v>
                </c:pt>
                <c:pt idx="247">
                  <c:v>1.67905384</c:v>
                </c:pt>
                <c:pt idx="248">
                  <c:v>1.65924771</c:v>
                </c:pt>
                <c:pt idx="249">
                  <c:v>1.78944217</c:v>
                </c:pt>
                <c:pt idx="250">
                  <c:v>1.78445813</c:v>
                </c:pt>
                <c:pt idx="251">
                  <c:v>1.82331403</c:v>
                </c:pt>
                <c:pt idx="252">
                  <c:v>1.92713307</c:v>
                </c:pt>
                <c:pt idx="253">
                  <c:v>2.00228328</c:v>
                </c:pt>
                <c:pt idx="254">
                  <c:v>1.87151652</c:v>
                </c:pt>
                <c:pt idx="255">
                  <c:v>1.63968587</c:v>
                </c:pt>
                <c:pt idx="256">
                  <c:v>0.99990549</c:v>
                </c:pt>
                <c:pt idx="257">
                  <c:v>1.27499255</c:v>
                </c:pt>
                <c:pt idx="258">
                  <c:v>1.20534603</c:v>
                </c:pt>
                <c:pt idx="259">
                  <c:v>1.15274064</c:v>
                </c:pt>
                <c:pt idx="260">
                  <c:v>1.13903894</c:v>
                </c:pt>
                <c:pt idx="261">
                  <c:v>1.09261354</c:v>
                </c:pt>
                <c:pt idx="262">
                  <c:v>1.12116389</c:v>
                </c:pt>
                <c:pt idx="263">
                  <c:v>1.0227361</c:v>
                </c:pt>
                <c:pt idx="264">
                  <c:v>1.07184396</c:v>
                </c:pt>
              </c:numCache>
            </c:numRef>
          </c:yVal>
        </c:ser>
        <c:ser>
          <c:idx val="4"/>
          <c:order val="4"/>
          <c:tx>
            <c:v>Equal-weight blend</c:v>
          </c:tx>
          <c:spPr>
            <a:solidFill xmlns:a="http://schemas.openxmlformats.org/drawingml/2006/main">
              <a:srgbClr val="16816B"/>
            </a:solidFill>
            <a:ln xmlns:a="http://schemas.openxmlformats.org/drawingml/2006/main" w="20003">
              <a:solidFill>
                <a:srgbClr val="16816B"/>
              </a:solidFill>
            </a:ln>
          </c:spPr>
          <c:marker>
            <c:symbol val="none"/>
          </c:marker>
          <c:xVal>
            <c:numRef>
              <c:f>'Chart Data'!$I$2:$I$266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Data'!$J$2:$J$266</c:f>
              <c:numCache>
                <c:formatCode>0.000</c:formatCode>
                <c:ptCount val="265"/>
                <c:pt idx="0">
                  <c:v>2.82311996</c:v>
                </c:pt>
                <c:pt idx="1">
                  <c:v>2.7652166</c:v>
                </c:pt>
                <c:pt idx="2">
                  <c:v>3.31144537</c:v>
                </c:pt>
                <c:pt idx="3">
                  <c:v>3.33067411</c:v>
                </c:pt>
                <c:pt idx="4">
                  <c:v>3.32916859</c:v>
                </c:pt>
                <c:pt idx="5">
                  <c:v>3.25745119</c:v>
                </c:pt>
                <c:pt idx="6">
                  <c:v>3.14980273</c:v>
                </c:pt>
                <c:pt idx="7">
                  <c:v>3.140979</c:v>
                </c:pt>
                <c:pt idx="8">
                  <c:v>3.05782287</c:v>
                </c:pt>
                <c:pt idx="9">
                  <c:v>2.9228538</c:v>
                </c:pt>
                <c:pt idx="10">
                  <c:v>3.12307907</c:v>
                </c:pt>
                <c:pt idx="11">
                  <c:v>3.19985219</c:v>
                </c:pt>
                <c:pt idx="12">
                  <c:v>3.19212593</c:v>
                </c:pt>
                <c:pt idx="13">
                  <c:v>3.09803792</c:v>
                </c:pt>
                <c:pt idx="14">
                  <c:v>3.05599689</c:v>
                </c:pt>
                <c:pt idx="15">
                  <c:v>2.90744515</c:v>
                </c:pt>
                <c:pt idx="16">
                  <c:v>2.54124752</c:v>
                </c:pt>
                <c:pt idx="17">
                  <c:v>2.52565231</c:v>
                </c:pt>
                <c:pt idx="18">
                  <c:v>2.77979383</c:v>
                </c:pt>
                <c:pt idx="19">
                  <c:v>2.83028151</c:v>
                </c:pt>
                <c:pt idx="20">
                  <c:v>2.83491773</c:v>
                </c:pt>
                <c:pt idx="21">
                  <c:v>2.82023677</c:v>
                </c:pt>
                <c:pt idx="22">
                  <c:v>3.07814905</c:v>
                </c:pt>
                <c:pt idx="23">
                  <c:v>3.39258472</c:v>
                </c:pt>
                <c:pt idx="24">
                  <c:v>3.43909599</c:v>
                </c:pt>
                <c:pt idx="25">
                  <c:v>3.30759164</c:v>
                </c:pt>
                <c:pt idx="26">
                  <c:v>3.68157501</c:v>
                </c:pt>
                <c:pt idx="27">
                  <c:v>3.87630637</c:v>
                </c:pt>
                <c:pt idx="28">
                  <c:v>3.80662708</c:v>
                </c:pt>
                <c:pt idx="29">
                  <c:v>4.02789152</c:v>
                </c:pt>
                <c:pt idx="30">
                  <c:v>4.07847521</c:v>
                </c:pt>
                <c:pt idx="31">
                  <c:v>3.86204072</c:v>
                </c:pt>
                <c:pt idx="32">
                  <c:v>3.5178701</c:v>
                </c:pt>
                <c:pt idx="33">
                  <c:v>3.70652131</c:v>
                </c:pt>
                <c:pt idx="34">
                  <c:v>3.52377433</c:v>
                </c:pt>
                <c:pt idx="35">
                  <c:v>3.53805182</c:v>
                </c:pt>
                <c:pt idx="36">
                  <c:v>3.54260419</c:v>
                </c:pt>
                <c:pt idx="37">
                  <c:v>3.36993138</c:v>
                </c:pt>
                <c:pt idx="38">
                  <c:v>3.3712059</c:v>
                </c:pt>
                <c:pt idx="39">
                  <c:v>3.37611743</c:v>
                </c:pt>
                <c:pt idx="40">
                  <c:v>3.16911329</c:v>
                </c:pt>
                <c:pt idx="41">
                  <c:v>3.28910305</c:v>
                </c:pt>
                <c:pt idx="42">
                  <c:v>3.22048752</c:v>
                </c:pt>
                <c:pt idx="43">
                  <c:v>3.16797222</c:v>
                </c:pt>
                <c:pt idx="44">
                  <c:v>3.24574512</c:v>
                </c:pt>
                <c:pt idx="45">
                  <c:v>3.39847146</c:v>
                </c:pt>
                <c:pt idx="46">
                  <c:v>3.28946572</c:v>
                </c:pt>
                <c:pt idx="47">
                  <c:v>3.29516722</c:v>
                </c:pt>
                <c:pt idx="48">
                  <c:v>3.23090111</c:v>
                </c:pt>
                <c:pt idx="49">
                  <c:v>2.98287721</c:v>
                </c:pt>
                <c:pt idx="50">
                  <c:v>2.90286635</c:v>
                </c:pt>
                <c:pt idx="51">
                  <c:v>2.77359905</c:v>
                </c:pt>
                <c:pt idx="52">
                  <c:v>3.14239793</c:v>
                </c:pt>
                <c:pt idx="53">
                  <c:v>3.34975991</c:v>
                </c:pt>
                <c:pt idx="54">
                  <c:v>3.34862324</c:v>
                </c:pt>
                <c:pt idx="55">
                  <c:v>3.3422461</c:v>
                </c:pt>
                <c:pt idx="56">
                  <c:v>3.18189408</c:v>
                </c:pt>
                <c:pt idx="57">
                  <c:v>3.07098531</c:v>
                </c:pt>
                <c:pt idx="58">
                  <c:v>2.9426817</c:v>
                </c:pt>
                <c:pt idx="59">
                  <c:v>2.71983213</c:v>
                </c:pt>
                <c:pt idx="60">
                  <c:v>2.08482601</c:v>
                </c:pt>
                <c:pt idx="61">
                  <c:v>2.15100198</c:v>
                </c:pt>
                <c:pt idx="62">
                  <c:v>0.81768806</c:v>
                </c:pt>
                <c:pt idx="63">
                  <c:v>0.92356059</c:v>
                </c:pt>
                <c:pt idx="64">
                  <c:v>1.00707724</c:v>
                </c:pt>
                <c:pt idx="65">
                  <c:v>0.95639075</c:v>
                </c:pt>
                <c:pt idx="66">
                  <c:v>0.90475184</c:v>
                </c:pt>
                <c:pt idx="67">
                  <c:v>1.06767292</c:v>
                </c:pt>
                <c:pt idx="68">
                  <c:v>1.12712924</c:v>
                </c:pt>
                <c:pt idx="69">
                  <c:v>1.2138136</c:v>
                </c:pt>
                <c:pt idx="70">
                  <c:v>1.3120569</c:v>
                </c:pt>
                <c:pt idx="71">
                  <c:v>1.41640457</c:v>
                </c:pt>
                <c:pt idx="72">
                  <c:v>1.47954466</c:v>
                </c:pt>
                <c:pt idx="73">
                  <c:v>1.13854149</c:v>
                </c:pt>
                <c:pt idx="74">
                  <c:v>1.23838663</c:v>
                </c:pt>
                <c:pt idx="75">
                  <c:v>1.27803474</c:v>
                </c:pt>
                <c:pt idx="76">
                  <c:v>1.32593808</c:v>
                </c:pt>
                <c:pt idx="77">
                  <c:v>1.36102692</c:v>
                </c:pt>
                <c:pt idx="78">
                  <c:v>1.38061157</c:v>
                </c:pt>
                <c:pt idx="79">
                  <c:v>1.4644529</c:v>
                </c:pt>
                <c:pt idx="80">
                  <c:v>1.48263505</c:v>
                </c:pt>
                <c:pt idx="81">
                  <c:v>1.47978691</c:v>
                </c:pt>
                <c:pt idx="82">
                  <c:v>1.3910635</c:v>
                </c:pt>
                <c:pt idx="83">
                  <c:v>1.27599238</c:v>
                </c:pt>
                <c:pt idx="84">
                  <c:v>1.28564984</c:v>
                </c:pt>
                <c:pt idx="85">
                  <c:v>1.42718216</c:v>
                </c:pt>
                <c:pt idx="86">
                  <c:v>1.53203935</c:v>
                </c:pt>
                <c:pt idx="87">
                  <c:v>1.61157851</c:v>
                </c:pt>
                <c:pt idx="88">
                  <c:v>1.66336704</c:v>
                </c:pt>
                <c:pt idx="89">
                  <c:v>1.68845624</c:v>
                </c:pt>
                <c:pt idx="90">
                  <c:v>1.68786114</c:v>
                </c:pt>
                <c:pt idx="91">
                  <c:v>1.63246991</c:v>
                </c:pt>
                <c:pt idx="92">
                  <c:v>1.64958028</c:v>
                </c:pt>
                <c:pt idx="93">
                  <c:v>1.65691349</c:v>
                </c:pt>
                <c:pt idx="94">
                  <c:v>1.60062009</c:v>
                </c:pt>
                <c:pt idx="95">
                  <c:v>1.44185727</c:v>
                </c:pt>
                <c:pt idx="96">
                  <c:v>1.68913648</c:v>
                </c:pt>
                <c:pt idx="97">
                  <c:v>1.64575771</c:v>
                </c:pt>
                <c:pt idx="98">
                  <c:v>2.20090084</c:v>
                </c:pt>
                <c:pt idx="99">
                  <c:v>2.0436283</c:v>
                </c:pt>
                <c:pt idx="100">
                  <c:v>1.99474933</c:v>
                </c:pt>
                <c:pt idx="101">
                  <c:v>2.03023646</c:v>
                </c:pt>
                <c:pt idx="102">
                  <c:v>2.04535997</c:v>
                </c:pt>
                <c:pt idx="103">
                  <c:v>1.98541542</c:v>
                </c:pt>
                <c:pt idx="104">
                  <c:v>2.01190884</c:v>
                </c:pt>
                <c:pt idx="105">
                  <c:v>1.93075381</c:v>
                </c:pt>
                <c:pt idx="106">
                  <c:v>1.91430579</c:v>
                </c:pt>
                <c:pt idx="107">
                  <c:v>1.79933135</c:v>
                </c:pt>
                <c:pt idx="108">
                  <c:v>1.75058329</c:v>
                </c:pt>
                <c:pt idx="109">
                  <c:v>2.34733911</c:v>
                </c:pt>
                <c:pt idx="110">
                  <c:v>2.51699334</c:v>
                </c:pt>
                <c:pt idx="111">
                  <c:v>2.43260104</c:v>
                </c:pt>
                <c:pt idx="112">
                  <c:v>2.37202522</c:v>
                </c:pt>
                <c:pt idx="113">
                  <c:v>2.25855516</c:v>
                </c:pt>
                <c:pt idx="114">
                  <c:v>2.34816126</c:v>
                </c:pt>
                <c:pt idx="115">
                  <c:v>2.33156389</c:v>
                </c:pt>
                <c:pt idx="116">
                  <c:v>2.30542695</c:v>
                </c:pt>
                <c:pt idx="117">
                  <c:v>2.32881247</c:v>
                </c:pt>
                <c:pt idx="118">
                  <c:v>2.53889472</c:v>
                </c:pt>
                <c:pt idx="119">
                  <c:v>2.76801535</c:v>
                </c:pt>
                <c:pt idx="120">
                  <c:v>2.61356047</c:v>
                </c:pt>
                <c:pt idx="121">
                  <c:v>2.58951976</c:v>
                </c:pt>
                <c:pt idx="122">
                  <c:v>2.56044128</c:v>
                </c:pt>
                <c:pt idx="123">
                  <c:v>2.48562789</c:v>
                </c:pt>
                <c:pt idx="124">
                  <c:v>2.44835144</c:v>
                </c:pt>
                <c:pt idx="125">
                  <c:v>2.29549895</c:v>
                </c:pt>
                <c:pt idx="126">
                  <c:v>2.25697098</c:v>
                </c:pt>
                <c:pt idx="127">
                  <c:v>2.27382865</c:v>
                </c:pt>
                <c:pt idx="128">
                  <c:v>2.34780294</c:v>
                </c:pt>
                <c:pt idx="129">
                  <c:v>2.41254921</c:v>
                </c:pt>
                <c:pt idx="130">
                  <c:v>2.55003907</c:v>
                </c:pt>
                <c:pt idx="131">
                  <c:v>3.61392752</c:v>
                </c:pt>
                <c:pt idx="132">
                  <c:v>3.96344673</c:v>
                </c:pt>
                <c:pt idx="133">
                  <c:v>4.18067335</c:v>
                </c:pt>
                <c:pt idx="134">
                  <c:v>4.6482461</c:v>
                </c:pt>
                <c:pt idx="135">
                  <c:v>4.98039882</c:v>
                </c:pt>
                <c:pt idx="136">
                  <c:v>4.8565948</c:v>
                </c:pt>
                <c:pt idx="137">
                  <c:v>4.648819</c:v>
                </c:pt>
                <c:pt idx="138">
                  <c:v>4.57503947</c:v>
                </c:pt>
                <c:pt idx="139">
                  <c:v>4.54599639</c:v>
                </c:pt>
                <c:pt idx="140">
                  <c:v>4.5225574</c:v>
                </c:pt>
                <c:pt idx="141">
                  <c:v>4.306889</c:v>
                </c:pt>
                <c:pt idx="142">
                  <c:v>4.26986082</c:v>
                </c:pt>
                <c:pt idx="143">
                  <c:v>4.3321774</c:v>
                </c:pt>
                <c:pt idx="144">
                  <c:v>4.39569597</c:v>
                </c:pt>
                <c:pt idx="145">
                  <c:v>4.12771352</c:v>
                </c:pt>
                <c:pt idx="146">
                  <c:v>4.20163014</c:v>
                </c:pt>
                <c:pt idx="147">
                  <c:v>4.18552866</c:v>
                </c:pt>
                <c:pt idx="148">
                  <c:v>4.34305592</c:v>
                </c:pt>
                <c:pt idx="149">
                  <c:v>4.48195375</c:v>
                </c:pt>
                <c:pt idx="150">
                  <c:v>4.28510183</c:v>
                </c:pt>
                <c:pt idx="151">
                  <c:v>4.11388743</c:v>
                </c:pt>
                <c:pt idx="152">
                  <c:v>3.9442857</c:v>
                </c:pt>
                <c:pt idx="153">
                  <c:v>3.96041771</c:v>
                </c:pt>
                <c:pt idx="154">
                  <c:v>4.07882474</c:v>
                </c:pt>
                <c:pt idx="155">
                  <c:v>4.102426</c:v>
                </c:pt>
                <c:pt idx="156">
                  <c:v>4.6745157</c:v>
                </c:pt>
                <c:pt idx="157">
                  <c:v>3.98267135</c:v>
                </c:pt>
                <c:pt idx="158">
                  <c:v>3.89385871</c:v>
                </c:pt>
                <c:pt idx="159">
                  <c:v>3.97856196</c:v>
                </c:pt>
                <c:pt idx="160">
                  <c:v>3.93213169</c:v>
                </c:pt>
                <c:pt idx="161">
                  <c:v>4.21608838</c:v>
                </c:pt>
                <c:pt idx="162">
                  <c:v>2.34101433</c:v>
                </c:pt>
                <c:pt idx="163">
                  <c:v>2.4335192</c:v>
                </c:pt>
                <c:pt idx="164">
                  <c:v>2.24458231</c:v>
                </c:pt>
                <c:pt idx="165">
                  <c:v>2.00775995</c:v>
                </c:pt>
                <c:pt idx="166">
                  <c:v>1.61827719</c:v>
                </c:pt>
                <c:pt idx="167">
                  <c:v>1.65597823</c:v>
                </c:pt>
                <c:pt idx="168">
                  <c:v>1.78319405</c:v>
                </c:pt>
                <c:pt idx="169">
                  <c:v>1.52159236</c:v>
                </c:pt>
                <c:pt idx="170">
                  <c:v>1.10905995</c:v>
                </c:pt>
                <c:pt idx="171">
                  <c:v>0.97167622</c:v>
                </c:pt>
                <c:pt idx="172">
                  <c:v>0.47849087</c:v>
                </c:pt>
                <c:pt idx="173">
                  <c:v>0.55597789</c:v>
                </c:pt>
                <c:pt idx="174">
                  <c:v>0.57971593</c:v>
                </c:pt>
                <c:pt idx="175">
                  <c:v>0.64142779</c:v>
                </c:pt>
                <c:pt idx="176">
                  <c:v>0.30896754</c:v>
                </c:pt>
                <c:pt idx="177">
                  <c:v>0.39210126</c:v>
                </c:pt>
                <c:pt idx="178">
                  <c:v>0.38344296</c:v>
                </c:pt>
                <c:pt idx="179">
                  <c:v>0.40826969</c:v>
                </c:pt>
                <c:pt idx="180">
                  <c:v>0.35856694</c:v>
                </c:pt>
                <c:pt idx="181">
                  <c:v>0.34241804</c:v>
                </c:pt>
                <c:pt idx="182">
                  <c:v>0.33852012</c:v>
                </c:pt>
                <c:pt idx="183">
                  <c:v>0.32386917</c:v>
                </c:pt>
                <c:pt idx="184">
                  <c:v>0.14142342</c:v>
                </c:pt>
                <c:pt idx="185">
                  <c:v>0.05945247</c:v>
                </c:pt>
                <c:pt idx="186">
                  <c:v>0.05129383</c:v>
                </c:pt>
                <c:pt idx="187">
                  <c:v>0.05889239</c:v>
                </c:pt>
                <c:pt idx="188">
                  <c:v>0.11069972</c:v>
                </c:pt>
                <c:pt idx="189">
                  <c:v>0.14482806</c:v>
                </c:pt>
                <c:pt idx="190">
                  <c:v>0.1163527</c:v>
                </c:pt>
                <c:pt idx="191">
                  <c:v>0.06572721</c:v>
                </c:pt>
                <c:pt idx="192">
                  <c:v>-0.02668474</c:v>
                </c:pt>
                <c:pt idx="193">
                  <c:v>0.01519029</c:v>
                </c:pt>
                <c:pt idx="194">
                  <c:v>-0.17560786</c:v>
                </c:pt>
                <c:pt idx="195">
                  <c:v>-0.16550396</c:v>
                </c:pt>
                <c:pt idx="196">
                  <c:v>-0.246764</c:v>
                </c:pt>
                <c:pt idx="197">
                  <c:v>-0.27363125</c:v>
                </c:pt>
                <c:pt idx="198">
                  <c:v>-0.06862427</c:v>
                </c:pt>
                <c:pt idx="199">
                  <c:v>-0.23075655</c:v>
                </c:pt>
                <c:pt idx="200">
                  <c:v>-0.07361317</c:v>
                </c:pt>
                <c:pt idx="201">
                  <c:v>0.05824194</c:v>
                </c:pt>
                <c:pt idx="202">
                  <c:v>0.38294208</c:v>
                </c:pt>
                <c:pt idx="203">
                  <c:v>0.40979661</c:v>
                </c:pt>
                <c:pt idx="204">
                  <c:v>0.31184567</c:v>
                </c:pt>
                <c:pt idx="205">
                  <c:v>0.42476312</c:v>
                </c:pt>
                <c:pt idx="206">
                  <c:v>0.6008148</c:v>
                </c:pt>
                <c:pt idx="207">
                  <c:v>0.6671799</c:v>
                </c:pt>
                <c:pt idx="208">
                  <c:v>1.23745054</c:v>
                </c:pt>
                <c:pt idx="209">
                  <c:v>1.17054074</c:v>
                </c:pt>
                <c:pt idx="210">
                  <c:v>1.15537757</c:v>
                </c:pt>
                <c:pt idx="211">
                  <c:v>1.1180386</c:v>
                </c:pt>
                <c:pt idx="212">
                  <c:v>1.80578976</c:v>
                </c:pt>
                <c:pt idx="213">
                  <c:v>1.661425</c:v>
                </c:pt>
                <c:pt idx="214">
                  <c:v>1.72525096</c:v>
                </c:pt>
                <c:pt idx="215">
                  <c:v>1.72104351</c:v>
                </c:pt>
                <c:pt idx="216">
                  <c:v>1.61070758</c:v>
                </c:pt>
                <c:pt idx="217">
                  <c:v>1.78367083</c:v>
                </c:pt>
                <c:pt idx="218">
                  <c:v>1.8055575</c:v>
                </c:pt>
                <c:pt idx="219">
                  <c:v>1.72589372</c:v>
                </c:pt>
                <c:pt idx="220">
                  <c:v>2.04877115</c:v>
                </c:pt>
                <c:pt idx="221">
                  <c:v>1.92711566</c:v>
                </c:pt>
                <c:pt idx="222">
                  <c:v>1.97154981</c:v>
                </c:pt>
                <c:pt idx="223">
                  <c:v>1.88451264</c:v>
                </c:pt>
                <c:pt idx="224">
                  <c:v>1.74391172</c:v>
                </c:pt>
                <c:pt idx="225">
                  <c:v>1.58303933</c:v>
                </c:pt>
                <c:pt idx="226">
                  <c:v>1.65947302</c:v>
                </c:pt>
                <c:pt idx="227">
                  <c:v>1.72122264</c:v>
                </c:pt>
                <c:pt idx="228">
                  <c:v>1.70777731</c:v>
                </c:pt>
                <c:pt idx="229">
                  <c:v>1.56368391</c:v>
                </c:pt>
                <c:pt idx="230">
                  <c:v>1.7136477</c:v>
                </c:pt>
                <c:pt idx="231">
                  <c:v>1.7144039</c:v>
                </c:pt>
                <c:pt idx="232">
                  <c:v>1.76444725</c:v>
                </c:pt>
                <c:pt idx="233">
                  <c:v>1.82218662</c:v>
                </c:pt>
                <c:pt idx="234">
                  <c:v>1.78534022</c:v>
                </c:pt>
                <c:pt idx="235">
                  <c:v>1.93457671</c:v>
                </c:pt>
                <c:pt idx="236">
                  <c:v>1.79244571</c:v>
                </c:pt>
                <c:pt idx="237">
                  <c:v>1.78721533</c:v>
                </c:pt>
                <c:pt idx="238">
                  <c:v>1.79851185</c:v>
                </c:pt>
                <c:pt idx="239">
                  <c:v>1.78449557</c:v>
                </c:pt>
                <c:pt idx="240">
                  <c:v>1.71276021</c:v>
                </c:pt>
                <c:pt idx="241">
                  <c:v>1.78771928</c:v>
                </c:pt>
                <c:pt idx="242">
                  <c:v>1.9078237</c:v>
                </c:pt>
                <c:pt idx="243">
                  <c:v>2.02602081</c:v>
                </c:pt>
                <c:pt idx="244">
                  <c:v>1.67494548</c:v>
                </c:pt>
                <c:pt idx="245">
                  <c:v>1.76141013</c:v>
                </c:pt>
                <c:pt idx="246">
                  <c:v>1.7395213</c:v>
                </c:pt>
                <c:pt idx="247">
                  <c:v>1.76195468</c:v>
                </c:pt>
                <c:pt idx="248">
                  <c:v>1.83784598</c:v>
                </c:pt>
                <c:pt idx="249">
                  <c:v>1.98800325</c:v>
                </c:pt>
                <c:pt idx="250">
                  <c:v>1.84970932</c:v>
                </c:pt>
                <c:pt idx="251">
                  <c:v>1.85782361</c:v>
                </c:pt>
                <c:pt idx="252">
                  <c:v>2.06577564</c:v>
                </c:pt>
                <c:pt idx="253">
                  <c:v>2.08760438</c:v>
                </c:pt>
                <c:pt idx="254">
                  <c:v>2.00146646</c:v>
                </c:pt>
                <c:pt idx="255">
                  <c:v>1.91361459</c:v>
                </c:pt>
                <c:pt idx="256">
                  <c:v>0.9577319</c:v>
                </c:pt>
                <c:pt idx="257">
                  <c:v>1.22200924</c:v>
                </c:pt>
                <c:pt idx="258">
                  <c:v>1.25205386</c:v>
                </c:pt>
                <c:pt idx="259">
                  <c:v>1.14718717</c:v>
                </c:pt>
                <c:pt idx="260">
                  <c:v>1.14219281</c:v>
                </c:pt>
                <c:pt idx="261">
                  <c:v>1.09972289</c:v>
                </c:pt>
                <c:pt idx="262">
                  <c:v>1.13739135</c:v>
                </c:pt>
                <c:pt idx="263">
                  <c:v>1.06756159</c:v>
                </c:pt>
                <c:pt idx="264">
                  <c:v>1.1391027</c:v>
                </c:pt>
              </c:numCache>
            </c:numRef>
          </c:y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1"/>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Annualized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valAx>
      <c:valAx>
        <c:axId val="48650112"/>
        <c:scaling>
          <c:orientation val="minMax"/>
          <c:max val="2017"/>
          <c:min val="1992"/>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Paper GAN</c:v>
          </c:tx>
          <c:spPr>
            <a:solidFill xmlns:a="http://schemas.openxmlformats.org/drawingml/2006/main">
              <a:srgbClr val="94A3B8"/>
            </a:solidFill>
            <a:ln xmlns:a="http://schemas.openxmlformats.org/drawingml/2006/main" w="20003">
              <a:solidFill>
                <a:srgbClr val="94A3B8"/>
              </a:solidFill>
            </a:ln>
          </c:spPr>
          <c:marker>
            <c:symbol val="none"/>
          </c:marker>
          <c:xVal>
            <c:numRef>
              <c:f>'Chart Data'!$A$2:$A$242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Data'!$B$2:$B$242</c:f>
              <c:numCache>
                <c:formatCode>0.000</c:formatCode>
                <c:ptCount val="241"/>
                <c:pt idx="0">
                  <c:v>5.14065271</c:v>
                </c:pt>
                <c:pt idx="1">
                  <c:v>5.59189431</c:v>
                </c:pt>
                <c:pt idx="2">
                  <c:v>6.42948066</c:v>
                </c:pt>
                <c:pt idx="3">
                  <c:v>6.51849932</c:v>
                </c:pt>
                <c:pt idx="4">
                  <c:v>6.55224867</c:v>
                </c:pt>
                <c:pt idx="5">
                  <c:v>6.54275915</c:v>
                </c:pt>
                <c:pt idx="6">
                  <c:v>6.56264383</c:v>
                </c:pt>
                <c:pt idx="7">
                  <c:v>6.49641713</c:v>
                </c:pt>
                <c:pt idx="8">
                  <c:v>6.28659746</c:v>
                </c:pt>
                <c:pt idx="9">
                  <c:v>6.25050476</c:v>
                </c:pt>
                <c:pt idx="10">
                  <c:v>6.34388987</c:v>
                </c:pt>
                <c:pt idx="11">
                  <c:v>6.33099288</c:v>
                </c:pt>
                <c:pt idx="12">
                  <c:v>6.3443321</c:v>
                </c:pt>
                <c:pt idx="13">
                  <c:v>6.39020023</c:v>
                </c:pt>
                <c:pt idx="14">
                  <c:v>6.40362432</c:v>
                </c:pt>
                <c:pt idx="15">
                  <c:v>6.46495168</c:v>
                </c:pt>
                <c:pt idx="16">
                  <c:v>6.3787665</c:v>
                </c:pt>
                <c:pt idx="17">
                  <c:v>6.90310164</c:v>
                </c:pt>
                <c:pt idx="18">
                  <c:v>6.84896442</c:v>
                </c:pt>
                <c:pt idx="19">
                  <c:v>6.70550164</c:v>
                </c:pt>
                <c:pt idx="20">
                  <c:v>6.70371629</c:v>
                </c:pt>
                <c:pt idx="21">
                  <c:v>6.64595638</c:v>
                </c:pt>
                <c:pt idx="22">
                  <c:v>6.87362689</c:v>
                </c:pt>
                <c:pt idx="23">
                  <c:v>7.45462075</c:v>
                </c:pt>
                <c:pt idx="24">
                  <c:v>7.47016479</c:v>
                </c:pt>
                <c:pt idx="25">
                  <c:v>7.43570829</c:v>
                </c:pt>
                <c:pt idx="26">
                  <c:v>7.64826227</c:v>
                </c:pt>
                <c:pt idx="27">
                  <c:v>7.12586735</c:v>
                </c:pt>
                <c:pt idx="28">
                  <c:v>6.63003319</c:v>
                </c:pt>
                <c:pt idx="29">
                  <c:v>6.66297462</c:v>
                </c:pt>
                <c:pt idx="30">
                  <c:v>6.6538892</c:v>
                </c:pt>
                <c:pt idx="31">
                  <c:v>6.65008953</c:v>
                </c:pt>
                <c:pt idx="32">
                  <c:v>6.647978</c:v>
                </c:pt>
                <c:pt idx="33">
                  <c:v>6.61651874</c:v>
                </c:pt>
                <c:pt idx="34">
                  <c:v>6.54071277</c:v>
                </c:pt>
                <c:pt idx="35">
                  <c:v>6.60256575</c:v>
                </c:pt>
                <c:pt idx="36">
                  <c:v>6.66438244</c:v>
                </c:pt>
                <c:pt idx="37">
                  <c:v>6.20421348</c:v>
                </c:pt>
                <c:pt idx="38">
                  <c:v>6.05364193</c:v>
                </c:pt>
                <c:pt idx="39">
                  <c:v>6.0400521</c:v>
                </c:pt>
                <c:pt idx="40">
                  <c:v>5.80790748</c:v>
                </c:pt>
                <c:pt idx="41">
                  <c:v>5.61727448</c:v>
                </c:pt>
                <c:pt idx="42">
                  <c:v>5.56721775</c:v>
                </c:pt>
                <c:pt idx="43">
                  <c:v>5.56080104</c:v>
                </c:pt>
                <c:pt idx="44">
                  <c:v>5.58046072</c:v>
                </c:pt>
                <c:pt idx="45">
                  <c:v>5.58037546</c:v>
                </c:pt>
                <c:pt idx="46">
                  <c:v>5.52727741</c:v>
                </c:pt>
                <c:pt idx="47">
                  <c:v>5.46994447</c:v>
                </c:pt>
                <c:pt idx="48">
                  <c:v>5.45899726</c:v>
                </c:pt>
                <c:pt idx="49">
                  <c:v>5.41023679</c:v>
                </c:pt>
                <c:pt idx="50">
                  <c:v>4.95593045</c:v>
                </c:pt>
                <c:pt idx="51">
                  <c:v>5.02786061</c:v>
                </c:pt>
                <c:pt idx="52">
                  <c:v>5.21748831</c:v>
                </c:pt>
                <c:pt idx="53">
                  <c:v>5.31909339</c:v>
                </c:pt>
                <c:pt idx="54">
                  <c:v>5.22495316</c:v>
                </c:pt>
                <c:pt idx="55">
                  <c:v>5.24206792</c:v>
                </c:pt>
                <c:pt idx="56">
                  <c:v>5.23253215</c:v>
                </c:pt>
                <c:pt idx="57">
                  <c:v>5.28903989</c:v>
                </c:pt>
                <c:pt idx="58">
                  <c:v>5.24665306</c:v>
                </c:pt>
                <c:pt idx="59">
                  <c:v>5.07628071</c:v>
                </c:pt>
                <c:pt idx="60">
                  <c:v>5.04363274</c:v>
                </c:pt>
                <c:pt idx="61">
                  <c:v>5.03110149</c:v>
                </c:pt>
                <c:pt idx="62">
                  <c:v>5.03133283</c:v>
                </c:pt>
                <c:pt idx="63">
                  <c:v>4.82562913</c:v>
                </c:pt>
                <c:pt idx="64">
                  <c:v>4.82872895</c:v>
                </c:pt>
                <c:pt idx="65">
                  <c:v>4.882349</c:v>
                </c:pt>
                <c:pt idx="66">
                  <c:v>4.88136304</c:v>
                </c:pt>
                <c:pt idx="67">
                  <c:v>4.75805251</c:v>
                </c:pt>
                <c:pt idx="68">
                  <c:v>4.86368736</c:v>
                </c:pt>
                <c:pt idx="69">
                  <c:v>4.92699498</c:v>
                </c:pt>
                <c:pt idx="70">
                  <c:v>4.89238611</c:v>
                </c:pt>
                <c:pt idx="71">
                  <c:v>3.89381127</c:v>
                </c:pt>
                <c:pt idx="72">
                  <c:v>3.79990777</c:v>
                </c:pt>
                <c:pt idx="73">
                  <c:v>3.77821092</c:v>
                </c:pt>
                <c:pt idx="74">
                  <c:v>3.67544902</c:v>
                </c:pt>
                <c:pt idx="75">
                  <c:v>3.5835432</c:v>
                </c:pt>
                <c:pt idx="76">
                  <c:v>3.37113977</c:v>
                </c:pt>
                <c:pt idx="77">
                  <c:v>3.18482176</c:v>
                </c:pt>
                <c:pt idx="78">
                  <c:v>3.10439028</c:v>
                </c:pt>
                <c:pt idx="79">
                  <c:v>2.9959503</c:v>
                </c:pt>
                <c:pt idx="80">
                  <c:v>2.95184167</c:v>
                </c:pt>
                <c:pt idx="81">
                  <c:v>2.94458632</c:v>
                </c:pt>
                <c:pt idx="82">
                  <c:v>2.90833563</c:v>
                </c:pt>
                <c:pt idx="83">
                  <c:v>2.765218</c:v>
                </c:pt>
                <c:pt idx="84">
                  <c:v>2.73306248</c:v>
                </c:pt>
                <c:pt idx="85">
                  <c:v>2.70567636</c:v>
                </c:pt>
                <c:pt idx="86">
                  <c:v>2.68184709</c:v>
                </c:pt>
                <c:pt idx="87">
                  <c:v>2.724272</c:v>
                </c:pt>
                <c:pt idx="88">
                  <c:v>2.75603427</c:v>
                </c:pt>
                <c:pt idx="89">
                  <c:v>2.76422373</c:v>
                </c:pt>
                <c:pt idx="90">
                  <c:v>2.72997623</c:v>
                </c:pt>
                <c:pt idx="91">
                  <c:v>2.69738999</c:v>
                </c:pt>
                <c:pt idx="92">
                  <c:v>2.67878983</c:v>
                </c:pt>
                <c:pt idx="93">
                  <c:v>2.72119172</c:v>
                </c:pt>
                <c:pt idx="94">
                  <c:v>2.65226536</c:v>
                </c:pt>
                <c:pt idx="95">
                  <c:v>2.60980066</c:v>
                </c:pt>
                <c:pt idx="96">
                  <c:v>2.57124334</c:v>
                </c:pt>
                <c:pt idx="97">
                  <c:v>2.56228976</c:v>
                </c:pt>
                <c:pt idx="98">
                  <c:v>2.56723969</c:v>
                </c:pt>
                <c:pt idx="99">
                  <c:v>2.50855528</c:v>
                </c:pt>
                <c:pt idx="100">
                  <c:v>2.59159237</c:v>
                </c:pt>
                <c:pt idx="101">
                  <c:v>2.6540629</c:v>
                </c:pt>
                <c:pt idx="102">
                  <c:v>2.61105987</c:v>
                </c:pt>
                <c:pt idx="103">
                  <c:v>2.53552264</c:v>
                </c:pt>
                <c:pt idx="104">
                  <c:v>2.50191088</c:v>
                </c:pt>
                <c:pt idx="105">
                  <c:v>2.4277202</c:v>
                </c:pt>
                <c:pt idx="106">
                  <c:v>2.39544092</c:v>
                </c:pt>
                <c:pt idx="107">
                  <c:v>2.39675728</c:v>
                </c:pt>
                <c:pt idx="108">
                  <c:v>2.35064248</c:v>
                </c:pt>
                <c:pt idx="109">
                  <c:v>2.32479548</c:v>
                </c:pt>
                <c:pt idx="110">
                  <c:v>2.32272397</c:v>
                </c:pt>
                <c:pt idx="111">
                  <c:v>2.34198011</c:v>
                </c:pt>
                <c:pt idx="112">
                  <c:v>2.27823892</c:v>
                </c:pt>
                <c:pt idx="113">
                  <c:v>2.18723357</c:v>
                </c:pt>
                <c:pt idx="114">
                  <c:v>2.19604377</c:v>
                </c:pt>
                <c:pt idx="115">
                  <c:v>2.16096938</c:v>
                </c:pt>
                <c:pt idx="116">
                  <c:v>2.15981942</c:v>
                </c:pt>
                <c:pt idx="117">
                  <c:v>2.11303624</c:v>
                </c:pt>
                <c:pt idx="118">
                  <c:v>2.08631673</c:v>
                </c:pt>
                <c:pt idx="119">
                  <c:v>2.11191205</c:v>
                </c:pt>
                <c:pt idx="120">
                  <c:v>2.12699014</c:v>
                </c:pt>
                <c:pt idx="121">
                  <c:v>2.03112716</c:v>
                </c:pt>
                <c:pt idx="122">
                  <c:v>1.95445615</c:v>
                </c:pt>
                <c:pt idx="123">
                  <c:v>2.01430278</c:v>
                </c:pt>
                <c:pt idx="124">
                  <c:v>1.9474119</c:v>
                </c:pt>
                <c:pt idx="125">
                  <c:v>1.89132383</c:v>
                </c:pt>
                <c:pt idx="126">
                  <c:v>1.81820553</c:v>
                </c:pt>
                <c:pt idx="127">
                  <c:v>1.69774126</c:v>
                </c:pt>
                <c:pt idx="128">
                  <c:v>1.65317604</c:v>
                </c:pt>
                <c:pt idx="129">
                  <c:v>1.60185749</c:v>
                </c:pt>
                <c:pt idx="130">
                  <c:v>1.59815189</c:v>
                </c:pt>
                <c:pt idx="131">
                  <c:v>2.16320424</c:v>
                </c:pt>
                <c:pt idx="132">
                  <c:v>2.4959639</c:v>
                </c:pt>
                <c:pt idx="133">
                  <c:v>2.46836502</c:v>
                </c:pt>
                <c:pt idx="134">
                  <c:v>2.51804713</c:v>
                </c:pt>
                <c:pt idx="135">
                  <c:v>2.53815516</c:v>
                </c:pt>
                <c:pt idx="136">
                  <c:v>2.99109217</c:v>
                </c:pt>
                <c:pt idx="137">
                  <c:v>3.1253119</c:v>
                </c:pt>
                <c:pt idx="138">
                  <c:v>2.80637148</c:v>
                </c:pt>
                <c:pt idx="139">
                  <c:v>3.01014341</c:v>
                </c:pt>
                <c:pt idx="140">
                  <c:v>2.97859222</c:v>
                </c:pt>
                <c:pt idx="141">
                  <c:v>2.90137721</c:v>
                </c:pt>
                <c:pt idx="142">
                  <c:v>2.8373745</c:v>
                </c:pt>
                <c:pt idx="143">
                  <c:v>3.05778347</c:v>
                </c:pt>
                <c:pt idx="144">
                  <c:v>3.01850746</c:v>
                </c:pt>
                <c:pt idx="145">
                  <c:v>3.00305719</c:v>
                </c:pt>
                <c:pt idx="146">
                  <c:v>2.65027779</c:v>
                </c:pt>
                <c:pt idx="147">
                  <c:v>2.66402952</c:v>
                </c:pt>
                <c:pt idx="148">
                  <c:v>1.44420779</c:v>
                </c:pt>
                <c:pt idx="149">
                  <c:v>1.40902129</c:v>
                </c:pt>
                <c:pt idx="150">
                  <c:v>1.44889476</c:v>
                </c:pt>
                <c:pt idx="151">
                  <c:v>1.43145486</c:v>
                </c:pt>
                <c:pt idx="152">
                  <c:v>1.30840352</c:v>
                </c:pt>
                <c:pt idx="153">
                  <c:v>1.23176499</c:v>
                </c:pt>
                <c:pt idx="154">
                  <c:v>1.2216098</c:v>
                </c:pt>
                <c:pt idx="155">
                  <c:v>1.17880251</c:v>
                </c:pt>
                <c:pt idx="156">
                  <c:v>1.14996105</c:v>
                </c:pt>
                <c:pt idx="157">
                  <c:v>1.12326501</c:v>
                </c:pt>
                <c:pt idx="158">
                  <c:v>1.09370426</c:v>
                </c:pt>
                <c:pt idx="159">
                  <c:v>1.10553081</c:v>
                </c:pt>
                <c:pt idx="160">
                  <c:v>0.98309381</c:v>
                </c:pt>
                <c:pt idx="161">
                  <c:v>0.89932952</c:v>
                </c:pt>
                <c:pt idx="162">
                  <c:v>0.85960397</c:v>
                </c:pt>
                <c:pt idx="163">
                  <c:v>0.88560505</c:v>
                </c:pt>
                <c:pt idx="164">
                  <c:v>0.8416424</c:v>
                </c:pt>
                <c:pt idx="165">
                  <c:v>0.92022999</c:v>
                </c:pt>
                <c:pt idx="166">
                  <c:v>0.95203262</c:v>
                </c:pt>
                <c:pt idx="167">
                  <c:v>0.92643085</c:v>
                </c:pt>
                <c:pt idx="168">
                  <c:v>0.93389692</c:v>
                </c:pt>
                <c:pt idx="169">
                  <c:v>0.92148716</c:v>
                </c:pt>
                <c:pt idx="170">
                  <c:v>0.89609929</c:v>
                </c:pt>
                <c:pt idx="171">
                  <c:v>0.87801284</c:v>
                </c:pt>
                <c:pt idx="172">
                  <c:v>0.89650801</c:v>
                </c:pt>
                <c:pt idx="173">
                  <c:v>0.92480362</c:v>
                </c:pt>
                <c:pt idx="174">
                  <c:v>0.90297112</c:v>
                </c:pt>
                <c:pt idx="175">
                  <c:v>0.86125026</c:v>
                </c:pt>
                <c:pt idx="176">
                  <c:v>0.86024847</c:v>
                </c:pt>
                <c:pt idx="177">
                  <c:v>0.85189087</c:v>
                </c:pt>
                <c:pt idx="178">
                  <c:v>0.92523455</c:v>
                </c:pt>
                <c:pt idx="179">
                  <c:v>0.96470616</c:v>
                </c:pt>
                <c:pt idx="180">
                  <c:v>0.9406617</c:v>
                </c:pt>
                <c:pt idx="181">
                  <c:v>0.98299495</c:v>
                </c:pt>
                <c:pt idx="182">
                  <c:v>1.0181002</c:v>
                </c:pt>
                <c:pt idx="183">
                  <c:v>1.03388346</c:v>
                </c:pt>
                <c:pt idx="184">
                  <c:v>1.03903058</c:v>
                </c:pt>
                <c:pt idx="185">
                  <c:v>1.02878974</c:v>
                </c:pt>
                <c:pt idx="186">
                  <c:v>1.0476662</c:v>
                </c:pt>
                <c:pt idx="187">
                  <c:v>1.12991983</c:v>
                </c:pt>
                <c:pt idx="188">
                  <c:v>1.1034338</c:v>
                </c:pt>
                <c:pt idx="189">
                  <c:v>1.09635906</c:v>
                </c:pt>
                <c:pt idx="190">
                  <c:v>1.11110294</c:v>
                </c:pt>
                <c:pt idx="191">
                  <c:v>1.11895261</c:v>
                </c:pt>
                <c:pt idx="192">
                  <c:v>1.09752194</c:v>
                </c:pt>
                <c:pt idx="193">
                  <c:v>1.12886306</c:v>
                </c:pt>
                <c:pt idx="194">
                  <c:v>1.08322201</c:v>
                </c:pt>
                <c:pt idx="195">
                  <c:v>1.09742904</c:v>
                </c:pt>
                <c:pt idx="196">
                  <c:v>1.053766</c:v>
                </c:pt>
                <c:pt idx="197">
                  <c:v>1.08608427</c:v>
                </c:pt>
                <c:pt idx="198">
                  <c:v>1.17569272</c:v>
                </c:pt>
                <c:pt idx="199">
                  <c:v>1.1409439</c:v>
                </c:pt>
                <c:pt idx="200">
                  <c:v>1.164648</c:v>
                </c:pt>
                <c:pt idx="201">
                  <c:v>1.18723156</c:v>
                </c:pt>
                <c:pt idx="202">
                  <c:v>1.25022682</c:v>
                </c:pt>
                <c:pt idx="203">
                  <c:v>1.21913249</c:v>
                </c:pt>
                <c:pt idx="204">
                  <c:v>1.14124675</c:v>
                </c:pt>
                <c:pt idx="205">
                  <c:v>1.05307025</c:v>
                </c:pt>
                <c:pt idx="206">
                  <c:v>1.16443503</c:v>
                </c:pt>
                <c:pt idx="207">
                  <c:v>1.17834943</c:v>
                </c:pt>
                <c:pt idx="208">
                  <c:v>2.38163004</c:v>
                </c:pt>
                <c:pt idx="209">
                  <c:v>2.39658957</c:v>
                </c:pt>
                <c:pt idx="210">
                  <c:v>2.31312429</c:v>
                </c:pt>
                <c:pt idx="211">
                  <c:v>2.32541755</c:v>
                </c:pt>
                <c:pt idx="212">
                  <c:v>2.58559704</c:v>
                </c:pt>
                <c:pt idx="213">
                  <c:v>2.49959905</c:v>
                </c:pt>
                <c:pt idx="214">
                  <c:v>2.53133425</c:v>
                </c:pt>
                <c:pt idx="215">
                  <c:v>2.59629211</c:v>
                </c:pt>
                <c:pt idx="216">
                  <c:v>2.36195812</c:v>
                </c:pt>
                <c:pt idx="217">
                  <c:v>2.36068454</c:v>
                </c:pt>
                <c:pt idx="218">
                  <c:v>2.45573214</c:v>
                </c:pt>
                <c:pt idx="219">
                  <c:v>2.46088586</c:v>
                </c:pt>
                <c:pt idx="220">
                  <c:v>2.68213713</c:v>
                </c:pt>
                <c:pt idx="221">
                  <c:v>2.78387546</c:v>
                </c:pt>
                <c:pt idx="222">
                  <c:v>2.76431224</c:v>
                </c:pt>
                <c:pt idx="223">
                  <c:v>2.73848314</c:v>
                </c:pt>
                <c:pt idx="224">
                  <c:v>2.73738425</c:v>
                </c:pt>
                <c:pt idx="225">
                  <c:v>2.72520215</c:v>
                </c:pt>
                <c:pt idx="226">
                  <c:v>2.72665711</c:v>
                </c:pt>
                <c:pt idx="227">
                  <c:v>2.76219479</c:v>
                </c:pt>
                <c:pt idx="228">
                  <c:v>2.80247618</c:v>
                </c:pt>
                <c:pt idx="229">
                  <c:v>2.88257055</c:v>
                </c:pt>
                <c:pt idx="230">
                  <c:v>2.82090961</c:v>
                </c:pt>
                <c:pt idx="231">
                  <c:v>2.73484967</c:v>
                </c:pt>
                <c:pt idx="232">
                  <c:v>2.26876461</c:v>
                </c:pt>
                <c:pt idx="233">
                  <c:v>2.32339301</c:v>
                </c:pt>
                <c:pt idx="234">
                  <c:v>2.37047229</c:v>
                </c:pt>
                <c:pt idx="235">
                  <c:v>2.35738163</c:v>
                </c:pt>
                <c:pt idx="236">
                  <c:v>2.23754672</c:v>
                </c:pt>
                <c:pt idx="237">
                  <c:v>2.25125619</c:v>
                </c:pt>
                <c:pt idx="238">
                  <c:v>2.20995298</c:v>
                </c:pt>
                <c:pt idx="239">
                  <c:v>2.12723349</c:v>
                </c:pt>
                <c:pt idx="240">
                  <c:v>2.05246514</c:v>
                </c:pt>
              </c:numCache>
            </c:numRef>
          </c:yVal>
        </c:ser>
        <c:ser>
          <c:idx val="1"/>
          <c:order val="1"/>
          <c:tx>
            <c:v>Replicated GAN</c:v>
          </c:tx>
          <c:spPr>
            <a:solidFill xmlns:a="http://schemas.openxmlformats.org/drawingml/2006/main">
              <a:srgbClr val="003262"/>
            </a:solidFill>
            <a:ln xmlns:a="http://schemas.openxmlformats.org/drawingml/2006/main" w="20003">
              <a:solidFill>
                <a:srgbClr val="003262"/>
              </a:solidFill>
            </a:ln>
          </c:spPr>
          <c:marker>
            <c:symbol val="none"/>
          </c:marker>
          <c:xVal>
            <c:numRef>
              <c:f>'Chart Data'!$C$2:$C$242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Data'!$D$2:$D$242</c:f>
              <c:numCache>
                <c:formatCode>0.000</c:formatCode>
                <c:ptCount val="241"/>
                <c:pt idx="0">
                  <c:v>4.87864504</c:v>
                </c:pt>
                <c:pt idx="1">
                  <c:v>5.26061749</c:v>
                </c:pt>
                <c:pt idx="2">
                  <c:v>5.65881088</c:v>
                </c:pt>
                <c:pt idx="3">
                  <c:v>5.68588701</c:v>
                </c:pt>
                <c:pt idx="4">
                  <c:v>5.70940999</c:v>
                </c:pt>
                <c:pt idx="5">
                  <c:v>5.73897084</c:v>
                </c:pt>
                <c:pt idx="6">
                  <c:v>5.89373413</c:v>
                </c:pt>
                <c:pt idx="7">
                  <c:v>5.89227633</c:v>
                </c:pt>
                <c:pt idx="8">
                  <c:v>5.74077056</c:v>
                </c:pt>
                <c:pt idx="9">
                  <c:v>5.70516275</c:v>
                </c:pt>
                <c:pt idx="10">
                  <c:v>5.77557521</c:v>
                </c:pt>
                <c:pt idx="11">
                  <c:v>5.80974041</c:v>
                </c:pt>
                <c:pt idx="12">
                  <c:v>5.81890205</c:v>
                </c:pt>
                <c:pt idx="13">
                  <c:v>6.09224731</c:v>
                </c:pt>
                <c:pt idx="14">
                  <c:v>6.08958857</c:v>
                </c:pt>
                <c:pt idx="15">
                  <c:v>6.21249071</c:v>
                </c:pt>
                <c:pt idx="16">
                  <c:v>6.08190132</c:v>
                </c:pt>
                <c:pt idx="17">
                  <c:v>6.33811951</c:v>
                </c:pt>
                <c:pt idx="18">
                  <c:v>6.30963268</c:v>
                </c:pt>
                <c:pt idx="19">
                  <c:v>6.29865255</c:v>
                </c:pt>
                <c:pt idx="20">
                  <c:v>6.29501577</c:v>
                </c:pt>
                <c:pt idx="21">
                  <c:v>6.27302026</c:v>
                </c:pt>
                <c:pt idx="22">
                  <c:v>6.48647021</c:v>
                </c:pt>
                <c:pt idx="23">
                  <c:v>6.95917769</c:v>
                </c:pt>
                <c:pt idx="24">
                  <c:v>7.04710144</c:v>
                </c:pt>
                <c:pt idx="25">
                  <c:v>6.99707143</c:v>
                </c:pt>
                <c:pt idx="26">
                  <c:v>7.47360174</c:v>
                </c:pt>
                <c:pt idx="27">
                  <c:v>6.48691911</c:v>
                </c:pt>
                <c:pt idx="28">
                  <c:v>5.48438927</c:v>
                </c:pt>
                <c:pt idx="29">
                  <c:v>5.58336321</c:v>
                </c:pt>
                <c:pt idx="30">
                  <c:v>5.57250268</c:v>
                </c:pt>
                <c:pt idx="31">
                  <c:v>5.63455792</c:v>
                </c:pt>
                <c:pt idx="32">
                  <c:v>5.54428298</c:v>
                </c:pt>
                <c:pt idx="33">
                  <c:v>5.49347015</c:v>
                </c:pt>
                <c:pt idx="34">
                  <c:v>5.49411561</c:v>
                </c:pt>
                <c:pt idx="35">
                  <c:v>5.48411144</c:v>
                </c:pt>
                <c:pt idx="36">
                  <c:v>4.94828763</c:v>
                </c:pt>
                <c:pt idx="37">
                  <c:v>4.92251356</c:v>
                </c:pt>
                <c:pt idx="38">
                  <c:v>2.98401271</c:v>
                </c:pt>
                <c:pt idx="39">
                  <c:v>2.95078745</c:v>
                </c:pt>
                <c:pt idx="40">
                  <c:v>2.94279419</c:v>
                </c:pt>
                <c:pt idx="41">
                  <c:v>2.89804222</c:v>
                </c:pt>
                <c:pt idx="42">
                  <c:v>2.93704819</c:v>
                </c:pt>
                <c:pt idx="43">
                  <c:v>2.99544427</c:v>
                </c:pt>
                <c:pt idx="44">
                  <c:v>3.01758882</c:v>
                </c:pt>
                <c:pt idx="45">
                  <c:v>3.03196172</c:v>
                </c:pt>
                <c:pt idx="46">
                  <c:v>3.00854817</c:v>
                </c:pt>
                <c:pt idx="47">
                  <c:v>3.02185452</c:v>
                </c:pt>
                <c:pt idx="48">
                  <c:v>3.00385509</c:v>
                </c:pt>
                <c:pt idx="49">
                  <c:v>3.00120955</c:v>
                </c:pt>
                <c:pt idx="50">
                  <c:v>2.86408618</c:v>
                </c:pt>
                <c:pt idx="51">
                  <c:v>2.9128901</c:v>
                </c:pt>
                <c:pt idx="52">
                  <c:v>2.97382688</c:v>
                </c:pt>
                <c:pt idx="53">
                  <c:v>3.04296571</c:v>
                </c:pt>
                <c:pt idx="54">
                  <c:v>3.00402228</c:v>
                </c:pt>
                <c:pt idx="55">
                  <c:v>3.02591519</c:v>
                </c:pt>
                <c:pt idx="56">
                  <c:v>3.01898168</c:v>
                </c:pt>
                <c:pt idx="57">
                  <c:v>3.07120231</c:v>
                </c:pt>
                <c:pt idx="58">
                  <c:v>3.00598259</c:v>
                </c:pt>
                <c:pt idx="59">
                  <c:v>2.87590351</c:v>
                </c:pt>
                <c:pt idx="60">
                  <c:v>2.80516647</c:v>
                </c:pt>
                <c:pt idx="61">
                  <c:v>2.81167101</c:v>
                </c:pt>
                <c:pt idx="62">
                  <c:v>2.83294361</c:v>
                </c:pt>
                <c:pt idx="63">
                  <c:v>2.82403162</c:v>
                </c:pt>
                <c:pt idx="64">
                  <c:v>2.86514265</c:v>
                </c:pt>
                <c:pt idx="65">
                  <c:v>2.88949884</c:v>
                </c:pt>
                <c:pt idx="66">
                  <c:v>2.90126843</c:v>
                </c:pt>
                <c:pt idx="67">
                  <c:v>2.91962295</c:v>
                </c:pt>
                <c:pt idx="68">
                  <c:v>2.98270661</c:v>
                </c:pt>
                <c:pt idx="69">
                  <c:v>3.02970475</c:v>
                </c:pt>
                <c:pt idx="70">
                  <c:v>3.01489875</c:v>
                </c:pt>
                <c:pt idx="71">
                  <c:v>2.54925506</c:v>
                </c:pt>
                <c:pt idx="72">
                  <c:v>2.56806816</c:v>
                </c:pt>
                <c:pt idx="73">
                  <c:v>2.52685339</c:v>
                </c:pt>
                <c:pt idx="74">
                  <c:v>2.45571817</c:v>
                </c:pt>
                <c:pt idx="75">
                  <c:v>2.40300081</c:v>
                </c:pt>
                <c:pt idx="76">
                  <c:v>2.31289334</c:v>
                </c:pt>
                <c:pt idx="77">
                  <c:v>2.03128718</c:v>
                </c:pt>
                <c:pt idx="78">
                  <c:v>1.98844011</c:v>
                </c:pt>
                <c:pt idx="79">
                  <c:v>1.92418135</c:v>
                </c:pt>
                <c:pt idx="80">
                  <c:v>1.88982258</c:v>
                </c:pt>
                <c:pt idx="81">
                  <c:v>1.88712505</c:v>
                </c:pt>
                <c:pt idx="82">
                  <c:v>1.86810122</c:v>
                </c:pt>
                <c:pt idx="83">
                  <c:v>1.81243372</c:v>
                </c:pt>
                <c:pt idx="84">
                  <c:v>1.80606925</c:v>
                </c:pt>
                <c:pt idx="85">
                  <c:v>1.81555349</c:v>
                </c:pt>
                <c:pt idx="86">
                  <c:v>1.78609377</c:v>
                </c:pt>
                <c:pt idx="87">
                  <c:v>1.84284432</c:v>
                </c:pt>
                <c:pt idx="88">
                  <c:v>1.908345</c:v>
                </c:pt>
                <c:pt idx="89">
                  <c:v>1.90526747</c:v>
                </c:pt>
                <c:pt idx="90">
                  <c:v>1.89081815</c:v>
                </c:pt>
                <c:pt idx="91">
                  <c:v>1.87014267</c:v>
                </c:pt>
                <c:pt idx="92">
                  <c:v>1.86118004</c:v>
                </c:pt>
                <c:pt idx="93">
                  <c:v>1.91307638</c:v>
                </c:pt>
                <c:pt idx="94">
                  <c:v>1.85830453</c:v>
                </c:pt>
                <c:pt idx="95">
                  <c:v>1.89932064</c:v>
                </c:pt>
                <c:pt idx="96">
                  <c:v>1.95325914</c:v>
                </c:pt>
                <c:pt idx="97">
                  <c:v>1.95198207</c:v>
                </c:pt>
                <c:pt idx="98">
                  <c:v>2.39975848</c:v>
                </c:pt>
                <c:pt idx="99">
                  <c:v>2.32873811</c:v>
                </c:pt>
                <c:pt idx="100">
                  <c:v>2.25859002</c:v>
                </c:pt>
                <c:pt idx="101">
                  <c:v>2.31218689</c:v>
                </c:pt>
                <c:pt idx="102">
                  <c:v>2.2696319</c:v>
                </c:pt>
                <c:pt idx="103">
                  <c:v>2.15217061</c:v>
                </c:pt>
                <c:pt idx="104">
                  <c:v>2.13066041</c:v>
                </c:pt>
                <c:pt idx="105">
                  <c:v>2.06583585</c:v>
                </c:pt>
                <c:pt idx="106">
                  <c:v>2.05503467</c:v>
                </c:pt>
                <c:pt idx="107">
                  <c:v>2.01214694</c:v>
                </c:pt>
                <c:pt idx="108">
                  <c:v>1.98815679</c:v>
                </c:pt>
                <c:pt idx="109">
                  <c:v>1.97833796</c:v>
                </c:pt>
                <c:pt idx="110">
                  <c:v>1.97424363</c:v>
                </c:pt>
                <c:pt idx="111">
                  <c:v>1.93319008</c:v>
                </c:pt>
                <c:pt idx="112">
                  <c:v>1.90681755</c:v>
                </c:pt>
                <c:pt idx="113">
                  <c:v>1.84213791</c:v>
                </c:pt>
                <c:pt idx="114">
                  <c:v>1.8550325</c:v>
                </c:pt>
                <c:pt idx="115">
                  <c:v>1.81908761</c:v>
                </c:pt>
                <c:pt idx="116">
                  <c:v>1.79101503</c:v>
                </c:pt>
                <c:pt idx="117">
                  <c:v>1.7513976</c:v>
                </c:pt>
                <c:pt idx="118">
                  <c:v>1.75951122</c:v>
                </c:pt>
                <c:pt idx="119">
                  <c:v>1.83174082</c:v>
                </c:pt>
                <c:pt idx="120">
                  <c:v>1.87595028</c:v>
                </c:pt>
                <c:pt idx="121">
                  <c:v>1.79648635</c:v>
                </c:pt>
                <c:pt idx="122">
                  <c:v>1.72189545</c:v>
                </c:pt>
                <c:pt idx="123">
                  <c:v>1.71417238</c:v>
                </c:pt>
                <c:pt idx="124">
                  <c:v>1.6444696</c:v>
                </c:pt>
                <c:pt idx="125">
                  <c:v>1.59218945</c:v>
                </c:pt>
                <c:pt idx="126">
                  <c:v>1.51818381</c:v>
                </c:pt>
                <c:pt idx="127">
                  <c:v>1.38795966</c:v>
                </c:pt>
                <c:pt idx="128">
                  <c:v>1.32883855</c:v>
                </c:pt>
                <c:pt idx="129">
                  <c:v>1.25558433</c:v>
                </c:pt>
                <c:pt idx="130">
                  <c:v>1.24660544</c:v>
                </c:pt>
                <c:pt idx="131">
                  <c:v>1.58228565</c:v>
                </c:pt>
                <c:pt idx="132">
                  <c:v>1.6896212</c:v>
                </c:pt>
                <c:pt idx="133">
                  <c:v>1.71476123</c:v>
                </c:pt>
                <c:pt idx="134">
                  <c:v>1.82026638</c:v>
                </c:pt>
                <c:pt idx="135">
                  <c:v>1.87688958</c:v>
                </c:pt>
                <c:pt idx="136">
                  <c:v>2.11253327</c:v>
                </c:pt>
                <c:pt idx="137">
                  <c:v>2.95549057</c:v>
                </c:pt>
                <c:pt idx="138">
                  <c:v>2.8393567</c:v>
                </c:pt>
                <c:pt idx="139">
                  <c:v>3.03478657</c:v>
                </c:pt>
                <c:pt idx="140">
                  <c:v>2.99651019</c:v>
                </c:pt>
                <c:pt idx="141">
                  <c:v>2.95605461</c:v>
                </c:pt>
                <c:pt idx="142">
                  <c:v>2.85598003</c:v>
                </c:pt>
                <c:pt idx="143">
                  <c:v>2.92450589</c:v>
                </c:pt>
                <c:pt idx="144">
                  <c:v>2.87357575</c:v>
                </c:pt>
                <c:pt idx="145">
                  <c:v>2.828452</c:v>
                </c:pt>
                <c:pt idx="146">
                  <c:v>2.79094477</c:v>
                </c:pt>
                <c:pt idx="147">
                  <c:v>2.80747303</c:v>
                </c:pt>
                <c:pt idx="148">
                  <c:v>1.72996146</c:v>
                </c:pt>
                <c:pt idx="149">
                  <c:v>1.6831728</c:v>
                </c:pt>
                <c:pt idx="150">
                  <c:v>1.68932095</c:v>
                </c:pt>
                <c:pt idx="151">
                  <c:v>1.55961834</c:v>
                </c:pt>
                <c:pt idx="152">
                  <c:v>1.42835301</c:v>
                </c:pt>
                <c:pt idx="153">
                  <c:v>1.34014823</c:v>
                </c:pt>
                <c:pt idx="154">
                  <c:v>1.33843816</c:v>
                </c:pt>
                <c:pt idx="155">
                  <c:v>1.26182668</c:v>
                </c:pt>
                <c:pt idx="156">
                  <c:v>1.31279204</c:v>
                </c:pt>
                <c:pt idx="157">
                  <c:v>1.22292245</c:v>
                </c:pt>
                <c:pt idx="158">
                  <c:v>1.21038987</c:v>
                </c:pt>
                <c:pt idx="159">
                  <c:v>1.19586426</c:v>
                </c:pt>
                <c:pt idx="160">
                  <c:v>1.18812482</c:v>
                </c:pt>
                <c:pt idx="161">
                  <c:v>1.10017606</c:v>
                </c:pt>
                <c:pt idx="162">
                  <c:v>1.04959367</c:v>
                </c:pt>
                <c:pt idx="163">
                  <c:v>1.16282322</c:v>
                </c:pt>
                <c:pt idx="164">
                  <c:v>1.1302116</c:v>
                </c:pt>
                <c:pt idx="165">
                  <c:v>1.17091995</c:v>
                </c:pt>
                <c:pt idx="166">
                  <c:v>1.17843326</c:v>
                </c:pt>
                <c:pt idx="167">
                  <c:v>1.17078058</c:v>
                </c:pt>
                <c:pt idx="168">
                  <c:v>1.14533644</c:v>
                </c:pt>
                <c:pt idx="169">
                  <c:v>1.0946619</c:v>
                </c:pt>
                <c:pt idx="170">
                  <c:v>1.02330444</c:v>
                </c:pt>
                <c:pt idx="171">
                  <c:v>1.04959818</c:v>
                </c:pt>
                <c:pt idx="172">
                  <c:v>1.07140309</c:v>
                </c:pt>
                <c:pt idx="173">
                  <c:v>1.09279962</c:v>
                </c:pt>
                <c:pt idx="174">
                  <c:v>1.06969302</c:v>
                </c:pt>
                <c:pt idx="175">
                  <c:v>1.00772479</c:v>
                </c:pt>
                <c:pt idx="176">
                  <c:v>0.97933997</c:v>
                </c:pt>
                <c:pt idx="177">
                  <c:v>0.9440164</c:v>
                </c:pt>
                <c:pt idx="178">
                  <c:v>1.01731968</c:v>
                </c:pt>
                <c:pt idx="179">
                  <c:v>1.07485749</c:v>
                </c:pt>
                <c:pt idx="180">
                  <c:v>1.06178038</c:v>
                </c:pt>
                <c:pt idx="181">
                  <c:v>1.11149922</c:v>
                </c:pt>
                <c:pt idx="182">
                  <c:v>1.11486988</c:v>
                </c:pt>
                <c:pt idx="183">
                  <c:v>1.11438224</c:v>
                </c:pt>
                <c:pt idx="184">
                  <c:v>1.11499357</c:v>
                </c:pt>
                <c:pt idx="185">
                  <c:v>1.09178737</c:v>
                </c:pt>
                <c:pt idx="186">
                  <c:v>1.13545354</c:v>
                </c:pt>
                <c:pt idx="187">
                  <c:v>1.20615795</c:v>
                </c:pt>
                <c:pt idx="188">
                  <c:v>1.18283232</c:v>
                </c:pt>
                <c:pt idx="189">
                  <c:v>1.17664915</c:v>
                </c:pt>
                <c:pt idx="190">
                  <c:v>1.20470237</c:v>
                </c:pt>
                <c:pt idx="191">
                  <c:v>1.26403006</c:v>
                </c:pt>
                <c:pt idx="192">
                  <c:v>1.22057259</c:v>
                </c:pt>
                <c:pt idx="193">
                  <c:v>1.20398112</c:v>
                </c:pt>
                <c:pt idx="194">
                  <c:v>1.15861605</c:v>
                </c:pt>
                <c:pt idx="195">
                  <c:v>1.1406906</c:v>
                </c:pt>
                <c:pt idx="196">
                  <c:v>1.09213259</c:v>
                </c:pt>
                <c:pt idx="197">
                  <c:v>1.06496505</c:v>
                </c:pt>
                <c:pt idx="198">
                  <c:v>1.10978361</c:v>
                </c:pt>
                <c:pt idx="199">
                  <c:v>1.03486212</c:v>
                </c:pt>
                <c:pt idx="200">
                  <c:v>1.02210028</c:v>
                </c:pt>
                <c:pt idx="201">
                  <c:v>1.02031174</c:v>
                </c:pt>
                <c:pt idx="202">
                  <c:v>0.97414501</c:v>
                </c:pt>
                <c:pt idx="203">
                  <c:v>0.95392898</c:v>
                </c:pt>
                <c:pt idx="204">
                  <c:v>0.86530978</c:v>
                </c:pt>
                <c:pt idx="205">
                  <c:v>0.82765786</c:v>
                </c:pt>
                <c:pt idx="206">
                  <c:v>0.8172467</c:v>
                </c:pt>
                <c:pt idx="207">
                  <c:v>0.81496775</c:v>
                </c:pt>
                <c:pt idx="208">
                  <c:v>1.22984962</c:v>
                </c:pt>
                <c:pt idx="209">
                  <c:v>1.25486302</c:v>
                </c:pt>
                <c:pt idx="210">
                  <c:v>1.20240864</c:v>
                </c:pt>
                <c:pt idx="211">
                  <c:v>1.32500433</c:v>
                </c:pt>
                <c:pt idx="212">
                  <c:v>1.44657484</c:v>
                </c:pt>
                <c:pt idx="213">
                  <c:v>1.50774425</c:v>
                </c:pt>
                <c:pt idx="214">
                  <c:v>1.55082112</c:v>
                </c:pt>
                <c:pt idx="215">
                  <c:v>1.55148419</c:v>
                </c:pt>
                <c:pt idx="216">
                  <c:v>1.41264362</c:v>
                </c:pt>
                <c:pt idx="217">
                  <c:v>1.48434338</c:v>
                </c:pt>
                <c:pt idx="218">
                  <c:v>1.48171744</c:v>
                </c:pt>
                <c:pt idx="219">
                  <c:v>1.54587841</c:v>
                </c:pt>
                <c:pt idx="220">
                  <c:v>1.54171967</c:v>
                </c:pt>
                <c:pt idx="221">
                  <c:v>1.67567074</c:v>
                </c:pt>
                <c:pt idx="222">
                  <c:v>1.70112955</c:v>
                </c:pt>
                <c:pt idx="223">
                  <c:v>1.67341895</c:v>
                </c:pt>
                <c:pt idx="224">
                  <c:v>1.68293109</c:v>
                </c:pt>
                <c:pt idx="225">
                  <c:v>1.71549449</c:v>
                </c:pt>
                <c:pt idx="226">
                  <c:v>1.7391265</c:v>
                </c:pt>
                <c:pt idx="227">
                  <c:v>1.77071863</c:v>
                </c:pt>
                <c:pt idx="228">
                  <c:v>1.86027909</c:v>
                </c:pt>
                <c:pt idx="229">
                  <c:v>1.91276958</c:v>
                </c:pt>
                <c:pt idx="230">
                  <c:v>1.95670926</c:v>
                </c:pt>
                <c:pt idx="231">
                  <c:v>1.9386261</c:v>
                </c:pt>
                <c:pt idx="232">
                  <c:v>1.55410572</c:v>
                </c:pt>
                <c:pt idx="233">
                  <c:v>1.6144989</c:v>
                </c:pt>
                <c:pt idx="234">
                  <c:v>1.63562129</c:v>
                </c:pt>
                <c:pt idx="235">
                  <c:v>1.64905759</c:v>
                </c:pt>
                <c:pt idx="236">
                  <c:v>1.6167397</c:v>
                </c:pt>
                <c:pt idx="237">
                  <c:v>1.60847198</c:v>
                </c:pt>
                <c:pt idx="238">
                  <c:v>1.8629276</c:v>
                </c:pt>
                <c:pt idx="239">
                  <c:v>1.81439023</c:v>
                </c:pt>
                <c:pt idx="240">
                  <c:v>1.77458969</c:v>
                </c:pt>
              </c:numCache>
            </c:numRef>
          </c:yVal>
        </c:ser>
        <c:ser>
          <c:idx val="2"/>
          <c:order val="2"/>
          <c:tx>
            <c:v>Extension LSTM</c:v>
          </c:tx>
          <c:spPr>
            <a:solidFill xmlns:a="http://schemas.openxmlformats.org/drawingml/2006/main">
              <a:srgbClr val="2563EB"/>
            </a:solidFill>
            <a:ln xmlns:a="http://schemas.openxmlformats.org/drawingml/2006/main" w="20003">
              <a:solidFill>
                <a:srgbClr val="2563EB"/>
              </a:solidFill>
            </a:ln>
          </c:spPr>
          <c:marker>
            <c:symbol val="none"/>
          </c:marker>
          <c:xVal>
            <c:numRef>
              <c:f>'Chart Data'!$E$2:$E$242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Data'!$F$2:$F$242</c:f>
              <c:numCache>
                <c:formatCode>0.000</c:formatCode>
                <c:ptCount val="241"/>
                <c:pt idx="0">
                  <c:v>3.66003541</c:v>
                </c:pt>
                <c:pt idx="1">
                  <c:v>3.68556321</c:v>
                </c:pt>
                <c:pt idx="2">
                  <c:v>3.87526168</c:v>
                </c:pt>
                <c:pt idx="3">
                  <c:v>3.87557773</c:v>
                </c:pt>
                <c:pt idx="4">
                  <c:v>3.83567233</c:v>
                </c:pt>
                <c:pt idx="5">
                  <c:v>3.85887175</c:v>
                </c:pt>
                <c:pt idx="6">
                  <c:v>3.84965661</c:v>
                </c:pt>
                <c:pt idx="7">
                  <c:v>3.74410285</c:v>
                </c:pt>
                <c:pt idx="8">
                  <c:v>3.65966698</c:v>
                </c:pt>
                <c:pt idx="9">
                  <c:v>3.67217677</c:v>
                </c:pt>
                <c:pt idx="10">
                  <c:v>3.67136937</c:v>
                </c:pt>
                <c:pt idx="11">
                  <c:v>3.57671014</c:v>
                </c:pt>
                <c:pt idx="12">
                  <c:v>3.44580343</c:v>
                </c:pt>
                <c:pt idx="13">
                  <c:v>3.43836326</c:v>
                </c:pt>
                <c:pt idx="14">
                  <c:v>3.43517169</c:v>
                </c:pt>
                <c:pt idx="15">
                  <c:v>3.43889418</c:v>
                </c:pt>
                <c:pt idx="16">
                  <c:v>3.39187641</c:v>
                </c:pt>
                <c:pt idx="17">
                  <c:v>3.44641986</c:v>
                </c:pt>
                <c:pt idx="18">
                  <c:v>3.47311081</c:v>
                </c:pt>
                <c:pt idx="19">
                  <c:v>3.41995885</c:v>
                </c:pt>
                <c:pt idx="20">
                  <c:v>3.43632994</c:v>
                </c:pt>
                <c:pt idx="21">
                  <c:v>3.54141508</c:v>
                </c:pt>
                <c:pt idx="22">
                  <c:v>3.70387225</c:v>
                </c:pt>
                <c:pt idx="23">
                  <c:v>3.87597624</c:v>
                </c:pt>
                <c:pt idx="24">
                  <c:v>3.84521917</c:v>
                </c:pt>
                <c:pt idx="25">
                  <c:v>3.71913922</c:v>
                </c:pt>
                <c:pt idx="26">
                  <c:v>3.76433333</c:v>
                </c:pt>
                <c:pt idx="27">
                  <c:v>3.71380367</c:v>
                </c:pt>
                <c:pt idx="28">
                  <c:v>3.71320727</c:v>
                </c:pt>
                <c:pt idx="29">
                  <c:v>3.82741257</c:v>
                </c:pt>
                <c:pt idx="30">
                  <c:v>3.86631525</c:v>
                </c:pt>
                <c:pt idx="31">
                  <c:v>3.91329534</c:v>
                </c:pt>
                <c:pt idx="32">
                  <c:v>3.7851766</c:v>
                </c:pt>
                <c:pt idx="33">
                  <c:v>3.58672976</c:v>
                </c:pt>
                <c:pt idx="34">
                  <c:v>3.64544281</c:v>
                </c:pt>
                <c:pt idx="35">
                  <c:v>3.46238102</c:v>
                </c:pt>
                <c:pt idx="36">
                  <c:v>2.62880833</c:v>
                </c:pt>
                <c:pt idx="37">
                  <c:v>2.61641439</c:v>
                </c:pt>
                <c:pt idx="38">
                  <c:v>1.23281876</c:v>
                </c:pt>
                <c:pt idx="39">
                  <c:v>1.30201215</c:v>
                </c:pt>
                <c:pt idx="40">
                  <c:v>1.3368248</c:v>
                </c:pt>
                <c:pt idx="41">
                  <c:v>1.33169323</c:v>
                </c:pt>
                <c:pt idx="42">
                  <c:v>1.3691351</c:v>
                </c:pt>
                <c:pt idx="43">
                  <c:v>1.43994765</c:v>
                </c:pt>
                <c:pt idx="44">
                  <c:v>1.36212357</c:v>
                </c:pt>
                <c:pt idx="45">
                  <c:v>1.43554424</c:v>
                </c:pt>
                <c:pt idx="46">
                  <c:v>1.46414551</c:v>
                </c:pt>
                <c:pt idx="47">
                  <c:v>1.52208188</c:v>
                </c:pt>
                <c:pt idx="48">
                  <c:v>1.54705995</c:v>
                </c:pt>
                <c:pt idx="49">
                  <c:v>1.56005619</c:v>
                </c:pt>
                <c:pt idx="50">
                  <c:v>1.61859264</c:v>
                </c:pt>
                <c:pt idx="51">
                  <c:v>1.68277605</c:v>
                </c:pt>
                <c:pt idx="52">
                  <c:v>1.72929285</c:v>
                </c:pt>
                <c:pt idx="53">
                  <c:v>1.74716988</c:v>
                </c:pt>
                <c:pt idx="54">
                  <c:v>1.7008124</c:v>
                </c:pt>
                <c:pt idx="55">
                  <c:v>1.69315932</c:v>
                </c:pt>
                <c:pt idx="56">
                  <c:v>1.64529601</c:v>
                </c:pt>
                <c:pt idx="57">
                  <c:v>1.60513952</c:v>
                </c:pt>
                <c:pt idx="58">
                  <c:v>1.58977749</c:v>
                </c:pt>
                <c:pt idx="59">
                  <c:v>1.6177799</c:v>
                </c:pt>
                <c:pt idx="60">
                  <c:v>1.63296398</c:v>
                </c:pt>
                <c:pt idx="61">
                  <c:v>1.6553186</c:v>
                </c:pt>
                <c:pt idx="62">
                  <c:v>1.61096715</c:v>
                </c:pt>
                <c:pt idx="63">
                  <c:v>1.61221127</c:v>
                </c:pt>
                <c:pt idx="64">
                  <c:v>1.61750542</c:v>
                </c:pt>
                <c:pt idx="65">
                  <c:v>1.61204179</c:v>
                </c:pt>
                <c:pt idx="66">
                  <c:v>1.56582243</c:v>
                </c:pt>
                <c:pt idx="67">
                  <c:v>1.48488275</c:v>
                </c:pt>
                <c:pt idx="68">
                  <c:v>1.50875267</c:v>
                </c:pt>
                <c:pt idx="69">
                  <c:v>1.3972631</c:v>
                </c:pt>
                <c:pt idx="70">
                  <c:v>1.42412956</c:v>
                </c:pt>
                <c:pt idx="71">
                  <c:v>1.42119326</c:v>
                </c:pt>
                <c:pt idx="72">
                  <c:v>1.50716018</c:v>
                </c:pt>
                <c:pt idx="73">
                  <c:v>1.49582453</c:v>
                </c:pt>
                <c:pt idx="74">
                  <c:v>1.41080319</c:v>
                </c:pt>
                <c:pt idx="75">
                  <c:v>1.33633338</c:v>
                </c:pt>
                <c:pt idx="76">
                  <c:v>1.36840413</c:v>
                </c:pt>
                <c:pt idx="77">
                  <c:v>1.41697524</c:v>
                </c:pt>
                <c:pt idx="78">
                  <c:v>1.4667252</c:v>
                </c:pt>
                <c:pt idx="79">
                  <c:v>1.50279719</c:v>
                </c:pt>
                <c:pt idx="80">
                  <c:v>1.49757255</c:v>
                </c:pt>
                <c:pt idx="81">
                  <c:v>1.46450714</c:v>
                </c:pt>
                <c:pt idx="82">
                  <c:v>1.44380229</c:v>
                </c:pt>
                <c:pt idx="83">
                  <c:v>1.40443711</c:v>
                </c:pt>
                <c:pt idx="84">
                  <c:v>1.43268125</c:v>
                </c:pt>
                <c:pt idx="85">
                  <c:v>1.4642302</c:v>
                </c:pt>
                <c:pt idx="86">
                  <c:v>1.51750393</c:v>
                </c:pt>
                <c:pt idx="87">
                  <c:v>1.54193659</c:v>
                </c:pt>
                <c:pt idx="88">
                  <c:v>1.50582498</c:v>
                </c:pt>
                <c:pt idx="89">
                  <c:v>1.46595233</c:v>
                </c:pt>
                <c:pt idx="90">
                  <c:v>1.44120892</c:v>
                </c:pt>
                <c:pt idx="91">
                  <c:v>1.44213637</c:v>
                </c:pt>
                <c:pt idx="92">
                  <c:v>1.4737598</c:v>
                </c:pt>
                <c:pt idx="93">
                  <c:v>1.52000362</c:v>
                </c:pt>
                <c:pt idx="94">
                  <c:v>1.50245688</c:v>
                </c:pt>
                <c:pt idx="95">
                  <c:v>1.58739851</c:v>
                </c:pt>
                <c:pt idx="96">
                  <c:v>1.701428</c:v>
                </c:pt>
                <c:pt idx="97">
                  <c:v>1.72219502</c:v>
                </c:pt>
                <c:pt idx="98">
                  <c:v>2.69365573</c:v>
                </c:pt>
                <c:pt idx="99">
                  <c:v>2.63442668</c:v>
                </c:pt>
                <c:pt idx="100">
                  <c:v>2.6359501</c:v>
                </c:pt>
                <c:pt idx="101">
                  <c:v>2.61841474</c:v>
                </c:pt>
                <c:pt idx="102">
                  <c:v>2.65828093</c:v>
                </c:pt>
                <c:pt idx="103">
                  <c:v>2.57224528</c:v>
                </c:pt>
                <c:pt idx="104">
                  <c:v>2.78424366</c:v>
                </c:pt>
                <c:pt idx="105">
                  <c:v>2.69580081</c:v>
                </c:pt>
                <c:pt idx="106">
                  <c:v>2.62519007</c:v>
                </c:pt>
                <c:pt idx="107">
                  <c:v>2.53080073</c:v>
                </c:pt>
                <c:pt idx="108">
                  <c:v>2.44765534</c:v>
                </c:pt>
                <c:pt idx="109">
                  <c:v>2.39372427</c:v>
                </c:pt>
                <c:pt idx="110">
                  <c:v>2.51081712</c:v>
                </c:pt>
                <c:pt idx="111">
                  <c:v>2.44665237</c:v>
                </c:pt>
                <c:pt idx="112">
                  <c:v>2.42381319</c:v>
                </c:pt>
                <c:pt idx="113">
                  <c:v>2.42214144</c:v>
                </c:pt>
                <c:pt idx="114">
                  <c:v>2.43549629</c:v>
                </c:pt>
                <c:pt idx="115">
                  <c:v>2.4378814</c:v>
                </c:pt>
                <c:pt idx="116">
                  <c:v>2.47091307</c:v>
                </c:pt>
                <c:pt idx="117">
                  <c:v>2.54647734</c:v>
                </c:pt>
                <c:pt idx="118">
                  <c:v>2.47209751</c:v>
                </c:pt>
                <c:pt idx="119">
                  <c:v>2.41460313</c:v>
                </c:pt>
                <c:pt idx="120">
                  <c:v>2.4143468</c:v>
                </c:pt>
                <c:pt idx="121">
                  <c:v>2.26707237</c:v>
                </c:pt>
                <c:pt idx="122">
                  <c:v>2.26355845</c:v>
                </c:pt>
                <c:pt idx="123">
                  <c:v>2.19097147</c:v>
                </c:pt>
                <c:pt idx="124">
                  <c:v>2.15086209</c:v>
                </c:pt>
                <c:pt idx="125">
                  <c:v>2.02063954</c:v>
                </c:pt>
                <c:pt idx="126">
                  <c:v>2.07827465</c:v>
                </c:pt>
                <c:pt idx="127">
                  <c:v>2.35808108</c:v>
                </c:pt>
                <c:pt idx="128">
                  <c:v>2.26753989</c:v>
                </c:pt>
                <c:pt idx="129">
                  <c:v>2.40999774</c:v>
                </c:pt>
                <c:pt idx="130">
                  <c:v>2.34973877</c:v>
                </c:pt>
                <c:pt idx="131">
                  <c:v>2.43496463</c:v>
                </c:pt>
                <c:pt idx="132">
                  <c:v>2.47086296</c:v>
                </c:pt>
                <c:pt idx="133">
                  <c:v>2.46988141</c:v>
                </c:pt>
                <c:pt idx="134">
                  <c:v>2.67005826</c:v>
                </c:pt>
                <c:pt idx="135">
                  <c:v>2.81367599</c:v>
                </c:pt>
                <c:pt idx="136">
                  <c:v>2.80963803</c:v>
                </c:pt>
                <c:pt idx="137">
                  <c:v>2.8795019</c:v>
                </c:pt>
                <c:pt idx="138">
                  <c:v>2.27719238</c:v>
                </c:pt>
                <c:pt idx="139">
                  <c:v>2.23570152</c:v>
                </c:pt>
                <c:pt idx="140">
                  <c:v>1.99391973</c:v>
                </c:pt>
                <c:pt idx="141">
                  <c:v>1.6423932</c:v>
                </c:pt>
                <c:pt idx="142">
                  <c:v>1.68797413</c:v>
                </c:pt>
                <c:pt idx="143">
                  <c:v>1.78372248</c:v>
                </c:pt>
                <c:pt idx="144">
                  <c:v>1.78452821</c:v>
                </c:pt>
                <c:pt idx="145">
                  <c:v>1.80617986</c:v>
                </c:pt>
                <c:pt idx="146">
                  <c:v>1.66792417</c:v>
                </c:pt>
                <c:pt idx="147">
                  <c:v>1.59151417</c:v>
                </c:pt>
                <c:pt idx="148">
                  <c:v>1.23223183</c:v>
                </c:pt>
                <c:pt idx="149">
                  <c:v>1.27989262</c:v>
                </c:pt>
                <c:pt idx="150">
                  <c:v>1.27409358</c:v>
                </c:pt>
                <c:pt idx="151">
                  <c:v>1.28180158</c:v>
                </c:pt>
                <c:pt idx="152">
                  <c:v>1.11991463</c:v>
                </c:pt>
                <c:pt idx="153">
                  <c:v>1.15429162</c:v>
                </c:pt>
                <c:pt idx="154">
                  <c:v>1.15141136</c:v>
                </c:pt>
                <c:pt idx="155">
                  <c:v>1.07400501</c:v>
                </c:pt>
                <c:pt idx="156">
                  <c:v>1.13350396</c:v>
                </c:pt>
                <c:pt idx="157">
                  <c:v>1.11413917</c:v>
                </c:pt>
                <c:pt idx="158">
                  <c:v>1.09614695</c:v>
                </c:pt>
                <c:pt idx="159">
                  <c:v>1.11766876</c:v>
                </c:pt>
                <c:pt idx="160">
                  <c:v>0.99280113</c:v>
                </c:pt>
                <c:pt idx="161">
                  <c:v>1.02247157</c:v>
                </c:pt>
                <c:pt idx="162">
                  <c:v>0.94102258</c:v>
                </c:pt>
                <c:pt idx="163">
                  <c:v>0.93200698</c:v>
                </c:pt>
                <c:pt idx="164">
                  <c:v>0.92762446</c:v>
                </c:pt>
                <c:pt idx="165">
                  <c:v>0.89091567</c:v>
                </c:pt>
                <c:pt idx="166">
                  <c:v>0.85802999</c:v>
                </c:pt>
                <c:pt idx="167">
                  <c:v>0.84856283</c:v>
                </c:pt>
                <c:pt idx="168">
                  <c:v>0.77061402</c:v>
                </c:pt>
                <c:pt idx="169">
                  <c:v>0.77816066</c:v>
                </c:pt>
                <c:pt idx="170">
                  <c:v>0.71430692</c:v>
                </c:pt>
                <c:pt idx="171">
                  <c:v>0.71239741</c:v>
                </c:pt>
                <c:pt idx="172">
                  <c:v>0.65939726</c:v>
                </c:pt>
                <c:pt idx="173">
                  <c:v>0.5985235</c:v>
                </c:pt>
                <c:pt idx="174">
                  <c:v>0.5918367</c:v>
                </c:pt>
                <c:pt idx="175">
                  <c:v>0.57617291</c:v>
                </c:pt>
                <c:pt idx="176">
                  <c:v>0.67601255</c:v>
                </c:pt>
                <c:pt idx="177">
                  <c:v>0.76803989</c:v>
                </c:pt>
                <c:pt idx="178">
                  <c:v>0.87262068</c:v>
                </c:pt>
                <c:pt idx="179">
                  <c:v>0.89488719</c:v>
                </c:pt>
                <c:pt idx="180">
                  <c:v>0.84069001</c:v>
                </c:pt>
                <c:pt idx="181">
                  <c:v>0.8816732</c:v>
                </c:pt>
                <c:pt idx="182">
                  <c:v>0.82903</c:v>
                </c:pt>
                <c:pt idx="183">
                  <c:v>0.81093147</c:v>
                </c:pt>
                <c:pt idx="184">
                  <c:v>0.82595933</c:v>
                </c:pt>
                <c:pt idx="185">
                  <c:v>0.90383861</c:v>
                </c:pt>
                <c:pt idx="186">
                  <c:v>0.83490776</c:v>
                </c:pt>
                <c:pt idx="187">
                  <c:v>0.84014322</c:v>
                </c:pt>
                <c:pt idx="188">
                  <c:v>0.87403357</c:v>
                </c:pt>
                <c:pt idx="189">
                  <c:v>0.87780531</c:v>
                </c:pt>
                <c:pt idx="190">
                  <c:v>0.94115261</c:v>
                </c:pt>
                <c:pt idx="191">
                  <c:v>0.91578048</c:v>
                </c:pt>
                <c:pt idx="192">
                  <c:v>0.85289385</c:v>
                </c:pt>
                <c:pt idx="193">
                  <c:v>0.88703685</c:v>
                </c:pt>
                <c:pt idx="194">
                  <c:v>0.8698489</c:v>
                </c:pt>
                <c:pt idx="195">
                  <c:v>0.83485336</c:v>
                </c:pt>
                <c:pt idx="196">
                  <c:v>0.75451748</c:v>
                </c:pt>
                <c:pt idx="197">
                  <c:v>0.72017476</c:v>
                </c:pt>
                <c:pt idx="198">
                  <c:v>0.87838807</c:v>
                </c:pt>
                <c:pt idx="199">
                  <c:v>0.85697037</c:v>
                </c:pt>
                <c:pt idx="200">
                  <c:v>0.93534714</c:v>
                </c:pt>
                <c:pt idx="201">
                  <c:v>1.05353983</c:v>
                </c:pt>
                <c:pt idx="202">
                  <c:v>1.05787455</c:v>
                </c:pt>
                <c:pt idx="203">
                  <c:v>0.88796936</c:v>
                </c:pt>
                <c:pt idx="204">
                  <c:v>0.76532731</c:v>
                </c:pt>
                <c:pt idx="205">
                  <c:v>0.69299343</c:v>
                </c:pt>
                <c:pt idx="206">
                  <c:v>0.71652605</c:v>
                </c:pt>
                <c:pt idx="207">
                  <c:v>0.74916326</c:v>
                </c:pt>
                <c:pt idx="208">
                  <c:v>1.09882593</c:v>
                </c:pt>
                <c:pt idx="209">
                  <c:v>1.04711967</c:v>
                </c:pt>
                <c:pt idx="210">
                  <c:v>0.95708868</c:v>
                </c:pt>
                <c:pt idx="211">
                  <c:v>0.93446885</c:v>
                </c:pt>
                <c:pt idx="212">
                  <c:v>1.03560823</c:v>
                </c:pt>
                <c:pt idx="213">
                  <c:v>1.01939869</c:v>
                </c:pt>
                <c:pt idx="214">
                  <c:v>0.96486465</c:v>
                </c:pt>
                <c:pt idx="215">
                  <c:v>0.98037871</c:v>
                </c:pt>
                <c:pt idx="216">
                  <c:v>0.89238178</c:v>
                </c:pt>
                <c:pt idx="217">
                  <c:v>0.8949872</c:v>
                </c:pt>
                <c:pt idx="218">
                  <c:v>0.93189568</c:v>
                </c:pt>
                <c:pt idx="219">
                  <c:v>0.89820974</c:v>
                </c:pt>
                <c:pt idx="220">
                  <c:v>0.93119355</c:v>
                </c:pt>
                <c:pt idx="221">
                  <c:v>0.9906232</c:v>
                </c:pt>
                <c:pt idx="222">
                  <c:v>1.00842181</c:v>
                </c:pt>
                <c:pt idx="223">
                  <c:v>0.95213927</c:v>
                </c:pt>
                <c:pt idx="224">
                  <c:v>0.96732612</c:v>
                </c:pt>
                <c:pt idx="225">
                  <c:v>1.0720774</c:v>
                </c:pt>
                <c:pt idx="226">
                  <c:v>1.01687669</c:v>
                </c:pt>
                <c:pt idx="227">
                  <c:v>1.01118215</c:v>
                </c:pt>
                <c:pt idx="228">
                  <c:v>1.22425525</c:v>
                </c:pt>
                <c:pt idx="229">
                  <c:v>1.25838082</c:v>
                </c:pt>
                <c:pt idx="230">
                  <c:v>1.37466153</c:v>
                </c:pt>
                <c:pt idx="231">
                  <c:v>1.39089931</c:v>
                </c:pt>
                <c:pt idx="232">
                  <c:v>1.00181468</c:v>
                </c:pt>
                <c:pt idx="233">
                  <c:v>1.0893758</c:v>
                </c:pt>
                <c:pt idx="234">
                  <c:v>1.15989402</c:v>
                </c:pt>
                <c:pt idx="235">
                  <c:v>1.04670964</c:v>
                </c:pt>
                <c:pt idx="236">
                  <c:v>0.95279566</c:v>
                </c:pt>
                <c:pt idx="237">
                  <c:v>0.8244912</c:v>
                </c:pt>
                <c:pt idx="238">
                  <c:v>0.79898199</c:v>
                </c:pt>
                <c:pt idx="239">
                  <c:v>0.70998937</c:v>
                </c:pt>
                <c:pt idx="240">
                  <c:v>0.74548951</c:v>
                </c:pt>
              </c:numCache>
            </c:numRef>
          </c:yVal>
        </c:ser>
        <c:ser>
          <c:idx val="3"/>
          <c:order val="3"/>
          <c:tx>
            <c:v>Transformer</c:v>
          </c:tx>
          <c:spPr>
            <a:solidFill xmlns:a="http://schemas.openxmlformats.org/drawingml/2006/main">
              <a:srgbClr val="B7790B"/>
            </a:solidFill>
            <a:ln xmlns:a="http://schemas.openxmlformats.org/drawingml/2006/main" w="20003">
              <a:solidFill>
                <a:srgbClr val="B7790B"/>
              </a:solidFill>
            </a:ln>
          </c:spPr>
          <c:marker>
            <c:symbol val="none"/>
          </c:marker>
          <c:xVal>
            <c:numRef>
              <c:f>'Chart Data'!$G$2:$G$242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Data'!$H$2:$H$242</c:f>
              <c:numCache>
                <c:formatCode>0.000</c:formatCode>
                <c:ptCount val="241"/>
                <c:pt idx="0">
                  <c:v>1.83391487</c:v>
                </c:pt>
                <c:pt idx="1">
                  <c:v>1.69011561</c:v>
                </c:pt>
                <c:pt idx="2">
                  <c:v>1.93229499</c:v>
                </c:pt>
                <c:pt idx="3">
                  <c:v>1.94612021</c:v>
                </c:pt>
                <c:pt idx="4">
                  <c:v>1.90076344</c:v>
                </c:pt>
                <c:pt idx="5">
                  <c:v>1.96621034</c:v>
                </c:pt>
                <c:pt idx="6">
                  <c:v>2.01531798</c:v>
                </c:pt>
                <c:pt idx="7">
                  <c:v>2.00846603</c:v>
                </c:pt>
                <c:pt idx="8">
                  <c:v>1.92030022</c:v>
                </c:pt>
                <c:pt idx="9">
                  <c:v>1.83861221</c:v>
                </c:pt>
                <c:pt idx="10">
                  <c:v>1.80934663</c:v>
                </c:pt>
                <c:pt idx="11">
                  <c:v>1.84710084</c:v>
                </c:pt>
                <c:pt idx="12">
                  <c:v>1.86222647</c:v>
                </c:pt>
                <c:pt idx="13">
                  <c:v>1.71817768</c:v>
                </c:pt>
                <c:pt idx="14">
                  <c:v>1.7867534</c:v>
                </c:pt>
                <c:pt idx="15">
                  <c:v>1.77732057</c:v>
                </c:pt>
                <c:pt idx="16">
                  <c:v>1.72989809</c:v>
                </c:pt>
                <c:pt idx="17">
                  <c:v>1.83218269</c:v>
                </c:pt>
                <c:pt idx="18">
                  <c:v>1.87332244</c:v>
                </c:pt>
                <c:pt idx="19">
                  <c:v>1.87099309</c:v>
                </c:pt>
                <c:pt idx="20">
                  <c:v>1.75411751</c:v>
                </c:pt>
                <c:pt idx="21">
                  <c:v>1.75172181</c:v>
                </c:pt>
                <c:pt idx="22">
                  <c:v>1.75965984</c:v>
                </c:pt>
                <c:pt idx="23">
                  <c:v>1.89843367</c:v>
                </c:pt>
                <c:pt idx="24">
                  <c:v>1.84832443</c:v>
                </c:pt>
                <c:pt idx="25">
                  <c:v>1.68895432</c:v>
                </c:pt>
                <c:pt idx="26">
                  <c:v>1.80230327</c:v>
                </c:pt>
                <c:pt idx="27">
                  <c:v>1.74210861</c:v>
                </c:pt>
                <c:pt idx="28">
                  <c:v>1.75195248</c:v>
                </c:pt>
                <c:pt idx="29">
                  <c:v>1.76030383</c:v>
                </c:pt>
                <c:pt idx="30">
                  <c:v>1.78333506</c:v>
                </c:pt>
                <c:pt idx="31">
                  <c:v>1.74433458</c:v>
                </c:pt>
                <c:pt idx="32">
                  <c:v>1.65906796</c:v>
                </c:pt>
                <c:pt idx="33">
                  <c:v>1.69151246</c:v>
                </c:pt>
                <c:pt idx="34">
                  <c:v>1.63651129</c:v>
                </c:pt>
                <c:pt idx="35">
                  <c:v>1.61073087</c:v>
                </c:pt>
                <c:pt idx="36">
                  <c:v>1.54248401</c:v>
                </c:pt>
                <c:pt idx="37">
                  <c:v>1.58882738</c:v>
                </c:pt>
                <c:pt idx="38">
                  <c:v>1.29688236</c:v>
                </c:pt>
                <c:pt idx="39">
                  <c:v>1.31652842</c:v>
                </c:pt>
                <c:pt idx="40">
                  <c:v>1.27000379</c:v>
                </c:pt>
                <c:pt idx="41">
                  <c:v>1.31926335</c:v>
                </c:pt>
                <c:pt idx="42">
                  <c:v>1.2970011</c:v>
                </c:pt>
                <c:pt idx="43">
                  <c:v>1.37126245</c:v>
                </c:pt>
                <c:pt idx="44">
                  <c:v>1.42325629</c:v>
                </c:pt>
                <c:pt idx="45">
                  <c:v>1.52602031</c:v>
                </c:pt>
                <c:pt idx="46">
                  <c:v>1.48836448</c:v>
                </c:pt>
                <c:pt idx="47">
                  <c:v>1.50092444</c:v>
                </c:pt>
                <c:pt idx="48">
                  <c:v>1.50209178</c:v>
                </c:pt>
                <c:pt idx="49">
                  <c:v>0.79602031</c:v>
                </c:pt>
                <c:pt idx="50">
                  <c:v>0.9154016</c:v>
                </c:pt>
                <c:pt idx="51">
                  <c:v>0.98955373</c:v>
                </c:pt>
                <c:pt idx="52">
                  <c:v>1.05076452</c:v>
                </c:pt>
                <c:pt idx="53">
                  <c:v>1.15225896</c:v>
                </c:pt>
                <c:pt idx="54">
                  <c:v>1.14680764</c:v>
                </c:pt>
                <c:pt idx="55">
                  <c:v>1.18023527</c:v>
                </c:pt>
                <c:pt idx="56">
                  <c:v>1.23281467</c:v>
                </c:pt>
                <c:pt idx="57">
                  <c:v>1.29775514</c:v>
                </c:pt>
                <c:pt idx="58">
                  <c:v>1.1003839</c:v>
                </c:pt>
                <c:pt idx="59">
                  <c:v>0.95485834</c:v>
                </c:pt>
                <c:pt idx="60">
                  <c:v>0.91674466</c:v>
                </c:pt>
                <c:pt idx="61">
                  <c:v>1.00917006</c:v>
                </c:pt>
                <c:pt idx="62">
                  <c:v>1.05158453</c:v>
                </c:pt>
                <c:pt idx="63">
                  <c:v>1.04293792</c:v>
                </c:pt>
                <c:pt idx="64">
                  <c:v>1.12194967</c:v>
                </c:pt>
                <c:pt idx="65">
                  <c:v>1.12459053</c:v>
                </c:pt>
                <c:pt idx="66">
                  <c:v>1.17509132</c:v>
                </c:pt>
                <c:pt idx="67">
                  <c:v>1.23243754</c:v>
                </c:pt>
                <c:pt idx="68">
                  <c:v>1.25590284</c:v>
                </c:pt>
                <c:pt idx="69">
                  <c:v>1.28413531</c:v>
                </c:pt>
                <c:pt idx="70">
                  <c:v>1.22008902</c:v>
                </c:pt>
                <c:pt idx="71">
                  <c:v>1.01236717</c:v>
                </c:pt>
                <c:pt idx="72">
                  <c:v>1.02246022</c:v>
                </c:pt>
                <c:pt idx="73">
                  <c:v>1.04492464</c:v>
                </c:pt>
                <c:pt idx="74">
                  <c:v>1.01301542</c:v>
                </c:pt>
                <c:pt idx="75">
                  <c:v>0.98901833</c:v>
                </c:pt>
                <c:pt idx="76">
                  <c:v>1.01309435</c:v>
                </c:pt>
                <c:pt idx="77">
                  <c:v>0.97111445</c:v>
                </c:pt>
                <c:pt idx="78">
                  <c:v>0.96308221</c:v>
                </c:pt>
                <c:pt idx="79">
                  <c:v>0.98593311</c:v>
                </c:pt>
                <c:pt idx="80">
                  <c:v>0.9805886</c:v>
                </c:pt>
                <c:pt idx="81">
                  <c:v>1.00523573</c:v>
                </c:pt>
                <c:pt idx="82">
                  <c:v>1.05133126</c:v>
                </c:pt>
                <c:pt idx="83">
                  <c:v>1.01541362</c:v>
                </c:pt>
                <c:pt idx="84">
                  <c:v>1.04005367</c:v>
                </c:pt>
                <c:pt idx="85">
                  <c:v>1.11705666</c:v>
                </c:pt>
                <c:pt idx="86">
                  <c:v>1.14954817</c:v>
                </c:pt>
                <c:pt idx="87">
                  <c:v>1.19490255</c:v>
                </c:pt>
                <c:pt idx="88">
                  <c:v>1.17806239</c:v>
                </c:pt>
                <c:pt idx="89">
                  <c:v>1.18024006</c:v>
                </c:pt>
                <c:pt idx="90">
                  <c:v>1.17759241</c:v>
                </c:pt>
                <c:pt idx="91">
                  <c:v>1.19293972</c:v>
                </c:pt>
                <c:pt idx="92">
                  <c:v>1.21841448</c:v>
                </c:pt>
                <c:pt idx="93">
                  <c:v>1.26550506</c:v>
                </c:pt>
                <c:pt idx="94">
                  <c:v>1.28297208</c:v>
                </c:pt>
                <c:pt idx="95">
                  <c:v>1.29771153</c:v>
                </c:pt>
                <c:pt idx="96">
                  <c:v>1.31524194</c:v>
                </c:pt>
                <c:pt idx="97">
                  <c:v>1.32530692</c:v>
                </c:pt>
                <c:pt idx="98">
                  <c:v>1.45458271</c:v>
                </c:pt>
                <c:pt idx="99">
                  <c:v>1.38996298</c:v>
                </c:pt>
                <c:pt idx="100">
                  <c:v>1.38159198</c:v>
                </c:pt>
                <c:pt idx="101">
                  <c:v>1.34886838</c:v>
                </c:pt>
                <c:pt idx="102">
                  <c:v>1.36080197</c:v>
                </c:pt>
                <c:pt idx="103">
                  <c:v>1.3173099</c:v>
                </c:pt>
                <c:pt idx="104">
                  <c:v>1.28679099</c:v>
                </c:pt>
                <c:pt idx="105">
                  <c:v>1.22910517</c:v>
                </c:pt>
                <c:pt idx="106">
                  <c:v>1.20806073</c:v>
                </c:pt>
                <c:pt idx="107">
                  <c:v>1.18929929</c:v>
                </c:pt>
                <c:pt idx="108">
                  <c:v>1.10474288</c:v>
                </c:pt>
                <c:pt idx="109">
                  <c:v>1.69332713</c:v>
                </c:pt>
                <c:pt idx="110">
                  <c:v>1.64116064</c:v>
                </c:pt>
                <c:pt idx="111">
                  <c:v>1.59532004</c:v>
                </c:pt>
                <c:pt idx="112">
                  <c:v>1.58295395</c:v>
                </c:pt>
                <c:pt idx="113">
                  <c:v>1.46871524</c:v>
                </c:pt>
                <c:pt idx="114">
                  <c:v>1.47108879</c:v>
                </c:pt>
                <c:pt idx="115">
                  <c:v>1.40740731</c:v>
                </c:pt>
                <c:pt idx="116">
                  <c:v>1.36298964</c:v>
                </c:pt>
                <c:pt idx="117">
                  <c:v>1.30227625</c:v>
                </c:pt>
                <c:pt idx="118">
                  <c:v>1.56952682</c:v>
                </c:pt>
                <c:pt idx="119">
                  <c:v>1.79355486</c:v>
                </c:pt>
                <c:pt idx="120">
                  <c:v>1.81720777</c:v>
                </c:pt>
                <c:pt idx="121">
                  <c:v>1.75210138</c:v>
                </c:pt>
                <c:pt idx="122">
                  <c:v>1.69451994</c:v>
                </c:pt>
                <c:pt idx="123">
                  <c:v>1.72034955</c:v>
                </c:pt>
                <c:pt idx="124">
                  <c:v>1.71033151</c:v>
                </c:pt>
                <c:pt idx="125">
                  <c:v>1.72273328</c:v>
                </c:pt>
                <c:pt idx="126">
                  <c:v>1.61689847</c:v>
                </c:pt>
                <c:pt idx="127">
                  <c:v>1.48427152</c:v>
                </c:pt>
                <c:pt idx="128">
                  <c:v>1.52728195</c:v>
                </c:pt>
                <c:pt idx="129">
                  <c:v>1.55023584</c:v>
                </c:pt>
                <c:pt idx="130">
                  <c:v>1.83477036</c:v>
                </c:pt>
                <c:pt idx="131">
                  <c:v>2.81639712</c:v>
                </c:pt>
                <c:pt idx="132">
                  <c:v>2.94939275</c:v>
                </c:pt>
                <c:pt idx="133">
                  <c:v>2.69557297</c:v>
                </c:pt>
                <c:pt idx="134">
                  <c:v>2.81992784</c:v>
                </c:pt>
                <c:pt idx="135">
                  <c:v>2.84121261</c:v>
                </c:pt>
                <c:pt idx="136">
                  <c:v>2.90560062</c:v>
                </c:pt>
                <c:pt idx="137">
                  <c:v>3.09945045</c:v>
                </c:pt>
                <c:pt idx="138">
                  <c:v>2.71304464</c:v>
                </c:pt>
                <c:pt idx="139">
                  <c:v>2.69258105</c:v>
                </c:pt>
                <c:pt idx="140">
                  <c:v>2.84279815</c:v>
                </c:pt>
                <c:pt idx="141">
                  <c:v>2.80493544</c:v>
                </c:pt>
                <c:pt idx="142">
                  <c:v>1.96804521</c:v>
                </c:pt>
                <c:pt idx="143">
                  <c:v>1.8525564</c:v>
                </c:pt>
                <c:pt idx="144">
                  <c:v>1.85368369</c:v>
                </c:pt>
                <c:pt idx="145">
                  <c:v>1.41760938</c:v>
                </c:pt>
                <c:pt idx="146">
                  <c:v>1.09542192</c:v>
                </c:pt>
                <c:pt idx="147">
                  <c:v>1.02927329</c:v>
                </c:pt>
                <c:pt idx="148">
                  <c:v>0.79489568</c:v>
                </c:pt>
                <c:pt idx="149">
                  <c:v>0.82862957</c:v>
                </c:pt>
                <c:pt idx="150">
                  <c:v>0.78523677</c:v>
                </c:pt>
                <c:pt idx="151">
                  <c:v>0.78003833</c:v>
                </c:pt>
                <c:pt idx="152">
                  <c:v>0.51273469</c:v>
                </c:pt>
                <c:pt idx="153">
                  <c:v>0.48429527</c:v>
                </c:pt>
                <c:pt idx="154">
                  <c:v>0.50759031</c:v>
                </c:pt>
                <c:pt idx="155">
                  <c:v>0.52754838</c:v>
                </c:pt>
                <c:pt idx="156">
                  <c:v>0.55426131</c:v>
                </c:pt>
                <c:pt idx="157">
                  <c:v>0.4474591</c:v>
                </c:pt>
                <c:pt idx="158">
                  <c:v>0.42282525</c:v>
                </c:pt>
                <c:pt idx="159">
                  <c:v>0.41805058</c:v>
                </c:pt>
                <c:pt idx="160">
                  <c:v>0.32715194</c:v>
                </c:pt>
                <c:pt idx="161">
                  <c:v>0.2847923</c:v>
                </c:pt>
                <c:pt idx="162">
                  <c:v>0.26208722</c:v>
                </c:pt>
                <c:pt idx="163">
                  <c:v>0.26026051</c:v>
                </c:pt>
                <c:pt idx="164">
                  <c:v>0.24732201</c:v>
                </c:pt>
                <c:pt idx="165">
                  <c:v>0.32852114</c:v>
                </c:pt>
                <c:pt idx="166">
                  <c:v>0.36632554</c:v>
                </c:pt>
                <c:pt idx="167">
                  <c:v>0.31258078</c:v>
                </c:pt>
                <c:pt idx="168">
                  <c:v>0.32503615</c:v>
                </c:pt>
                <c:pt idx="169">
                  <c:v>0.26163467</c:v>
                </c:pt>
                <c:pt idx="170">
                  <c:v>0.18587306</c:v>
                </c:pt>
                <c:pt idx="171">
                  <c:v>0.18826117</c:v>
                </c:pt>
                <c:pt idx="172">
                  <c:v>0.214873</c:v>
                </c:pt>
                <c:pt idx="173">
                  <c:v>0.27037523</c:v>
                </c:pt>
                <c:pt idx="174">
                  <c:v>0.27523077</c:v>
                </c:pt>
                <c:pt idx="175">
                  <c:v>0.23303709</c:v>
                </c:pt>
                <c:pt idx="176">
                  <c:v>0.22241358</c:v>
                </c:pt>
                <c:pt idx="177">
                  <c:v>0.20848376</c:v>
                </c:pt>
                <c:pt idx="178">
                  <c:v>0.24707622</c:v>
                </c:pt>
                <c:pt idx="179">
                  <c:v>0.3159731</c:v>
                </c:pt>
                <c:pt idx="180">
                  <c:v>0.2987505</c:v>
                </c:pt>
                <c:pt idx="181">
                  <c:v>0.30571586</c:v>
                </c:pt>
                <c:pt idx="182">
                  <c:v>0.2777791</c:v>
                </c:pt>
                <c:pt idx="183">
                  <c:v>0.25733453</c:v>
                </c:pt>
                <c:pt idx="184">
                  <c:v>0.22987561</c:v>
                </c:pt>
                <c:pt idx="185">
                  <c:v>0.15760392</c:v>
                </c:pt>
                <c:pt idx="186">
                  <c:v>0.23159099</c:v>
                </c:pt>
                <c:pt idx="187">
                  <c:v>0.30023411</c:v>
                </c:pt>
                <c:pt idx="188">
                  <c:v>0.26623398</c:v>
                </c:pt>
                <c:pt idx="189">
                  <c:v>0.21759964</c:v>
                </c:pt>
                <c:pt idx="190">
                  <c:v>0.21067626</c:v>
                </c:pt>
                <c:pt idx="191">
                  <c:v>0.23526511</c:v>
                </c:pt>
                <c:pt idx="192">
                  <c:v>0.19112547</c:v>
                </c:pt>
                <c:pt idx="193">
                  <c:v>0.28125404</c:v>
                </c:pt>
                <c:pt idx="194">
                  <c:v>0.25466687</c:v>
                </c:pt>
                <c:pt idx="195">
                  <c:v>0.23357172</c:v>
                </c:pt>
                <c:pt idx="196">
                  <c:v>0.18811326</c:v>
                </c:pt>
                <c:pt idx="197">
                  <c:v>0.10014651</c:v>
                </c:pt>
                <c:pt idx="198">
                  <c:v>0.2005168</c:v>
                </c:pt>
                <c:pt idx="199">
                  <c:v>0.05393662</c:v>
                </c:pt>
                <c:pt idx="200">
                  <c:v>0.01032696</c:v>
                </c:pt>
                <c:pt idx="201">
                  <c:v>0.00329103</c:v>
                </c:pt>
                <c:pt idx="202">
                  <c:v>0.20292265</c:v>
                </c:pt>
                <c:pt idx="203">
                  <c:v>0.29284883</c:v>
                </c:pt>
                <c:pt idx="204">
                  <c:v>0.22219156</c:v>
                </c:pt>
                <c:pt idx="205">
                  <c:v>0.31157439</c:v>
                </c:pt>
                <c:pt idx="206">
                  <c:v>0.46535923</c:v>
                </c:pt>
                <c:pt idx="207">
                  <c:v>0.55785095</c:v>
                </c:pt>
                <c:pt idx="208">
                  <c:v>0.84800847</c:v>
                </c:pt>
                <c:pt idx="209">
                  <c:v>0.8591458</c:v>
                </c:pt>
                <c:pt idx="210">
                  <c:v>0.8713081</c:v>
                </c:pt>
                <c:pt idx="211">
                  <c:v>0.89414692</c:v>
                </c:pt>
                <c:pt idx="212">
                  <c:v>1.3665119</c:v>
                </c:pt>
                <c:pt idx="213">
                  <c:v>1.33453329</c:v>
                </c:pt>
                <c:pt idx="214">
                  <c:v>1.37003837</c:v>
                </c:pt>
                <c:pt idx="215">
                  <c:v>1.37596174</c:v>
                </c:pt>
                <c:pt idx="216">
                  <c:v>1.37520209</c:v>
                </c:pt>
                <c:pt idx="217">
                  <c:v>1.56623819</c:v>
                </c:pt>
                <c:pt idx="218">
                  <c:v>1.49326486</c:v>
                </c:pt>
                <c:pt idx="219">
                  <c:v>1.58377675</c:v>
                </c:pt>
                <c:pt idx="220">
                  <c:v>1.67409801</c:v>
                </c:pt>
                <c:pt idx="221">
                  <c:v>1.86454811</c:v>
                </c:pt>
                <c:pt idx="222">
                  <c:v>1.89861838</c:v>
                </c:pt>
                <c:pt idx="223">
                  <c:v>1.92748</c:v>
                </c:pt>
                <c:pt idx="224">
                  <c:v>1.85148875</c:v>
                </c:pt>
                <c:pt idx="225">
                  <c:v>1.83955242</c:v>
                </c:pt>
                <c:pt idx="226">
                  <c:v>1.84632696</c:v>
                </c:pt>
                <c:pt idx="227">
                  <c:v>1.92802198</c:v>
                </c:pt>
                <c:pt idx="228">
                  <c:v>1.95242612</c:v>
                </c:pt>
                <c:pt idx="229">
                  <c:v>2.08288219</c:v>
                </c:pt>
                <c:pt idx="230">
                  <c:v>2.17709198</c:v>
                </c:pt>
                <c:pt idx="231">
                  <c:v>1.95815162</c:v>
                </c:pt>
                <c:pt idx="232">
                  <c:v>1.36610294</c:v>
                </c:pt>
                <c:pt idx="233">
                  <c:v>1.43703546</c:v>
                </c:pt>
                <c:pt idx="234">
                  <c:v>1.38126108</c:v>
                </c:pt>
                <c:pt idx="235">
                  <c:v>1.33398668</c:v>
                </c:pt>
                <c:pt idx="236">
                  <c:v>1.26945233</c:v>
                </c:pt>
                <c:pt idx="237">
                  <c:v>1.24092052</c:v>
                </c:pt>
                <c:pt idx="238">
                  <c:v>1.20646159</c:v>
                </c:pt>
                <c:pt idx="239">
                  <c:v>1.10605691</c:v>
                </c:pt>
                <c:pt idx="240">
                  <c:v>1.09524245</c:v>
                </c:pt>
              </c:numCache>
            </c:numRef>
          </c:yVal>
        </c:ser>
        <c:ser>
          <c:idx val="4"/>
          <c:order val="4"/>
          <c:tx>
            <c:v>Equal-weight blend</c:v>
          </c:tx>
          <c:spPr>
            <a:solidFill xmlns:a="http://schemas.openxmlformats.org/drawingml/2006/main">
              <a:srgbClr val="16816B"/>
            </a:solidFill>
            <a:ln xmlns:a="http://schemas.openxmlformats.org/drawingml/2006/main" w="20003">
              <a:solidFill>
                <a:srgbClr val="16816B"/>
              </a:solidFill>
            </a:ln>
          </c:spPr>
          <c:marker>
            <c:symbol val="none"/>
          </c:marker>
          <c:xVal>
            <c:numRef>
              <c:f>'Chart Data'!$I$2:$I$242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Data'!$J$2:$J$242</c:f>
              <c:numCache>
                <c:formatCode>0.000</c:formatCode>
                <c:ptCount val="241"/>
                <c:pt idx="0">
                  <c:v>3.15436921</c:v>
                </c:pt>
                <c:pt idx="1">
                  <c:v>3.090252</c:v>
                </c:pt>
                <c:pt idx="2">
                  <c:v>3.40028292</c:v>
                </c:pt>
                <c:pt idx="3">
                  <c:v>3.40668105</c:v>
                </c:pt>
                <c:pt idx="4">
                  <c:v>3.36191588</c:v>
                </c:pt>
                <c:pt idx="5">
                  <c:v>3.40694568</c:v>
                </c:pt>
                <c:pt idx="6">
                  <c:v>3.42341191</c:v>
                </c:pt>
                <c:pt idx="7">
                  <c:v>3.35049231</c:v>
                </c:pt>
                <c:pt idx="8">
                  <c:v>3.17095737</c:v>
                </c:pt>
                <c:pt idx="9">
                  <c:v>3.1760089</c:v>
                </c:pt>
                <c:pt idx="10">
                  <c:v>3.14952971</c:v>
                </c:pt>
                <c:pt idx="11">
                  <c:v>3.14903925</c:v>
                </c:pt>
                <c:pt idx="12">
                  <c:v>3.14882373</c:v>
                </c:pt>
                <c:pt idx="13">
                  <c:v>3.00890722</c:v>
                </c:pt>
                <c:pt idx="14">
                  <c:v>3.02919171</c:v>
                </c:pt>
                <c:pt idx="15">
                  <c:v>3.03773953</c:v>
                </c:pt>
                <c:pt idx="16">
                  <c:v>2.93417284</c:v>
                </c:pt>
                <c:pt idx="17">
                  <c:v>3.04327457</c:v>
                </c:pt>
                <c:pt idx="18">
                  <c:v>3.09685189</c:v>
                </c:pt>
                <c:pt idx="19">
                  <c:v>3.04199249</c:v>
                </c:pt>
                <c:pt idx="20">
                  <c:v>3.04624271</c:v>
                </c:pt>
                <c:pt idx="21">
                  <c:v>3.120519</c:v>
                </c:pt>
                <c:pt idx="22">
                  <c:v>3.22691544</c:v>
                </c:pt>
                <c:pt idx="23">
                  <c:v>3.42469055</c:v>
                </c:pt>
                <c:pt idx="24">
                  <c:v>3.40812379</c:v>
                </c:pt>
                <c:pt idx="25">
                  <c:v>3.18289269</c:v>
                </c:pt>
                <c:pt idx="26">
                  <c:v>3.33872903</c:v>
                </c:pt>
                <c:pt idx="27">
                  <c:v>3.23387702</c:v>
                </c:pt>
                <c:pt idx="28">
                  <c:v>3.23789903</c:v>
                </c:pt>
                <c:pt idx="29">
                  <c:v>3.33387494</c:v>
                </c:pt>
                <c:pt idx="30">
                  <c:v>3.34736223</c:v>
                </c:pt>
                <c:pt idx="31">
                  <c:v>3.36729645</c:v>
                </c:pt>
                <c:pt idx="32">
                  <c:v>3.26087758</c:v>
                </c:pt>
                <c:pt idx="33">
                  <c:v>3.19845055</c:v>
                </c:pt>
                <c:pt idx="34">
                  <c:v>3.17601834</c:v>
                </c:pt>
                <c:pt idx="35">
                  <c:v>3.07673284</c:v>
                </c:pt>
                <c:pt idx="36">
                  <c:v>2.61436419</c:v>
                </c:pt>
                <c:pt idx="37">
                  <c:v>2.63894293</c:v>
                </c:pt>
                <c:pt idx="38">
                  <c:v>1.48786633</c:v>
                </c:pt>
                <c:pt idx="39">
                  <c:v>1.5228507</c:v>
                </c:pt>
                <c:pt idx="40">
                  <c:v>1.53525953</c:v>
                </c:pt>
                <c:pt idx="41">
                  <c:v>1.55946273</c:v>
                </c:pt>
                <c:pt idx="42">
                  <c:v>1.57105548</c:v>
                </c:pt>
                <c:pt idx="43">
                  <c:v>1.64224547</c:v>
                </c:pt>
                <c:pt idx="44">
                  <c:v>1.64047312</c:v>
                </c:pt>
                <c:pt idx="45">
                  <c:v>1.72839405</c:v>
                </c:pt>
                <c:pt idx="46">
                  <c:v>1.73083416</c:v>
                </c:pt>
                <c:pt idx="47">
                  <c:v>1.76364079</c:v>
                </c:pt>
                <c:pt idx="48">
                  <c:v>1.78268304</c:v>
                </c:pt>
                <c:pt idx="49">
                  <c:v>1.45743915</c:v>
                </c:pt>
                <c:pt idx="50">
                  <c:v>1.51317187</c:v>
                </c:pt>
                <c:pt idx="51">
                  <c:v>1.59120177</c:v>
                </c:pt>
                <c:pt idx="52">
                  <c:v>1.660655</c:v>
                </c:pt>
                <c:pt idx="53">
                  <c:v>1.73179897</c:v>
                </c:pt>
                <c:pt idx="54">
                  <c:v>1.7005298</c:v>
                </c:pt>
                <c:pt idx="55">
                  <c:v>1.71728041</c:v>
                </c:pt>
                <c:pt idx="56">
                  <c:v>1.73096615</c:v>
                </c:pt>
                <c:pt idx="57">
                  <c:v>1.76470676</c:v>
                </c:pt>
                <c:pt idx="58">
                  <c:v>1.64014198</c:v>
                </c:pt>
                <c:pt idx="59">
                  <c:v>1.57027188</c:v>
                </c:pt>
                <c:pt idx="60">
                  <c:v>1.55164818</c:v>
                </c:pt>
                <c:pt idx="61">
                  <c:v>1.61751632</c:v>
                </c:pt>
                <c:pt idx="62">
                  <c:v>1.62115141</c:v>
                </c:pt>
                <c:pt idx="63">
                  <c:v>1.61660092</c:v>
                </c:pt>
                <c:pt idx="64">
                  <c:v>1.67204166</c:v>
                </c:pt>
                <c:pt idx="65">
                  <c:v>1.67066385</c:v>
                </c:pt>
                <c:pt idx="66">
                  <c:v>1.68945371</c:v>
                </c:pt>
                <c:pt idx="67">
                  <c:v>1.69693943</c:v>
                </c:pt>
                <c:pt idx="68">
                  <c:v>1.72948774</c:v>
                </c:pt>
                <c:pt idx="69">
                  <c:v>1.68049541</c:v>
                </c:pt>
                <c:pt idx="70">
                  <c:v>1.65786339</c:v>
                </c:pt>
                <c:pt idx="71">
                  <c:v>1.50119441</c:v>
                </c:pt>
                <c:pt idx="72">
                  <c:v>1.54121129</c:v>
                </c:pt>
                <c:pt idx="73">
                  <c:v>1.54939886</c:v>
                </c:pt>
                <c:pt idx="74">
                  <c:v>1.47878285</c:v>
                </c:pt>
                <c:pt idx="75">
                  <c:v>1.42274543</c:v>
                </c:pt>
                <c:pt idx="76">
                  <c:v>1.45897302</c:v>
                </c:pt>
                <c:pt idx="77">
                  <c:v>1.46904856</c:v>
                </c:pt>
                <c:pt idx="78">
                  <c:v>1.49623586</c:v>
                </c:pt>
                <c:pt idx="79">
                  <c:v>1.53389288</c:v>
                </c:pt>
                <c:pt idx="80">
                  <c:v>1.52650677</c:v>
                </c:pt>
                <c:pt idx="81">
                  <c:v>1.52308932</c:v>
                </c:pt>
                <c:pt idx="82">
                  <c:v>1.54340846</c:v>
                </c:pt>
                <c:pt idx="83">
                  <c:v>1.49756147</c:v>
                </c:pt>
                <c:pt idx="84">
                  <c:v>1.52946653</c:v>
                </c:pt>
                <c:pt idx="85">
                  <c:v>1.6023708</c:v>
                </c:pt>
                <c:pt idx="86">
                  <c:v>1.65474133</c:v>
                </c:pt>
                <c:pt idx="87">
                  <c:v>1.70248776</c:v>
                </c:pt>
                <c:pt idx="88">
                  <c:v>1.66903455</c:v>
                </c:pt>
                <c:pt idx="89">
                  <c:v>1.64483633</c:v>
                </c:pt>
                <c:pt idx="90">
                  <c:v>1.62978693</c:v>
                </c:pt>
                <c:pt idx="91">
                  <c:v>1.63911648</c:v>
                </c:pt>
                <c:pt idx="92">
                  <c:v>1.6756626</c:v>
                </c:pt>
                <c:pt idx="93">
                  <c:v>1.73671311</c:v>
                </c:pt>
                <c:pt idx="94">
                  <c:v>1.738506</c:v>
                </c:pt>
                <c:pt idx="95">
                  <c:v>1.79730414</c:v>
                </c:pt>
                <c:pt idx="96">
                  <c:v>1.87464179</c:v>
                </c:pt>
                <c:pt idx="97">
                  <c:v>1.89272657</c:v>
                </c:pt>
                <c:pt idx="98">
                  <c:v>2.47568136</c:v>
                </c:pt>
                <c:pt idx="99">
                  <c:v>2.3957376</c:v>
                </c:pt>
                <c:pt idx="100">
                  <c:v>2.36625528</c:v>
                </c:pt>
                <c:pt idx="101">
                  <c:v>2.32585168</c:v>
                </c:pt>
                <c:pt idx="102">
                  <c:v>2.35447152</c:v>
                </c:pt>
                <c:pt idx="103">
                  <c:v>2.27556522</c:v>
                </c:pt>
                <c:pt idx="104">
                  <c:v>2.30720787</c:v>
                </c:pt>
                <c:pt idx="105">
                  <c:v>2.2272436</c:v>
                </c:pt>
                <c:pt idx="106">
                  <c:v>2.17010253</c:v>
                </c:pt>
                <c:pt idx="107">
                  <c:v>2.12239082</c:v>
                </c:pt>
                <c:pt idx="108">
                  <c:v>2.0409023</c:v>
                </c:pt>
                <c:pt idx="109">
                  <c:v>2.51831844</c:v>
                </c:pt>
                <c:pt idx="110">
                  <c:v>2.71831785</c:v>
                </c:pt>
                <c:pt idx="111">
                  <c:v>2.67653264</c:v>
                </c:pt>
                <c:pt idx="112">
                  <c:v>2.64775163</c:v>
                </c:pt>
                <c:pt idx="113">
                  <c:v>2.56985804</c:v>
                </c:pt>
                <c:pt idx="114">
                  <c:v>2.57933762</c:v>
                </c:pt>
                <c:pt idx="115">
                  <c:v>2.54214913</c:v>
                </c:pt>
                <c:pt idx="116">
                  <c:v>2.50755731</c:v>
                </c:pt>
                <c:pt idx="117">
                  <c:v>2.44851327</c:v>
                </c:pt>
                <c:pt idx="118">
                  <c:v>2.64423488</c:v>
                </c:pt>
                <c:pt idx="119">
                  <c:v>2.75690869</c:v>
                </c:pt>
                <c:pt idx="120">
                  <c:v>2.77455098</c:v>
                </c:pt>
                <c:pt idx="121">
                  <c:v>2.67868129</c:v>
                </c:pt>
                <c:pt idx="122">
                  <c:v>2.65868124</c:v>
                </c:pt>
                <c:pt idx="123">
                  <c:v>2.63714353</c:v>
                </c:pt>
                <c:pt idx="124">
                  <c:v>2.64196449</c:v>
                </c:pt>
                <c:pt idx="125">
                  <c:v>2.61070394</c:v>
                </c:pt>
                <c:pt idx="126">
                  <c:v>2.52481924</c:v>
                </c:pt>
                <c:pt idx="127">
                  <c:v>2.51619689</c:v>
                </c:pt>
                <c:pt idx="128">
                  <c:v>2.49851291</c:v>
                </c:pt>
                <c:pt idx="129">
                  <c:v>2.58755691</c:v>
                </c:pt>
                <c:pt idx="130">
                  <c:v>2.76291957</c:v>
                </c:pt>
                <c:pt idx="131">
                  <c:v>3.60954691</c:v>
                </c:pt>
                <c:pt idx="132">
                  <c:v>4.14171703</c:v>
                </c:pt>
                <c:pt idx="133">
                  <c:v>3.93715278</c:v>
                </c:pt>
                <c:pt idx="134">
                  <c:v>4.22501776</c:v>
                </c:pt>
                <c:pt idx="135">
                  <c:v>4.38607594</c:v>
                </c:pt>
                <c:pt idx="136">
                  <c:v>4.38088689</c:v>
                </c:pt>
                <c:pt idx="137">
                  <c:v>4.36462273</c:v>
                </c:pt>
                <c:pt idx="138">
                  <c:v>3.21893489</c:v>
                </c:pt>
                <c:pt idx="139">
                  <c:v>3.19655384</c:v>
                </c:pt>
                <c:pt idx="140">
                  <c:v>3.07111564</c:v>
                </c:pt>
                <c:pt idx="141">
                  <c:v>2.8221419</c:v>
                </c:pt>
                <c:pt idx="142">
                  <c:v>2.42049352</c:v>
                </c:pt>
                <c:pt idx="143">
                  <c:v>2.48780255</c:v>
                </c:pt>
                <c:pt idx="144">
                  <c:v>2.4876571</c:v>
                </c:pt>
                <c:pt idx="145">
                  <c:v>2.25400178</c:v>
                </c:pt>
                <c:pt idx="146">
                  <c:v>1.84688378</c:v>
                </c:pt>
                <c:pt idx="147">
                  <c:v>1.73279107</c:v>
                </c:pt>
                <c:pt idx="148">
                  <c:v>1.2569921</c:v>
                </c:pt>
                <c:pt idx="149">
                  <c:v>1.30619507</c:v>
                </c:pt>
                <c:pt idx="150">
                  <c:v>1.27611855</c:v>
                </c:pt>
                <c:pt idx="151">
                  <c:v>1.28039208</c:v>
                </c:pt>
                <c:pt idx="152">
                  <c:v>0.95424487</c:v>
                </c:pt>
                <c:pt idx="153">
                  <c:v>0.95316561</c:v>
                </c:pt>
                <c:pt idx="154">
                  <c:v>0.96944228</c:v>
                </c:pt>
                <c:pt idx="155">
                  <c:v>0.94674358</c:v>
                </c:pt>
                <c:pt idx="156">
                  <c:v>0.99459885</c:v>
                </c:pt>
                <c:pt idx="157">
                  <c:v>0.90910354</c:v>
                </c:pt>
                <c:pt idx="158">
                  <c:v>0.8837276</c:v>
                </c:pt>
                <c:pt idx="159">
                  <c:v>0.8925075</c:v>
                </c:pt>
                <c:pt idx="160">
                  <c:v>0.74322576</c:v>
                </c:pt>
                <c:pt idx="161">
                  <c:v>0.72417111</c:v>
                </c:pt>
                <c:pt idx="162">
                  <c:v>0.66804083</c:v>
                </c:pt>
                <c:pt idx="163">
                  <c:v>0.66244456</c:v>
                </c:pt>
                <c:pt idx="164">
                  <c:v>0.6512631</c:v>
                </c:pt>
                <c:pt idx="165">
                  <c:v>0.69791361</c:v>
                </c:pt>
                <c:pt idx="166">
                  <c:v>0.71215629</c:v>
                </c:pt>
                <c:pt idx="167">
                  <c:v>0.6659262</c:v>
                </c:pt>
                <c:pt idx="168">
                  <c:v>0.64088574</c:v>
                </c:pt>
                <c:pt idx="169">
                  <c:v>0.59670129</c:v>
                </c:pt>
                <c:pt idx="170">
                  <c:v>0.5039536</c:v>
                </c:pt>
                <c:pt idx="171">
                  <c:v>0.50478889</c:v>
                </c:pt>
                <c:pt idx="172">
                  <c:v>0.49797883</c:v>
                </c:pt>
                <c:pt idx="173">
                  <c:v>0.50611028</c:v>
                </c:pt>
                <c:pt idx="174">
                  <c:v>0.50650255</c:v>
                </c:pt>
                <c:pt idx="175">
                  <c:v>0.46691989</c:v>
                </c:pt>
                <c:pt idx="176">
                  <c:v>0.5137217</c:v>
                </c:pt>
                <c:pt idx="177">
                  <c:v>0.55081846</c:v>
                </c:pt>
                <c:pt idx="178">
                  <c:v>0.6291385</c:v>
                </c:pt>
                <c:pt idx="179">
                  <c:v>0.68639075</c:v>
                </c:pt>
                <c:pt idx="180">
                  <c:v>0.6493372</c:v>
                </c:pt>
                <c:pt idx="181">
                  <c:v>0.67369588</c:v>
                </c:pt>
                <c:pt idx="182">
                  <c:v>0.62646831</c:v>
                </c:pt>
                <c:pt idx="183">
                  <c:v>0.60286334</c:v>
                </c:pt>
                <c:pt idx="184">
                  <c:v>0.59071078</c:v>
                </c:pt>
                <c:pt idx="185">
                  <c:v>0.57569759</c:v>
                </c:pt>
                <c:pt idx="186">
                  <c:v>0.5983191</c:v>
                </c:pt>
                <c:pt idx="187">
                  <c:v>0.64913463</c:v>
                </c:pt>
                <c:pt idx="188">
                  <c:v>0.64024675</c:v>
                </c:pt>
                <c:pt idx="189">
                  <c:v>0.60623707</c:v>
                </c:pt>
                <c:pt idx="190">
                  <c:v>0.63372473</c:v>
                </c:pt>
                <c:pt idx="191">
                  <c:v>0.6377204</c:v>
                </c:pt>
                <c:pt idx="192">
                  <c:v>0.5754534</c:v>
                </c:pt>
                <c:pt idx="193">
                  <c:v>0.65890953</c:v>
                </c:pt>
                <c:pt idx="194">
                  <c:v>0.63282726</c:v>
                </c:pt>
                <c:pt idx="195">
                  <c:v>0.60077057</c:v>
                </c:pt>
                <c:pt idx="196">
                  <c:v>0.5281357</c:v>
                </c:pt>
                <c:pt idx="197">
                  <c:v>0.44527025</c:v>
                </c:pt>
                <c:pt idx="198">
                  <c:v>0.60209582</c:v>
                </c:pt>
                <c:pt idx="199">
                  <c:v>0.49087382</c:v>
                </c:pt>
                <c:pt idx="200">
                  <c:v>0.49330628</c:v>
                </c:pt>
                <c:pt idx="201">
                  <c:v>0.53260229</c:v>
                </c:pt>
                <c:pt idx="202">
                  <c:v>0.68678494</c:v>
                </c:pt>
                <c:pt idx="203">
                  <c:v>0.63720201</c:v>
                </c:pt>
                <c:pt idx="204">
                  <c:v>0.5304166</c:v>
                </c:pt>
                <c:pt idx="205">
                  <c:v>0.5439227</c:v>
                </c:pt>
                <c:pt idx="206">
                  <c:v>0.66636585</c:v>
                </c:pt>
                <c:pt idx="207">
                  <c:v>0.74497424</c:v>
                </c:pt>
                <c:pt idx="208">
                  <c:v>1.15973774</c:v>
                </c:pt>
                <c:pt idx="209">
                  <c:v>1.14299063</c:v>
                </c:pt>
                <c:pt idx="210">
                  <c:v>1.10678329</c:v>
                </c:pt>
                <c:pt idx="211">
                  <c:v>1.10196149</c:v>
                </c:pt>
                <c:pt idx="212">
                  <c:v>1.55043576</c:v>
                </c:pt>
                <c:pt idx="213">
                  <c:v>1.52728178</c:v>
                </c:pt>
                <c:pt idx="214">
                  <c:v>1.54595273</c:v>
                </c:pt>
                <c:pt idx="215">
                  <c:v>1.55710358</c:v>
                </c:pt>
                <c:pt idx="216">
                  <c:v>1.51512285</c:v>
                </c:pt>
                <c:pt idx="217">
                  <c:v>1.62736203</c:v>
                </c:pt>
                <c:pt idx="218">
                  <c:v>1.60713342</c:v>
                </c:pt>
                <c:pt idx="219">
                  <c:v>1.64663591</c:v>
                </c:pt>
                <c:pt idx="220">
                  <c:v>1.74168334</c:v>
                </c:pt>
                <c:pt idx="221">
                  <c:v>1.8826848</c:v>
                </c:pt>
                <c:pt idx="222">
                  <c:v>1.92187556</c:v>
                </c:pt>
                <c:pt idx="223">
                  <c:v>2.0009178</c:v>
                </c:pt>
                <c:pt idx="224">
                  <c:v>1.97499212</c:v>
                </c:pt>
                <c:pt idx="225">
                  <c:v>1.9801822</c:v>
                </c:pt>
                <c:pt idx="226">
                  <c:v>1.95785742</c:v>
                </c:pt>
                <c:pt idx="227">
                  <c:v>2.03144349</c:v>
                </c:pt>
                <c:pt idx="228">
                  <c:v>2.15743577</c:v>
                </c:pt>
                <c:pt idx="229">
                  <c:v>2.25350238</c:v>
                </c:pt>
                <c:pt idx="230">
                  <c:v>2.4351442</c:v>
                </c:pt>
                <c:pt idx="231">
                  <c:v>2.29694022</c:v>
                </c:pt>
                <c:pt idx="232">
                  <c:v>1.46529747</c:v>
                </c:pt>
                <c:pt idx="233">
                  <c:v>1.53854212</c:v>
                </c:pt>
                <c:pt idx="234">
                  <c:v>1.54883105</c:v>
                </c:pt>
                <c:pt idx="235">
                  <c:v>1.44425272</c:v>
                </c:pt>
                <c:pt idx="236">
                  <c:v>1.35085781</c:v>
                </c:pt>
                <c:pt idx="237">
                  <c:v>1.26274285</c:v>
                </c:pt>
                <c:pt idx="238">
                  <c:v>1.23813218</c:v>
                </c:pt>
                <c:pt idx="239">
                  <c:v>1.12441763</c:v>
                </c:pt>
                <c:pt idx="240">
                  <c:v>1.13217875</c:v>
                </c:pt>
              </c:numCache>
            </c:numRef>
          </c:y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1"/>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Annualized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valAx>
      <c:valAx>
        <c:axId val="48650112"/>
        <c:scaling>
          <c:orientation val="minMax"/>
          <c:max val="2017"/>
          <c:min val="1992"/>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Data'!$A$2:$A$3</c:f>
              <c:strCache>
                <c:ptCount val="2"/>
                <c:pt idx="0">
                  <c:v>Expansion</c:v>
                </c:pt>
                <c:pt idx="1">
                  <c:v>Recession</c:v>
                </c:pt>
              </c:strCache>
            </c:strRef>
          </c:cat>
          <c:val>
            <c:numRef>
              <c:f>'Chart Data'!$B$2:$B$3</c:f>
              <c:numCache>
                <c:formatCode>0.000</c:formatCode>
                <c:ptCount val="2"/>
                <c:pt idx="0">
                  <c:v>0.84155273</c:v>
                </c:pt>
                <c:pt idx="1">
                  <c:v>0.32426226</c:v>
                </c:pt>
              </c:numCache>
            </c:numRef>
          </c:val>
        </c:ser>
        <c:ser>
          <c:idx val="1"/>
          <c:order val="1"/>
          <c:tx>
            <c:v>Replicated GAN</c:v>
          </c:tx>
          <c:spPr>
            <a:solidFill xmlns:a="http://schemas.openxmlformats.org/drawingml/2006/main">
              <a:srgbClr val="003262"/>
            </a:solidFill>
          </c:spPr>
          <c:cat>
            <c:strRef>
              <c:f>'Chart Data'!$C$2:$C$3</c:f>
              <c:strCache>
                <c:ptCount val="2"/>
                <c:pt idx="0">
                  <c:v>Expansion</c:v>
                </c:pt>
                <c:pt idx="1">
                  <c:v>Recession</c:v>
                </c:pt>
              </c:strCache>
            </c:strRef>
          </c:cat>
          <c:val>
            <c:numRef>
              <c:f>'Chart Data'!$D$2:$D$3</c:f>
              <c:numCache>
                <c:formatCode>0.000</c:formatCode>
                <c:ptCount val="2"/>
                <c:pt idx="0">
                  <c:v>0.6369389</c:v>
                </c:pt>
                <c:pt idx="1">
                  <c:v>0.45528205</c:v>
                </c:pt>
              </c:numCache>
            </c:numRef>
          </c:val>
        </c:ser>
        <c:ser>
          <c:idx val="2"/>
          <c:order val="2"/>
          <c:tx>
            <c:v>Extension LSTM</c:v>
          </c:tx>
          <c:spPr>
            <a:solidFill xmlns:a="http://schemas.openxmlformats.org/drawingml/2006/main">
              <a:srgbClr val="2563EB"/>
            </a:solidFill>
          </c:spPr>
          <c:cat>
            <c:strRef>
              <c:f>'Chart Data'!$E$2:$E$3</c:f>
              <c:strCache>
                <c:ptCount val="2"/>
                <c:pt idx="0">
                  <c:v>Expansion</c:v>
                </c:pt>
                <c:pt idx="1">
                  <c:v>Recession</c:v>
                </c:pt>
              </c:strCache>
            </c:strRef>
          </c:cat>
          <c:val>
            <c:numRef>
              <c:f>'Chart Data'!$F$2:$F$3</c:f>
              <c:numCache>
                <c:formatCode>0.000</c:formatCode>
                <c:ptCount val="2"/>
                <c:pt idx="0">
                  <c:v>0.48255</c:v>
                </c:pt>
                <c:pt idx="1">
                  <c:v>0.26380921</c:v>
                </c:pt>
              </c:numCache>
            </c:numRef>
          </c:val>
        </c:ser>
        <c:ser>
          <c:idx val="3"/>
          <c:order val="3"/>
          <c:tx>
            <c:v>Transformer</c:v>
          </c:tx>
          <c:spPr>
            <a:solidFill xmlns:a="http://schemas.openxmlformats.org/drawingml/2006/main">
              <a:srgbClr val="B7790B"/>
            </a:solidFill>
          </c:spPr>
          <c:invertIfNegative val="0"/>
          <c:cat>
            <c:strRef>
              <c:f>'Chart Data'!$G$2:$G$3</c:f>
              <c:strCache>
                <c:ptCount val="2"/>
                <c:pt idx="0">
                  <c:v>Expansion</c:v>
                </c:pt>
                <c:pt idx="1">
                  <c:v>Recession</c:v>
                </c:pt>
              </c:strCache>
            </c:strRef>
          </c:cat>
          <c:val>
            <c:numRef>
              <c:f>'Chart Data'!$H$2:$H$3</c:f>
              <c:numCache>
                <c:formatCode>0.000</c:formatCode>
                <c:ptCount val="2"/>
                <c:pt idx="0">
                  <c:v>0.36946416</c:v>
                </c:pt>
                <c:pt idx="1">
                  <c:v>-0.07126491</c:v>
                </c:pt>
              </c:numCache>
            </c:numRef>
          </c:val>
        </c:ser>
        <c:ser>
          <c:idx val="4"/>
          <c:order val="4"/>
          <c:tx>
            <c:v>Equal-weight blend</c:v>
          </c:tx>
          <c:spPr>
            <a:solidFill xmlns:a="http://schemas.openxmlformats.org/drawingml/2006/main">
              <a:srgbClr val="16816B"/>
            </a:solidFill>
          </c:spPr>
          <c:cat>
            <c:strRef>
              <c:f>'Chart Data'!$I$2:$I$3</c:f>
              <c:strCache>
                <c:ptCount val="2"/>
                <c:pt idx="0">
                  <c:v>Expansion</c:v>
                </c:pt>
                <c:pt idx="1">
                  <c:v>Recession</c:v>
                </c:pt>
              </c:strCache>
            </c:strRef>
          </c:cat>
          <c:val>
            <c:numRef>
              <c:f>'Chart Data'!$J$2:$J$3</c:f>
              <c:numCache>
                <c:formatCode>0.000</c:formatCode>
                <c:ptCount val="2"/>
                <c:pt idx="0">
                  <c:v>0.51667681</c:v>
                </c:pt>
                <c:pt idx="1">
                  <c:v>0.07603477</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1.15"/>
          <c:min val="-0.12"/>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Data'!$A$2:$A$3</c:f>
              <c:strCache>
                <c:ptCount val="2"/>
                <c:pt idx="0">
                  <c:v>High volatility</c:v>
                </c:pt>
                <c:pt idx="1">
                  <c:v>Low volatility</c:v>
                </c:pt>
              </c:strCache>
            </c:strRef>
          </c:cat>
          <c:val>
            <c:numRef>
              <c:f>'Chart Data'!$B$2:$B$3</c:f>
              <c:numCache>
                <c:formatCode>0.000</c:formatCode>
                <c:ptCount val="2"/>
                <c:pt idx="0">
                  <c:v>0.59789657</c:v>
                </c:pt>
                <c:pt idx="1">
                  <c:v>1.00339981</c:v>
                </c:pt>
              </c:numCache>
            </c:numRef>
          </c:val>
        </c:ser>
        <c:ser>
          <c:idx val="1"/>
          <c:order val="1"/>
          <c:tx>
            <c:v>Replicated GAN</c:v>
          </c:tx>
          <c:spPr>
            <a:solidFill xmlns:a="http://schemas.openxmlformats.org/drawingml/2006/main">
              <a:srgbClr val="003262"/>
            </a:solidFill>
          </c:spPr>
          <c:cat>
            <c:strRef>
              <c:f>'Chart Data'!$C$2:$C$3</c:f>
              <c:strCache>
                <c:ptCount val="2"/>
                <c:pt idx="0">
                  <c:v>High volatility</c:v>
                </c:pt>
                <c:pt idx="1">
                  <c:v>Low volatility</c:v>
                </c:pt>
              </c:strCache>
            </c:strRef>
          </c:cat>
          <c:val>
            <c:numRef>
              <c:f>'Chart Data'!$D$2:$D$3</c:f>
              <c:numCache>
                <c:formatCode>0.000</c:formatCode>
                <c:ptCount val="2"/>
                <c:pt idx="0">
                  <c:v>0.47989422</c:v>
                </c:pt>
                <c:pt idx="1">
                  <c:v>0.84128523</c:v>
                </c:pt>
              </c:numCache>
            </c:numRef>
          </c:val>
        </c:ser>
        <c:ser>
          <c:idx val="2"/>
          <c:order val="2"/>
          <c:tx>
            <c:v>Extension LSTM</c:v>
          </c:tx>
          <c:spPr>
            <a:solidFill xmlns:a="http://schemas.openxmlformats.org/drawingml/2006/main">
              <a:srgbClr val="2563EB"/>
            </a:solidFill>
          </c:spPr>
          <c:cat>
            <c:strRef>
              <c:f>'Chart Data'!$E$2:$E$3</c:f>
              <c:strCache>
                <c:ptCount val="2"/>
                <c:pt idx="0">
                  <c:v>High volatility</c:v>
                </c:pt>
                <c:pt idx="1">
                  <c:v>Low volatility</c:v>
                </c:pt>
              </c:strCache>
            </c:strRef>
          </c:cat>
          <c:val>
            <c:numRef>
              <c:f>'Chart Data'!$F$2:$F$3</c:f>
              <c:numCache>
                <c:formatCode>0.000</c:formatCode>
                <c:ptCount val="2"/>
                <c:pt idx="0">
                  <c:v>0.4173692</c:v>
                </c:pt>
                <c:pt idx="1">
                  <c:v>0.54942577</c:v>
                </c:pt>
              </c:numCache>
            </c:numRef>
          </c:val>
        </c:ser>
        <c:ser>
          <c:idx val="3"/>
          <c:order val="3"/>
          <c:tx>
            <c:v>Transformer</c:v>
          </c:tx>
          <c:spPr>
            <a:solidFill xmlns:a="http://schemas.openxmlformats.org/drawingml/2006/main">
              <a:srgbClr val="B7790B"/>
            </a:solidFill>
          </c:spPr>
          <c:cat>
            <c:strRef>
              <c:f>'Chart Data'!$G$2:$G$3</c:f>
              <c:strCache>
                <c:ptCount val="2"/>
                <c:pt idx="0">
                  <c:v>High volatility</c:v>
                </c:pt>
                <c:pt idx="1">
                  <c:v>Low volatility</c:v>
                </c:pt>
              </c:strCache>
            </c:strRef>
          </c:cat>
          <c:val>
            <c:numRef>
              <c:f>'Chart Data'!$H$2:$H$3</c:f>
              <c:numCache>
                <c:formatCode>0.000</c:formatCode>
                <c:ptCount val="2"/>
                <c:pt idx="0">
                  <c:v>0.17749371</c:v>
                </c:pt>
                <c:pt idx="1">
                  <c:v>0.53079309</c:v>
                </c:pt>
              </c:numCache>
            </c:numRef>
          </c:val>
        </c:ser>
        <c:ser>
          <c:idx val="4"/>
          <c:order val="4"/>
          <c:tx>
            <c:v>Equal-weight blend</c:v>
          </c:tx>
          <c:spPr>
            <a:solidFill xmlns:a="http://schemas.openxmlformats.org/drawingml/2006/main">
              <a:srgbClr val="16816B"/>
            </a:solidFill>
          </c:spPr>
          <c:cat>
            <c:strRef>
              <c:f>'Chart Data'!$I$2:$I$3</c:f>
              <c:strCache>
                <c:ptCount val="2"/>
                <c:pt idx="0">
                  <c:v>High volatility</c:v>
                </c:pt>
                <c:pt idx="1">
                  <c:v>Low volatility</c:v>
                </c:pt>
              </c:strCache>
            </c:strRef>
          </c:cat>
          <c:val>
            <c:numRef>
              <c:f>'Chart Data'!$J$2:$J$3</c:f>
              <c:numCache>
                <c:formatCode>0.000</c:formatCode>
                <c:ptCount val="2"/>
                <c:pt idx="0">
                  <c:v>0.34499978</c:v>
                </c:pt>
                <c:pt idx="1">
                  <c:v>0.68388179</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1.15"/>
          <c:min val="-0.12"/>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LSTM minus Transformer</c:v>
          </c:tx>
          <c:spPr>
            <a:solidFill xmlns:a="http://schemas.openxmlformats.org/drawingml/2006/main">
              <a:srgbClr val="2563EB"/>
            </a:solidFill>
          </c:spPr>
          <c:cat>
            <c:strRef>
              <c:f>'Chart Data'!$A$2:$A$4</c:f>
              <c:strCache>
                <c:ptCount val="3"/>
                <c:pt idx="0">
                  <c:v>6 months</c:v>
                </c:pt>
                <c:pt idx="1">
                  <c:v>12 months</c:v>
                </c:pt>
                <c:pt idx="2">
                  <c:v>24 months</c:v>
                </c:pt>
              </c:strCache>
            </c:strRef>
          </c:cat>
          <c:val>
            <c:numRef>
              <c:f>'Chart Data'!$B$2:$B$4</c:f>
              <c:numCache>
                <c:formatCode>0.000</c:formatCode>
                <c:ptCount val="3"/>
                <c:pt idx="0">
                  <c:v>0.41204072</c:v>
                </c:pt>
                <c:pt idx="1">
                  <c:v>0.41387957</c:v>
                </c:pt>
                <c:pt idx="2">
                  <c:v>0.37410458</c:v>
                </c:pt>
              </c:numCache>
            </c:numRef>
          </c:val>
        </c:ser>
        <c:ser>
          <c:idx val="1"/>
          <c:order val="1"/>
          <c:tx>
            <c:v>LSTM minus equal-weight blend</c:v>
          </c:tx>
          <c:spPr>
            <a:solidFill xmlns:a="http://schemas.openxmlformats.org/drawingml/2006/main">
              <a:srgbClr val="16816B"/>
            </a:solidFill>
          </c:spPr>
          <c:cat>
            <c:strRef>
              <c:f>'Chart Data'!$C$2:$C$4</c:f>
              <c:strCache>
                <c:ptCount val="3"/>
                <c:pt idx="0">
                  <c:v>6 months</c:v>
                </c:pt>
                <c:pt idx="1">
                  <c:v>12 months</c:v>
                </c:pt>
                <c:pt idx="2">
                  <c:v>24 months</c:v>
                </c:pt>
              </c:strCache>
            </c:strRef>
          </c:cat>
          <c:val>
            <c:numRef>
              <c:f>'Chart Data'!$D$2:$D$4</c:f>
              <c:numCache>
                <c:formatCode>0.000</c:formatCode>
                <c:ptCount val="3"/>
                <c:pt idx="0">
                  <c:v>0.26022072</c:v>
                </c:pt>
                <c:pt idx="1">
                  <c:v>0.25039733</c:v>
                </c:pt>
                <c:pt idx="2">
                  <c:v>0.22896133</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6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Width of 95% basic interval</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Data'!$A$2:$A$5</c:f>
              <c:strCache>
                <c:ptCount val="4"/>
                <c:pt idx="0">
                  <c:v>Expansion</c:v>
                </c:pt>
                <c:pt idx="1">
                  <c:v>Recession</c:v>
                </c:pt>
                <c:pt idx="2">
                  <c:v>High volatility</c:v>
                </c:pt>
                <c:pt idx="3">
                  <c:v>Low volatility</c:v>
                </c:pt>
              </c:strCache>
            </c:strRef>
          </c:cat>
          <c:val>
            <c:numRef>
              <c:f>'Chart Data'!$B$2:$B$5</c:f>
              <c:numCache>
                <c:formatCode>0.000</c:formatCode>
                <c:ptCount val="4"/>
                <c:pt idx="0">
                  <c:v>3.70641062</c:v>
                </c:pt>
                <c:pt idx="1">
                  <c:v>3.00443061</c:v>
                </c:pt>
                <c:pt idx="2">
                  <c:v>3.49685192</c:v>
                </c:pt>
                <c:pt idx="3">
                  <c:v>3.74875446</c:v>
                </c:pt>
              </c:numCache>
            </c:numRef>
          </c:val>
        </c:ser>
        <c:ser>
          <c:idx val="1"/>
          <c:order val="1"/>
          <c:tx>
            <c:v>Replicated GAN</c:v>
          </c:tx>
          <c:spPr>
            <a:solidFill xmlns:a="http://schemas.openxmlformats.org/drawingml/2006/main">
              <a:srgbClr val="003262"/>
            </a:solidFill>
          </c:spPr>
          <c:cat>
            <c:strRef>
              <c:f>'Chart Data'!$C$2:$C$5</c:f>
              <c:strCache>
                <c:ptCount val="4"/>
                <c:pt idx="0">
                  <c:v>Expansion</c:v>
                </c:pt>
                <c:pt idx="1">
                  <c:v>Recession</c:v>
                </c:pt>
                <c:pt idx="2">
                  <c:v>High volatility</c:v>
                </c:pt>
                <c:pt idx="3">
                  <c:v>Low volatility</c:v>
                </c:pt>
              </c:strCache>
            </c:strRef>
          </c:cat>
          <c:val>
            <c:numRef>
              <c:f>'Chart Data'!$D$2:$D$5</c:f>
              <c:numCache>
                <c:formatCode>0.000</c:formatCode>
                <c:ptCount val="4"/>
                <c:pt idx="0">
                  <c:v>2.94245335</c:v>
                </c:pt>
                <c:pt idx="1">
                  <c:v>2.40358567</c:v>
                </c:pt>
                <c:pt idx="2">
                  <c:v>2.6865745</c:v>
                </c:pt>
                <c:pt idx="3">
                  <c:v>3.05007001</c:v>
                </c:pt>
              </c:numCache>
            </c:numRef>
          </c:val>
        </c:ser>
        <c:ser>
          <c:idx val="2"/>
          <c:order val="2"/>
          <c:tx>
            <c:v>Extension LSTM</c:v>
          </c:tx>
          <c:spPr>
            <a:solidFill xmlns:a="http://schemas.openxmlformats.org/drawingml/2006/main">
              <a:srgbClr val="2563EB"/>
            </a:solidFill>
          </c:spPr>
          <c:cat>
            <c:strRef>
              <c:f>'Chart Data'!$E$2:$E$5</c:f>
              <c:strCache>
                <c:ptCount val="4"/>
                <c:pt idx="0">
                  <c:v>Expansion</c:v>
                </c:pt>
                <c:pt idx="1">
                  <c:v>Recession</c:v>
                </c:pt>
                <c:pt idx="2">
                  <c:v>High volatility</c:v>
                </c:pt>
                <c:pt idx="3">
                  <c:v>Low volatility</c:v>
                </c:pt>
              </c:strCache>
            </c:strRef>
          </c:cat>
          <c:val>
            <c:numRef>
              <c:f>'Chart Data'!$F$2:$F$5</c:f>
              <c:numCache>
                <c:formatCode>0.000</c:formatCode>
                <c:ptCount val="4"/>
                <c:pt idx="0">
                  <c:v>2.05784917</c:v>
                </c:pt>
                <c:pt idx="1">
                  <c:v>1.38254624</c:v>
                </c:pt>
                <c:pt idx="2">
                  <c:v>1.64211907</c:v>
                </c:pt>
                <c:pt idx="3">
                  <c:v>2.26786637</c:v>
                </c:pt>
              </c:numCache>
            </c:numRef>
          </c:val>
        </c:ser>
        <c:ser>
          <c:idx val="3"/>
          <c:order val="3"/>
          <c:tx>
            <c:v>Transformer</c:v>
          </c:tx>
          <c:spPr>
            <a:solidFill xmlns:a="http://schemas.openxmlformats.org/drawingml/2006/main">
              <a:srgbClr val="B7790B"/>
            </a:solidFill>
          </c:spPr>
          <c:cat>
            <c:strRef>
              <c:f>'Chart Data'!$G$2:$G$5</c:f>
              <c:strCache>
                <c:ptCount val="4"/>
                <c:pt idx="0">
                  <c:v>Expansion</c:v>
                </c:pt>
                <c:pt idx="1">
                  <c:v>Recession</c:v>
                </c:pt>
                <c:pt idx="2">
                  <c:v>High volatility</c:v>
                </c:pt>
                <c:pt idx="3">
                  <c:v>Low volatility</c:v>
                </c:pt>
              </c:strCache>
            </c:strRef>
          </c:cat>
          <c:val>
            <c:numRef>
              <c:f>'Chart Data'!$H$2:$H$5</c:f>
              <c:numCache>
                <c:formatCode>0.000</c:formatCode>
                <c:ptCount val="4"/>
                <c:pt idx="0">
                  <c:v>1.4734821</c:v>
                </c:pt>
                <c:pt idx="1">
                  <c:v>1.40927834</c:v>
                </c:pt>
                <c:pt idx="2">
                  <c:v>0.89283968</c:v>
                </c:pt>
                <c:pt idx="3">
                  <c:v>1.92122442</c:v>
                </c:pt>
              </c:numCache>
            </c:numRef>
          </c:val>
        </c:ser>
        <c:ser>
          <c:idx val="4"/>
          <c:order val="4"/>
          <c:tx>
            <c:v>Equal-weight blend</c:v>
          </c:tx>
          <c:spPr>
            <a:solidFill xmlns:a="http://schemas.openxmlformats.org/drawingml/2006/main">
              <a:srgbClr val="16816B"/>
            </a:solidFill>
          </c:spPr>
          <c:cat>
            <c:strRef>
              <c:f>'Chart Data'!$I$2:$I$5</c:f>
              <c:strCache>
                <c:ptCount val="4"/>
                <c:pt idx="0">
                  <c:v>Expansion</c:v>
                </c:pt>
                <c:pt idx="1">
                  <c:v>Recession</c:v>
                </c:pt>
                <c:pt idx="2">
                  <c:v>High volatility</c:v>
                </c:pt>
                <c:pt idx="3">
                  <c:v>Low volatility</c:v>
                </c:pt>
              </c:strCache>
            </c:strRef>
          </c:cat>
          <c:val>
            <c:numRef>
              <c:f>'Chart Data'!$J$2:$J$5</c:f>
              <c:numCache>
                <c:formatCode>0.000</c:formatCode>
                <c:ptCount val="4"/>
                <c:pt idx="0">
                  <c:v>2.19054578</c:v>
                </c:pt>
                <c:pt idx="1">
                  <c:v>1.94098684</c:v>
                </c:pt>
                <c:pt idx="2">
                  <c:v>1.48894614</c:v>
                </c:pt>
                <c:pt idx="3">
                  <c:v>2.7013473</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Mean annualized rolling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Data'!$A$2:$A$5</c:f>
              <c:strCache>
                <c:ptCount val="4"/>
                <c:pt idx="0">
                  <c:v>Expansion</c:v>
                </c:pt>
                <c:pt idx="1">
                  <c:v>Recession</c:v>
                </c:pt>
                <c:pt idx="2">
                  <c:v>High volatility</c:v>
                </c:pt>
                <c:pt idx="3">
                  <c:v>Low volatility</c:v>
                </c:pt>
              </c:strCache>
            </c:strRef>
          </c:cat>
          <c:val>
            <c:numRef>
              <c:f>'Chart Data'!$B$2:$B$5</c:f>
              <c:numCache>
                <c:formatCode>0.000</c:formatCode>
                <c:ptCount val="4"/>
                <c:pt idx="0">
                  <c:v>3.17271624</c:v>
                </c:pt>
                <c:pt idx="1">
                  <c:v>3.41225839</c:v>
                </c:pt>
                <c:pt idx="2">
                  <c:v>3.70494926</c:v>
                </c:pt>
                <c:pt idx="3">
                  <c:v>2.7207552</c:v>
                </c:pt>
              </c:numCache>
            </c:numRef>
          </c:val>
        </c:ser>
        <c:ser>
          <c:idx val="1"/>
          <c:order val="1"/>
          <c:tx>
            <c:v>Replicated GAN</c:v>
          </c:tx>
          <c:spPr>
            <a:solidFill xmlns:a="http://schemas.openxmlformats.org/drawingml/2006/main">
              <a:srgbClr val="003262"/>
            </a:solidFill>
          </c:spPr>
          <c:cat>
            <c:strRef>
              <c:f>'Chart Data'!$C$2:$C$5</c:f>
              <c:strCache>
                <c:ptCount val="4"/>
                <c:pt idx="0">
                  <c:v>Expansion</c:v>
                </c:pt>
                <c:pt idx="1">
                  <c:v>Recession</c:v>
                </c:pt>
                <c:pt idx="2">
                  <c:v>High volatility</c:v>
                </c:pt>
                <c:pt idx="3">
                  <c:v>Low volatility</c:v>
                </c:pt>
              </c:strCache>
            </c:strRef>
          </c:cat>
          <c:val>
            <c:numRef>
              <c:f>'Chart Data'!$D$2:$D$5</c:f>
              <c:numCache>
                <c:formatCode>0.000</c:formatCode>
                <c:ptCount val="4"/>
                <c:pt idx="0">
                  <c:v>2.48767999</c:v>
                </c:pt>
                <c:pt idx="1">
                  <c:v>2.63495523</c:v>
                </c:pt>
                <c:pt idx="2">
                  <c:v>2.82971243</c:v>
                </c:pt>
                <c:pt idx="3">
                  <c:v>2.19583613</c:v>
                </c:pt>
              </c:numCache>
            </c:numRef>
          </c:val>
        </c:ser>
        <c:ser>
          <c:idx val="2"/>
          <c:order val="2"/>
          <c:tx>
            <c:v>Extension LSTM</c:v>
          </c:tx>
          <c:spPr>
            <a:solidFill xmlns:a="http://schemas.openxmlformats.org/drawingml/2006/main">
              <a:srgbClr val="2563EB"/>
            </a:solidFill>
          </c:spPr>
          <c:cat>
            <c:strRef>
              <c:f>'Chart Data'!$E$2:$E$5</c:f>
              <c:strCache>
                <c:ptCount val="4"/>
                <c:pt idx="0">
                  <c:v>Expansion</c:v>
                </c:pt>
                <c:pt idx="1">
                  <c:v>Recession</c:v>
                </c:pt>
                <c:pt idx="2">
                  <c:v>High volatility</c:v>
                </c:pt>
                <c:pt idx="3">
                  <c:v>Low volatility</c:v>
                </c:pt>
              </c:strCache>
            </c:strRef>
          </c:cat>
          <c:val>
            <c:numRef>
              <c:f>'Chart Data'!$F$2:$F$5</c:f>
              <c:numCache>
                <c:formatCode>0.000</c:formatCode>
                <c:ptCount val="4"/>
                <c:pt idx="0">
                  <c:v>1.78312146</c:v>
                </c:pt>
                <c:pt idx="1">
                  <c:v>1.89340196</c:v>
                </c:pt>
                <c:pt idx="2">
                  <c:v>1.72244885</c:v>
                </c:pt>
                <c:pt idx="3">
                  <c:v>1.86349234</c:v>
                </c:pt>
              </c:numCache>
            </c:numRef>
          </c:val>
        </c:ser>
        <c:ser>
          <c:idx val="3"/>
          <c:order val="3"/>
          <c:tx>
            <c:v>Transformer</c:v>
          </c:tx>
          <c:spPr>
            <a:solidFill xmlns:a="http://schemas.openxmlformats.org/drawingml/2006/main">
              <a:srgbClr val="B7790B"/>
            </a:solidFill>
          </c:spPr>
          <c:cat>
            <c:strRef>
              <c:f>'Chart Data'!$G$2:$G$5</c:f>
              <c:strCache>
                <c:ptCount val="4"/>
                <c:pt idx="0">
                  <c:v>Expansion</c:v>
                </c:pt>
                <c:pt idx="1">
                  <c:v>Recession</c:v>
                </c:pt>
                <c:pt idx="2">
                  <c:v>High volatility</c:v>
                </c:pt>
                <c:pt idx="3">
                  <c:v>Low volatility</c:v>
                </c:pt>
              </c:strCache>
            </c:strRef>
          </c:cat>
          <c:val>
            <c:numRef>
              <c:f>'Chart Data'!$H$2:$H$5</c:f>
              <c:numCache>
                <c:formatCode>0.000</c:formatCode>
                <c:ptCount val="4"/>
                <c:pt idx="0">
                  <c:v>1.1623544</c:v>
                </c:pt>
                <c:pt idx="1">
                  <c:v>1.77524439</c:v>
                </c:pt>
                <c:pt idx="2">
                  <c:v>1.04243782</c:v>
                </c:pt>
                <c:pt idx="3">
                  <c:v>1.4040107</c:v>
                </c:pt>
              </c:numCache>
            </c:numRef>
          </c:val>
        </c:ser>
        <c:ser>
          <c:idx val="4"/>
          <c:order val="4"/>
          <c:tx>
            <c:v>Equal-weight blend</c:v>
          </c:tx>
          <c:spPr>
            <a:solidFill xmlns:a="http://schemas.openxmlformats.org/drawingml/2006/main">
              <a:srgbClr val="16816B"/>
            </a:solidFill>
          </c:spPr>
          <c:cat>
            <c:strRef>
              <c:f>'Chart Data'!$I$2:$I$5</c:f>
              <c:strCache>
                <c:ptCount val="4"/>
                <c:pt idx="0">
                  <c:v>Expansion</c:v>
                </c:pt>
                <c:pt idx="1">
                  <c:v>Recession</c:v>
                </c:pt>
                <c:pt idx="2">
                  <c:v>High volatility</c:v>
                </c:pt>
                <c:pt idx="3">
                  <c:v>Low volatility</c:v>
                </c:pt>
              </c:strCache>
            </c:strRef>
          </c:cat>
          <c:val>
            <c:numRef>
              <c:f>'Chart Data'!$J$2:$J$5</c:f>
              <c:numCache>
                <c:formatCode>0.000</c:formatCode>
                <c:ptCount val="4"/>
                <c:pt idx="0">
                  <c:v>1.79899477</c:v>
                </c:pt>
                <c:pt idx="1">
                  <c:v>2.46876111</c:v>
                </c:pt>
                <c:pt idx="2">
                  <c:v>1.65829071</c:v>
                </c:pt>
                <c:pt idx="3">
                  <c:v>2.07219074</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Mean annualized rolling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Monthly test Sharpe</c:v>
          </c:tx>
          <c:spPr>
            <a:solidFill xmlns:a="http://schemas.openxmlformats.org/drawingml/2006/main">
              <a:srgbClr val="003262"/>
            </a:solidFill>
          </c:spPr>
          <c:cat>
            <c:strRef>
              <c:f>'Chart Data'!$A$2:$A$6</c:f>
              <c:strCache>
                <c:ptCount val="5"/>
                <c:pt idx="0">
                  <c:v>Paper GAN</c:v>
                </c:pt>
                <c:pt idx="1">
                  <c:v>Replicated GAN</c:v>
                </c:pt>
                <c:pt idx="2">
                  <c:v>Extension LSTM</c:v>
                </c:pt>
                <c:pt idx="3">
                  <c:v>Transformer</c:v>
                </c:pt>
                <c:pt idx="4">
                  <c:v>Equal-weight blend</c:v>
                </c:pt>
              </c:strCache>
            </c:strRef>
          </c:cat>
          <c:val>
            <c:numRef>
              <c:f>'Chart Data'!$B$2:$B$6</c:f>
              <c:numCache>
                <c:formatCode>0.000</c:formatCode>
                <c:ptCount val="5"/>
                <c:pt idx="0">
                  <c:v>0.74992011</c:v>
                </c:pt>
                <c:pt idx="1">
                  <c:v>0.61188757</c:v>
                </c:pt>
                <c:pt idx="2">
                  <c:v>0.45929328</c:v>
                </c:pt>
                <c:pt idx="3">
                  <c:v>0.3044769</c:v>
                </c:pt>
                <c:pt idx="4">
                  <c:v>0.46310291</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4463300939344a4"/>
          <a:srcRect xmlns:a="http://schemas.openxmlformats.org/drawingml/2006/main" l="0" t="22546" r="0" b="22546"/>
          <a:stretch xmlns:a="http://schemas.openxmlformats.org/drawingml/2006/main">
            <a:fillRect l="0" t="0" r="0" b="0"/>
          </a:stretch>
        </p:blipFill>
        <p:spPr>
          <a:xfrm xmlns:a="http://schemas.openxmlformats.org/drawingml/2006/main">
            <a:off x="0" y="0"/>
            <a:ext cx="9144000" cy="323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7B2E12-71FE-425D-AA0C-3E48724DFAC5}"/>
              </a:ext>
            </a:extLst>
          </p:cNvPr>
          <p:cNvSpPr>
            <a:spLocks xmlns:a="http://schemas.openxmlformats.org/drawingml/2006/main" noGrp="1"/>
          </p:cNvSpPr>
          <p:nvPr/>
        </p:nvSpPr>
        <p:spPr>
          <a:xfrm xmlns:a="http://schemas.openxmlformats.org/drawingml/2006/main">
            <a:off x="342900" y="2343150"/>
            <a:ext cx="842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FFFFFF"/>
                </a:solidFill>
                <a:latin typeface="Arial"/>
                <a:ea typeface="Arial"/>
                <a:cs typeface="Arial"/>
              </a:defRPr>
            </a:pPr>
            <a:r>
              <a:rPr sz="3000" b="1">
                <a:solidFill>
                  <a:srgbClr val="FFFFFF"/>
                </a:solidFill>
                <a:latin typeface="Arial"/>
                <a:ea typeface="Arial"/>
                <a:cs typeface="Arial"/>
              </a:rPr>
              <a:t>Asset Pricing with Deep Learning</a:t>
            </a:r>
          </a:p>
        </p:txBody>
      </p:sp>
      <p:sp>
        <p:nvSpPr>
          <p:cNvPr id="3" name="">
            <a:extLst xmlns:a="http://schemas.openxmlformats.org/drawingml/2006/main">
              <a:ext uri="{FF2B5EF4-FFF2-40B4-BE49-F238E27FC236}">
                <a16:creationId xmlns:a16="http://schemas.microsoft.com/office/drawing/2014/main" id="{DF695EB0-547D-4965-94D1-D835C4659154}"/>
              </a:ext>
            </a:extLst>
          </p:cNvPr>
          <p:cNvSpPr>
            <a:spLocks xmlns:a="http://schemas.openxmlformats.org/drawingml/2006/main" noGrp="1"/>
          </p:cNvSpPr>
          <p:nvPr/>
        </p:nvSpPr>
        <p:spPr>
          <a:xfrm xmlns:a="http://schemas.openxmlformats.org/drawingml/2006/main">
            <a:off x="361950" y="3476625"/>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3262"/>
                </a:solidFill>
                <a:latin typeface="Arial"/>
                <a:ea typeface="Arial"/>
                <a:cs typeface="Arial"/>
              </a:defRPr>
            </a:pPr>
            <a:r>
              <a:rPr sz="2025" b="1">
                <a:solidFill>
                  <a:srgbClr val="003262"/>
                </a:solidFill>
                <a:latin typeface="Arial"/>
                <a:ea typeface="Arial"/>
                <a:cs typeface="Arial"/>
              </a:rPr>
              <a:t>Replication and Extensions</a:t>
            </a:r>
          </a:p>
        </p:txBody>
      </p:sp>
      <p:sp>
        <p:nvSpPr>
          <p:cNvPr id="4" name="">
            <a:extLst xmlns:a="http://schemas.openxmlformats.org/drawingml/2006/main">
              <a:ext uri="{FF2B5EF4-FFF2-40B4-BE49-F238E27FC236}">
                <a16:creationId xmlns:a16="http://schemas.microsoft.com/office/drawing/2014/main" id="{5481CBCE-E7D6-4BC4-800A-9A7C0A831F5E}"/>
              </a:ext>
            </a:extLst>
          </p:cNvPr>
          <p:cNvSpPr>
            <a:spLocks xmlns:a="http://schemas.openxmlformats.org/drawingml/2006/main" noGrp="1"/>
          </p:cNvSpPr>
          <p:nvPr/>
        </p:nvSpPr>
        <p:spPr>
          <a:xfrm xmlns:a="http://schemas.openxmlformats.org/drawingml/2006/main">
            <a:off x="361950" y="3886200"/>
            <a:ext cx="819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F2A37"/>
                </a:solidFill>
                <a:latin typeface="Arial"/>
                <a:ea typeface="Arial"/>
                <a:cs typeface="Arial"/>
              </a:defRPr>
            </a:pPr>
            <a:r>
              <a:rPr sz="1725" b="0">
                <a:solidFill>
                  <a:srgbClr val="1F2A37"/>
                </a:solidFill>
                <a:latin typeface="Arial"/>
                <a:ea typeface="Arial"/>
                <a:cs typeface="Arial"/>
              </a:rPr>
              <a:t>Architecture, rolling performance and economic regimes</a:t>
            </a:r>
          </a:p>
        </p:txBody>
      </p:sp>
      <p:sp>
        <p:nvSpPr>
          <p:cNvPr id="5" name="">
            <a:extLst xmlns:a="http://schemas.openxmlformats.org/drawingml/2006/main">
              <a:ext uri="{FF2B5EF4-FFF2-40B4-BE49-F238E27FC236}">
                <a16:creationId xmlns:a16="http://schemas.microsoft.com/office/drawing/2014/main" id="{A4983446-7EC0-4107-BF9F-D59958BEF0F6}"/>
              </a:ext>
            </a:extLst>
          </p:cNvPr>
          <p:cNvSpPr>
            <a:spLocks xmlns:a="http://schemas.openxmlformats.org/drawingml/2006/main" noGrp="1"/>
          </p:cNvSpPr>
          <p:nvPr/>
        </p:nvSpPr>
        <p:spPr>
          <a:xfrm xmlns:a="http://schemas.openxmlformats.org/drawingml/2006/main">
            <a:off x="361950" y="4257675"/>
            <a:ext cx="676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F2A37"/>
                </a:solidFill>
                <a:latin typeface="Arial"/>
                <a:ea typeface="Arial"/>
                <a:cs typeface="Arial"/>
              </a:defRPr>
            </a:pPr>
            <a:r>
              <a:rPr sz="1350" b="0">
                <a:solidFill>
                  <a:srgbClr val="1F2A37"/>
                </a:solidFill>
                <a:latin typeface="Arial"/>
                <a:ea typeface="Arial"/>
                <a:cs typeface="Arial"/>
              </a:rPr>
              <a:t>Reza Zamani, Hrafnhildur Lif Jonsdottir</a:t>
            </a:r>
          </a:p>
        </p:txBody>
      </p:sp>
      <p:sp>
        <p:nvSpPr>
          <p:cNvPr id="6" name="">
            <a:extLst xmlns:a="http://schemas.openxmlformats.org/drawingml/2006/main">
              <a:ext uri="{FF2B5EF4-FFF2-40B4-BE49-F238E27FC236}">
                <a16:creationId xmlns:a16="http://schemas.microsoft.com/office/drawing/2014/main" id="{6558B462-85ED-457A-8617-624E02B58E9C}"/>
              </a:ext>
            </a:extLst>
          </p:cNvPr>
          <p:cNvSpPr>
            <a:spLocks xmlns:a="http://schemas.openxmlformats.org/drawingml/2006/main" noGrp="1"/>
          </p:cNvSpPr>
          <p:nvPr/>
        </p:nvSpPr>
        <p:spPr>
          <a:xfrm xmlns:a="http://schemas.openxmlformats.org/drawingml/2006/main">
            <a:off x="361950" y="4495800"/>
            <a:ext cx="676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F2A37"/>
                </a:solidFill>
                <a:latin typeface="Arial"/>
                <a:ea typeface="Arial"/>
                <a:cs typeface="Arial"/>
              </a:defRPr>
            </a:pPr>
            <a:r>
              <a:rPr sz="1350" b="0">
                <a:solidFill>
                  <a:srgbClr val="1F2A37"/>
                </a:solidFill>
                <a:latin typeface="Arial"/>
                <a:ea typeface="Arial"/>
                <a:cs typeface="Arial"/>
              </a:rPr>
              <a:t>Paraj Goyal and Elouan Bahri</a:t>
            </a:r>
          </a:p>
        </p:txBody>
      </p:sp>
      <p:sp>
        <p:nvSpPr>
          <p:cNvPr id="7" name="">
            <a:extLst xmlns:a="http://schemas.openxmlformats.org/drawingml/2006/main">
              <a:ext uri="{FF2B5EF4-FFF2-40B4-BE49-F238E27FC236}">
                <a16:creationId xmlns:a16="http://schemas.microsoft.com/office/drawing/2014/main" id="{7AF936C5-CA29-4C4B-B20A-86125B385748}"/>
              </a:ext>
            </a:extLst>
          </p:cNvPr>
          <p:cNvSpPr>
            <a:spLocks xmlns:a="http://schemas.openxmlformats.org/drawingml/2006/main" noGrp="1"/>
          </p:cNvSpPr>
          <p:nvPr/>
        </p:nvSpPr>
        <p:spPr>
          <a:xfrm xmlns:a="http://schemas.openxmlformats.org/drawingml/2006/main">
            <a:off x="361950" y="4743450"/>
            <a:ext cx="676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B6770"/>
                </a:solidFill>
                <a:latin typeface="Arial"/>
                <a:ea typeface="Arial"/>
                <a:cs typeface="Arial"/>
              </a:defRPr>
            </a:pPr>
            <a:r>
              <a:rPr sz="1275" b="0">
                <a:solidFill>
                  <a:srgbClr val="5B6770"/>
                </a:solidFill>
                <a:latin typeface="Arial"/>
                <a:ea typeface="Arial"/>
                <a:cs typeface="Arial"/>
              </a:rPr>
              <a:t>Professor: Ali Kakhbod</a:t>
            </a:r>
          </a:p>
        </p:txBody>
      </p:sp>
      <p:sp>
        <p:nvSpPr>
          <p:cNvPr id="8" name="">
            <a:extLst xmlns:a="http://schemas.openxmlformats.org/drawingml/2006/main">
              <a:ext uri="{FF2B5EF4-FFF2-40B4-BE49-F238E27FC236}">
                <a16:creationId xmlns:a16="http://schemas.microsoft.com/office/drawing/2014/main" id="{7D106F92-9820-4CB8-BF48-38DE4E16A808}"/>
              </a:ext>
            </a:extLst>
          </p:cNvPr>
          <p:cNvSpPr>
            <a:spLocks xmlns:a="http://schemas.openxmlformats.org/drawingml/2006/main" noGrp="1"/>
          </p:cNvSpPr>
          <p:nvPr/>
        </p:nvSpPr>
        <p:spPr>
          <a:xfrm xmlns:a="http://schemas.openxmlformats.org/drawingml/2006/main">
            <a:off x="7277100" y="48958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Group 7 · October 2026</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eecf0192f8c40f6"/>
          <a:stretch xmlns:a="http://schemas.openxmlformats.org/drawingml/2006/main"/>
        </p:blipFill>
        <p:spPr>
          <a:xfrm xmlns:a="http://schemas.openxmlformats.org/drawingml/2006/main">
            <a:off x="7279079" y="4514850"/>
            <a:ext cx="1520042" cy="285750"/>
          </a:xfrm>
          <a:prstGeom xmlns:a="http://schemas.openxmlformats.org/drawingml/2006/main" prst="rect">
            <a:avLst/>
          </a:prstGeom>
        </p:spPr>
      </p:pic>
    </p:spTree>
    <p:extLst>
      <p:ext uri="{BB962C8B-B14F-4D97-AF65-F5344CB8AC3E}">
        <p14:creationId xmlns:p14="http://schemas.microsoft.com/office/powerpoint/2010/main" val="6245881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7980B7-6EC6-4E30-9639-EA453C03456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B52ECF-E0E9-401B-B1D8-65EEB89FB45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BE4EFE-9E3F-401C-8660-2CC3C1EEDB04}"/>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Presentation overview</a:t>
            </a:r>
          </a:p>
        </p:txBody>
      </p:sp>
      <p:sp>
        <p:nvSpPr>
          <p:cNvPr id="4" name="">
            <a:extLst xmlns:a="http://schemas.openxmlformats.org/drawingml/2006/main">
              <a:ext uri="{FF2B5EF4-FFF2-40B4-BE49-F238E27FC236}">
                <a16:creationId xmlns:a16="http://schemas.microsoft.com/office/drawing/2014/main" id="{815A581A-E841-46B9-8044-106CAEBA053B}"/>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Eight parts</a:t>
            </a:r>
          </a:p>
        </p:txBody>
      </p:sp>
      <p:sp>
        <p:nvSpPr>
          <p:cNvPr id="5" name="">
            <a:extLst xmlns:a="http://schemas.openxmlformats.org/drawingml/2006/main">
              <a:ext uri="{FF2B5EF4-FFF2-40B4-BE49-F238E27FC236}">
                <a16:creationId xmlns:a16="http://schemas.microsoft.com/office/drawing/2014/main" id="{6EDB3EE9-E9C5-44FF-8907-70CCFD3811F6}"/>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61872CCB-F385-49C3-BB99-836BA8911FB4}"/>
              </a:ext>
            </a:extLst>
          </p:cNvPr>
          <p:cNvSpPr>
            <a:spLocks xmlns:a="http://schemas.openxmlformats.org/drawingml/2006/main" noGrp="1"/>
          </p:cNvSpPr>
          <p:nvPr/>
        </p:nvSpPr>
        <p:spPr>
          <a:xfrm xmlns:a="http://schemas.openxmlformats.org/drawingml/2006/main">
            <a:off x="419100" y="98107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003262"/>
                </a:solidFill>
                <a:latin typeface="Arial"/>
                <a:ea typeface="Arial"/>
                <a:cs typeface="Arial"/>
              </a:defRPr>
            </a:pPr>
            <a:r>
              <a:rPr sz="1875" b="0">
                <a:solidFill>
                  <a:srgbClr val="003262"/>
                </a:solidFill>
                <a:latin typeface="Arial"/>
                <a:ea typeface="Arial"/>
                <a:cs typeface="Arial"/>
              </a:rPr>
              <a:t>1. Main paper</a:t>
            </a:r>
          </a:p>
        </p:txBody>
      </p:sp>
      <p:sp>
        <p:nvSpPr>
          <p:cNvPr id="14" name="">
            <a:extLst xmlns:a="http://schemas.openxmlformats.org/drawingml/2006/main">
              <a:ext uri="{FF2B5EF4-FFF2-40B4-BE49-F238E27FC236}">
                <a16:creationId xmlns:a16="http://schemas.microsoft.com/office/drawing/2014/main" id="{7CA9D290-0D17-4D0A-A3E0-27664A63086A}"/>
              </a:ext>
            </a:extLst>
          </p:cNvPr>
          <p:cNvSpPr>
            <a:spLocks xmlns:a="http://schemas.openxmlformats.org/drawingml/2006/main" noGrp="1"/>
          </p:cNvSpPr>
          <p:nvPr/>
        </p:nvSpPr>
        <p:spPr>
          <a:xfrm xmlns:a="http://schemas.openxmlformats.org/drawingml/2006/main">
            <a:off x="419100" y="137160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003262"/>
                </a:solidFill>
                <a:latin typeface="Arial"/>
                <a:ea typeface="Arial"/>
                <a:cs typeface="Arial"/>
              </a:defRPr>
            </a:pPr>
            <a:r>
              <a:rPr sz="1875" b="0">
                <a:solidFill>
                  <a:srgbClr val="003262"/>
                </a:solidFill>
                <a:latin typeface="Arial"/>
                <a:ea typeface="Arial"/>
                <a:cs typeface="Arial"/>
              </a:rPr>
              <a:t>2. Replication</a:t>
            </a:r>
          </a:p>
        </p:txBody>
      </p:sp>
      <p:sp>
        <p:nvSpPr>
          <p:cNvPr id="15" name="">
            <a:extLst xmlns:a="http://schemas.openxmlformats.org/drawingml/2006/main">
              <a:ext uri="{FF2B5EF4-FFF2-40B4-BE49-F238E27FC236}">
                <a16:creationId xmlns:a16="http://schemas.microsoft.com/office/drawing/2014/main" id="{ED379246-1383-4C99-8F72-8762051F65EF}"/>
              </a:ext>
            </a:extLst>
          </p:cNvPr>
          <p:cNvSpPr>
            <a:spLocks xmlns:a="http://schemas.openxmlformats.org/drawingml/2006/main" noGrp="1"/>
          </p:cNvSpPr>
          <p:nvPr/>
        </p:nvSpPr>
        <p:spPr>
          <a:xfrm xmlns:a="http://schemas.openxmlformats.org/drawingml/2006/main">
            <a:off x="419100" y="176212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3262"/>
                </a:solidFill>
                <a:latin typeface="Arial"/>
                <a:ea typeface="Arial"/>
                <a:cs typeface="Arial"/>
              </a:defRPr>
            </a:pPr>
            <a:r>
              <a:rPr sz="1875" b="1">
                <a:solidFill>
                  <a:srgbClr val="003262"/>
                </a:solidFill>
                <a:latin typeface="Arial"/>
                <a:ea typeface="Arial"/>
                <a:cs typeface="Arial"/>
              </a:rPr>
              <a:t>3. Transformer</a:t>
            </a:r>
          </a:p>
        </p:txBody>
      </p:sp>
      <p:sp>
        <p:nvSpPr>
          <p:cNvPr id="16" name="">
            <a:extLst xmlns:a="http://schemas.openxmlformats.org/drawingml/2006/main">
              <a:ext uri="{FF2B5EF4-FFF2-40B4-BE49-F238E27FC236}">
                <a16:creationId xmlns:a16="http://schemas.microsoft.com/office/drawing/2014/main" id="{70793E91-35E3-408F-8B9A-E58F50BB11E9}"/>
              </a:ext>
            </a:extLst>
          </p:cNvPr>
          <p:cNvSpPr>
            <a:spLocks xmlns:a="http://schemas.openxmlformats.org/drawingml/2006/main" noGrp="1"/>
          </p:cNvSpPr>
          <p:nvPr/>
        </p:nvSpPr>
        <p:spPr>
          <a:xfrm xmlns:a="http://schemas.openxmlformats.org/drawingml/2006/main">
            <a:off x="419100" y="215265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3262"/>
                </a:solidFill>
                <a:latin typeface="Arial"/>
                <a:ea typeface="Arial"/>
                <a:cs typeface="Arial"/>
              </a:defRPr>
            </a:pPr>
            <a:r>
              <a:rPr sz="1875" b="1">
                <a:solidFill>
                  <a:srgbClr val="003262"/>
                </a:solidFill>
                <a:latin typeface="Arial"/>
                <a:ea typeface="Arial"/>
                <a:cs typeface="Arial"/>
              </a:rPr>
              <a:t>4. Rolling windows</a:t>
            </a:r>
          </a:p>
        </p:txBody>
      </p:sp>
      <p:sp>
        <p:nvSpPr>
          <p:cNvPr id="17" name="">
            <a:extLst xmlns:a="http://schemas.openxmlformats.org/drawingml/2006/main">
              <a:ext uri="{FF2B5EF4-FFF2-40B4-BE49-F238E27FC236}">
                <a16:creationId xmlns:a16="http://schemas.microsoft.com/office/drawing/2014/main" id="{3B10CDF6-7AA4-4389-9B95-7DA57B884B2F}"/>
              </a:ext>
            </a:extLst>
          </p:cNvPr>
          <p:cNvSpPr>
            <a:spLocks xmlns:a="http://schemas.openxmlformats.org/drawingml/2006/main" noGrp="1"/>
          </p:cNvSpPr>
          <p:nvPr/>
        </p:nvSpPr>
        <p:spPr>
          <a:xfrm xmlns:a="http://schemas.openxmlformats.org/drawingml/2006/main">
            <a:off x="419100" y="254317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3262"/>
                </a:solidFill>
                <a:latin typeface="Arial"/>
                <a:ea typeface="Arial"/>
                <a:cs typeface="Arial"/>
              </a:defRPr>
            </a:pPr>
            <a:r>
              <a:rPr sz="1875" b="1">
                <a:solidFill>
                  <a:srgbClr val="003262"/>
                </a:solidFill>
                <a:latin typeface="Arial"/>
                <a:ea typeface="Arial"/>
                <a:cs typeface="Arial"/>
              </a:rPr>
              <a:t>5. Regime change</a:t>
            </a:r>
          </a:p>
        </p:txBody>
      </p:sp>
      <p:sp>
        <p:nvSpPr>
          <p:cNvPr id="18" name="">
            <a:extLst xmlns:a="http://schemas.openxmlformats.org/drawingml/2006/main">
              <a:ext uri="{FF2B5EF4-FFF2-40B4-BE49-F238E27FC236}">
                <a16:creationId xmlns:a16="http://schemas.microsoft.com/office/drawing/2014/main" id="{DFDA38ED-53C5-49E1-BABA-729B78BD85FF}"/>
              </a:ext>
            </a:extLst>
          </p:cNvPr>
          <p:cNvSpPr>
            <a:spLocks xmlns:a="http://schemas.openxmlformats.org/drawingml/2006/main" noGrp="1"/>
          </p:cNvSpPr>
          <p:nvPr/>
        </p:nvSpPr>
        <p:spPr>
          <a:xfrm xmlns:a="http://schemas.openxmlformats.org/drawingml/2006/main">
            <a:off x="419100" y="293370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3262"/>
                </a:solidFill>
                <a:latin typeface="Arial"/>
                <a:ea typeface="Arial"/>
                <a:cs typeface="Arial"/>
              </a:defRPr>
            </a:pPr>
            <a:r>
              <a:rPr sz="1875" b="1">
                <a:solidFill>
                  <a:srgbClr val="003262"/>
                </a:solidFill>
                <a:latin typeface="Arial"/>
                <a:ea typeface="Arial"/>
                <a:cs typeface="Arial"/>
              </a:rPr>
              <a:t>6. Uncertainty</a:t>
            </a:r>
          </a:p>
        </p:txBody>
      </p:sp>
      <p:sp>
        <p:nvSpPr>
          <p:cNvPr id="19" name="">
            <a:extLst xmlns:a="http://schemas.openxmlformats.org/drawingml/2006/main">
              <a:ext uri="{FF2B5EF4-FFF2-40B4-BE49-F238E27FC236}">
                <a16:creationId xmlns:a16="http://schemas.microsoft.com/office/drawing/2014/main" id="{411BD56C-9CB6-44BF-BB65-F27E3D2E1995}"/>
              </a:ext>
            </a:extLst>
          </p:cNvPr>
          <p:cNvSpPr>
            <a:spLocks xmlns:a="http://schemas.openxmlformats.org/drawingml/2006/main" noGrp="1"/>
          </p:cNvSpPr>
          <p:nvPr/>
        </p:nvSpPr>
        <p:spPr>
          <a:xfrm xmlns:a="http://schemas.openxmlformats.org/drawingml/2006/main">
            <a:off x="419100" y="332422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003262"/>
                </a:solidFill>
                <a:latin typeface="Arial"/>
                <a:ea typeface="Arial"/>
                <a:cs typeface="Arial"/>
              </a:defRPr>
            </a:pPr>
            <a:r>
              <a:rPr sz="1875" b="0">
                <a:solidFill>
                  <a:srgbClr val="003262"/>
                </a:solidFill>
                <a:latin typeface="Arial"/>
                <a:ea typeface="Arial"/>
                <a:cs typeface="Arial"/>
              </a:rPr>
              <a:t>7. Combination</a:t>
            </a:r>
          </a:p>
        </p:txBody>
      </p:sp>
      <p:sp>
        <p:nvSpPr>
          <p:cNvPr id="20" name="">
            <a:extLst xmlns:a="http://schemas.openxmlformats.org/drawingml/2006/main">
              <a:ext uri="{FF2B5EF4-FFF2-40B4-BE49-F238E27FC236}">
                <a16:creationId xmlns:a16="http://schemas.microsoft.com/office/drawing/2014/main" id="{7D78D46F-6855-49A8-A7ED-1FF50B26BB81}"/>
              </a:ext>
            </a:extLst>
          </p:cNvPr>
          <p:cNvSpPr>
            <a:spLocks xmlns:a="http://schemas.openxmlformats.org/drawingml/2006/main" noGrp="1"/>
          </p:cNvSpPr>
          <p:nvPr/>
        </p:nvSpPr>
        <p:spPr>
          <a:xfrm xmlns:a="http://schemas.openxmlformats.org/drawingml/2006/main">
            <a:off x="419100" y="371475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003262"/>
                </a:solidFill>
                <a:latin typeface="Arial"/>
                <a:ea typeface="Arial"/>
                <a:cs typeface="Arial"/>
              </a:defRPr>
            </a:pPr>
            <a:r>
              <a:rPr sz="1875" b="0">
                <a:solidFill>
                  <a:srgbClr val="003262"/>
                </a:solidFill>
                <a:latin typeface="Arial"/>
                <a:ea typeface="Arial"/>
                <a:cs typeface="Arial"/>
              </a:rPr>
              <a:t>8. Summary</a:t>
            </a:r>
          </a:p>
        </p:txBody>
      </p:sp>
    </p:spTree>
    <p:extLst>
      <p:ext uri="{BB962C8B-B14F-4D97-AF65-F5344CB8AC3E}">
        <p14:creationId xmlns:p14="http://schemas.microsoft.com/office/powerpoint/2010/main" val="3557814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19653F-3B5A-47D0-B2D7-8355BF53C991}"/>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600C88-6EE6-4DE8-B6F7-A059329EB01A}"/>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5B9CED-0996-46C0-AD6F-C37867C6D868}"/>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Main paper: model architecture and data</a:t>
            </a:r>
          </a:p>
        </p:txBody>
      </p:sp>
      <p:sp>
        <p:nvSpPr>
          <p:cNvPr id="4" name="">
            <a:extLst xmlns:a="http://schemas.openxmlformats.org/drawingml/2006/main">
              <a:ext uri="{FF2B5EF4-FFF2-40B4-BE49-F238E27FC236}">
                <a16:creationId xmlns:a16="http://schemas.microsoft.com/office/drawing/2014/main" id="{EE670733-DBC5-4AEC-8017-BF150C2A5AA1}"/>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1. Main paper</a:t>
            </a:r>
          </a:p>
        </p:txBody>
      </p:sp>
      <p:sp>
        <p:nvSpPr>
          <p:cNvPr id="5" name="">
            <a:extLst xmlns:a="http://schemas.openxmlformats.org/drawingml/2006/main">
              <a:ext uri="{FF2B5EF4-FFF2-40B4-BE49-F238E27FC236}">
                <a16:creationId xmlns:a16="http://schemas.microsoft.com/office/drawing/2014/main" id="{AD17B70D-D8E3-4FD1-9512-A52F64769393}"/>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3</a:t>
            </a:r>
          </a:p>
        </p:txBody>
      </p:sp>
      <p:graphicFrame>
        <p:nvGraphicFramePr>
          <p:cNvPr id="16"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476500"/>
                <a:gridCol w="2933700"/>
                <a:gridCol w="2933700"/>
              </a:tblGrid>
              <a:tr h="571500">
                <a:tc>
                  <a:txBody>
                    <a:bodyPr/>
                    <a:lstStyle/>
                    <a:p>
                      <a:r>
                        <a:rPr sz="1350" b="1">
                          <a:solidFill>
                            <a:srgbClr val="FFFFFF"/>
                          </a:solidFill>
                          <a:latin typeface="Arial"/>
                          <a:ea typeface="Arial"/>
                          <a:cs typeface="Arial"/>
                        </a:rPr>
                        <a:t>Component</a:t>
                      </a:r>
                    </a:p>
                  </a:txBody>
                  <a:tcPr marL="91440" marR="91440" marT="45720" marB="45720">
                    <a:solidFill>
                      <a:srgbClr val="003262"/>
                    </a:solidFill>
                  </a:tcPr>
                </a:tc>
                <a:tc>
                  <a:txBody>
                    <a:bodyPr/>
                    <a:lstStyle/>
                    <a:p>
                      <a:r>
                        <a:rPr sz="1350" b="1">
                          <a:solidFill>
                            <a:srgbClr val="FFFFFF"/>
                          </a:solidFill>
                          <a:latin typeface="Arial"/>
                          <a:ea typeface="Arial"/>
                          <a:cs typeface="Arial"/>
                        </a:rPr>
                        <a:t>Input and role</a:t>
                      </a:r>
                    </a:p>
                  </a:txBody>
                  <a:tcPr marL="91440" marR="91440" marT="45720" marB="45720">
                    <a:solidFill>
                      <a:srgbClr val="003262"/>
                    </a:solidFill>
                  </a:tcPr>
                </a:tc>
                <a:tc>
                  <a:txBody>
                    <a:bodyPr/>
                    <a:lstStyle/>
                    <a:p>
                      <a:r>
                        <a:rPr sz="1350" b="1">
                          <a:solidFill>
                            <a:srgbClr val="FFFFFF"/>
                          </a:solidFill>
                          <a:latin typeface="Arial"/>
                          <a:ea typeface="Arial"/>
                          <a:cs typeface="Arial"/>
                        </a:rPr>
                        <a:t>Output</a:t>
                      </a:r>
                    </a:p>
                  </a:txBody>
                  <a:tcPr marL="91440" marR="91440" marT="45720" marB="45720">
                    <a:solidFill>
                      <a:srgbClr val="003262"/>
                    </a:solidFill>
                  </a:tcPr>
                </a:tc>
              </a:tr>
              <a:tr h="571500">
                <a:tc>
                  <a:txBody>
                    <a:bodyPr/>
                    <a:lstStyle/>
                    <a:p>
                      <a:r>
                        <a:rPr sz="1425" b="0">
                          <a:solidFill>
                            <a:srgbClr val="1F2A37"/>
                          </a:solidFill>
                          <a:latin typeface="Arial"/>
                          <a:ea typeface="Arial"/>
                          <a:cs typeface="Arial"/>
                        </a:rPr>
                        <a:t>Macro SDF encoder</a:t>
                      </a:r>
                    </a:p>
                  </a:txBody>
                  <a:tcPr marL="91440" marR="91440" marT="45720" marB="45720">
                    <a:solidFill>
                      <a:srgbClr val="EEF3F8"/>
                    </a:solidFill>
                  </a:tcPr>
                </a:tc>
                <a:tc>
                  <a:txBody>
                    <a:bodyPr/>
                    <a:lstStyle/>
                    <a:p>
                      <a:r>
                        <a:rPr sz="1425" b="0">
                          <a:solidFill>
                            <a:srgbClr val="1F2A37"/>
                          </a:solidFill>
                          <a:latin typeface="Arial"/>
                          <a:ea typeface="Arial"/>
                          <a:cs typeface="Arial"/>
                        </a:rPr>
                        <a:t>178 macro series, LSTM</a:t>
                      </a:r>
                    </a:p>
                  </a:txBody>
                  <a:tcPr marL="91440" marR="91440" marT="45720" marB="45720">
                    <a:solidFill>
                      <a:srgbClr val="EEF3F8"/>
                    </a:solidFill>
                  </a:tcPr>
                </a:tc>
                <a:tc>
                  <a:txBody>
                    <a:bodyPr/>
                    <a:lstStyle/>
                    <a:p>
                      <a:r>
                        <a:rPr sz="1425" b="0">
                          <a:solidFill>
                            <a:srgbClr val="1F2A37"/>
                          </a:solidFill>
                          <a:latin typeface="Arial"/>
                          <a:ea typeface="Arial"/>
                          <a:cs typeface="Arial"/>
                        </a:rPr>
                        <a:t>4 states</a:t>
                      </a:r>
                    </a:p>
                  </a:txBody>
                  <a:tcPr marL="91440" marR="91440" marT="45720" marB="45720">
                    <a:solidFill>
                      <a:srgbClr val="EEF3F8"/>
                    </a:solidFill>
                  </a:tcPr>
                </a:tc>
              </a:tr>
              <a:tr h="571500">
                <a:tc>
                  <a:txBody>
                    <a:bodyPr/>
                    <a:lstStyle/>
                    <a:p>
                      <a:r>
                        <a:rPr sz="1425" b="0">
                          <a:solidFill>
                            <a:srgbClr val="1F2A37"/>
                          </a:solidFill>
                          <a:latin typeface="Arial"/>
                          <a:ea typeface="Arial"/>
                          <a:cs typeface="Arial"/>
                        </a:rPr>
                        <a:t>Pricing-weight network</a:t>
                      </a:r>
                    </a:p>
                  </a:txBody>
                  <a:tcPr marL="91440" marR="91440" marT="45720" marB="45720">
                    <a:solidFill>
                      <a:srgbClr val="FFFFFF"/>
                    </a:solidFill>
                  </a:tcPr>
                </a:tc>
                <a:tc>
                  <a:txBody>
                    <a:bodyPr/>
                    <a:lstStyle/>
                    <a:p>
                      <a:r>
                        <a:rPr sz="1425" b="0">
                          <a:solidFill>
                            <a:srgbClr val="1F2A37"/>
                          </a:solidFill>
                          <a:latin typeface="Arial"/>
                          <a:ea typeface="Arial"/>
                          <a:cs typeface="Arial"/>
                        </a:rPr>
                        <a:t>46 characteristics + states</a:t>
                      </a:r>
                    </a:p>
                  </a:txBody>
                  <a:tcPr marL="91440" marR="91440" marT="45720" marB="45720">
                    <a:solidFill>
                      <a:srgbClr val="FFFFFF"/>
                    </a:solidFill>
                  </a:tcPr>
                </a:tc>
                <a:tc>
                  <a:txBody>
                    <a:bodyPr/>
                    <a:lstStyle/>
                    <a:p>
                      <a:r>
                        <a:rPr sz="1425" b="0">
                          <a:solidFill>
                            <a:srgbClr val="1F2A37"/>
                          </a:solidFill>
                          <a:latin typeface="Arial"/>
                          <a:ea typeface="Arial"/>
                          <a:cs typeface="Arial"/>
                        </a:rPr>
                        <a:t>Two layers of 64 units</a:t>
                      </a:r>
                    </a:p>
                  </a:txBody>
                  <a:tcPr marL="91440" marR="91440" marT="45720" marB="45720">
                    <a:solidFill>
                      <a:srgbClr val="FFFFFF"/>
                    </a:solidFill>
                  </a:tcPr>
                </a:tc>
              </a:tr>
              <a:tr h="571500">
                <a:tc>
                  <a:txBody>
                    <a:bodyPr/>
                    <a:lstStyle/>
                    <a:p>
                      <a:r>
                        <a:rPr sz="1425" b="0">
                          <a:solidFill>
                            <a:srgbClr val="1F2A37"/>
                          </a:solidFill>
                          <a:latin typeface="Arial"/>
                          <a:ea typeface="Arial"/>
                          <a:cs typeface="Arial"/>
                        </a:rPr>
                        <a:t>Macro instrument encoder</a:t>
                      </a:r>
                    </a:p>
                  </a:txBody>
                  <a:tcPr marL="91440" marR="91440" marT="45720" marB="45720">
                    <a:solidFill>
                      <a:srgbClr val="EEF3F8"/>
                    </a:solidFill>
                  </a:tcPr>
                </a:tc>
                <a:tc>
                  <a:txBody>
                    <a:bodyPr/>
                    <a:lstStyle/>
                    <a:p>
                      <a:r>
                        <a:rPr sz="1425" b="0">
                          <a:solidFill>
                            <a:srgbClr val="1F2A37"/>
                          </a:solidFill>
                          <a:latin typeface="Arial"/>
                          <a:ea typeface="Arial"/>
                          <a:cs typeface="Arial"/>
                        </a:rPr>
                        <a:t>178 macro series, LSTM</a:t>
                      </a:r>
                    </a:p>
                  </a:txBody>
                  <a:tcPr marL="91440" marR="91440" marT="45720" marB="45720">
                    <a:solidFill>
                      <a:srgbClr val="EEF3F8"/>
                    </a:solidFill>
                  </a:tcPr>
                </a:tc>
                <a:tc>
                  <a:txBody>
                    <a:bodyPr/>
                    <a:lstStyle/>
                    <a:p>
                      <a:r>
                        <a:rPr sz="1425" b="0">
                          <a:solidFill>
                            <a:srgbClr val="1F2A37"/>
                          </a:solidFill>
                          <a:latin typeface="Arial"/>
                          <a:ea typeface="Arial"/>
                          <a:cs typeface="Arial"/>
                        </a:rPr>
                        <a:t>32 states</a:t>
                      </a:r>
                    </a:p>
                  </a:txBody>
                  <a:tcPr marL="91440" marR="91440" marT="45720" marB="45720">
                    <a:solidFill>
                      <a:srgbClr val="EEF3F8"/>
                    </a:solidFill>
                  </a:tcPr>
                </a:tc>
              </a:tr>
              <a:tr h="571500">
                <a:tc>
                  <a:txBody>
                    <a:bodyPr/>
                    <a:lstStyle/>
                    <a:p>
                      <a:r>
                        <a:rPr sz="1425" b="0">
                          <a:solidFill>
                            <a:srgbClr val="1F2A37"/>
                          </a:solidFill>
                          <a:latin typeface="Arial"/>
                          <a:ea typeface="Arial"/>
                          <a:cs typeface="Arial"/>
                        </a:rPr>
                        <a:t>Conditional network</a:t>
                      </a:r>
                    </a:p>
                  </a:txBody>
                  <a:tcPr marL="91440" marR="91440" marT="45720" marB="45720">
                    <a:solidFill>
                      <a:srgbClr val="FFFFFF"/>
                    </a:solidFill>
                  </a:tcPr>
                </a:tc>
                <a:tc>
                  <a:txBody>
                    <a:bodyPr/>
                    <a:lstStyle/>
                    <a:p>
                      <a:r>
                        <a:rPr sz="1425" b="0">
                          <a:solidFill>
                            <a:srgbClr val="1F2A37"/>
                          </a:solidFill>
                          <a:latin typeface="Arial"/>
                          <a:ea typeface="Arial"/>
                          <a:cs typeface="Arial"/>
                        </a:rPr>
                        <a:t>Characteristics + states</a:t>
                      </a:r>
                    </a:p>
                  </a:txBody>
                  <a:tcPr marL="91440" marR="91440" marT="45720" marB="45720">
                    <a:solidFill>
                      <a:srgbClr val="FFFFFF"/>
                    </a:solidFill>
                  </a:tcPr>
                </a:tc>
                <a:tc>
                  <a:txBody>
                    <a:bodyPr/>
                    <a:lstStyle/>
                    <a:p>
                      <a:r>
                        <a:rPr sz="1425" b="0">
                          <a:solidFill>
                            <a:srgbClr val="1F2A37"/>
                          </a:solidFill>
                          <a:latin typeface="Arial"/>
                          <a:ea typeface="Arial"/>
                          <a:cs typeface="Arial"/>
                        </a:rPr>
                        <a:t>8 bounded instruments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2DB547B-70D5-48D6-B0DC-285D659785D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Train 1967–1986. Validation 1987–1991. Test 1992–2016.</a:t>
            </a:r>
          </a:p>
        </p:txBody>
      </p:sp>
      <p:sp>
        <p:nvSpPr>
          <p:cNvPr id="10" name="">
            <a:extLst xmlns:a="http://schemas.openxmlformats.org/drawingml/2006/main">
              <a:ext uri="{FF2B5EF4-FFF2-40B4-BE49-F238E27FC236}">
                <a16:creationId xmlns:a16="http://schemas.microsoft.com/office/drawing/2014/main" id="{549E0823-13F8-46EA-9053-08FEB3CE12C3}"/>
              </a:ext>
            </a:extLst>
          </p:cNvPr>
          <p:cNvSpPr>
            <a:spLocks xmlns:a="http://schemas.openxmlformats.org/drawingml/2006/main" noGrp="1"/>
          </p:cNvSpPr>
          <p:nvPr/>
        </p:nvSpPr>
        <p:spPr>
          <a:xfrm xmlns:a="http://schemas.openxmlformats.org/drawingml/2006/main">
            <a:off x="419100" y="78105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F2A37"/>
                </a:solidFill>
                <a:latin typeface="Arial"/>
                <a:ea typeface="Arial"/>
                <a:cs typeface="Arial"/>
              </a:defRPr>
            </a:pPr>
            <a:r>
              <a:rPr sz="1275" b="0">
                <a:solidFill>
                  <a:srgbClr val="1F2A37"/>
                </a:solidFill>
                <a:latin typeface="Arial"/>
                <a:ea typeface="Arial"/>
                <a:cs typeface="Arial"/>
              </a:rPr>
              <a:t>Goal: learn a stochastic discount factor through conditional pricing moments.</a:t>
            </a:r>
          </a:p>
        </p:txBody>
      </p:sp>
    </p:spTree>
    <p:extLst>
      <p:ext uri="{BB962C8B-B14F-4D97-AF65-F5344CB8AC3E}">
        <p14:creationId xmlns:p14="http://schemas.microsoft.com/office/powerpoint/2010/main" val="2410890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4B65EB-3C9D-4A0A-A5B6-F43D5650CC63}"/>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037A00-CA31-49B7-A348-515295FC9802}"/>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6F88D0-05A6-4D75-A6AB-BCA7B61A97B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Main paper: published results</a:t>
            </a:r>
          </a:p>
        </p:txBody>
      </p:sp>
      <p:sp>
        <p:nvSpPr>
          <p:cNvPr id="4" name="">
            <a:extLst xmlns:a="http://schemas.openxmlformats.org/drawingml/2006/main">
              <a:ext uri="{FF2B5EF4-FFF2-40B4-BE49-F238E27FC236}">
                <a16:creationId xmlns:a16="http://schemas.microsoft.com/office/drawing/2014/main" id="{26248FE1-8E51-4EA7-AC8B-62E05E017D5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1. Main paper</a:t>
            </a:r>
          </a:p>
        </p:txBody>
      </p:sp>
      <p:sp>
        <p:nvSpPr>
          <p:cNvPr id="5" name="">
            <a:extLst xmlns:a="http://schemas.openxmlformats.org/drawingml/2006/main">
              <a:ext uri="{FF2B5EF4-FFF2-40B4-BE49-F238E27FC236}">
                <a16:creationId xmlns:a16="http://schemas.microsoft.com/office/drawing/2014/main" id="{B8C358BC-7C57-4258-98AB-F5B0C57525E2}"/>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4</a:t>
            </a:r>
          </a:p>
        </p:txBody>
      </p:sp>
      <p:graphicFrame>
        <p:nvGraphicFramePr>
          <p:cNvPr id="15" name=""/>
          <p:cNvGraphicFramePr/>
          <p:nvPr/>
        </p:nvGraphicFramePr>
        <p:xfrm>
          <a:off xmlns:a="http://schemas.openxmlformats.org/drawingml/2006/main" x="400050" y="1019175"/>
          <a:ext xmlns:a="http://schemas.openxmlformats.org/drawingml/2006/main" cx="8343900" cy="2686050"/>
        </p:xfrm>
        <a:graphic xmlns:a="http://schemas.openxmlformats.org/drawingml/2006/main">
          <a:graphicData uri="http://schemas.openxmlformats.org/drawingml/2006/table">
            <a:tbl>
              <a:tblPr/>
              <a:tblGrid>
                <a:gridCol w="2476500"/>
                <a:gridCol w="1955800"/>
                <a:gridCol w="1955800"/>
                <a:gridCol w="1955800"/>
              </a:tblGrid>
              <a:tr h="537210">
                <a:tc>
                  <a:txBody>
                    <a:bodyPr/>
                    <a:lstStyle/>
                    <a:p>
                      <a:r>
                        <a:rPr sz="1425" b="1">
                          <a:solidFill>
                            <a:srgbClr val="FFFFFF"/>
                          </a:solidFill>
                          <a:latin typeface="Arial"/>
                          <a:ea typeface="Arial"/>
                          <a:cs typeface="Arial"/>
                        </a:rPr>
                        <a:t>Model</a:t>
                      </a:r>
                    </a:p>
                  </a:txBody>
                  <a:tcPr marL="91440" marR="91440" marT="45720" marB="45720">
                    <a:solidFill>
                      <a:srgbClr val="003262"/>
                    </a:solidFill>
                  </a:tcPr>
                </a:tc>
                <a:tc>
                  <a:txBody>
                    <a:bodyPr/>
                    <a:lstStyle/>
                    <a:p>
                      <a:r>
                        <a:rPr sz="1425" b="1">
                          <a:solidFill>
                            <a:srgbClr val="FFFFFF"/>
                          </a:solidFill>
                          <a:latin typeface="Arial"/>
                          <a:ea typeface="Arial"/>
                          <a:cs typeface="Arial"/>
                        </a:rPr>
                        <a:t>Train</a:t>
                      </a:r>
                    </a:p>
                  </a:txBody>
                  <a:tcPr marL="91440" marR="91440" marT="45720" marB="45720">
                    <a:solidFill>
                      <a:srgbClr val="003262"/>
                    </a:solidFill>
                  </a:tcPr>
                </a:tc>
                <a:tc>
                  <a:txBody>
                    <a:bodyPr/>
                    <a:lstStyle/>
                    <a:p>
                      <a:r>
                        <a:rPr sz="1425" b="1">
                          <a:solidFill>
                            <a:srgbClr val="FFFFFF"/>
                          </a:solidFill>
                          <a:latin typeface="Arial"/>
                          <a:ea typeface="Arial"/>
                          <a:cs typeface="Arial"/>
                        </a:rPr>
                        <a:t>Validation</a:t>
                      </a:r>
                    </a:p>
                  </a:txBody>
                  <a:tcPr marL="91440" marR="91440" marT="45720" marB="45720">
                    <a:solidFill>
                      <a:srgbClr val="003262"/>
                    </a:solidFill>
                  </a:tcPr>
                </a:tc>
                <a:tc>
                  <a:txBody>
                    <a:bodyPr/>
                    <a:lstStyle/>
                    <a:p>
                      <a:r>
                        <a:rPr sz="1425" b="1">
                          <a:solidFill>
                            <a:srgbClr val="FFFFFF"/>
                          </a:solidFill>
                          <a:latin typeface="Arial"/>
                          <a:ea typeface="Arial"/>
                          <a:cs typeface="Arial"/>
                        </a:rPr>
                        <a:t>Test</a:t>
                      </a:r>
                    </a:p>
                  </a:txBody>
                  <a:tcPr marL="91440" marR="91440" marT="45720" marB="45720">
                    <a:solidFill>
                      <a:srgbClr val="003262"/>
                    </a:solidFill>
                  </a:tcPr>
                </a:tc>
              </a:tr>
              <a:tr h="537210">
                <a:tc>
                  <a:txBody>
                    <a:bodyPr/>
                    <a:lstStyle/>
                    <a:p>
                      <a:r>
                        <a:rPr sz="1500" b="0">
                          <a:solidFill>
                            <a:srgbClr val="1F2A37"/>
                          </a:solidFill>
                          <a:latin typeface="Arial"/>
                          <a:ea typeface="Arial"/>
                          <a:cs typeface="Arial"/>
                        </a:rPr>
                        <a:t>LS</a:t>
                      </a:r>
                    </a:p>
                  </a:txBody>
                  <a:tcPr marL="91440" marR="91440" marT="45720" marB="45720">
                    <a:solidFill>
                      <a:srgbClr val="EEF3F8"/>
                    </a:solidFill>
                  </a:tcPr>
                </a:tc>
                <a:tc>
                  <a:txBody>
                    <a:bodyPr/>
                    <a:lstStyle/>
                    <a:p>
                      <a:r>
                        <a:rPr sz="1500" b="0">
                          <a:solidFill>
                            <a:srgbClr val="1F2A37"/>
                          </a:solidFill>
                          <a:latin typeface="Arial"/>
                          <a:ea typeface="Arial"/>
                          <a:cs typeface="Arial"/>
                        </a:rPr>
                        <a:t>1.800</a:t>
                      </a:r>
                    </a:p>
                  </a:txBody>
                  <a:tcPr marL="91440" marR="91440" marT="45720" marB="45720">
                    <a:solidFill>
                      <a:srgbClr val="EEF3F8"/>
                    </a:solidFill>
                  </a:tcPr>
                </a:tc>
                <a:tc>
                  <a:txBody>
                    <a:bodyPr/>
                    <a:lstStyle/>
                    <a:p>
                      <a:r>
                        <a:rPr sz="1500" b="0">
                          <a:solidFill>
                            <a:srgbClr val="1F2A37"/>
                          </a:solidFill>
                          <a:latin typeface="Arial"/>
                          <a:ea typeface="Arial"/>
                          <a:cs typeface="Arial"/>
                        </a:rPr>
                        <a:t>0.580</a:t>
                      </a:r>
                    </a:p>
                  </a:txBody>
                  <a:tcPr marL="91440" marR="91440" marT="45720" marB="45720">
                    <a:solidFill>
                      <a:srgbClr val="EEF3F8"/>
                    </a:solidFill>
                  </a:tcPr>
                </a:tc>
                <a:tc>
                  <a:txBody>
                    <a:bodyPr/>
                    <a:lstStyle/>
                    <a:p>
                      <a:r>
                        <a:rPr sz="1500" b="0">
                          <a:solidFill>
                            <a:srgbClr val="1F2A37"/>
                          </a:solidFill>
                          <a:latin typeface="Arial"/>
                          <a:ea typeface="Arial"/>
                          <a:cs typeface="Arial"/>
                        </a:rPr>
                        <a:t>0.420</a:t>
                      </a:r>
                    </a:p>
                  </a:txBody>
                  <a:tcPr marL="91440" marR="91440" marT="45720" marB="45720">
                    <a:solidFill>
                      <a:srgbClr val="EEF3F8"/>
                    </a:solidFill>
                  </a:tcPr>
                </a:tc>
              </a:tr>
              <a:tr h="537210">
                <a:tc>
                  <a:txBody>
                    <a:bodyPr/>
                    <a:lstStyle/>
                    <a:p>
                      <a:r>
                        <a:rPr sz="1500" b="0">
                          <a:solidFill>
                            <a:srgbClr val="1F2A37"/>
                          </a:solidFill>
                          <a:latin typeface="Arial"/>
                          <a:ea typeface="Arial"/>
                          <a:cs typeface="Arial"/>
                        </a:rPr>
                        <a:t>EN</a:t>
                      </a:r>
                    </a:p>
                  </a:txBody>
                  <a:tcPr marL="91440" marR="91440" marT="45720" marB="45720">
                    <a:solidFill>
                      <a:srgbClr val="FFFFFF"/>
                    </a:solidFill>
                  </a:tcPr>
                </a:tc>
                <a:tc>
                  <a:txBody>
                    <a:bodyPr/>
                    <a:lstStyle/>
                    <a:p>
                      <a:r>
                        <a:rPr sz="1500" b="0">
                          <a:solidFill>
                            <a:srgbClr val="1F2A37"/>
                          </a:solidFill>
                          <a:latin typeface="Arial"/>
                          <a:ea typeface="Arial"/>
                          <a:cs typeface="Arial"/>
                        </a:rPr>
                        <a:t>1.370</a:t>
                      </a:r>
                    </a:p>
                  </a:txBody>
                  <a:tcPr marL="91440" marR="91440" marT="45720" marB="45720">
                    <a:solidFill>
                      <a:srgbClr val="FFFFFF"/>
                    </a:solidFill>
                  </a:tcPr>
                </a:tc>
                <a:tc>
                  <a:txBody>
                    <a:bodyPr/>
                    <a:lstStyle/>
                    <a:p>
                      <a:r>
                        <a:rPr sz="1500" b="0">
                          <a:solidFill>
                            <a:srgbClr val="1F2A37"/>
                          </a:solidFill>
                          <a:latin typeface="Arial"/>
                          <a:ea typeface="Arial"/>
                          <a:cs typeface="Arial"/>
                        </a:rPr>
                        <a:t>1.150</a:t>
                      </a:r>
                    </a:p>
                  </a:txBody>
                  <a:tcPr marL="91440" marR="91440" marT="45720" marB="45720">
                    <a:solidFill>
                      <a:srgbClr val="FFFFFF"/>
                    </a:solidFill>
                  </a:tcPr>
                </a:tc>
                <a:tc>
                  <a:txBody>
                    <a:bodyPr/>
                    <a:lstStyle/>
                    <a:p>
                      <a:r>
                        <a:rPr sz="1500" b="0">
                          <a:solidFill>
                            <a:srgbClr val="1F2A37"/>
                          </a:solidFill>
                          <a:latin typeface="Arial"/>
                          <a:ea typeface="Arial"/>
                          <a:cs typeface="Arial"/>
                        </a:rPr>
                        <a:t>0.500</a:t>
                      </a:r>
                    </a:p>
                  </a:txBody>
                  <a:tcPr marL="91440" marR="91440" marT="45720" marB="45720">
                    <a:solidFill>
                      <a:srgbClr val="FFFFFF"/>
                    </a:solidFill>
                  </a:tcPr>
                </a:tc>
              </a:tr>
              <a:tr h="537210">
                <a:tc>
                  <a:txBody>
                    <a:bodyPr/>
                    <a:lstStyle/>
                    <a:p>
                      <a:r>
                        <a:rPr sz="1500" b="0">
                          <a:solidFill>
                            <a:srgbClr val="1F2A37"/>
                          </a:solidFill>
                          <a:latin typeface="Arial"/>
                          <a:ea typeface="Arial"/>
                          <a:cs typeface="Arial"/>
                        </a:rPr>
                        <a:t>FFN</a:t>
                      </a:r>
                    </a:p>
                  </a:txBody>
                  <a:tcPr marL="91440" marR="91440" marT="45720" marB="45720">
                    <a:solidFill>
                      <a:srgbClr val="EEF3F8"/>
                    </a:solidFill>
                  </a:tcPr>
                </a:tc>
                <a:tc>
                  <a:txBody>
                    <a:bodyPr/>
                    <a:lstStyle/>
                    <a:p>
                      <a:r>
                        <a:rPr sz="1500" b="0">
                          <a:solidFill>
                            <a:srgbClr val="1F2A37"/>
                          </a:solidFill>
                          <a:latin typeface="Arial"/>
                          <a:ea typeface="Arial"/>
                          <a:cs typeface="Arial"/>
                        </a:rPr>
                        <a:t>0.450</a:t>
                      </a:r>
                    </a:p>
                  </a:txBody>
                  <a:tcPr marL="91440" marR="91440" marT="45720" marB="45720">
                    <a:solidFill>
                      <a:srgbClr val="EEF3F8"/>
                    </a:solidFill>
                  </a:tcPr>
                </a:tc>
                <a:tc>
                  <a:txBody>
                    <a:bodyPr/>
                    <a:lstStyle/>
                    <a:p>
                      <a:r>
                        <a:rPr sz="1500" b="0">
                          <a:solidFill>
                            <a:srgbClr val="1F2A37"/>
                          </a:solidFill>
                          <a:latin typeface="Arial"/>
                          <a:ea typeface="Arial"/>
                          <a:cs typeface="Arial"/>
                        </a:rPr>
                        <a:t>0.420</a:t>
                      </a:r>
                    </a:p>
                  </a:txBody>
                  <a:tcPr marL="91440" marR="91440" marT="45720" marB="45720">
                    <a:solidFill>
                      <a:srgbClr val="EEF3F8"/>
                    </a:solidFill>
                  </a:tcPr>
                </a:tc>
                <a:tc>
                  <a:txBody>
                    <a:bodyPr/>
                    <a:lstStyle/>
                    <a:p>
                      <a:r>
                        <a:rPr sz="1500" b="0">
                          <a:solidFill>
                            <a:srgbClr val="1F2A37"/>
                          </a:solidFill>
                          <a:latin typeface="Arial"/>
                          <a:ea typeface="Arial"/>
                          <a:cs typeface="Arial"/>
                        </a:rPr>
                        <a:t>0.440</a:t>
                      </a:r>
                    </a:p>
                  </a:txBody>
                  <a:tcPr marL="91440" marR="91440" marT="45720" marB="45720">
                    <a:solidFill>
                      <a:srgbClr val="EEF3F8"/>
                    </a:solidFill>
                  </a:tcPr>
                </a:tc>
              </a:tr>
              <a:tr h="537210">
                <a:tc>
                  <a:txBody>
                    <a:bodyPr/>
                    <a:lstStyle/>
                    <a:p>
                      <a:r>
                        <a:rPr sz="1500" b="0">
                          <a:solidFill>
                            <a:srgbClr val="1F2A37"/>
                          </a:solidFill>
                          <a:latin typeface="Arial"/>
                          <a:ea typeface="Arial"/>
                          <a:cs typeface="Arial"/>
                        </a:rPr>
                        <a:t>GAN</a:t>
                      </a:r>
                    </a:p>
                  </a:txBody>
                  <a:tcPr marL="91440" marR="91440" marT="45720" marB="45720">
                    <a:solidFill>
                      <a:srgbClr val="FFFFFF"/>
                    </a:solidFill>
                  </a:tcPr>
                </a:tc>
                <a:tc>
                  <a:txBody>
                    <a:bodyPr/>
                    <a:lstStyle/>
                    <a:p>
                      <a:r>
                        <a:rPr sz="1500" b="0">
                          <a:solidFill>
                            <a:srgbClr val="1F2A37"/>
                          </a:solidFill>
                          <a:latin typeface="Arial"/>
                          <a:ea typeface="Arial"/>
                          <a:cs typeface="Arial"/>
                        </a:rPr>
                        <a:t>2.680</a:t>
                      </a:r>
                    </a:p>
                  </a:txBody>
                  <a:tcPr marL="91440" marR="91440" marT="45720" marB="45720">
                    <a:solidFill>
                      <a:srgbClr val="FFFFFF"/>
                    </a:solidFill>
                  </a:tcPr>
                </a:tc>
                <a:tc>
                  <a:txBody>
                    <a:bodyPr/>
                    <a:lstStyle/>
                    <a:p>
                      <a:r>
                        <a:rPr sz="1500" b="0">
                          <a:solidFill>
                            <a:srgbClr val="1F2A37"/>
                          </a:solidFill>
                          <a:latin typeface="Arial"/>
                          <a:ea typeface="Arial"/>
                          <a:cs typeface="Arial"/>
                        </a:rPr>
                        <a:t>1.430</a:t>
                      </a:r>
                    </a:p>
                  </a:txBody>
                  <a:tcPr marL="91440" marR="91440" marT="45720" marB="45720">
                    <a:solidFill>
                      <a:srgbClr val="FFFFFF"/>
                    </a:solidFill>
                  </a:tcPr>
                </a:tc>
                <a:tc>
                  <a:txBody>
                    <a:bodyPr/>
                    <a:lstStyle/>
                    <a:p>
                      <a:r>
                        <a:rPr sz="1500" b="0">
                          <a:solidFill>
                            <a:srgbClr val="1F2A37"/>
                          </a:solidFill>
                          <a:latin typeface="Arial"/>
                          <a:ea typeface="Arial"/>
                          <a:cs typeface="Arial"/>
                        </a:rPr>
                        <a:t>0.750</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020EE53-7272-425D-86F6-E30D3DA2878B}"/>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GAN has the highest published monthly Sharpe in every split.</a:t>
            </a:r>
          </a:p>
        </p:txBody>
      </p:sp>
    </p:spTree>
    <p:extLst>
      <p:ext uri="{BB962C8B-B14F-4D97-AF65-F5344CB8AC3E}">
        <p14:creationId xmlns:p14="http://schemas.microsoft.com/office/powerpoint/2010/main" val="5513012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1089D9-1563-44C8-9239-8F2DD8B5FEA0}"/>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31BE8F-AA89-476B-91FE-CC5063C98979}"/>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ACBCC0-67AE-43F4-BDFC-C6776354450F}"/>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Replication: comparison with the main paper</a:t>
            </a:r>
          </a:p>
        </p:txBody>
      </p:sp>
      <p:sp>
        <p:nvSpPr>
          <p:cNvPr id="4" name="">
            <a:extLst xmlns:a="http://schemas.openxmlformats.org/drawingml/2006/main">
              <a:ext uri="{FF2B5EF4-FFF2-40B4-BE49-F238E27FC236}">
                <a16:creationId xmlns:a16="http://schemas.microsoft.com/office/drawing/2014/main" id="{455A9CFE-0B65-4701-B6FA-F0A4C683D33B}"/>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2. Replication</a:t>
            </a:r>
          </a:p>
        </p:txBody>
      </p:sp>
      <p:sp>
        <p:nvSpPr>
          <p:cNvPr id="5" name="">
            <a:extLst xmlns:a="http://schemas.openxmlformats.org/drawingml/2006/main">
              <a:ext uri="{FF2B5EF4-FFF2-40B4-BE49-F238E27FC236}">
                <a16:creationId xmlns:a16="http://schemas.microsoft.com/office/drawing/2014/main" id="{CACB040B-69F3-452C-914A-CAD15924BA7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5</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ce505f44c21b4b4e"/>
          </a:graphicData>
        </a:graphic>
      </p:graphicFrame>
      <p:sp>
        <p:nvSpPr>
          <p:cNvPr id="7" name="">
            <a:extLst xmlns:a="http://schemas.openxmlformats.org/drawingml/2006/main">
              <a:ext uri="{FF2B5EF4-FFF2-40B4-BE49-F238E27FC236}">
                <a16:creationId xmlns:a16="http://schemas.microsoft.com/office/drawing/2014/main" id="{C9EFEDBA-C313-4BFA-832E-B0E771BFDDD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GAN stays first, while FFN and EN exchange test-period ranks.</a:t>
            </a:r>
          </a:p>
        </p:txBody>
      </p:sp>
    </p:spTree>
    <p:extLst>
      <p:ext uri="{BB962C8B-B14F-4D97-AF65-F5344CB8AC3E}">
        <p14:creationId xmlns:p14="http://schemas.microsoft.com/office/powerpoint/2010/main" val="10209341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9BE11B-4261-4CF5-9249-013190E84BC2}"/>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166329-D555-4B4B-B517-9F976DFD5E5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FFADD75-D94A-448B-924C-D90C51A96C3B}"/>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Replication: validation and common signals</a:t>
            </a:r>
          </a:p>
        </p:txBody>
      </p:sp>
      <p:sp>
        <p:nvSpPr>
          <p:cNvPr id="4" name="">
            <a:extLst xmlns:a="http://schemas.openxmlformats.org/drawingml/2006/main">
              <a:ext uri="{FF2B5EF4-FFF2-40B4-BE49-F238E27FC236}">
                <a16:creationId xmlns:a16="http://schemas.microsoft.com/office/drawing/2014/main" id="{0DE48038-808C-4205-B9C5-761686BAF99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2. Replication</a:t>
            </a:r>
          </a:p>
        </p:txBody>
      </p:sp>
      <p:sp>
        <p:nvSpPr>
          <p:cNvPr id="5" name="">
            <a:extLst xmlns:a="http://schemas.openxmlformats.org/drawingml/2006/main">
              <a:ext uri="{FF2B5EF4-FFF2-40B4-BE49-F238E27FC236}">
                <a16:creationId xmlns:a16="http://schemas.microsoft.com/office/drawing/2014/main" id="{EA5EF2CC-5A0F-44CD-95D6-09752255A97C}"/>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6</a:t>
            </a:r>
          </a:p>
        </p:txBody>
      </p:sp>
      <p:graphicFrame>
        <p:nvGraphicFramePr>
          <p:cNvPr id="15" name=""/>
          <p:cNvGraphicFramePr/>
          <p:nvPr/>
        </p:nvGraphicFramePr>
        <p:xfrm>
          <a:off xmlns:a="http://schemas.openxmlformats.org/drawingml/2006/main" x="400050" y="1019175"/>
          <a:ext xmlns:a="http://schemas.openxmlformats.org/drawingml/2006/main" cx="8343900" cy="2781300"/>
        </p:xfrm>
        <a:graphic xmlns:a="http://schemas.openxmlformats.org/drawingml/2006/main">
          <a:graphicData uri="http://schemas.openxmlformats.org/drawingml/2006/table">
            <a:tbl>
              <a:tblPr/>
              <a:tblGrid>
                <a:gridCol w="2714625"/>
                <a:gridCol w="2814638"/>
                <a:gridCol w="2814638"/>
              </a:tblGrid>
              <a:tr h="556260">
                <a:tc>
                  <a:txBody>
                    <a:bodyPr/>
                    <a:lstStyle/>
                    <a:p>
                      <a:r>
                        <a:rPr sz="1350" b="1">
                          <a:solidFill>
                            <a:srgbClr val="FFFFFF"/>
                          </a:solidFill>
                          <a:latin typeface="Arial"/>
                          <a:ea typeface="Arial"/>
                          <a:cs typeface="Arial"/>
                        </a:rPr>
                        <a:t>Check</a:t>
                      </a:r>
                    </a:p>
                  </a:txBody>
                  <a:tcPr marL="91440" marR="91440" marT="45720" marB="45720">
                    <a:solidFill>
                      <a:srgbClr val="003262"/>
                    </a:solidFill>
                  </a:tcPr>
                </a:tc>
                <a:tc>
                  <a:txBody>
                    <a:bodyPr/>
                    <a:lstStyle/>
                    <a:p>
                      <a:r>
                        <a:rPr sz="1350" b="1">
                          <a:solidFill>
                            <a:srgbClr val="FFFFFF"/>
                          </a:solidFill>
                          <a:latin typeface="Arial"/>
                          <a:ea typeface="Arial"/>
                          <a:cs typeface="Arial"/>
                        </a:rPr>
                        <a:t>Our result</a:t>
                      </a:r>
                    </a:p>
                  </a:txBody>
                  <a:tcPr marL="91440" marR="91440" marT="45720" marB="45720">
                    <a:solidFill>
                      <a:srgbClr val="003262"/>
                    </a:solidFill>
                  </a:tcPr>
                </a:tc>
                <a:tc>
                  <a:txBody>
                    <a:bodyPr/>
                    <a:lstStyle/>
                    <a:p>
                      <a:r>
                        <a:rPr sz="1350" b="1">
                          <a:solidFill>
                            <a:srgbClr val="FFFFFF"/>
                          </a:solidFill>
                          <a:latin typeface="Arial"/>
                          <a:ea typeface="Arial"/>
                          <a:cs typeface="Arial"/>
                        </a:rPr>
                        <a:t>Reference</a:t>
                      </a:r>
                    </a:p>
                  </a:txBody>
                  <a:tcPr marL="91440" marR="91440" marT="45720" marB="45720">
                    <a:solidFill>
                      <a:srgbClr val="003262"/>
                    </a:solidFill>
                  </a:tcPr>
                </a:tc>
              </a:tr>
              <a:tr h="556260">
                <a:tc>
                  <a:txBody>
                    <a:bodyPr/>
                    <a:lstStyle/>
                    <a:p>
                      <a:r>
                        <a:rPr sz="1425" b="0">
                          <a:solidFill>
                            <a:srgbClr val="1F2A37"/>
                          </a:solidFill>
                          <a:latin typeface="Arial"/>
                          <a:ea typeface="Arial"/>
                          <a:cs typeface="Arial"/>
                        </a:rPr>
                        <a:t>FF-3 test Sharpe</a:t>
                      </a:r>
                    </a:p>
                  </a:txBody>
                  <a:tcPr marL="91440" marR="91440" marT="45720" marB="45720">
                    <a:solidFill>
                      <a:srgbClr val="EEF3F8"/>
                    </a:solidFill>
                  </a:tcPr>
                </a:tc>
                <a:tc>
                  <a:txBody>
                    <a:bodyPr/>
                    <a:lstStyle/>
                    <a:p>
                      <a:r>
                        <a:rPr sz="1425" b="0">
                          <a:solidFill>
                            <a:srgbClr val="1F2A37"/>
                          </a:solidFill>
                          <a:latin typeface="Arial"/>
                          <a:ea typeface="Arial"/>
                          <a:cs typeface="Arial"/>
                        </a:rPr>
                        <a:t>0.196</a:t>
                      </a:r>
                    </a:p>
                  </a:txBody>
                  <a:tcPr marL="91440" marR="91440" marT="45720" marB="45720">
                    <a:solidFill>
                      <a:srgbClr val="EEF3F8"/>
                    </a:solidFill>
                  </a:tcPr>
                </a:tc>
                <a:tc>
                  <a:txBody>
                    <a:bodyPr/>
                    <a:lstStyle/>
                    <a:p>
                      <a:r>
                        <a:rPr sz="1425" b="0">
                          <a:solidFill>
                            <a:srgbClr val="1F2A37"/>
                          </a:solidFill>
                          <a:latin typeface="Arial"/>
                          <a:ea typeface="Arial"/>
                          <a:cs typeface="Arial"/>
                        </a:rPr>
                        <a:t>Paper 0.190</a:t>
                      </a:r>
                    </a:p>
                  </a:txBody>
                  <a:tcPr marL="91440" marR="91440" marT="45720" marB="45720">
                    <a:solidFill>
                      <a:srgbClr val="EEF3F8"/>
                    </a:solidFill>
                  </a:tcPr>
                </a:tc>
              </a:tr>
              <a:tr h="556260">
                <a:tc>
                  <a:txBody>
                    <a:bodyPr/>
                    <a:lstStyle/>
                    <a:p>
                      <a:r>
                        <a:rPr sz="1425" b="0">
                          <a:solidFill>
                            <a:srgbClr val="1F2A37"/>
                          </a:solidFill>
                          <a:latin typeface="Arial"/>
                          <a:ea typeface="Arial"/>
                          <a:cs typeface="Arial"/>
                        </a:rPr>
                        <a:t>FF-5 test Sharpe</a:t>
                      </a:r>
                    </a:p>
                  </a:txBody>
                  <a:tcPr marL="91440" marR="91440" marT="45720" marB="45720">
                    <a:solidFill>
                      <a:srgbClr val="FFFFFF"/>
                    </a:solidFill>
                  </a:tcPr>
                </a:tc>
                <a:tc>
                  <a:txBody>
                    <a:bodyPr/>
                    <a:lstStyle/>
                    <a:p>
                      <a:r>
                        <a:rPr sz="1425" b="0">
                          <a:solidFill>
                            <a:srgbClr val="1F2A37"/>
                          </a:solidFill>
                          <a:latin typeface="Arial"/>
                          <a:ea typeface="Arial"/>
                          <a:cs typeface="Arial"/>
                        </a:rPr>
                        <a:t>0.223</a:t>
                      </a:r>
                    </a:p>
                  </a:txBody>
                  <a:tcPr marL="91440" marR="91440" marT="45720" marB="45720">
                    <a:solidFill>
                      <a:srgbClr val="FFFFFF"/>
                    </a:solidFill>
                  </a:tcPr>
                </a:tc>
                <a:tc>
                  <a:txBody>
                    <a:bodyPr/>
                    <a:lstStyle/>
                    <a:p>
                      <a:r>
                        <a:rPr sz="1425" b="0">
                          <a:solidFill>
                            <a:srgbClr val="1F2A37"/>
                          </a:solidFill>
                          <a:latin typeface="Arial"/>
                          <a:ea typeface="Arial"/>
                          <a:cs typeface="Arial"/>
                        </a:rPr>
                        <a:t>Paper 0.220</a:t>
                      </a:r>
                    </a:p>
                  </a:txBody>
                  <a:tcPr marL="91440" marR="91440" marT="45720" marB="45720">
                    <a:solidFill>
                      <a:srgbClr val="FFFFFF"/>
                    </a:solidFill>
                  </a:tcPr>
                </a:tc>
              </a:tr>
              <a:tr h="556260">
                <a:tc>
                  <a:txBody>
                    <a:bodyPr/>
                    <a:lstStyle/>
                    <a:p>
                      <a:r>
                        <a:rPr sz="1425" b="0">
                          <a:solidFill>
                            <a:srgbClr val="1F2A37"/>
                          </a:solidFill>
                          <a:latin typeface="Arial"/>
                          <a:ea typeface="Arial"/>
                          <a:cs typeface="Arial"/>
                        </a:rPr>
                        <a:t>GAN test correlation</a:t>
                      </a:r>
                    </a:p>
                  </a:txBody>
                  <a:tcPr marL="91440" marR="91440" marT="45720" marB="45720">
                    <a:solidFill>
                      <a:srgbClr val="EEF3F8"/>
                    </a:solidFill>
                  </a:tcPr>
                </a:tc>
                <a:tc>
                  <a:txBody>
                    <a:bodyPr/>
                    <a:lstStyle/>
                    <a:p>
                      <a:r>
                        <a:rPr sz="1425" b="0">
                          <a:solidFill>
                            <a:srgbClr val="1F2A37"/>
                          </a:solidFill>
                          <a:latin typeface="Arial"/>
                          <a:ea typeface="Arial"/>
                          <a:cs typeface="Arial"/>
                        </a:rPr>
                        <a:t>0.800</a:t>
                      </a:r>
                    </a:p>
                  </a:txBody>
                  <a:tcPr marL="91440" marR="91440" marT="45720" marB="45720">
                    <a:solidFill>
                      <a:srgbClr val="EEF3F8"/>
                    </a:solidFill>
                  </a:tcPr>
                </a:tc>
                <a:tc>
                  <a:txBody>
                    <a:bodyPr/>
                    <a:lstStyle/>
                    <a:p>
                      <a:r>
                        <a:rPr sz="1425" b="0">
                          <a:solidFill>
                            <a:srgbClr val="1F2A37"/>
                          </a:solidFill>
                          <a:latin typeface="Arial"/>
                          <a:ea typeface="Arial"/>
                          <a:cs typeface="Arial"/>
                        </a:rPr>
                        <a:t>Authors’ monthly GAN</a:t>
                      </a:r>
                    </a:p>
                  </a:txBody>
                  <a:tcPr marL="91440" marR="91440" marT="45720" marB="45720">
                    <a:solidFill>
                      <a:srgbClr val="EEF3F8"/>
                    </a:solidFill>
                  </a:tcPr>
                </a:tc>
              </a:tr>
              <a:tr h="556260">
                <a:tc>
                  <a:txBody>
                    <a:bodyPr/>
                    <a:lstStyle/>
                    <a:p>
                      <a:r>
                        <a:rPr sz="1425" b="0">
                          <a:solidFill>
                            <a:srgbClr val="1F2A37"/>
                          </a:solidFill>
                          <a:latin typeface="Arial"/>
                          <a:ea typeface="Arial"/>
                          <a:cs typeface="Arial"/>
                        </a:rPr>
                        <a:t>Leading characteristics</a:t>
                      </a:r>
                    </a:p>
                  </a:txBody>
                  <a:tcPr marL="91440" marR="91440" marT="45720" marB="45720">
                    <a:solidFill>
                      <a:srgbClr val="FFFFFF"/>
                    </a:solidFill>
                  </a:tcPr>
                </a:tc>
                <a:tc>
                  <a:txBody>
                    <a:bodyPr/>
                    <a:lstStyle/>
                    <a:p>
                      <a:r>
                        <a:rPr sz="1425" b="0">
                          <a:solidFill>
                            <a:srgbClr val="1F2A37"/>
                          </a:solidFill>
                          <a:latin typeface="Arial"/>
                          <a:ea typeface="Arial"/>
                          <a:cs typeface="Arial"/>
                        </a:rPr>
                        <a:t>ST_REV, SUV, r12_2</a:t>
                      </a:r>
                    </a:p>
                  </a:txBody>
                  <a:tcPr marL="91440" marR="91440" marT="45720" marB="45720">
                    <a:solidFill>
                      <a:srgbClr val="FFFFFF"/>
                    </a:solidFill>
                  </a:tcPr>
                </a:tc>
                <a:tc>
                  <a:txBody>
                    <a:bodyPr/>
                    <a:lstStyle/>
                    <a:p>
                      <a:r>
                        <a:rPr sz="1425" b="0">
                          <a:solidFill>
                            <a:srgbClr val="1F2A37"/>
                          </a:solidFill>
                          <a:latin typeface="Arial"/>
                          <a:ea typeface="Arial"/>
                          <a:cs typeface="Arial"/>
                        </a:rPr>
                        <a:t>Same top three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C5407A2-5FDF-4208-BF0D-A440477DFB2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These checks support the replication’s economic similarity to the original.</a:t>
            </a:r>
          </a:p>
        </p:txBody>
      </p:sp>
    </p:spTree>
    <p:extLst>
      <p:ext uri="{BB962C8B-B14F-4D97-AF65-F5344CB8AC3E}">
        <p14:creationId xmlns:p14="http://schemas.microsoft.com/office/powerpoint/2010/main" val="5485320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7980B7-6EC6-4E30-9639-EA453C03456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B52ECF-E0E9-401B-B1D8-65EEB89FB45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04B88D1-D65F-49E5-A88F-FA43AAA40292}"/>
              </a:ext>
            </a:extLst>
          </p:cNvPr>
          <p:cNvSpPr>
            <a:spLocks xmlns:a="http://schemas.openxmlformats.org/drawingml/2006/main" noGrp="1"/>
          </p:cNvSpPr>
          <p:nvPr/>
        </p:nvSpPr>
        <p:spPr>
          <a:xfrm xmlns:a="http://schemas.openxmlformats.org/drawingml/2006/main">
            <a:off x="400050" y="10096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Part 3</a:t>
            </a:r>
          </a:p>
        </p:txBody>
      </p:sp>
      <p:sp>
        <p:nvSpPr>
          <p:cNvPr id="14" name="">
            <a:extLst xmlns:a="http://schemas.openxmlformats.org/drawingml/2006/main">
              <a:ext uri="{FF2B5EF4-FFF2-40B4-BE49-F238E27FC236}">
                <a16:creationId xmlns:a16="http://schemas.microsoft.com/office/drawing/2014/main" id="{77E497C4-396C-47C3-81C8-E8CD7DF99435}"/>
              </a:ext>
            </a:extLst>
          </p:cNvPr>
          <p:cNvSpPr>
            <a:spLocks xmlns:a="http://schemas.openxmlformats.org/drawingml/2006/main" noGrp="1"/>
          </p:cNvSpPr>
          <p:nvPr/>
        </p:nvSpPr>
        <p:spPr>
          <a:xfrm xmlns:a="http://schemas.openxmlformats.org/drawingml/2006/main">
            <a:off x="381000" y="1676400"/>
            <a:ext cx="83629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03262"/>
                </a:solidFill>
                <a:latin typeface="Arial"/>
                <a:ea typeface="Arial"/>
                <a:cs typeface="Arial"/>
              </a:defRPr>
            </a:pPr>
            <a:r>
              <a:rPr sz="3600" b="1">
                <a:solidFill>
                  <a:srgbClr val="003262"/>
                </a:solidFill>
                <a:latin typeface="Arial"/>
                <a:ea typeface="Arial"/>
                <a:cs typeface="Arial"/>
              </a:rPr>
              <a:t>Transformer</a:t>
            </a:r>
          </a:p>
        </p:txBody>
      </p:sp>
      <p:sp>
        <p:nvSpPr>
          <p:cNvPr id="15" name="">
            <a:extLst xmlns:a="http://schemas.openxmlformats.org/drawingml/2006/main">
              <a:ext uri="{FF2B5EF4-FFF2-40B4-BE49-F238E27FC236}">
                <a16:creationId xmlns:a16="http://schemas.microsoft.com/office/drawing/2014/main" id="{F56099B9-A3A9-4469-813D-19FFFBEA53B6}"/>
              </a:ext>
            </a:extLst>
          </p:cNvPr>
          <p:cNvSpPr>
            <a:spLocks xmlns:a="http://schemas.openxmlformats.org/drawingml/2006/main" noGrp="1"/>
          </p:cNvSpPr>
          <p:nvPr/>
        </p:nvSpPr>
        <p:spPr>
          <a:xfrm xmlns:a="http://schemas.openxmlformats.org/drawingml/2006/main">
            <a:off x="419100" y="2705100"/>
            <a:ext cx="8058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A37"/>
                </a:solidFill>
                <a:latin typeface="Arial"/>
                <a:ea typeface="Arial"/>
                <a:cs typeface="Arial"/>
              </a:defRPr>
            </a:pPr>
            <a:r>
              <a:rPr sz="1875" b="0">
                <a:solidFill>
                  <a:srgbClr val="1F2A37"/>
                </a:solidFill>
                <a:latin typeface="Arial"/>
                <a:ea typeface="Arial"/>
                <a:cs typeface="Arial"/>
              </a:rPr>
              <a:t>Extension 1. Does causal attention improve on LSTM under a common training budget?</a:t>
            </a:r>
          </a:p>
        </p:txBody>
      </p:sp>
      <p:sp>
        <p:nvSpPr>
          <p:cNvPr id="16" name="">
            <a:extLst xmlns:a="http://schemas.openxmlformats.org/drawingml/2006/main">
              <a:ext uri="{FF2B5EF4-FFF2-40B4-BE49-F238E27FC236}">
                <a16:creationId xmlns:a16="http://schemas.microsoft.com/office/drawing/2014/main" id="{AF647BC1-53F1-4E68-A87C-365FC484C99F}"/>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Part 3. Transformer</a:t>
            </a:r>
          </a:p>
        </p:txBody>
      </p:sp>
      <p:sp>
        <p:nvSpPr>
          <p:cNvPr id="17" name="">
            <a:extLst xmlns:a="http://schemas.openxmlformats.org/drawingml/2006/main">
              <a:ext uri="{FF2B5EF4-FFF2-40B4-BE49-F238E27FC236}">
                <a16:creationId xmlns:a16="http://schemas.microsoft.com/office/drawing/2014/main" id="{A7950BD9-3C2A-4E7F-BB6F-C8445A0DF7B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7</a:t>
            </a:r>
          </a:p>
        </p:txBody>
      </p:sp>
    </p:spTree>
    <p:extLst>
      <p:ext uri="{BB962C8B-B14F-4D97-AF65-F5344CB8AC3E}">
        <p14:creationId xmlns:p14="http://schemas.microsoft.com/office/powerpoint/2010/main" val="3557814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166DBE-344C-49BA-843F-C0722674AE26}"/>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8C96F4-9E47-47DC-987E-185E99AF0A2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09ADAE-25E3-42A0-AB06-F1332454AEE1}"/>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Transformer: the common training budget</a:t>
            </a:r>
          </a:p>
        </p:txBody>
      </p:sp>
      <p:sp>
        <p:nvSpPr>
          <p:cNvPr id="4" name="">
            <a:extLst xmlns:a="http://schemas.openxmlformats.org/drawingml/2006/main">
              <a:ext uri="{FF2B5EF4-FFF2-40B4-BE49-F238E27FC236}">
                <a16:creationId xmlns:a16="http://schemas.microsoft.com/office/drawing/2014/main" id="{3F78C370-320C-4285-8BE6-17F488CD4FC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3. Transformer</a:t>
            </a:r>
          </a:p>
        </p:txBody>
      </p:sp>
      <p:sp>
        <p:nvSpPr>
          <p:cNvPr id="5" name="">
            <a:extLst xmlns:a="http://schemas.openxmlformats.org/drawingml/2006/main">
              <a:ext uri="{FF2B5EF4-FFF2-40B4-BE49-F238E27FC236}">
                <a16:creationId xmlns:a16="http://schemas.microsoft.com/office/drawing/2014/main" id="{4D5826CC-CE4B-4A27-A695-09F2260D895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8</a:t>
            </a:r>
          </a:p>
        </p:txBody>
      </p:sp>
      <p:graphicFrame>
        <p:nvGraphicFramePr>
          <p:cNvPr id="15"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857500"/>
                <a:gridCol w="2743200"/>
                <a:gridCol w="2743200"/>
              </a:tblGrid>
              <a:tr h="476250">
                <a:tc>
                  <a:txBody>
                    <a:bodyPr/>
                    <a:lstStyle/>
                    <a:p>
                      <a:r>
                        <a:rPr sz="1350" b="1">
                          <a:solidFill>
                            <a:srgbClr val="FFFFFF"/>
                          </a:solidFill>
                          <a:latin typeface="Arial"/>
                          <a:ea typeface="Arial"/>
                          <a:cs typeface="Arial"/>
                        </a:rPr>
                        <a:t>Setting</a:t>
                      </a:r>
                    </a:p>
                  </a:txBody>
                  <a:tcPr marL="91440" marR="91440" marT="45720" marB="45720">
                    <a:solidFill>
                      <a:srgbClr val="003262"/>
                    </a:solidFill>
                  </a:tcPr>
                </a:tc>
                <a:tc>
                  <a:txBody>
                    <a:bodyPr/>
                    <a:lstStyle/>
                    <a:p>
                      <a:r>
                        <a:rPr sz="1350" b="1">
                          <a:solidFill>
                            <a:srgbClr val="FFFFFF"/>
                          </a:solidFill>
                          <a:latin typeface="Arial"/>
                          <a:ea typeface="Arial"/>
                          <a:cs typeface="Arial"/>
                        </a:rPr>
                        <a:t>Audited author setup</a:t>
                      </a:r>
                    </a:p>
                  </a:txBody>
                  <a:tcPr marL="91440" marR="91440" marT="45720" marB="45720">
                    <a:solidFill>
                      <a:srgbClr val="003262"/>
                    </a:solidFill>
                  </a:tcPr>
                </a:tc>
                <a:tc>
                  <a:txBody>
                    <a:bodyPr/>
                    <a:lstStyle/>
                    <a:p>
                      <a:r>
                        <a:rPr sz="1350" b="1">
                          <a:solidFill>
                            <a:srgbClr val="FFFFFF"/>
                          </a:solidFill>
                          <a:latin typeface="Arial"/>
                          <a:ea typeface="Arial"/>
                          <a:cs typeface="Arial"/>
                        </a:rPr>
                        <a:t>Our completed run</a:t>
                      </a:r>
                    </a:p>
                  </a:txBody>
                  <a:tcPr marL="91440" marR="91440" marT="45720" marB="45720">
                    <a:solidFill>
                      <a:srgbClr val="003262"/>
                    </a:solidFill>
                  </a:tcPr>
                </a:tc>
              </a:tr>
              <a:tr h="476250">
                <a:tc>
                  <a:txBody>
                    <a:bodyPr/>
                    <a:lstStyle/>
                    <a:p>
                      <a:r>
                        <a:rPr sz="1425" b="0">
                          <a:solidFill>
                            <a:srgbClr val="1F2A37"/>
                          </a:solidFill>
                          <a:latin typeface="Arial"/>
                          <a:ea typeface="Arial"/>
                          <a:cs typeface="Arial"/>
                        </a:rPr>
                        <a:t>Stage 1 / 2 / 3 epochs</a:t>
                      </a:r>
                    </a:p>
                  </a:txBody>
                  <a:tcPr marL="91440" marR="91440" marT="45720" marB="45720">
                    <a:solidFill>
                      <a:srgbClr val="EEF3F8"/>
                    </a:solidFill>
                  </a:tcPr>
                </a:tc>
                <a:tc>
                  <a:txBody>
                    <a:bodyPr/>
                    <a:lstStyle/>
                    <a:p>
                      <a:r>
                        <a:rPr sz="1425" b="0">
                          <a:solidFill>
                            <a:srgbClr val="1F2A37"/>
                          </a:solidFill>
                          <a:latin typeface="Arial"/>
                          <a:ea typeface="Arial"/>
                          <a:cs typeface="Arial"/>
                        </a:rPr>
                        <a:t>256 / 64 / 1024</a:t>
                      </a:r>
                    </a:p>
                  </a:txBody>
                  <a:tcPr marL="91440" marR="91440" marT="45720" marB="45720">
                    <a:solidFill>
                      <a:srgbClr val="EEF3F8"/>
                    </a:solidFill>
                  </a:tcPr>
                </a:tc>
                <a:tc>
                  <a:txBody>
                    <a:bodyPr/>
                    <a:lstStyle/>
                    <a:p>
                      <a:r>
                        <a:rPr sz="1425" b="0">
                          <a:solidFill>
                            <a:srgbClr val="1F2A37"/>
                          </a:solidFill>
                          <a:latin typeface="Arial"/>
                          <a:ea typeface="Arial"/>
                          <a:cs typeface="Arial"/>
                        </a:rPr>
                        <a:t>16 / 4 / 48</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Optimizer passes</a:t>
                      </a:r>
                    </a:p>
                  </a:txBody>
                  <a:tcPr marL="91440" marR="91440" marT="45720" marB="45720">
                    <a:solidFill>
                      <a:srgbClr val="FFFFFF"/>
                    </a:solidFill>
                  </a:tcPr>
                </a:tc>
                <a:tc>
                  <a:txBody>
                    <a:bodyPr/>
                    <a:lstStyle/>
                    <a:p>
                      <a:r>
                        <a:rPr sz="1425" b="0">
                          <a:solidFill>
                            <a:srgbClr val="1F2A37"/>
                          </a:solidFill>
                          <a:latin typeface="Arial"/>
                          <a:ea typeface="Arial"/>
                          <a:cs typeface="Arial"/>
                        </a:rPr>
                        <a:t>4</a:t>
                      </a:r>
                    </a:p>
                  </a:txBody>
                  <a:tcPr marL="91440" marR="91440" marT="45720" marB="45720">
                    <a:solidFill>
                      <a:srgbClr val="FFFFFF"/>
                    </a:solidFill>
                  </a:tcPr>
                </a:tc>
                <a:tc>
                  <a:txBody>
                    <a:bodyPr/>
                    <a:lstStyle/>
                    <a:p>
                      <a:r>
                        <a:rPr sz="1425" b="0">
                          <a:solidFill>
                            <a:srgbClr val="1F2A37"/>
                          </a:solidFill>
                          <a:latin typeface="Arial"/>
                          <a:ea typeface="Arial"/>
                          <a:cs typeface="Arial"/>
                        </a:rPr>
                        <a:t>4</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Checkpoint warm-up</a:t>
                      </a:r>
                    </a:p>
                  </a:txBody>
                  <a:tcPr marL="91440" marR="91440" marT="45720" marB="45720">
                    <a:solidFill>
                      <a:srgbClr val="EEF3F8"/>
                    </a:solidFill>
                  </a:tcPr>
                </a:tc>
                <a:tc>
                  <a:txBody>
                    <a:bodyPr/>
                    <a:lstStyle/>
                    <a:p>
                      <a:r>
                        <a:rPr sz="1425" b="0">
                          <a:solidFill>
                            <a:srgbClr val="1F2A37"/>
                          </a:solidFill>
                          <a:latin typeface="Arial"/>
                          <a:ea typeface="Arial"/>
                          <a:cs typeface="Arial"/>
                        </a:rPr>
                        <a:t>64 epochs</a:t>
                      </a:r>
                    </a:p>
                  </a:txBody>
                  <a:tcPr marL="91440" marR="91440" marT="45720" marB="45720">
                    <a:solidFill>
                      <a:srgbClr val="EEF3F8"/>
                    </a:solidFill>
                  </a:tcPr>
                </a:tc>
                <a:tc>
                  <a:txBody>
                    <a:bodyPr/>
                    <a:lstStyle/>
                    <a:p>
                      <a:r>
                        <a:rPr sz="1425" b="0">
                          <a:solidFill>
                            <a:srgbClr val="1F2A37"/>
                          </a:solidFill>
                          <a:latin typeface="Arial"/>
                          <a:ea typeface="Arial"/>
                          <a:cs typeface="Arial"/>
                        </a:rPr>
                        <a:t>4 epochs</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Seeds per architecture</a:t>
                      </a:r>
                    </a:p>
                  </a:txBody>
                  <a:tcPr marL="91440" marR="91440" marT="45720" marB="45720">
                    <a:solidFill>
                      <a:srgbClr val="FFFFFF"/>
                    </a:solidFill>
                  </a:tcPr>
                </a:tc>
                <a:tc>
                  <a:txBody>
                    <a:bodyPr/>
                    <a:lstStyle/>
                    <a:p>
                      <a:r>
                        <a:rPr sz="1425" b="0">
                          <a:solidFill>
                            <a:srgbClr val="1F2A37"/>
                          </a:solidFill>
                          <a:latin typeface="Arial"/>
                          <a:ea typeface="Arial"/>
                          <a:cs typeface="Arial"/>
                        </a:rPr>
                        <a:t>9</a:t>
                      </a:r>
                    </a:p>
                  </a:txBody>
                  <a:tcPr marL="91440" marR="91440" marT="45720" marB="45720">
                    <a:solidFill>
                      <a:srgbClr val="FFFFFF"/>
                    </a:solidFill>
                  </a:tcPr>
                </a:tc>
                <a:tc>
                  <a:txBody>
                    <a:bodyPr/>
                    <a:lstStyle/>
                    <a:p>
                      <a:r>
                        <a:rPr sz="1425" b="0">
                          <a:solidFill>
                            <a:srgbClr val="1F2A37"/>
                          </a:solidFill>
                          <a:latin typeface="Arial"/>
                          <a:ea typeface="Arial"/>
                          <a:cs typeface="Arial"/>
                        </a:rPr>
                        <a:t>9</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Training framework</a:t>
                      </a:r>
                    </a:p>
                  </a:txBody>
                  <a:tcPr marL="91440" marR="91440" marT="45720" marB="45720">
                    <a:solidFill>
                      <a:srgbClr val="EEF3F8"/>
                    </a:solidFill>
                  </a:tcPr>
                </a:tc>
                <a:tc>
                  <a:txBody>
                    <a:bodyPr/>
                    <a:lstStyle/>
                    <a:p>
                      <a:r>
                        <a:rPr sz="1425" b="0">
                          <a:solidFill>
                            <a:srgbClr val="1F2A37"/>
                          </a:solidFill>
                          <a:latin typeface="Arial"/>
                          <a:ea typeface="Arial"/>
                          <a:cs typeface="Arial"/>
                        </a:rPr>
                        <a:t>TensorFlow author code</a:t>
                      </a:r>
                    </a:p>
                  </a:txBody>
                  <a:tcPr marL="91440" marR="91440" marT="45720" marB="45720">
                    <a:solidFill>
                      <a:srgbClr val="EEF3F8"/>
                    </a:solidFill>
                  </a:tcPr>
                </a:tc>
                <a:tc>
                  <a:txBody>
                    <a:bodyPr/>
                    <a:lstStyle/>
                    <a:p>
                      <a:r>
                        <a:rPr sz="1425" b="0">
                          <a:solidFill>
                            <a:srgbClr val="1F2A37"/>
                          </a:solidFill>
                          <a:latin typeface="Arial"/>
                          <a:ea typeface="Arial"/>
                          <a:cs typeface="Arial"/>
                        </a:rPr>
                        <a:t>PyTorch port</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883618E6-C473-4773-BCBA-A3EF6C31F05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All 18 new models completed in 12.9 minutes. Full training remains a separate test.</a:t>
            </a:r>
          </a:p>
        </p:txBody>
      </p:sp>
    </p:spTree>
    <p:extLst>
      <p:ext uri="{BB962C8B-B14F-4D97-AF65-F5344CB8AC3E}">
        <p14:creationId xmlns:p14="http://schemas.microsoft.com/office/powerpoint/2010/main" val="17261830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6585BB-6393-49A2-9CD9-E1CBA8E5D27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EF5C1F-D108-42E6-8C33-FEDEB931D44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1A2D1D2-E28F-4C75-A29C-E593170B650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Transformer: encoder structure</a:t>
            </a:r>
          </a:p>
        </p:txBody>
      </p:sp>
      <p:sp>
        <p:nvSpPr>
          <p:cNvPr id="4" name="">
            <a:extLst xmlns:a="http://schemas.openxmlformats.org/drawingml/2006/main">
              <a:ext uri="{FF2B5EF4-FFF2-40B4-BE49-F238E27FC236}">
                <a16:creationId xmlns:a16="http://schemas.microsoft.com/office/drawing/2014/main" id="{60A8672A-D05A-4E31-9170-47AA8F2A1D7E}"/>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3. Transformer</a:t>
            </a:r>
          </a:p>
        </p:txBody>
      </p:sp>
      <p:sp>
        <p:nvSpPr>
          <p:cNvPr id="5" name="">
            <a:extLst xmlns:a="http://schemas.openxmlformats.org/drawingml/2006/main">
              <a:ext uri="{FF2B5EF4-FFF2-40B4-BE49-F238E27FC236}">
                <a16:creationId xmlns:a16="http://schemas.microsoft.com/office/drawing/2014/main" id="{42EABCB2-DDE4-43B6-8D35-EA3B515FBACC}"/>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9</a:t>
            </a:r>
          </a:p>
        </p:txBody>
      </p:sp>
      <p:graphicFrame>
        <p:nvGraphicFramePr>
          <p:cNvPr id="15" name=""/>
          <p:cNvGraphicFramePr/>
          <p:nvPr/>
        </p:nvGraphicFramePr>
        <p:xfrm>
          <a:off xmlns:a="http://schemas.openxmlformats.org/drawingml/2006/main" x="400050" y="1019175"/>
          <a:ext xmlns:a="http://schemas.openxmlformats.org/drawingml/2006/main" cx="8343900" cy="3048000"/>
        </p:xfrm>
        <a:graphic xmlns:a="http://schemas.openxmlformats.org/drawingml/2006/main">
          <a:graphicData uri="http://schemas.openxmlformats.org/drawingml/2006/table">
            <a:tbl>
              <a:tblPr/>
              <a:tblGrid>
                <a:gridCol w="2762250"/>
                <a:gridCol w="2790825"/>
                <a:gridCol w="2790825"/>
              </a:tblGrid>
              <a:tr h="508000">
                <a:tc>
                  <a:txBody>
                    <a:bodyPr/>
                    <a:lstStyle/>
                    <a:p>
                      <a:r>
                        <a:rPr sz="1350" b="1">
                          <a:solidFill>
                            <a:srgbClr val="FFFFFF"/>
                          </a:solidFill>
                          <a:latin typeface="Arial"/>
                          <a:ea typeface="Arial"/>
                          <a:cs typeface="Arial"/>
                        </a:rPr>
                        <a:t>Choice</a:t>
                      </a:r>
                    </a:p>
                  </a:txBody>
                  <a:tcPr marL="91440" marR="91440" marT="45720" marB="45720">
                    <a:solidFill>
                      <a:srgbClr val="003262"/>
                    </a:solidFill>
                  </a:tcPr>
                </a:tc>
                <a:tc>
                  <a:txBody>
                    <a:bodyPr/>
                    <a:lstStyle/>
                    <a:p>
                      <a:r>
                        <a:rPr sz="1350" b="1">
                          <a:solidFill>
                            <a:srgbClr val="FFFFFF"/>
                          </a:solidFill>
                          <a:latin typeface="Arial"/>
                          <a:ea typeface="Arial"/>
                          <a:cs typeface="Arial"/>
                        </a:rPr>
                        <a:t>LSTM</a:t>
                      </a:r>
                    </a:p>
                  </a:txBody>
                  <a:tcPr marL="91440" marR="91440" marT="45720" marB="45720">
                    <a:solidFill>
                      <a:srgbClr val="003262"/>
                    </a:solidFill>
                  </a:tcPr>
                </a:tc>
                <a:tc>
                  <a:txBody>
                    <a:bodyPr/>
                    <a:lstStyle/>
                    <a:p>
                      <a:r>
                        <a:rPr sz="1350" b="1">
                          <a:solidFill>
                            <a:srgbClr val="FFFFFF"/>
                          </a:solidFill>
                          <a:latin typeface="Arial"/>
                          <a:ea typeface="Arial"/>
                          <a:cs typeface="Arial"/>
                        </a:rPr>
                        <a:t>Transformer</a:t>
                      </a:r>
                    </a:p>
                  </a:txBody>
                  <a:tcPr marL="91440" marR="91440" marT="45720" marB="45720">
                    <a:solidFill>
                      <a:srgbClr val="003262"/>
                    </a:solidFill>
                  </a:tcPr>
                </a:tc>
              </a:tr>
              <a:tr h="508000">
                <a:tc>
                  <a:txBody>
                    <a:bodyPr/>
                    <a:lstStyle/>
                    <a:p>
                      <a:r>
                        <a:rPr sz="1425" b="0">
                          <a:solidFill>
                            <a:srgbClr val="1F2A37"/>
                          </a:solidFill>
                          <a:latin typeface="Arial"/>
                          <a:ea typeface="Arial"/>
                          <a:cs typeface="Arial"/>
                        </a:rPr>
                        <a:t>Sequence processing</a:t>
                      </a:r>
                    </a:p>
                  </a:txBody>
                  <a:tcPr marL="91440" marR="91440" marT="45720" marB="45720">
                    <a:solidFill>
                      <a:srgbClr val="EEF3F8"/>
                    </a:solidFill>
                  </a:tcPr>
                </a:tc>
                <a:tc>
                  <a:txBody>
                    <a:bodyPr/>
                    <a:lstStyle/>
                    <a:p>
                      <a:r>
                        <a:rPr sz="1425" b="0">
                          <a:solidFill>
                            <a:srgbClr val="1F2A37"/>
                          </a:solidFill>
                          <a:latin typeface="Arial"/>
                          <a:ea typeface="Arial"/>
                          <a:cs typeface="Arial"/>
                        </a:rPr>
                        <a:t>Recurrent state</a:t>
                      </a:r>
                    </a:p>
                  </a:txBody>
                  <a:tcPr marL="91440" marR="91440" marT="45720" marB="45720">
                    <a:solidFill>
                      <a:srgbClr val="EEF3F8"/>
                    </a:solidFill>
                  </a:tcPr>
                </a:tc>
                <a:tc>
                  <a:txBody>
                    <a:bodyPr/>
                    <a:lstStyle/>
                    <a:p>
                      <a:r>
                        <a:rPr sz="1425" b="0">
                          <a:solidFill>
                            <a:srgbClr val="1F2A37"/>
                          </a:solidFill>
                          <a:latin typeface="Arial"/>
                          <a:ea typeface="Arial"/>
                          <a:cs typeface="Arial"/>
                        </a:rPr>
                        <a:t>Causal self-attention</a:t>
                      </a:r>
                    </a:p>
                  </a:txBody>
                  <a:tcPr marL="91440" marR="91440" marT="45720" marB="45720">
                    <a:solidFill>
                      <a:srgbClr val="EEF3F8"/>
                    </a:solidFill>
                  </a:tcPr>
                </a:tc>
              </a:tr>
              <a:tr h="508000">
                <a:tc>
                  <a:txBody>
                    <a:bodyPr/>
                    <a:lstStyle/>
                    <a:p>
                      <a:r>
                        <a:rPr sz="1425" b="0">
                          <a:solidFill>
                            <a:srgbClr val="1F2A37"/>
                          </a:solidFill>
                          <a:latin typeface="Arial"/>
                          <a:ea typeface="Arial"/>
                          <a:cs typeface="Arial"/>
                        </a:rPr>
                        <a:t>SDF / instrument states</a:t>
                      </a:r>
                    </a:p>
                  </a:txBody>
                  <a:tcPr marL="91440" marR="91440" marT="45720" marB="45720">
                    <a:solidFill>
                      <a:srgbClr val="FFFFFF"/>
                    </a:solidFill>
                  </a:tcPr>
                </a:tc>
                <a:tc>
                  <a:txBody>
                    <a:bodyPr/>
                    <a:lstStyle/>
                    <a:p>
                      <a:r>
                        <a:rPr sz="1425" b="0">
                          <a:solidFill>
                            <a:srgbClr val="1F2A37"/>
                          </a:solidFill>
                          <a:latin typeface="Arial"/>
                          <a:ea typeface="Arial"/>
                          <a:cs typeface="Arial"/>
                        </a:rPr>
                        <a:t>4 / 32</a:t>
                      </a:r>
                    </a:p>
                  </a:txBody>
                  <a:tcPr marL="91440" marR="91440" marT="45720" marB="45720">
                    <a:solidFill>
                      <a:srgbClr val="FFFFFF"/>
                    </a:solidFill>
                  </a:tcPr>
                </a:tc>
                <a:tc>
                  <a:txBody>
                    <a:bodyPr/>
                    <a:lstStyle/>
                    <a:p>
                      <a:r>
                        <a:rPr sz="1425" b="0">
                          <a:solidFill>
                            <a:srgbClr val="1F2A37"/>
                          </a:solidFill>
                          <a:latin typeface="Arial"/>
                          <a:ea typeface="Arial"/>
                          <a:cs typeface="Arial"/>
                        </a:rPr>
                        <a:t>4 / 32</a:t>
                      </a:r>
                    </a:p>
                  </a:txBody>
                  <a:tcPr marL="91440" marR="91440" marT="45720" marB="45720">
                    <a:solidFill>
                      <a:srgbClr val="FFFFFF"/>
                    </a:solidFill>
                  </a:tcPr>
                </a:tc>
              </a:tr>
              <a:tr h="508000">
                <a:tc>
                  <a:txBody>
                    <a:bodyPr/>
                    <a:lstStyle/>
                    <a:p>
                      <a:r>
                        <a:rPr sz="1425" b="0">
                          <a:solidFill>
                            <a:srgbClr val="1F2A37"/>
                          </a:solidFill>
                          <a:latin typeface="Arial"/>
                          <a:ea typeface="Arial"/>
                          <a:cs typeface="Arial"/>
                        </a:rPr>
                        <a:t>Transformer specification</a:t>
                      </a:r>
                    </a:p>
                  </a:txBody>
                  <a:tcPr marL="91440" marR="91440" marT="45720" marB="45720">
                    <a:solidFill>
                      <a:srgbClr val="EEF3F8"/>
                    </a:solidFill>
                  </a:tcPr>
                </a:tc>
                <a:tc>
                  <a:txBody>
                    <a:bodyPr/>
                    <a:lstStyle/>
                    <a:p>
                      <a:r>
                        <a:rPr sz="1425" b="0">
                          <a:solidFill>
                            <a:srgbClr val="1F2A37"/>
                          </a:solidFill>
                          <a:latin typeface="Arial"/>
                          <a:ea typeface="Arial"/>
                          <a:cs typeface="Arial"/>
                        </a:rPr>
                        <a:t>Not applicable</a:t>
                      </a:r>
                    </a:p>
                  </a:txBody>
                  <a:tcPr marL="91440" marR="91440" marT="45720" marB="45720">
                    <a:solidFill>
                      <a:srgbClr val="EEF3F8"/>
                    </a:solidFill>
                  </a:tcPr>
                </a:tc>
                <a:tc>
                  <a:txBody>
                    <a:bodyPr/>
                    <a:lstStyle/>
                    <a:p>
                      <a:r>
                        <a:rPr sz="1425" b="0">
                          <a:solidFill>
                            <a:srgbClr val="1F2A37"/>
                          </a:solidFill>
                          <a:latin typeface="Arial"/>
                          <a:ea typeface="Arial"/>
                          <a:cs typeface="Arial"/>
                        </a:rPr>
                        <a:t>2 layers, 4 heads, width 32</a:t>
                      </a:r>
                    </a:p>
                  </a:txBody>
                  <a:tcPr marL="91440" marR="91440" marT="45720" marB="45720">
                    <a:solidFill>
                      <a:srgbClr val="EEF3F8"/>
                    </a:solidFill>
                  </a:tcPr>
                </a:tc>
              </a:tr>
              <a:tr h="508000">
                <a:tc>
                  <a:txBody>
                    <a:bodyPr/>
                    <a:lstStyle/>
                    <a:p>
                      <a:r>
                        <a:rPr sz="1425" b="0">
                          <a:solidFill>
                            <a:srgbClr val="1F2A37"/>
                          </a:solidFill>
                          <a:latin typeface="Arial"/>
                          <a:ea typeface="Arial"/>
                          <a:cs typeface="Arial"/>
                        </a:rPr>
                        <a:t>Economic objective</a:t>
                      </a:r>
                    </a:p>
                  </a:txBody>
                  <a:tcPr marL="91440" marR="91440" marT="45720" marB="45720">
                    <a:solidFill>
                      <a:srgbClr val="FFFFFF"/>
                    </a:solidFill>
                  </a:tcPr>
                </a:tc>
                <a:tc>
                  <a:txBody>
                    <a:bodyPr/>
                    <a:lstStyle/>
                    <a:p>
                      <a:r>
                        <a:rPr sz="1425" b="0">
                          <a:solidFill>
                            <a:srgbClr val="1F2A37"/>
                          </a:solidFill>
                          <a:latin typeface="Arial"/>
                          <a:ea typeface="Arial"/>
                          <a:cs typeface="Arial"/>
                        </a:rPr>
                        <a:t>Shared</a:t>
                      </a:r>
                    </a:p>
                  </a:txBody>
                  <a:tcPr marL="91440" marR="91440" marT="45720" marB="45720">
                    <a:solidFill>
                      <a:srgbClr val="FFFFFF"/>
                    </a:solidFill>
                  </a:tcPr>
                </a:tc>
                <a:tc>
                  <a:txBody>
                    <a:bodyPr/>
                    <a:lstStyle/>
                    <a:p>
                      <a:r>
                        <a:rPr sz="1425" b="0">
                          <a:solidFill>
                            <a:srgbClr val="1F2A37"/>
                          </a:solidFill>
                          <a:latin typeface="Arial"/>
                          <a:ea typeface="Arial"/>
                          <a:cs typeface="Arial"/>
                        </a:rPr>
                        <a:t>Shared</a:t>
                      </a:r>
                    </a:p>
                  </a:txBody>
                  <a:tcPr marL="91440" marR="91440" marT="45720" marB="45720">
                    <a:solidFill>
                      <a:srgbClr val="FFFFFF"/>
                    </a:solidFill>
                  </a:tcPr>
                </a:tc>
              </a:tr>
              <a:tr h="508000">
                <a:tc>
                  <a:txBody>
                    <a:bodyPr/>
                    <a:lstStyle/>
                    <a:p>
                      <a:r>
                        <a:rPr sz="1425" b="0">
                          <a:solidFill>
                            <a:srgbClr val="1F2A37"/>
                          </a:solidFill>
                          <a:latin typeface="Arial"/>
                          <a:ea typeface="Arial"/>
                          <a:cs typeface="Arial"/>
                        </a:rPr>
                        <a:t>Training seeds and schedule</a:t>
                      </a:r>
                    </a:p>
                  </a:txBody>
                  <a:tcPr marL="91440" marR="91440" marT="45720" marB="45720">
                    <a:solidFill>
                      <a:srgbClr val="EEF3F8"/>
                    </a:solidFill>
                  </a:tcPr>
                </a:tc>
                <a:tc>
                  <a:txBody>
                    <a:bodyPr/>
                    <a:lstStyle/>
                    <a:p>
                      <a:r>
                        <a:rPr sz="1425" b="0">
                          <a:solidFill>
                            <a:srgbClr val="1F2A37"/>
                          </a:solidFill>
                          <a:latin typeface="Arial"/>
                          <a:ea typeface="Arial"/>
                          <a:cs typeface="Arial"/>
                        </a:rPr>
                        <a:t>Shared</a:t>
                      </a:r>
                    </a:p>
                  </a:txBody>
                  <a:tcPr marL="91440" marR="91440" marT="45720" marB="45720">
                    <a:solidFill>
                      <a:srgbClr val="EEF3F8"/>
                    </a:solidFill>
                  </a:tcPr>
                </a:tc>
                <a:tc>
                  <a:txBody>
                    <a:bodyPr/>
                    <a:lstStyle/>
                    <a:p>
                      <a:r>
                        <a:rPr sz="1425" b="0">
                          <a:solidFill>
                            <a:srgbClr val="1F2A37"/>
                          </a:solidFill>
                          <a:latin typeface="Arial"/>
                          <a:ea typeface="Arial"/>
                          <a:cs typeface="Arial"/>
                        </a:rPr>
                        <a:t>Shared</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372C936E-ECD3-4D17-955B-73BCF9A1454B}"/>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 comparison replaces both macro encoders and keeps the output dimensions.</a:t>
            </a:r>
          </a:p>
        </p:txBody>
      </p:sp>
    </p:spTree>
    <p:extLst>
      <p:ext uri="{BB962C8B-B14F-4D97-AF65-F5344CB8AC3E}">
        <p14:creationId xmlns:p14="http://schemas.microsoft.com/office/powerpoint/2010/main" val="20559797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00D548-CD4D-413E-AD30-5A44507AFBDE}"/>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36E9CD-0600-4E31-A07F-ADDD8F6A585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300B09-DD34-41F4-8BA7-2536FAF5AF8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Transformer: train, validation and test results</a:t>
            </a:r>
          </a:p>
        </p:txBody>
      </p:sp>
      <p:sp>
        <p:nvSpPr>
          <p:cNvPr id="4" name="">
            <a:extLst xmlns:a="http://schemas.openxmlformats.org/drawingml/2006/main">
              <a:ext uri="{FF2B5EF4-FFF2-40B4-BE49-F238E27FC236}">
                <a16:creationId xmlns:a16="http://schemas.microsoft.com/office/drawing/2014/main" id="{2D271C58-2903-4859-91E8-D524505C822E}"/>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3. Transformer</a:t>
            </a:r>
          </a:p>
        </p:txBody>
      </p:sp>
      <p:sp>
        <p:nvSpPr>
          <p:cNvPr id="5" name="">
            <a:extLst xmlns:a="http://schemas.openxmlformats.org/drawingml/2006/main">
              <a:ext uri="{FF2B5EF4-FFF2-40B4-BE49-F238E27FC236}">
                <a16:creationId xmlns:a16="http://schemas.microsoft.com/office/drawing/2014/main" id="{218538B8-CE65-40DB-9125-1A3ECA8F009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10</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7153b710fa184a36"/>
          </a:graphicData>
        </a:graphic>
      </p:graphicFrame>
      <p:sp>
        <p:nvSpPr>
          <p:cNvPr id="7" name="">
            <a:extLst xmlns:a="http://schemas.openxmlformats.org/drawingml/2006/main">
              <a:ext uri="{FF2B5EF4-FFF2-40B4-BE49-F238E27FC236}">
                <a16:creationId xmlns:a16="http://schemas.microsoft.com/office/drawing/2014/main" id="{7429AC2E-F16A-401C-8BD1-7EEEB3CC505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 new LSTM exceeds Transformer in all three splits under the reduced budget.</a:t>
            </a:r>
          </a:p>
        </p:txBody>
      </p:sp>
    </p:spTree>
    <p:extLst>
      <p:ext uri="{BB962C8B-B14F-4D97-AF65-F5344CB8AC3E}">
        <p14:creationId xmlns:p14="http://schemas.microsoft.com/office/powerpoint/2010/main" val="20379542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BE7118-71D2-472B-BB01-861A17020C38}"/>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A37898-17E9-4FBA-BB9D-B434713C9130}"/>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E1ED56B-D1E1-40B8-8A50-59999443BB9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Transformer: return and risk comparison</a:t>
            </a:r>
          </a:p>
        </p:txBody>
      </p:sp>
      <p:sp>
        <p:nvSpPr>
          <p:cNvPr id="4" name="">
            <a:extLst xmlns:a="http://schemas.openxmlformats.org/drawingml/2006/main">
              <a:ext uri="{FF2B5EF4-FFF2-40B4-BE49-F238E27FC236}">
                <a16:creationId xmlns:a16="http://schemas.microsoft.com/office/drawing/2014/main" id="{B640826D-B24F-4948-B49A-A3D5D17E362A}"/>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3. Transformer</a:t>
            </a:r>
          </a:p>
        </p:txBody>
      </p:sp>
      <p:sp>
        <p:nvSpPr>
          <p:cNvPr id="5" name="">
            <a:extLst xmlns:a="http://schemas.openxmlformats.org/drawingml/2006/main">
              <a:ext uri="{FF2B5EF4-FFF2-40B4-BE49-F238E27FC236}">
                <a16:creationId xmlns:a16="http://schemas.microsoft.com/office/drawing/2014/main" id="{7DADA142-0EF5-4DB6-80BC-3D8A2CCCDB7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11</a:t>
            </a:r>
          </a:p>
        </p:txBody>
      </p:sp>
      <p:graphicFrame>
        <p:nvGraphicFramePr>
          <p:cNvPr id="15"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381250"/>
                <a:gridCol w="1987550"/>
                <a:gridCol w="1987550"/>
                <a:gridCol w="1987550"/>
              </a:tblGrid>
              <a:tr h="476250">
                <a:tc>
                  <a:txBody>
                    <a:bodyPr/>
                    <a:lstStyle/>
                    <a:p>
                      <a:r>
                        <a:rPr sz="1350" b="1">
                          <a:solidFill>
                            <a:srgbClr val="FFFFFF"/>
                          </a:solidFill>
                          <a:latin typeface="Arial"/>
                          <a:ea typeface="Arial"/>
                          <a:cs typeface="Arial"/>
                        </a:rPr>
                        <a:t>Portfolio</a:t>
                      </a:r>
                    </a:p>
                  </a:txBody>
                  <a:tcPr marL="91440" marR="91440" marT="45720" marB="45720">
                    <a:solidFill>
                      <a:srgbClr val="003262"/>
                    </a:solidFill>
                  </a:tcPr>
                </a:tc>
                <a:tc>
                  <a:txBody>
                    <a:bodyPr/>
                    <a:lstStyle/>
                    <a:p>
                      <a:r>
                        <a:rPr sz="1350" b="1">
                          <a:solidFill>
                            <a:srgbClr val="FFFFFF"/>
                          </a:solidFill>
                          <a:latin typeface="Arial"/>
                          <a:ea typeface="Arial"/>
                          <a:cs typeface="Arial"/>
                        </a:rPr>
                        <a:t>Mean monthly</a:t>
                      </a:r>
                    </a:p>
                  </a:txBody>
                  <a:tcPr marL="91440" marR="91440" marT="45720" marB="45720">
                    <a:solidFill>
                      <a:srgbClr val="003262"/>
                    </a:solidFill>
                  </a:tcPr>
                </a:tc>
                <a:tc>
                  <a:txBody>
                    <a:bodyPr/>
                    <a:lstStyle/>
                    <a:p>
                      <a:r>
                        <a:rPr sz="1350" b="1">
                          <a:solidFill>
                            <a:srgbClr val="FFFFFF"/>
                          </a:solidFill>
                          <a:latin typeface="Arial"/>
                          <a:ea typeface="Arial"/>
                          <a:cs typeface="Arial"/>
                        </a:rPr>
                        <a:t>Annual volatility</a:t>
                      </a:r>
                    </a:p>
                  </a:txBody>
                  <a:tcPr marL="91440" marR="91440" marT="45720" marB="45720">
                    <a:solidFill>
                      <a:srgbClr val="003262"/>
                    </a:solidFill>
                  </a:tcPr>
                </a:tc>
                <a:tc>
                  <a:txBody>
                    <a:bodyPr/>
                    <a:lstStyle/>
                    <a:p>
                      <a:r>
                        <a:rPr sz="1350" b="1">
                          <a:solidFill>
                            <a:srgbClr val="FFFFFF"/>
                          </a:solidFill>
                          <a:latin typeface="Arial"/>
                          <a:ea typeface="Arial"/>
                          <a:cs typeface="Arial"/>
                        </a:rPr>
                        <a:t>Max drawdown</a:t>
                      </a:r>
                    </a:p>
                  </a:txBody>
                  <a:tcPr marL="91440" marR="91440" marT="45720" marB="45720">
                    <a:solidFill>
                      <a:srgbClr val="003262"/>
                    </a:solidFill>
                  </a:tcPr>
                </a:tc>
              </a:tr>
              <a:tr h="476250">
                <a:tc>
                  <a:txBody>
                    <a:bodyPr/>
                    <a:lstStyle/>
                    <a:p>
                      <a:r>
                        <a:rPr sz="1425" b="0">
                          <a:solidFill>
                            <a:srgbClr val="1F2A37"/>
                          </a:solidFill>
                          <a:latin typeface="Arial"/>
                          <a:ea typeface="Arial"/>
                          <a:cs typeface="Arial"/>
                        </a:rPr>
                        <a:t>Paper GAN</a:t>
                      </a:r>
                    </a:p>
                  </a:txBody>
                  <a:tcPr marL="91440" marR="91440" marT="45720" marB="45720">
                    <a:solidFill>
                      <a:srgbClr val="EEF3F8"/>
                    </a:solidFill>
                  </a:tcPr>
                </a:tc>
                <a:tc>
                  <a:txBody>
                    <a:bodyPr/>
                    <a:lstStyle/>
                    <a:p>
                      <a:r>
                        <a:rPr sz="1425" b="0">
                          <a:solidFill>
                            <a:srgbClr val="1F2A37"/>
                          </a:solidFill>
                          <a:latin typeface="Arial"/>
                          <a:ea typeface="Arial"/>
                          <a:cs typeface="Arial"/>
                        </a:rPr>
                        <a:t>0.78%</a:t>
                      </a:r>
                    </a:p>
                  </a:txBody>
                  <a:tcPr marL="91440" marR="91440" marT="45720" marB="45720">
                    <a:solidFill>
                      <a:srgbClr val="EEF3F8"/>
                    </a:solidFill>
                  </a:tcPr>
                </a:tc>
                <a:tc>
                  <a:txBody>
                    <a:bodyPr/>
                    <a:lstStyle/>
                    <a:p>
                      <a:r>
                        <a:rPr sz="1425" b="0">
                          <a:solidFill>
                            <a:srgbClr val="1F2A37"/>
                          </a:solidFill>
                          <a:latin typeface="Arial"/>
                          <a:ea typeface="Arial"/>
                          <a:cs typeface="Arial"/>
                        </a:rPr>
                        <a:t>3.61%</a:t>
                      </a:r>
                    </a:p>
                  </a:txBody>
                  <a:tcPr marL="91440" marR="91440" marT="45720" marB="45720">
                    <a:solidFill>
                      <a:srgbClr val="EEF3F8"/>
                    </a:solidFill>
                  </a:tcPr>
                </a:tc>
                <a:tc>
                  <a:txBody>
                    <a:bodyPr/>
                    <a:lstStyle/>
                    <a:p>
                      <a:r>
                        <a:rPr sz="1425" b="0">
                          <a:solidFill>
                            <a:srgbClr val="1F2A37"/>
                          </a:solidFill>
                          <a:latin typeface="Arial"/>
                          <a:ea typeface="Arial"/>
                          <a:cs typeface="Arial"/>
                        </a:rPr>
                        <a:t>-7.02%</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Replicated GAN</a:t>
                      </a:r>
                    </a:p>
                  </a:txBody>
                  <a:tcPr marL="91440" marR="91440" marT="45720" marB="45720">
                    <a:solidFill>
                      <a:srgbClr val="FFFFFF"/>
                    </a:solidFill>
                  </a:tcPr>
                </a:tc>
                <a:tc>
                  <a:txBody>
                    <a:bodyPr/>
                    <a:lstStyle/>
                    <a:p>
                      <a:r>
                        <a:rPr sz="1425" b="0">
                          <a:solidFill>
                            <a:srgbClr val="1F2A37"/>
                          </a:solidFill>
                          <a:latin typeface="Arial"/>
                          <a:ea typeface="Arial"/>
                          <a:cs typeface="Arial"/>
                        </a:rPr>
                        <a:t>0.70%</a:t>
                      </a:r>
                    </a:p>
                  </a:txBody>
                  <a:tcPr marL="91440" marR="91440" marT="45720" marB="45720">
                    <a:solidFill>
                      <a:srgbClr val="FFFFFF"/>
                    </a:solidFill>
                  </a:tcPr>
                </a:tc>
                <a:tc>
                  <a:txBody>
                    <a:bodyPr/>
                    <a:lstStyle/>
                    <a:p>
                      <a:r>
                        <a:rPr sz="1425" b="0">
                          <a:solidFill>
                            <a:srgbClr val="1F2A37"/>
                          </a:solidFill>
                          <a:latin typeface="Arial"/>
                          <a:ea typeface="Arial"/>
                          <a:cs typeface="Arial"/>
                        </a:rPr>
                        <a:t>3.96%</a:t>
                      </a:r>
                    </a:p>
                  </a:txBody>
                  <a:tcPr marL="91440" marR="91440" marT="45720" marB="45720">
                    <a:solidFill>
                      <a:srgbClr val="FFFFFF"/>
                    </a:solidFill>
                  </a:tcPr>
                </a:tc>
                <a:tc>
                  <a:txBody>
                    <a:bodyPr/>
                    <a:lstStyle/>
                    <a:p>
                      <a:r>
                        <a:rPr sz="1425" b="0">
                          <a:solidFill>
                            <a:srgbClr val="1F2A37"/>
                          </a:solidFill>
                          <a:latin typeface="Arial"/>
                          <a:ea typeface="Arial"/>
                          <a:cs typeface="Arial"/>
                        </a:rPr>
                        <a:t>-6.51%</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Extension LSTM</a:t>
                      </a:r>
                    </a:p>
                  </a:txBody>
                  <a:tcPr marL="91440" marR="91440" marT="45720" marB="45720">
                    <a:solidFill>
                      <a:srgbClr val="EEF3F8"/>
                    </a:solidFill>
                  </a:tcPr>
                </a:tc>
                <a:tc>
                  <a:txBody>
                    <a:bodyPr/>
                    <a:lstStyle/>
                    <a:p>
                      <a:r>
                        <a:rPr sz="1425" b="0">
                          <a:solidFill>
                            <a:srgbClr val="1F2A37"/>
                          </a:solidFill>
                          <a:latin typeface="Arial"/>
                          <a:ea typeface="Arial"/>
                          <a:cs typeface="Arial"/>
                        </a:rPr>
                        <a:t>0.51%</a:t>
                      </a:r>
                    </a:p>
                  </a:txBody>
                  <a:tcPr marL="91440" marR="91440" marT="45720" marB="45720">
                    <a:solidFill>
                      <a:srgbClr val="EEF3F8"/>
                    </a:solidFill>
                  </a:tcPr>
                </a:tc>
                <a:tc>
                  <a:txBody>
                    <a:bodyPr/>
                    <a:lstStyle/>
                    <a:p>
                      <a:r>
                        <a:rPr sz="1425" b="0">
                          <a:solidFill>
                            <a:srgbClr val="1F2A37"/>
                          </a:solidFill>
                          <a:latin typeface="Arial"/>
                          <a:ea typeface="Arial"/>
                          <a:cs typeface="Arial"/>
                        </a:rPr>
                        <a:t>3.87%</a:t>
                      </a:r>
                    </a:p>
                  </a:txBody>
                  <a:tcPr marL="91440" marR="91440" marT="45720" marB="45720">
                    <a:solidFill>
                      <a:srgbClr val="EEF3F8"/>
                    </a:solidFill>
                  </a:tcPr>
                </a:tc>
                <a:tc>
                  <a:txBody>
                    <a:bodyPr/>
                    <a:lstStyle/>
                    <a:p>
                      <a:r>
                        <a:rPr sz="1425" b="0">
                          <a:solidFill>
                            <a:srgbClr val="1F2A37"/>
                          </a:solidFill>
                          <a:latin typeface="Arial"/>
                          <a:ea typeface="Arial"/>
                          <a:cs typeface="Arial"/>
                        </a:rPr>
                        <a:t>-11.14%</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Transformer</a:t>
                      </a:r>
                    </a:p>
                  </a:txBody>
                  <a:tcPr marL="91440" marR="91440" marT="45720" marB="45720">
                    <a:solidFill>
                      <a:srgbClr val="FFFFFF"/>
                    </a:solidFill>
                  </a:tcPr>
                </a:tc>
                <a:tc>
                  <a:txBody>
                    <a:bodyPr/>
                    <a:lstStyle/>
                    <a:p>
                      <a:r>
                        <a:rPr sz="1425" b="0">
                          <a:solidFill>
                            <a:srgbClr val="1F2A37"/>
                          </a:solidFill>
                          <a:latin typeface="Arial"/>
                          <a:ea typeface="Arial"/>
                          <a:cs typeface="Arial"/>
                        </a:rPr>
                        <a:t>0.42%</a:t>
                      </a:r>
                    </a:p>
                  </a:txBody>
                  <a:tcPr marL="91440" marR="91440" marT="45720" marB="45720">
                    <a:solidFill>
                      <a:srgbClr val="FFFFFF"/>
                    </a:solidFill>
                  </a:tcPr>
                </a:tc>
                <a:tc>
                  <a:txBody>
                    <a:bodyPr/>
                    <a:lstStyle/>
                    <a:p>
                      <a:r>
                        <a:rPr sz="1425" b="0">
                          <a:solidFill>
                            <a:srgbClr val="1F2A37"/>
                          </a:solidFill>
                          <a:latin typeface="Arial"/>
                          <a:ea typeface="Arial"/>
                          <a:cs typeface="Arial"/>
                        </a:rPr>
                        <a:t>4.82%</a:t>
                      </a:r>
                    </a:p>
                  </a:txBody>
                  <a:tcPr marL="91440" marR="91440" marT="45720" marB="45720">
                    <a:solidFill>
                      <a:srgbClr val="FFFFFF"/>
                    </a:solidFill>
                  </a:tcPr>
                </a:tc>
                <a:tc>
                  <a:txBody>
                    <a:bodyPr/>
                    <a:lstStyle/>
                    <a:p>
                      <a:r>
                        <a:rPr sz="1425" b="0">
                          <a:solidFill>
                            <a:srgbClr val="1F2A37"/>
                          </a:solidFill>
                          <a:latin typeface="Arial"/>
                          <a:ea typeface="Arial"/>
                          <a:cs typeface="Arial"/>
                        </a:rPr>
                        <a:t>-15.35%</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425" b="0">
                          <a:solidFill>
                            <a:srgbClr val="1F2A37"/>
                          </a:solidFill>
                          <a:latin typeface="Arial"/>
                          <a:ea typeface="Arial"/>
                          <a:cs typeface="Arial"/>
                        </a:rPr>
                        <a:t>0.47%</a:t>
                      </a:r>
                    </a:p>
                  </a:txBody>
                  <a:tcPr marL="91440" marR="91440" marT="45720" marB="45720">
                    <a:solidFill>
                      <a:srgbClr val="EEF3F8"/>
                    </a:solidFill>
                  </a:tcPr>
                </a:tc>
                <a:tc>
                  <a:txBody>
                    <a:bodyPr/>
                    <a:lstStyle/>
                    <a:p>
                      <a:r>
                        <a:rPr sz="1425" b="0">
                          <a:solidFill>
                            <a:srgbClr val="1F2A37"/>
                          </a:solidFill>
                          <a:latin typeface="Arial"/>
                          <a:ea typeface="Arial"/>
                          <a:cs typeface="Arial"/>
                        </a:rPr>
                        <a:t>3.50%</a:t>
                      </a:r>
                    </a:p>
                  </a:txBody>
                  <a:tcPr marL="91440" marR="91440" marT="45720" marB="45720">
                    <a:solidFill>
                      <a:srgbClr val="EEF3F8"/>
                    </a:solidFill>
                  </a:tcPr>
                </a:tc>
                <a:tc>
                  <a:txBody>
                    <a:bodyPr/>
                    <a:lstStyle/>
                    <a:p>
                      <a:r>
                        <a:rPr sz="1425" b="0">
                          <a:solidFill>
                            <a:srgbClr val="1F2A37"/>
                          </a:solidFill>
                          <a:latin typeface="Arial"/>
                          <a:ea typeface="Arial"/>
                          <a:cs typeface="Arial"/>
                        </a:rPr>
                        <a:t>-6.57%</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00ED4F1A-872C-4ABA-89A7-20A5536BEB35}"/>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Transformer combines a lower mean return with greater volatility than new LSTM.</a:t>
            </a:r>
          </a:p>
        </p:txBody>
      </p:sp>
    </p:spTree>
    <p:extLst>
      <p:ext uri="{BB962C8B-B14F-4D97-AF65-F5344CB8AC3E}">
        <p14:creationId xmlns:p14="http://schemas.microsoft.com/office/powerpoint/2010/main" val="66709557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77A5BA-1C5A-45AD-8409-6399072F2F12}"/>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797F3C-DDD7-4F1C-BFE0-9B44D0BA272E}"/>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CD249B-D6B8-4359-B56D-087856BF3C88}"/>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Transformer: sensitivity across nine seeds</a:t>
            </a:r>
          </a:p>
        </p:txBody>
      </p:sp>
      <p:sp>
        <p:nvSpPr>
          <p:cNvPr id="4" name="">
            <a:extLst xmlns:a="http://schemas.openxmlformats.org/drawingml/2006/main">
              <a:ext uri="{FF2B5EF4-FFF2-40B4-BE49-F238E27FC236}">
                <a16:creationId xmlns:a16="http://schemas.microsoft.com/office/drawing/2014/main" id="{82118487-729C-4864-AC47-F6E8437E8529}"/>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3. Transformer</a:t>
            </a:r>
          </a:p>
        </p:txBody>
      </p:sp>
      <p:sp>
        <p:nvSpPr>
          <p:cNvPr id="5" name="">
            <a:extLst xmlns:a="http://schemas.openxmlformats.org/drawingml/2006/main">
              <a:ext uri="{FF2B5EF4-FFF2-40B4-BE49-F238E27FC236}">
                <a16:creationId xmlns:a16="http://schemas.microsoft.com/office/drawing/2014/main" id="{F53871E1-5FEE-47DF-AAE6-B724736EA9E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12</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f161b257b8454569"/>
          </a:graphicData>
        </a:graphic>
      </p:graphicFrame>
      <p:sp>
        <p:nvSpPr>
          <p:cNvPr id="7" name="">
            <a:extLst xmlns:a="http://schemas.openxmlformats.org/drawingml/2006/main">
              <a:ext uri="{FF2B5EF4-FFF2-40B4-BE49-F238E27FC236}">
                <a16:creationId xmlns:a16="http://schemas.microsoft.com/office/drawing/2014/main" id="{485EC216-7AE1-4A91-AAEA-C28F52E8EA61}"/>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Ensemble Sharpe uses averaged raw weights, rather than the mean member Sharpe.</a:t>
            </a:r>
          </a:p>
        </p:txBody>
      </p:sp>
    </p:spTree>
    <p:extLst>
      <p:ext uri="{BB962C8B-B14F-4D97-AF65-F5344CB8AC3E}">
        <p14:creationId xmlns:p14="http://schemas.microsoft.com/office/powerpoint/2010/main" val="170095583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7980B7-6EC6-4E30-9639-EA453C03456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B52ECF-E0E9-401B-B1D8-65EEB89FB45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6D75058-CAB6-411D-9BC5-73C801E03FC5}"/>
              </a:ext>
            </a:extLst>
          </p:cNvPr>
          <p:cNvSpPr>
            <a:spLocks xmlns:a="http://schemas.openxmlformats.org/drawingml/2006/main" noGrp="1"/>
          </p:cNvSpPr>
          <p:nvPr/>
        </p:nvSpPr>
        <p:spPr>
          <a:xfrm xmlns:a="http://schemas.openxmlformats.org/drawingml/2006/main">
            <a:off x="400050" y="10096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Part 4</a:t>
            </a:r>
          </a:p>
        </p:txBody>
      </p:sp>
      <p:sp>
        <p:nvSpPr>
          <p:cNvPr id="14" name="">
            <a:extLst xmlns:a="http://schemas.openxmlformats.org/drawingml/2006/main">
              <a:ext uri="{FF2B5EF4-FFF2-40B4-BE49-F238E27FC236}">
                <a16:creationId xmlns:a16="http://schemas.microsoft.com/office/drawing/2014/main" id="{BDC4BA2F-E06F-44CF-87B9-D98BDF1B47DB}"/>
              </a:ext>
            </a:extLst>
          </p:cNvPr>
          <p:cNvSpPr>
            <a:spLocks xmlns:a="http://schemas.openxmlformats.org/drawingml/2006/main" noGrp="1"/>
          </p:cNvSpPr>
          <p:nvPr/>
        </p:nvSpPr>
        <p:spPr>
          <a:xfrm xmlns:a="http://schemas.openxmlformats.org/drawingml/2006/main">
            <a:off x="381000" y="1676400"/>
            <a:ext cx="83629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03262"/>
                </a:solidFill>
                <a:latin typeface="Arial"/>
                <a:ea typeface="Arial"/>
                <a:cs typeface="Arial"/>
              </a:defRPr>
            </a:pPr>
            <a:r>
              <a:rPr sz="3600" b="1">
                <a:solidFill>
                  <a:srgbClr val="003262"/>
                </a:solidFill>
                <a:latin typeface="Arial"/>
                <a:ea typeface="Arial"/>
                <a:cs typeface="Arial"/>
              </a:rPr>
              <a:t>Rolling windows</a:t>
            </a:r>
          </a:p>
        </p:txBody>
      </p:sp>
      <p:sp>
        <p:nvSpPr>
          <p:cNvPr id="15" name="">
            <a:extLst xmlns:a="http://schemas.openxmlformats.org/drawingml/2006/main">
              <a:ext uri="{FF2B5EF4-FFF2-40B4-BE49-F238E27FC236}">
                <a16:creationId xmlns:a16="http://schemas.microsoft.com/office/drawing/2014/main" id="{D02CCD9E-D3F7-4099-B949-A6E97FB8C18B}"/>
              </a:ext>
            </a:extLst>
          </p:cNvPr>
          <p:cNvSpPr>
            <a:spLocks xmlns:a="http://schemas.openxmlformats.org/drawingml/2006/main" noGrp="1"/>
          </p:cNvSpPr>
          <p:nvPr/>
        </p:nvSpPr>
        <p:spPr>
          <a:xfrm xmlns:a="http://schemas.openxmlformats.org/drawingml/2006/main">
            <a:off x="419100" y="2705100"/>
            <a:ext cx="8058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A37"/>
                </a:solidFill>
                <a:latin typeface="Arial"/>
                <a:ea typeface="Arial"/>
                <a:cs typeface="Arial"/>
              </a:defRPr>
            </a:pPr>
            <a:r>
              <a:rPr sz="1875" b="0">
                <a:solidFill>
                  <a:srgbClr val="1F2A37"/>
                </a:solidFill>
                <a:latin typeface="Arial"/>
                <a:ea typeface="Arial"/>
                <a:cs typeface="Arial"/>
              </a:rPr>
              <a:t>Extension 2. How does the performance of fixed saved models change over time?</a:t>
            </a:r>
          </a:p>
        </p:txBody>
      </p:sp>
      <p:sp>
        <p:nvSpPr>
          <p:cNvPr id="16" name="">
            <a:extLst xmlns:a="http://schemas.openxmlformats.org/drawingml/2006/main">
              <a:ext uri="{FF2B5EF4-FFF2-40B4-BE49-F238E27FC236}">
                <a16:creationId xmlns:a16="http://schemas.microsoft.com/office/drawing/2014/main" id="{918F7FE8-2DA5-4A87-B1B7-3BC1C85FD49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Part 4. Rolling windows</a:t>
            </a:r>
          </a:p>
        </p:txBody>
      </p:sp>
      <p:sp>
        <p:nvSpPr>
          <p:cNvPr id="17" name="">
            <a:extLst xmlns:a="http://schemas.openxmlformats.org/drawingml/2006/main">
              <a:ext uri="{FF2B5EF4-FFF2-40B4-BE49-F238E27FC236}">
                <a16:creationId xmlns:a16="http://schemas.microsoft.com/office/drawing/2014/main" id="{18F2D8DE-607F-490A-8C25-0F00E860B481}"/>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13</a:t>
            </a:r>
          </a:p>
        </p:txBody>
      </p:sp>
    </p:spTree>
    <p:extLst>
      <p:ext uri="{BB962C8B-B14F-4D97-AF65-F5344CB8AC3E}">
        <p14:creationId xmlns:p14="http://schemas.microsoft.com/office/powerpoint/2010/main" val="3557814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3869B9-2101-4069-81C0-29135000AE40}"/>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97E64C-7EDA-4C1A-B55C-AE2096D22251}"/>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D529E9-95AC-4B91-85F6-BB684B3665B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Rolling: evaluation method</a:t>
            </a:r>
          </a:p>
        </p:txBody>
      </p:sp>
      <p:sp>
        <p:nvSpPr>
          <p:cNvPr id="4" name="">
            <a:extLst xmlns:a="http://schemas.openxmlformats.org/drawingml/2006/main">
              <a:ext uri="{FF2B5EF4-FFF2-40B4-BE49-F238E27FC236}">
                <a16:creationId xmlns:a16="http://schemas.microsoft.com/office/drawing/2014/main" id="{B8C98099-D8AB-4624-A4AA-696AE6FD73BE}"/>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4. Rolling windows</a:t>
            </a:r>
          </a:p>
        </p:txBody>
      </p:sp>
      <p:sp>
        <p:nvSpPr>
          <p:cNvPr id="5" name="">
            <a:extLst xmlns:a="http://schemas.openxmlformats.org/drawingml/2006/main">
              <a:ext uri="{FF2B5EF4-FFF2-40B4-BE49-F238E27FC236}">
                <a16:creationId xmlns:a16="http://schemas.microsoft.com/office/drawing/2014/main" id="{8383DE2C-E69F-4F84-971A-43AB596E9A0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14</a:t>
            </a:r>
          </a:p>
        </p:txBody>
      </p:sp>
      <p:graphicFrame>
        <p:nvGraphicFramePr>
          <p:cNvPr id="16" name=""/>
          <p:cNvGraphicFramePr/>
          <p:nvPr/>
        </p:nvGraphicFramePr>
        <p:xfrm>
          <a:off xmlns:a="http://schemas.openxmlformats.org/drawingml/2006/main" x="400050" y="1019175"/>
          <a:ext xmlns:a="http://schemas.openxmlformats.org/drawingml/2006/main" cx="8343900" cy="2524125"/>
        </p:xfrm>
        <a:graphic xmlns:a="http://schemas.openxmlformats.org/drawingml/2006/main">
          <a:graphicData uri="http://schemas.openxmlformats.org/drawingml/2006/table">
            <a:tbl>
              <a:tblPr/>
              <a:tblGrid>
                <a:gridCol w="2762250"/>
                <a:gridCol w="2790825"/>
                <a:gridCol w="2790825"/>
              </a:tblGrid>
              <a:tr h="504825">
                <a:tc>
                  <a:txBody>
                    <a:bodyPr/>
                    <a:lstStyle/>
                    <a:p>
                      <a:r>
                        <a:rPr sz="1350" b="1">
                          <a:solidFill>
                            <a:srgbClr val="FFFFFF"/>
                          </a:solidFill>
                          <a:latin typeface="Arial"/>
                          <a:ea typeface="Arial"/>
                          <a:cs typeface="Arial"/>
                        </a:rPr>
                        <a:t>Definition</a:t>
                      </a:r>
                    </a:p>
                  </a:txBody>
                  <a:tcPr marL="91440" marR="91440" marT="45720" marB="45720">
                    <a:solidFill>
                      <a:srgbClr val="003262"/>
                    </a:solidFill>
                  </a:tcPr>
                </a:tc>
                <a:tc>
                  <a:txBody>
                    <a:bodyPr/>
                    <a:lstStyle/>
                    <a:p>
                      <a:r>
                        <a:rPr sz="1350" b="1">
                          <a:solidFill>
                            <a:srgbClr val="FFFFFF"/>
                          </a:solidFill>
                          <a:latin typeface="Arial"/>
                          <a:ea typeface="Arial"/>
                          <a:cs typeface="Arial"/>
                        </a:rPr>
                        <a:t>36 months</a:t>
                      </a:r>
                    </a:p>
                  </a:txBody>
                  <a:tcPr marL="91440" marR="91440" marT="45720" marB="45720">
                    <a:solidFill>
                      <a:srgbClr val="003262"/>
                    </a:solidFill>
                  </a:tcPr>
                </a:tc>
                <a:tc>
                  <a:txBody>
                    <a:bodyPr/>
                    <a:lstStyle/>
                    <a:p>
                      <a:r>
                        <a:rPr sz="1350" b="1">
                          <a:solidFill>
                            <a:srgbClr val="FFFFFF"/>
                          </a:solidFill>
                          <a:latin typeface="Arial"/>
                          <a:ea typeface="Arial"/>
                          <a:cs typeface="Arial"/>
                        </a:rPr>
                        <a:t>60 months</a:t>
                      </a:r>
                    </a:p>
                  </a:txBody>
                  <a:tcPr marL="91440" marR="91440" marT="45720" marB="45720">
                    <a:solidFill>
                      <a:srgbClr val="003262"/>
                    </a:solidFill>
                  </a:tcPr>
                </a:tc>
              </a:tr>
              <a:tr h="504825">
                <a:tc>
                  <a:txBody>
                    <a:bodyPr/>
                    <a:lstStyle/>
                    <a:p>
                      <a:r>
                        <a:rPr sz="1425" b="0">
                          <a:solidFill>
                            <a:srgbClr val="1F2A37"/>
                          </a:solidFill>
                          <a:latin typeface="Arial"/>
                          <a:ea typeface="Arial"/>
                          <a:cs typeface="Arial"/>
                        </a:rPr>
                        <a:t>Complete windows</a:t>
                      </a:r>
                    </a:p>
                  </a:txBody>
                  <a:tcPr marL="91440" marR="91440" marT="45720" marB="45720">
                    <a:solidFill>
                      <a:srgbClr val="EEF3F8"/>
                    </a:solidFill>
                  </a:tcPr>
                </a:tc>
                <a:tc>
                  <a:txBody>
                    <a:bodyPr/>
                    <a:lstStyle/>
                    <a:p>
                      <a:r>
                        <a:rPr sz="1425" b="0">
                          <a:solidFill>
                            <a:srgbClr val="1F2A37"/>
                          </a:solidFill>
                          <a:latin typeface="Arial"/>
                          <a:ea typeface="Arial"/>
                          <a:cs typeface="Arial"/>
                        </a:rPr>
                        <a:t>265</a:t>
                      </a:r>
                    </a:p>
                  </a:txBody>
                  <a:tcPr marL="91440" marR="91440" marT="45720" marB="45720">
                    <a:solidFill>
                      <a:srgbClr val="EEF3F8"/>
                    </a:solidFill>
                  </a:tcPr>
                </a:tc>
                <a:tc>
                  <a:txBody>
                    <a:bodyPr/>
                    <a:lstStyle/>
                    <a:p>
                      <a:r>
                        <a:rPr sz="1425" b="0">
                          <a:solidFill>
                            <a:srgbClr val="1F2A37"/>
                          </a:solidFill>
                          <a:latin typeface="Arial"/>
                          <a:ea typeface="Arial"/>
                          <a:cs typeface="Arial"/>
                        </a:rPr>
                        <a:t>241</a:t>
                      </a:r>
                    </a:p>
                  </a:txBody>
                  <a:tcPr marL="91440" marR="91440" marT="45720" marB="45720">
                    <a:solidFill>
                      <a:srgbClr val="EEF3F8"/>
                    </a:solidFill>
                  </a:tcPr>
                </a:tc>
              </a:tr>
              <a:tr h="504825">
                <a:tc>
                  <a:txBody>
                    <a:bodyPr/>
                    <a:lstStyle/>
                    <a:p>
                      <a:r>
                        <a:rPr sz="1425" b="0">
                          <a:solidFill>
                            <a:srgbClr val="1F2A37"/>
                          </a:solidFill>
                          <a:latin typeface="Arial"/>
                          <a:ea typeface="Arial"/>
                          <a:cs typeface="Arial"/>
                        </a:rPr>
                        <a:t>First endpoint</a:t>
                      </a:r>
                    </a:p>
                  </a:txBody>
                  <a:tcPr marL="91440" marR="91440" marT="45720" marB="45720">
                    <a:solidFill>
                      <a:srgbClr val="FFFFFF"/>
                    </a:solidFill>
                  </a:tcPr>
                </a:tc>
                <a:tc>
                  <a:txBody>
                    <a:bodyPr/>
                    <a:lstStyle/>
                    <a:p>
                      <a:r>
                        <a:rPr sz="1425" b="0">
                          <a:solidFill>
                            <a:srgbClr val="1F2A37"/>
                          </a:solidFill>
                          <a:latin typeface="Arial"/>
                          <a:ea typeface="Arial"/>
                          <a:cs typeface="Arial"/>
                        </a:rPr>
                        <a:t>December 1994</a:t>
                      </a:r>
                    </a:p>
                  </a:txBody>
                  <a:tcPr marL="91440" marR="91440" marT="45720" marB="45720">
                    <a:solidFill>
                      <a:srgbClr val="FFFFFF"/>
                    </a:solidFill>
                  </a:tcPr>
                </a:tc>
                <a:tc>
                  <a:txBody>
                    <a:bodyPr/>
                    <a:lstStyle/>
                    <a:p>
                      <a:r>
                        <a:rPr sz="1425" b="0">
                          <a:solidFill>
                            <a:srgbClr val="1F2A37"/>
                          </a:solidFill>
                          <a:latin typeface="Arial"/>
                          <a:ea typeface="Arial"/>
                          <a:cs typeface="Arial"/>
                        </a:rPr>
                        <a:t>December 1996</a:t>
                      </a:r>
                    </a:p>
                  </a:txBody>
                  <a:tcPr marL="91440" marR="91440" marT="45720" marB="45720">
                    <a:solidFill>
                      <a:srgbClr val="FFFFFF"/>
                    </a:solidFill>
                  </a:tcPr>
                </a:tc>
              </a:tr>
              <a:tr h="504825">
                <a:tc>
                  <a:txBody>
                    <a:bodyPr/>
                    <a:lstStyle/>
                    <a:p>
                      <a:r>
                        <a:rPr sz="1425" b="0">
                          <a:solidFill>
                            <a:srgbClr val="1F2A37"/>
                          </a:solidFill>
                          <a:latin typeface="Arial"/>
                          <a:ea typeface="Arial"/>
                          <a:cs typeface="Arial"/>
                        </a:rPr>
                        <a:t>Last endpoint</a:t>
                      </a:r>
                    </a:p>
                  </a:txBody>
                  <a:tcPr marL="91440" marR="91440" marT="45720" marB="45720">
                    <a:solidFill>
                      <a:srgbClr val="EEF3F8"/>
                    </a:solidFill>
                  </a:tcPr>
                </a:tc>
                <a:tc>
                  <a:txBody>
                    <a:bodyPr/>
                    <a:lstStyle/>
                    <a:p>
                      <a:r>
                        <a:rPr sz="1425" b="0">
                          <a:solidFill>
                            <a:srgbClr val="1F2A37"/>
                          </a:solidFill>
                          <a:latin typeface="Arial"/>
                          <a:ea typeface="Arial"/>
                          <a:cs typeface="Arial"/>
                        </a:rPr>
                        <a:t>December 2016</a:t>
                      </a:r>
                    </a:p>
                  </a:txBody>
                  <a:tcPr marL="91440" marR="91440" marT="45720" marB="45720">
                    <a:solidFill>
                      <a:srgbClr val="EEF3F8"/>
                    </a:solidFill>
                  </a:tcPr>
                </a:tc>
                <a:tc>
                  <a:txBody>
                    <a:bodyPr/>
                    <a:lstStyle/>
                    <a:p>
                      <a:r>
                        <a:rPr sz="1425" b="0">
                          <a:solidFill>
                            <a:srgbClr val="1F2A37"/>
                          </a:solidFill>
                          <a:latin typeface="Arial"/>
                          <a:ea typeface="Arial"/>
                          <a:cs typeface="Arial"/>
                        </a:rPr>
                        <a:t>December 2016</a:t>
                      </a:r>
                    </a:p>
                  </a:txBody>
                  <a:tcPr marL="91440" marR="91440" marT="45720" marB="45720">
                    <a:solidFill>
                      <a:srgbClr val="EEF3F8"/>
                    </a:solidFill>
                  </a:tcPr>
                </a:tc>
              </a:tr>
              <a:tr h="504825">
                <a:tc>
                  <a:txBody>
                    <a:bodyPr/>
                    <a:lstStyle/>
                    <a:p>
                      <a:r>
                        <a:rPr sz="1425" b="0">
                          <a:solidFill>
                            <a:srgbClr val="1F2A37"/>
                          </a:solidFill>
                          <a:latin typeface="Arial"/>
                          <a:ea typeface="Arial"/>
                          <a:cs typeface="Arial"/>
                        </a:rPr>
                        <a:t>Statistic</a:t>
                      </a:r>
                    </a:p>
                  </a:txBody>
                  <a:tcPr marL="91440" marR="91440" marT="45720" marB="45720">
                    <a:solidFill>
                      <a:srgbClr val="FFFFFF"/>
                    </a:solidFill>
                  </a:tcPr>
                </a:tc>
                <a:tc>
                  <a:txBody>
                    <a:bodyPr/>
                    <a:lstStyle/>
                    <a:p>
                      <a:r>
                        <a:rPr sz="1425" b="0">
                          <a:solidFill>
                            <a:srgbClr val="1F2A37"/>
                          </a:solidFill>
                          <a:latin typeface="Arial"/>
                          <a:ea typeface="Arial"/>
                          <a:cs typeface="Arial"/>
                        </a:rPr>
                        <a:t>Annualized rolling Sharpe</a:t>
                      </a:r>
                    </a:p>
                  </a:txBody>
                  <a:tcPr marL="91440" marR="91440" marT="45720" marB="45720">
                    <a:solidFill>
                      <a:srgbClr val="FFFFFF"/>
                    </a:solidFill>
                  </a:tcPr>
                </a:tc>
                <a:tc>
                  <a:txBody>
                    <a:bodyPr/>
                    <a:lstStyle/>
                    <a:p>
                      <a:r>
                        <a:rPr sz="1425" b="0">
                          <a:solidFill>
                            <a:srgbClr val="1F2A37"/>
                          </a:solidFill>
                          <a:latin typeface="Arial"/>
                          <a:ea typeface="Arial"/>
                          <a:cs typeface="Arial"/>
                        </a:rPr>
                        <a:t>Annualized rolling Sharpe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706FECD-096C-4D33-B362-BC3250BA0112}"/>
              </a:ext>
            </a:extLst>
          </p:cNvPr>
          <p:cNvSpPr>
            <a:spLocks xmlns:a="http://schemas.openxmlformats.org/drawingml/2006/main" noGrp="1"/>
          </p:cNvSpPr>
          <p:nvPr/>
        </p:nvSpPr>
        <p:spPr>
          <a:xfrm xmlns:a="http://schemas.openxmlformats.org/drawingml/2006/main">
            <a:off x="419100" y="3743325"/>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F2A37"/>
                </a:solidFill>
                <a:latin typeface="Arial"/>
                <a:ea typeface="Arial"/>
                <a:cs typeface="Arial"/>
              </a:defRPr>
            </a:pPr>
            <a:r>
              <a:rPr sz="1500" b="0">
                <a:solidFill>
                  <a:srgbClr val="1F2A37"/>
                </a:solidFill>
                <a:latin typeface="Arial"/>
                <a:ea typeface="Arial"/>
                <a:cs typeface="Arial"/>
              </a:rPr>
              <a:t>Each window reuses earlier returns. Longer windows smooth short episodes.</a:t>
            </a:r>
          </a:p>
        </p:txBody>
      </p:sp>
      <p:sp>
        <p:nvSpPr>
          <p:cNvPr id="8" name="">
            <a:extLst xmlns:a="http://schemas.openxmlformats.org/drawingml/2006/main">
              <a:ext uri="{FF2B5EF4-FFF2-40B4-BE49-F238E27FC236}">
                <a16:creationId xmlns:a16="http://schemas.microsoft.com/office/drawing/2014/main" id="{B651E15A-E374-4C06-B390-EC7648703C08}"/>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This experiment evaluates fixed models. It does not refit an expanding-window model.</a:t>
            </a:r>
          </a:p>
        </p:txBody>
      </p:sp>
    </p:spTree>
    <p:extLst>
      <p:ext uri="{BB962C8B-B14F-4D97-AF65-F5344CB8AC3E}">
        <p14:creationId xmlns:p14="http://schemas.microsoft.com/office/powerpoint/2010/main" val="76772707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DCBE78-3310-4433-B9C1-4AB7CF754474}"/>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D057CF-B969-428D-A83D-D665F21C96E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58CAE1-ACCE-4F33-A2B4-C668677E1C5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Rolling: 36-month Sharpe</a:t>
            </a:r>
          </a:p>
        </p:txBody>
      </p:sp>
      <p:sp>
        <p:nvSpPr>
          <p:cNvPr id="4" name="">
            <a:extLst xmlns:a="http://schemas.openxmlformats.org/drawingml/2006/main">
              <a:ext uri="{FF2B5EF4-FFF2-40B4-BE49-F238E27FC236}">
                <a16:creationId xmlns:a16="http://schemas.microsoft.com/office/drawing/2014/main" id="{CB4CAB04-F848-4771-AC3E-ACBF06D2B622}"/>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4. Rolling windows</a:t>
            </a:r>
          </a:p>
        </p:txBody>
      </p:sp>
      <p:sp>
        <p:nvSpPr>
          <p:cNvPr id="5" name="">
            <a:extLst xmlns:a="http://schemas.openxmlformats.org/drawingml/2006/main">
              <a:ext uri="{FF2B5EF4-FFF2-40B4-BE49-F238E27FC236}">
                <a16:creationId xmlns:a16="http://schemas.microsoft.com/office/drawing/2014/main" id="{A4F52E5B-8421-4B11-B26E-A31E9F8F3096}"/>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15</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4de57cea0ff447f9"/>
          </a:graphicData>
        </a:graphic>
      </p:graphicFrame>
      <p:sp>
        <p:nvSpPr>
          <p:cNvPr id="7" name="">
            <a:extLst xmlns:a="http://schemas.openxmlformats.org/drawingml/2006/main">
              <a:ext uri="{FF2B5EF4-FFF2-40B4-BE49-F238E27FC236}">
                <a16:creationId xmlns:a16="http://schemas.microsoft.com/office/drawing/2014/main" id="{66B420E0-A43F-4985-BF5A-1967603E1BA8}"/>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Transformer beats new LSTM in 36.6% of complete windows.</a:t>
            </a:r>
          </a:p>
        </p:txBody>
      </p:sp>
    </p:spTree>
    <p:extLst>
      <p:ext uri="{BB962C8B-B14F-4D97-AF65-F5344CB8AC3E}">
        <p14:creationId xmlns:p14="http://schemas.microsoft.com/office/powerpoint/2010/main" val="73946644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A1B4E0-0722-404C-B1C8-A71D2C50DB88}"/>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F4B62E-4336-4765-9898-69546340A512}"/>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125F09-7F5D-454A-A434-EAC0155DFA2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Rolling: 60-month Sharpe</a:t>
            </a:r>
          </a:p>
        </p:txBody>
      </p:sp>
      <p:sp>
        <p:nvSpPr>
          <p:cNvPr id="4" name="">
            <a:extLst xmlns:a="http://schemas.openxmlformats.org/drawingml/2006/main">
              <a:ext uri="{FF2B5EF4-FFF2-40B4-BE49-F238E27FC236}">
                <a16:creationId xmlns:a16="http://schemas.microsoft.com/office/drawing/2014/main" id="{8B916ADF-46AB-4078-A93C-F62A6389BD6D}"/>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4. Rolling windows</a:t>
            </a:r>
          </a:p>
        </p:txBody>
      </p:sp>
      <p:sp>
        <p:nvSpPr>
          <p:cNvPr id="5" name="">
            <a:extLst xmlns:a="http://schemas.openxmlformats.org/drawingml/2006/main">
              <a:ext uri="{FF2B5EF4-FFF2-40B4-BE49-F238E27FC236}">
                <a16:creationId xmlns:a16="http://schemas.microsoft.com/office/drawing/2014/main" id="{EC18D7B2-CD66-49E6-ABCB-4FD90C7418DB}"/>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16</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1265be4a310d43a4"/>
          </a:graphicData>
        </a:graphic>
      </p:graphicFrame>
      <p:sp>
        <p:nvSpPr>
          <p:cNvPr id="7" name="">
            <a:extLst xmlns:a="http://schemas.openxmlformats.org/drawingml/2006/main">
              <a:ext uri="{FF2B5EF4-FFF2-40B4-BE49-F238E27FC236}">
                <a16:creationId xmlns:a16="http://schemas.microsoft.com/office/drawing/2014/main" id="{8228DE6C-FAE7-441B-9137-73FF5C98EB05}"/>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Transformer beats new LSTM in 19.9% of complete windows.</a:t>
            </a:r>
          </a:p>
        </p:txBody>
      </p:sp>
    </p:spTree>
    <p:extLst>
      <p:ext uri="{BB962C8B-B14F-4D97-AF65-F5344CB8AC3E}">
        <p14:creationId xmlns:p14="http://schemas.microsoft.com/office/powerpoint/2010/main" val="14973636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684BC9-CA6F-402B-8EA3-FB842427B8A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1C0E0C-EE9E-48E8-BB18-B23D28C2B7A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D997F5-B0D1-43D2-AF04-C2B4C225D23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Rolling: comparison across window lengths</a:t>
            </a:r>
          </a:p>
        </p:txBody>
      </p:sp>
      <p:sp>
        <p:nvSpPr>
          <p:cNvPr id="4" name="">
            <a:extLst xmlns:a="http://schemas.openxmlformats.org/drawingml/2006/main">
              <a:ext uri="{FF2B5EF4-FFF2-40B4-BE49-F238E27FC236}">
                <a16:creationId xmlns:a16="http://schemas.microsoft.com/office/drawing/2014/main" id="{C1614DA6-E92A-4541-8667-D8767936BAA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4. Rolling windows</a:t>
            </a:r>
          </a:p>
        </p:txBody>
      </p:sp>
      <p:sp>
        <p:nvSpPr>
          <p:cNvPr id="5" name="">
            <a:extLst xmlns:a="http://schemas.openxmlformats.org/drawingml/2006/main">
              <a:ext uri="{FF2B5EF4-FFF2-40B4-BE49-F238E27FC236}">
                <a16:creationId xmlns:a16="http://schemas.microsoft.com/office/drawing/2014/main" id="{83F57E94-0C2E-463E-AB6F-FA2155D67CEF}"/>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17</a:t>
            </a:r>
          </a:p>
        </p:txBody>
      </p:sp>
      <p:graphicFrame>
        <p:nvGraphicFramePr>
          <p:cNvPr id="15"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952750"/>
                <a:gridCol w="2695575"/>
                <a:gridCol w="2695575"/>
              </a:tblGrid>
              <a:tr h="476250">
                <a:tc>
                  <a:txBody>
                    <a:bodyPr/>
                    <a:lstStyle/>
                    <a:p>
                      <a:r>
                        <a:rPr sz="1575" b="1">
                          <a:solidFill>
                            <a:srgbClr val="FFFFFF"/>
                          </a:solidFill>
                          <a:latin typeface="Arial"/>
                          <a:ea typeface="Arial"/>
                          <a:cs typeface="Arial"/>
                        </a:rPr>
                        <a:t>Portfolio</a:t>
                      </a:r>
                    </a:p>
                  </a:txBody>
                  <a:tcPr marL="91440" marR="91440" marT="45720" marB="45720">
                    <a:solidFill>
                      <a:srgbClr val="003262"/>
                    </a:solidFill>
                  </a:tcPr>
                </a:tc>
                <a:tc>
                  <a:txBody>
                    <a:bodyPr/>
                    <a:lstStyle/>
                    <a:p>
                      <a:r>
                        <a:rPr sz="1575" b="1">
                          <a:solidFill>
                            <a:srgbClr val="FFFFFF"/>
                          </a:solidFill>
                          <a:latin typeface="Arial"/>
                          <a:ea typeface="Arial"/>
                          <a:cs typeface="Arial"/>
                        </a:rPr>
                        <a:t>36-month mean</a:t>
                      </a:r>
                    </a:p>
                  </a:txBody>
                  <a:tcPr marL="91440" marR="91440" marT="45720" marB="45720">
                    <a:solidFill>
                      <a:srgbClr val="003262"/>
                    </a:solidFill>
                  </a:tcPr>
                </a:tc>
                <a:tc>
                  <a:txBody>
                    <a:bodyPr/>
                    <a:lstStyle/>
                    <a:p>
                      <a:r>
                        <a:rPr sz="1575" b="1">
                          <a:solidFill>
                            <a:srgbClr val="FFFFFF"/>
                          </a:solidFill>
                          <a:latin typeface="Arial"/>
                          <a:ea typeface="Arial"/>
                          <a:cs typeface="Arial"/>
                        </a:rPr>
                        <a:t>60-month mean</a:t>
                      </a:r>
                    </a:p>
                  </a:txBody>
                  <a:tcPr marL="91440" marR="91440" marT="45720" marB="45720">
                    <a:solidFill>
                      <a:srgbClr val="003262"/>
                    </a:solidFill>
                  </a:tcPr>
                </a:tc>
              </a:tr>
              <a:tr h="476250">
                <a:tc>
                  <a:txBody>
                    <a:bodyPr/>
                    <a:lstStyle/>
                    <a:p>
                      <a:r>
                        <a:rPr sz="1650" b="0">
                          <a:solidFill>
                            <a:srgbClr val="1F2A37"/>
                          </a:solidFill>
                          <a:latin typeface="Arial"/>
                          <a:ea typeface="Arial"/>
                          <a:cs typeface="Arial"/>
                        </a:rPr>
                        <a:t>Paper GAN</a:t>
                      </a:r>
                    </a:p>
                  </a:txBody>
                  <a:tcPr marL="91440" marR="91440" marT="45720" marB="45720">
                    <a:solidFill>
                      <a:srgbClr val="EEF3F8"/>
                    </a:solidFill>
                  </a:tcPr>
                </a:tc>
                <a:tc>
                  <a:txBody>
                    <a:bodyPr/>
                    <a:lstStyle/>
                    <a:p>
                      <a:r>
                        <a:rPr sz="1650" b="0">
                          <a:solidFill>
                            <a:srgbClr val="1F2A37"/>
                          </a:solidFill>
                          <a:latin typeface="Arial"/>
                          <a:ea typeface="Arial"/>
                          <a:cs typeface="Arial"/>
                        </a:rPr>
                        <a:t>3.638</a:t>
                      </a:r>
                    </a:p>
                  </a:txBody>
                  <a:tcPr marL="91440" marR="91440" marT="45720" marB="45720">
                    <a:solidFill>
                      <a:srgbClr val="EEF3F8"/>
                    </a:solidFill>
                  </a:tcPr>
                </a:tc>
                <a:tc>
                  <a:txBody>
                    <a:bodyPr/>
                    <a:lstStyle/>
                    <a:p>
                      <a:r>
                        <a:rPr sz="1650" b="0">
                          <a:solidFill>
                            <a:srgbClr val="1F2A37"/>
                          </a:solidFill>
                          <a:latin typeface="Arial"/>
                          <a:ea typeface="Arial"/>
                          <a:cs typeface="Arial"/>
                        </a:rPr>
                        <a:t>3.199</a:t>
                      </a:r>
                    </a:p>
                  </a:txBody>
                  <a:tcPr marL="91440" marR="91440" marT="45720" marB="45720">
                    <a:solidFill>
                      <a:srgbClr val="EEF3F8"/>
                    </a:solidFill>
                  </a:tcPr>
                </a:tc>
              </a:tr>
              <a:tr h="476250">
                <a:tc>
                  <a:txBody>
                    <a:bodyPr/>
                    <a:lstStyle/>
                    <a:p>
                      <a:r>
                        <a:rPr sz="1650" b="0">
                          <a:solidFill>
                            <a:srgbClr val="1F2A37"/>
                          </a:solidFill>
                          <a:latin typeface="Arial"/>
                          <a:ea typeface="Arial"/>
                          <a:cs typeface="Arial"/>
                        </a:rPr>
                        <a:t>Replicated GAN</a:t>
                      </a:r>
                    </a:p>
                  </a:txBody>
                  <a:tcPr marL="91440" marR="91440" marT="45720" marB="45720">
                    <a:solidFill>
                      <a:srgbClr val="FFFFFF"/>
                    </a:solidFill>
                  </a:tcPr>
                </a:tc>
                <a:tc>
                  <a:txBody>
                    <a:bodyPr/>
                    <a:lstStyle/>
                    <a:p>
                      <a:r>
                        <a:rPr sz="1650" b="0">
                          <a:solidFill>
                            <a:srgbClr val="1F2A37"/>
                          </a:solidFill>
                          <a:latin typeface="Arial"/>
                          <a:ea typeface="Arial"/>
                          <a:cs typeface="Arial"/>
                        </a:rPr>
                        <a:t>2.890</a:t>
                      </a:r>
                    </a:p>
                  </a:txBody>
                  <a:tcPr marL="91440" marR="91440" marT="45720" marB="45720">
                    <a:solidFill>
                      <a:srgbClr val="FFFFFF"/>
                    </a:solidFill>
                  </a:tcPr>
                </a:tc>
                <a:tc>
                  <a:txBody>
                    <a:bodyPr/>
                    <a:lstStyle/>
                    <a:p>
                      <a:r>
                        <a:rPr sz="1650" b="0">
                          <a:solidFill>
                            <a:srgbClr val="1F2A37"/>
                          </a:solidFill>
                          <a:latin typeface="Arial"/>
                          <a:ea typeface="Arial"/>
                          <a:cs typeface="Arial"/>
                        </a:rPr>
                        <a:t>2.504</a:t>
                      </a:r>
                    </a:p>
                  </a:txBody>
                  <a:tcPr marL="91440" marR="91440" marT="45720" marB="45720">
                    <a:solidFill>
                      <a:srgbClr val="FFFFFF"/>
                    </a:solidFill>
                  </a:tcPr>
                </a:tc>
              </a:tr>
              <a:tr h="476250">
                <a:tc>
                  <a:txBody>
                    <a:bodyPr/>
                    <a:lstStyle/>
                    <a:p>
                      <a:r>
                        <a:rPr sz="1650" b="0">
                          <a:solidFill>
                            <a:srgbClr val="1F2A37"/>
                          </a:solidFill>
                          <a:latin typeface="Arial"/>
                          <a:ea typeface="Arial"/>
                          <a:cs typeface="Arial"/>
                        </a:rPr>
                        <a:t>Extension LSTM</a:t>
                      </a:r>
                    </a:p>
                  </a:txBody>
                  <a:tcPr marL="91440" marR="91440" marT="45720" marB="45720">
                    <a:solidFill>
                      <a:srgbClr val="EEF3F8"/>
                    </a:solidFill>
                  </a:tcPr>
                </a:tc>
                <a:tc>
                  <a:txBody>
                    <a:bodyPr/>
                    <a:lstStyle/>
                    <a:p>
                      <a:r>
                        <a:rPr sz="1650" b="0">
                          <a:solidFill>
                            <a:srgbClr val="1F2A37"/>
                          </a:solidFill>
                          <a:latin typeface="Arial"/>
                          <a:ea typeface="Arial"/>
                          <a:cs typeface="Arial"/>
                        </a:rPr>
                        <a:t>1.992</a:t>
                      </a:r>
                    </a:p>
                  </a:txBody>
                  <a:tcPr marL="91440" marR="91440" marT="45720" marB="45720">
                    <a:solidFill>
                      <a:srgbClr val="EEF3F8"/>
                    </a:solidFill>
                  </a:tcPr>
                </a:tc>
                <a:tc>
                  <a:txBody>
                    <a:bodyPr/>
                    <a:lstStyle/>
                    <a:p>
                      <a:r>
                        <a:rPr sz="1650" b="0">
                          <a:solidFill>
                            <a:srgbClr val="1F2A37"/>
                          </a:solidFill>
                          <a:latin typeface="Arial"/>
                          <a:ea typeface="Arial"/>
                          <a:cs typeface="Arial"/>
                        </a:rPr>
                        <a:t>1.795</a:t>
                      </a:r>
                    </a:p>
                  </a:txBody>
                  <a:tcPr marL="91440" marR="91440" marT="45720" marB="45720">
                    <a:solidFill>
                      <a:srgbClr val="EEF3F8"/>
                    </a:solidFill>
                  </a:tcPr>
                </a:tc>
              </a:tr>
              <a:tr h="476250">
                <a:tc>
                  <a:txBody>
                    <a:bodyPr/>
                    <a:lstStyle/>
                    <a:p>
                      <a:r>
                        <a:rPr sz="1650" b="0">
                          <a:solidFill>
                            <a:srgbClr val="1F2A37"/>
                          </a:solidFill>
                          <a:latin typeface="Arial"/>
                          <a:ea typeface="Arial"/>
                          <a:cs typeface="Arial"/>
                        </a:rPr>
                        <a:t>Transformer</a:t>
                      </a:r>
                    </a:p>
                  </a:txBody>
                  <a:tcPr marL="91440" marR="91440" marT="45720" marB="45720">
                    <a:solidFill>
                      <a:srgbClr val="FFFFFF"/>
                    </a:solidFill>
                  </a:tcPr>
                </a:tc>
                <a:tc>
                  <a:txBody>
                    <a:bodyPr/>
                    <a:lstStyle/>
                    <a:p>
                      <a:r>
                        <a:rPr sz="1650" b="0">
                          <a:solidFill>
                            <a:srgbClr val="1F2A37"/>
                          </a:solidFill>
                          <a:latin typeface="Arial"/>
                          <a:ea typeface="Arial"/>
                          <a:cs typeface="Arial"/>
                        </a:rPr>
                        <a:t>1.467</a:t>
                      </a:r>
                    </a:p>
                  </a:txBody>
                  <a:tcPr marL="91440" marR="91440" marT="45720" marB="45720">
                    <a:solidFill>
                      <a:srgbClr val="FFFFFF"/>
                    </a:solidFill>
                  </a:tcPr>
                </a:tc>
                <a:tc>
                  <a:txBody>
                    <a:bodyPr/>
                    <a:lstStyle/>
                    <a:p>
                      <a:r>
                        <a:rPr sz="1650" b="0">
                          <a:solidFill>
                            <a:srgbClr val="1F2A37"/>
                          </a:solidFill>
                          <a:latin typeface="Arial"/>
                          <a:ea typeface="Arial"/>
                          <a:cs typeface="Arial"/>
                        </a:rPr>
                        <a:t>1.228</a:t>
                      </a:r>
                    </a:p>
                  </a:txBody>
                  <a:tcPr marL="91440" marR="91440" marT="45720" marB="45720">
                    <a:solidFill>
                      <a:srgbClr val="FFFFFF"/>
                    </a:solidFill>
                  </a:tcPr>
                </a:tc>
              </a:tr>
              <a:tr h="476250">
                <a:tc>
                  <a:txBody>
                    <a:bodyPr/>
                    <a:lstStyle/>
                    <a:p>
                      <a:r>
                        <a:rPr sz="165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650" b="0">
                          <a:solidFill>
                            <a:srgbClr val="1F2A37"/>
                          </a:solidFill>
                          <a:latin typeface="Arial"/>
                          <a:ea typeface="Arial"/>
                          <a:cs typeface="Arial"/>
                        </a:rPr>
                        <a:t>2.166</a:t>
                      </a:r>
                    </a:p>
                  </a:txBody>
                  <a:tcPr marL="91440" marR="91440" marT="45720" marB="45720">
                    <a:solidFill>
                      <a:srgbClr val="EEF3F8"/>
                    </a:solidFill>
                  </a:tcPr>
                </a:tc>
                <a:tc>
                  <a:txBody>
                    <a:bodyPr/>
                    <a:lstStyle/>
                    <a:p>
                      <a:r>
                        <a:rPr sz="1650" b="0">
                          <a:solidFill>
                            <a:srgbClr val="1F2A37"/>
                          </a:solidFill>
                          <a:latin typeface="Arial"/>
                          <a:ea typeface="Arial"/>
                          <a:cs typeface="Arial"/>
                        </a:rPr>
                        <a:t>1.871</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889A1406-2FAC-4EE6-923B-2441B6AB8BD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LSTM has the higher average, while the 36-month Transformer median is slightly higher.</a:t>
            </a:r>
          </a:p>
        </p:txBody>
      </p:sp>
    </p:spTree>
    <p:extLst>
      <p:ext uri="{BB962C8B-B14F-4D97-AF65-F5344CB8AC3E}">
        <p14:creationId xmlns:p14="http://schemas.microsoft.com/office/powerpoint/2010/main" val="26756837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7980B7-6EC6-4E30-9639-EA453C03456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B52ECF-E0E9-401B-B1D8-65EEB89FB45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CE8D519-5D3F-483A-BE3A-69F5BE6A4E93}"/>
              </a:ext>
            </a:extLst>
          </p:cNvPr>
          <p:cNvSpPr>
            <a:spLocks xmlns:a="http://schemas.openxmlformats.org/drawingml/2006/main" noGrp="1"/>
          </p:cNvSpPr>
          <p:nvPr/>
        </p:nvSpPr>
        <p:spPr>
          <a:xfrm xmlns:a="http://schemas.openxmlformats.org/drawingml/2006/main">
            <a:off x="400050" y="10096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Part 5</a:t>
            </a:r>
          </a:p>
        </p:txBody>
      </p:sp>
      <p:sp>
        <p:nvSpPr>
          <p:cNvPr id="14" name="">
            <a:extLst xmlns:a="http://schemas.openxmlformats.org/drawingml/2006/main">
              <a:ext uri="{FF2B5EF4-FFF2-40B4-BE49-F238E27FC236}">
                <a16:creationId xmlns:a16="http://schemas.microsoft.com/office/drawing/2014/main" id="{36BA60D4-17E6-4DB0-874F-5B1F4A96B19D}"/>
              </a:ext>
            </a:extLst>
          </p:cNvPr>
          <p:cNvSpPr>
            <a:spLocks xmlns:a="http://schemas.openxmlformats.org/drawingml/2006/main" noGrp="1"/>
          </p:cNvSpPr>
          <p:nvPr/>
        </p:nvSpPr>
        <p:spPr>
          <a:xfrm xmlns:a="http://schemas.openxmlformats.org/drawingml/2006/main">
            <a:off x="381000" y="1676400"/>
            <a:ext cx="83629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03262"/>
                </a:solidFill>
                <a:latin typeface="Arial"/>
                <a:ea typeface="Arial"/>
                <a:cs typeface="Arial"/>
              </a:defRPr>
            </a:pPr>
            <a:r>
              <a:rPr sz="3600" b="1">
                <a:solidFill>
                  <a:srgbClr val="003262"/>
                </a:solidFill>
                <a:latin typeface="Arial"/>
                <a:ea typeface="Arial"/>
                <a:cs typeface="Arial"/>
              </a:rPr>
              <a:t>Regime change</a:t>
            </a:r>
          </a:p>
        </p:txBody>
      </p:sp>
      <p:sp>
        <p:nvSpPr>
          <p:cNvPr id="15" name="">
            <a:extLst xmlns:a="http://schemas.openxmlformats.org/drawingml/2006/main">
              <a:ext uri="{FF2B5EF4-FFF2-40B4-BE49-F238E27FC236}">
                <a16:creationId xmlns:a16="http://schemas.microsoft.com/office/drawing/2014/main" id="{5ADEE99A-FF4B-434F-A70F-5114744C7992}"/>
              </a:ext>
            </a:extLst>
          </p:cNvPr>
          <p:cNvSpPr>
            <a:spLocks xmlns:a="http://schemas.openxmlformats.org/drawingml/2006/main" noGrp="1"/>
          </p:cNvSpPr>
          <p:nvPr/>
        </p:nvSpPr>
        <p:spPr>
          <a:xfrm xmlns:a="http://schemas.openxmlformats.org/drawingml/2006/main">
            <a:off x="419100" y="2705100"/>
            <a:ext cx="8058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A37"/>
                </a:solidFill>
                <a:latin typeface="Arial"/>
                <a:ea typeface="Arial"/>
                <a:cs typeface="Arial"/>
              </a:defRPr>
            </a:pPr>
            <a:r>
              <a:rPr sz="1875" b="0">
                <a:solidFill>
                  <a:srgbClr val="1F2A37"/>
                </a:solidFill>
                <a:latin typeface="Arial"/>
                <a:ea typeface="Arial"/>
                <a:cs typeface="Arial"/>
              </a:rPr>
              <a:t>Extension 3. Where do model results differ across business-cycle and volatility regimes?</a:t>
            </a:r>
          </a:p>
        </p:txBody>
      </p:sp>
      <p:sp>
        <p:nvSpPr>
          <p:cNvPr id="16" name="">
            <a:extLst xmlns:a="http://schemas.openxmlformats.org/drawingml/2006/main">
              <a:ext uri="{FF2B5EF4-FFF2-40B4-BE49-F238E27FC236}">
                <a16:creationId xmlns:a16="http://schemas.microsoft.com/office/drawing/2014/main" id="{3BD9668E-7EFB-4A52-991C-FAD2EA19A75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Part 5. Regime change</a:t>
            </a:r>
          </a:p>
        </p:txBody>
      </p:sp>
      <p:sp>
        <p:nvSpPr>
          <p:cNvPr id="17" name="">
            <a:extLst xmlns:a="http://schemas.openxmlformats.org/drawingml/2006/main">
              <a:ext uri="{FF2B5EF4-FFF2-40B4-BE49-F238E27FC236}">
                <a16:creationId xmlns:a16="http://schemas.microsoft.com/office/drawing/2014/main" id="{755338BD-3BF0-401E-BBC4-6A67D8E62966}"/>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18</a:t>
            </a:r>
          </a:p>
        </p:txBody>
      </p:sp>
    </p:spTree>
    <p:extLst>
      <p:ext uri="{BB962C8B-B14F-4D97-AF65-F5344CB8AC3E}">
        <p14:creationId xmlns:p14="http://schemas.microsoft.com/office/powerpoint/2010/main" val="35578140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5E5558-6D3D-4419-AB34-A274CB1C6EDC}"/>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322014-C91C-46FD-AE54-1880BE263DDD}"/>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F230A8-3FFC-4E6D-8351-21107C8D574C}"/>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Regimes: definitions and sample sizes</a:t>
            </a:r>
          </a:p>
        </p:txBody>
      </p:sp>
      <p:sp>
        <p:nvSpPr>
          <p:cNvPr id="4" name="">
            <a:extLst xmlns:a="http://schemas.openxmlformats.org/drawingml/2006/main">
              <a:ext uri="{FF2B5EF4-FFF2-40B4-BE49-F238E27FC236}">
                <a16:creationId xmlns:a16="http://schemas.microsoft.com/office/drawing/2014/main" id="{DFCBBE1D-8D0C-4815-9EC8-A51897F62AF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5. Regime change</a:t>
            </a:r>
          </a:p>
        </p:txBody>
      </p:sp>
      <p:sp>
        <p:nvSpPr>
          <p:cNvPr id="5" name="">
            <a:extLst xmlns:a="http://schemas.openxmlformats.org/drawingml/2006/main">
              <a:ext uri="{FF2B5EF4-FFF2-40B4-BE49-F238E27FC236}">
                <a16:creationId xmlns:a16="http://schemas.microsoft.com/office/drawing/2014/main" id="{A33275F8-AEDE-492C-A99A-DDDA6FC4BD3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19</a:t>
            </a:r>
          </a:p>
        </p:txBody>
      </p:sp>
      <p:graphicFrame>
        <p:nvGraphicFramePr>
          <p:cNvPr id="16" name=""/>
          <p:cNvGraphicFramePr/>
          <p:nvPr/>
        </p:nvGraphicFramePr>
        <p:xfrm>
          <a:off xmlns:a="http://schemas.openxmlformats.org/drawingml/2006/main" x="400050" y="1019175"/>
          <a:ext xmlns:a="http://schemas.openxmlformats.org/drawingml/2006/main" cx="8343900" cy="1714500"/>
        </p:xfrm>
        <a:graphic xmlns:a="http://schemas.openxmlformats.org/drawingml/2006/main">
          <a:graphicData uri="http://schemas.openxmlformats.org/drawingml/2006/table">
            <a:tbl>
              <a:tblPr/>
              <a:tblGrid>
                <a:gridCol w="2095500"/>
                <a:gridCol w="3124200"/>
                <a:gridCol w="3124200"/>
              </a:tblGrid>
              <a:tr h="571500">
                <a:tc>
                  <a:txBody>
                    <a:bodyPr/>
                    <a:lstStyle/>
                    <a:p>
                      <a:r>
                        <a:rPr sz="1425" b="1">
                          <a:solidFill>
                            <a:srgbClr val="FFFFFF"/>
                          </a:solidFill>
                          <a:latin typeface="Arial"/>
                          <a:ea typeface="Arial"/>
                          <a:cs typeface="Arial"/>
                        </a:rPr>
                        <a:t>Regime family</a:t>
                      </a:r>
                    </a:p>
                  </a:txBody>
                  <a:tcPr marL="91440" marR="91440" marT="45720" marB="45720">
                    <a:solidFill>
                      <a:srgbClr val="003262"/>
                    </a:solidFill>
                  </a:tcPr>
                </a:tc>
                <a:tc>
                  <a:txBody>
                    <a:bodyPr/>
                    <a:lstStyle/>
                    <a:p>
                      <a:r>
                        <a:rPr sz="1425" b="1">
                          <a:solidFill>
                            <a:srgbClr val="FFFFFF"/>
                          </a:solidFill>
                          <a:latin typeface="Arial"/>
                          <a:ea typeface="Arial"/>
                          <a:cs typeface="Arial"/>
                        </a:rPr>
                        <a:t>Definition</a:t>
                      </a:r>
                    </a:p>
                  </a:txBody>
                  <a:tcPr marL="91440" marR="91440" marT="45720" marB="45720">
                    <a:solidFill>
                      <a:srgbClr val="003262"/>
                    </a:solidFill>
                  </a:tcPr>
                </a:tc>
                <a:tc>
                  <a:txBody>
                    <a:bodyPr/>
                    <a:lstStyle/>
                    <a:p>
                      <a:r>
                        <a:rPr sz="1425" b="1">
                          <a:solidFill>
                            <a:srgbClr val="FFFFFF"/>
                          </a:solidFill>
                          <a:latin typeface="Arial"/>
                          <a:ea typeface="Arial"/>
                          <a:cs typeface="Arial"/>
                        </a:rPr>
                        <a:t>Test months</a:t>
                      </a:r>
                    </a:p>
                  </a:txBody>
                  <a:tcPr marL="91440" marR="91440" marT="45720" marB="45720">
                    <a:solidFill>
                      <a:srgbClr val="003262"/>
                    </a:solidFill>
                  </a:tcPr>
                </a:tc>
              </a:tr>
              <a:tr h="571500">
                <a:tc>
                  <a:txBody>
                    <a:bodyPr/>
                    <a:lstStyle/>
                    <a:p>
                      <a:r>
                        <a:rPr sz="1500" b="0">
                          <a:solidFill>
                            <a:srgbClr val="1F2A37"/>
                          </a:solidFill>
                          <a:latin typeface="Arial"/>
                          <a:ea typeface="Arial"/>
                          <a:cs typeface="Arial"/>
                        </a:rPr>
                        <a:t>Business cycle</a:t>
                      </a:r>
                    </a:p>
                  </a:txBody>
                  <a:tcPr marL="91440" marR="91440" marT="45720" marB="45720">
                    <a:solidFill>
                      <a:srgbClr val="EEF3F8"/>
                    </a:solidFill>
                  </a:tcPr>
                </a:tc>
                <a:tc>
                  <a:txBody>
                    <a:bodyPr/>
                    <a:lstStyle/>
                    <a:p>
                      <a:r>
                        <a:rPr sz="1500" b="0">
                          <a:solidFill>
                            <a:srgbClr val="1F2A37"/>
                          </a:solidFill>
                          <a:latin typeface="Arial"/>
                          <a:ea typeface="Arial"/>
                          <a:cs typeface="Arial"/>
                        </a:rPr>
                        <a:t>NBER expansion / recession</a:t>
                      </a:r>
                    </a:p>
                  </a:txBody>
                  <a:tcPr marL="91440" marR="91440" marT="45720" marB="45720">
                    <a:solidFill>
                      <a:srgbClr val="EEF3F8"/>
                    </a:solidFill>
                  </a:tcPr>
                </a:tc>
                <a:tc>
                  <a:txBody>
                    <a:bodyPr/>
                    <a:lstStyle/>
                    <a:p>
                      <a:r>
                        <a:rPr sz="1500" b="0">
                          <a:solidFill>
                            <a:srgbClr val="1F2A37"/>
                          </a:solidFill>
                          <a:latin typeface="Arial"/>
                          <a:ea typeface="Arial"/>
                          <a:cs typeface="Arial"/>
                        </a:rPr>
                        <a:t>274 / 26</a:t>
                      </a:r>
                    </a:p>
                  </a:txBody>
                  <a:tcPr marL="91440" marR="91440" marT="45720" marB="45720">
                    <a:solidFill>
                      <a:srgbClr val="EEF3F8"/>
                    </a:solidFill>
                  </a:tcPr>
                </a:tc>
              </a:tr>
              <a:tr h="571500">
                <a:tc>
                  <a:txBody>
                    <a:bodyPr/>
                    <a:lstStyle/>
                    <a:p>
                      <a:r>
                        <a:rPr sz="1500" b="0">
                          <a:solidFill>
                            <a:srgbClr val="1F2A37"/>
                          </a:solidFill>
                          <a:latin typeface="Arial"/>
                          <a:ea typeface="Arial"/>
                          <a:cs typeface="Arial"/>
                        </a:rPr>
                        <a:t>Market volatility</a:t>
                      </a:r>
                    </a:p>
                  </a:txBody>
                  <a:tcPr marL="91440" marR="91440" marT="45720" marB="45720">
                    <a:solidFill>
                      <a:srgbClr val="FFFFFF"/>
                    </a:solidFill>
                  </a:tcPr>
                </a:tc>
                <a:tc>
                  <a:txBody>
                    <a:bodyPr/>
                    <a:lstStyle/>
                    <a:p>
                      <a:r>
                        <a:rPr sz="1500" b="0">
                          <a:solidFill>
                            <a:srgbClr val="1F2A37"/>
                          </a:solidFill>
                          <a:latin typeface="Arial"/>
                          <a:ea typeface="Arial"/>
                          <a:cs typeface="Arial"/>
                        </a:rPr>
                        <a:t>High / low previous-12-month volatility</a:t>
                      </a:r>
                    </a:p>
                  </a:txBody>
                  <a:tcPr marL="91440" marR="91440" marT="45720" marB="45720">
                    <a:solidFill>
                      <a:srgbClr val="FFFFFF"/>
                    </a:solidFill>
                  </a:tcPr>
                </a:tc>
                <a:tc>
                  <a:txBody>
                    <a:bodyPr/>
                    <a:lstStyle/>
                    <a:p>
                      <a:r>
                        <a:rPr sz="1500" b="0">
                          <a:solidFill>
                            <a:srgbClr val="1F2A37"/>
                          </a:solidFill>
                          <a:latin typeface="Arial"/>
                          <a:ea typeface="Arial"/>
                          <a:cs typeface="Arial"/>
                        </a:rPr>
                        <a:t>123 / 177</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32CA22B-6AFC-459D-9663-7BE494B42B45}"/>
              </a:ext>
            </a:extLst>
          </p:cNvPr>
          <p:cNvSpPr>
            <a:spLocks xmlns:a="http://schemas.openxmlformats.org/drawingml/2006/main" noGrp="1"/>
          </p:cNvSpPr>
          <p:nvPr/>
        </p:nvSpPr>
        <p:spPr>
          <a:xfrm xmlns:a="http://schemas.openxmlformats.org/drawingml/2006/main">
            <a:off x="419100" y="30003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F2A37"/>
                </a:solidFill>
                <a:latin typeface="Arial"/>
                <a:ea typeface="Arial"/>
                <a:cs typeface="Arial"/>
              </a:defRPr>
            </a:pPr>
            <a:r>
              <a:rPr sz="1725" b="0">
                <a:solidFill>
                  <a:srgbClr val="1F2A37"/>
                </a:solidFill>
                <a:latin typeface="Arial"/>
                <a:ea typeface="Arial"/>
                <a:cs typeface="Arial"/>
              </a:rPr>
              <a:t>The volatility cutoff comes from the training sample. Recession dates are retrospective.</a:t>
            </a:r>
          </a:p>
        </p:txBody>
      </p:sp>
      <p:sp>
        <p:nvSpPr>
          <p:cNvPr id="8" name="">
            <a:extLst xmlns:a="http://schemas.openxmlformats.org/drawingml/2006/main">
              <a:ext uri="{FF2B5EF4-FFF2-40B4-BE49-F238E27FC236}">
                <a16:creationId xmlns:a16="http://schemas.microsoft.com/office/drawing/2014/main" id="{44D9039A-A541-4AD4-9CA7-494649B8D9F6}"/>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These are separate partitions. Recession estimates depend on only 26 months.</a:t>
            </a:r>
          </a:p>
        </p:txBody>
      </p:sp>
    </p:spTree>
    <p:extLst>
      <p:ext uri="{BB962C8B-B14F-4D97-AF65-F5344CB8AC3E}">
        <p14:creationId xmlns:p14="http://schemas.microsoft.com/office/powerpoint/2010/main" val="25892472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B32C6B-0C3D-4D77-9C48-765A3F8BEDF3}"/>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D69D49-5284-473F-B9AB-496A07EA59B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C492E2-AF96-48E7-9EEF-99548CB23AB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Regimes: business-cycle comparison</a:t>
            </a:r>
          </a:p>
        </p:txBody>
      </p:sp>
      <p:sp>
        <p:nvSpPr>
          <p:cNvPr id="4" name="">
            <a:extLst xmlns:a="http://schemas.openxmlformats.org/drawingml/2006/main">
              <a:ext uri="{FF2B5EF4-FFF2-40B4-BE49-F238E27FC236}">
                <a16:creationId xmlns:a16="http://schemas.microsoft.com/office/drawing/2014/main" id="{286E9791-F0C2-4BC5-8018-6AFF2C86CC89}"/>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5. Regime change</a:t>
            </a:r>
          </a:p>
        </p:txBody>
      </p:sp>
      <p:sp>
        <p:nvSpPr>
          <p:cNvPr id="5" name="">
            <a:extLst xmlns:a="http://schemas.openxmlformats.org/drawingml/2006/main">
              <a:ext uri="{FF2B5EF4-FFF2-40B4-BE49-F238E27FC236}">
                <a16:creationId xmlns:a16="http://schemas.microsoft.com/office/drawing/2014/main" id="{36DA707F-D010-48EC-8989-B1A4B30CDCC5}"/>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20</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c23385b1b04b45f5"/>
          </a:graphicData>
        </a:graphic>
      </p:graphicFrame>
      <p:sp>
        <p:nvSpPr>
          <p:cNvPr id="7" name="">
            <a:extLst xmlns:a="http://schemas.openxmlformats.org/drawingml/2006/main">
              <a:ext uri="{FF2B5EF4-FFF2-40B4-BE49-F238E27FC236}">
                <a16:creationId xmlns:a16="http://schemas.microsoft.com/office/drawing/2014/main" id="{3D72CDD7-A3AB-41D0-9B1A-33A7F1F8431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New LSTM outperforms Transformer in both groups. Code 07 exceeds authors GAN in recession.</a:t>
            </a:r>
          </a:p>
        </p:txBody>
      </p:sp>
    </p:spTree>
    <p:extLst>
      <p:ext uri="{BB962C8B-B14F-4D97-AF65-F5344CB8AC3E}">
        <p14:creationId xmlns:p14="http://schemas.microsoft.com/office/powerpoint/2010/main" val="66733447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E65F83-05D5-4C02-9ECE-FD085D95DE8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7B6EBC-6DAD-4F38-AD0B-5A3577F25D38}"/>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C77C0DB-E227-4F33-888E-1B057650452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Regimes: market-volatility comparison</a:t>
            </a:r>
          </a:p>
        </p:txBody>
      </p:sp>
      <p:sp>
        <p:nvSpPr>
          <p:cNvPr id="4" name="">
            <a:extLst xmlns:a="http://schemas.openxmlformats.org/drawingml/2006/main">
              <a:ext uri="{FF2B5EF4-FFF2-40B4-BE49-F238E27FC236}">
                <a16:creationId xmlns:a16="http://schemas.microsoft.com/office/drawing/2014/main" id="{A830DA3F-C8A3-4887-B750-BA68D87C0849}"/>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5. Regime change</a:t>
            </a:r>
          </a:p>
        </p:txBody>
      </p:sp>
      <p:sp>
        <p:nvSpPr>
          <p:cNvPr id="5" name="">
            <a:extLst xmlns:a="http://schemas.openxmlformats.org/drawingml/2006/main">
              <a:ext uri="{FF2B5EF4-FFF2-40B4-BE49-F238E27FC236}">
                <a16:creationId xmlns:a16="http://schemas.microsoft.com/office/drawing/2014/main" id="{C6499775-47F8-4350-A567-6052DC2DA8F3}"/>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21</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743024ae104c41e5"/>
          </a:graphicData>
        </a:graphic>
      </p:graphicFrame>
      <p:sp>
        <p:nvSpPr>
          <p:cNvPr id="7" name="">
            <a:extLst xmlns:a="http://schemas.openxmlformats.org/drawingml/2006/main">
              <a:ext uri="{FF2B5EF4-FFF2-40B4-BE49-F238E27FC236}">
                <a16:creationId xmlns:a16="http://schemas.microsoft.com/office/drawing/2014/main" id="{F14EFA4D-C7AB-4C14-99DB-75100A236BB1}"/>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New LSTM and Transformer are closest in low-volatility months.</a:t>
            </a:r>
          </a:p>
        </p:txBody>
      </p:sp>
    </p:spTree>
    <p:extLst>
      <p:ext uri="{BB962C8B-B14F-4D97-AF65-F5344CB8AC3E}">
        <p14:creationId xmlns:p14="http://schemas.microsoft.com/office/powerpoint/2010/main" val="167662120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E07DDD-E7B8-4EA3-9649-23508D781D75}"/>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AEA006-A383-4DD8-9A61-17200858636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64E306-5B97-4FC3-80A1-2ECF8446746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Regimes: comparison among our models</a:t>
            </a:r>
          </a:p>
        </p:txBody>
      </p:sp>
      <p:sp>
        <p:nvSpPr>
          <p:cNvPr id="4" name="">
            <a:extLst xmlns:a="http://schemas.openxmlformats.org/drawingml/2006/main">
              <a:ext uri="{FF2B5EF4-FFF2-40B4-BE49-F238E27FC236}">
                <a16:creationId xmlns:a16="http://schemas.microsoft.com/office/drawing/2014/main" id="{EDEF3DD9-A8F5-4FC0-B80F-F53973C90AC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5. Regime change</a:t>
            </a:r>
          </a:p>
        </p:txBody>
      </p:sp>
      <p:sp>
        <p:nvSpPr>
          <p:cNvPr id="5" name="">
            <a:extLst xmlns:a="http://schemas.openxmlformats.org/drawingml/2006/main">
              <a:ext uri="{FF2B5EF4-FFF2-40B4-BE49-F238E27FC236}">
                <a16:creationId xmlns:a16="http://schemas.microsoft.com/office/drawing/2014/main" id="{C2C842B4-2656-4E27-8170-29C06494A6C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2934f8d747c4605"/>
          <a:stretch xmlns:a="http://schemas.openxmlformats.org/drawingml/2006/main"/>
        </p:blipFill>
        <p:spPr>
          <a:xfrm xmlns:a="http://schemas.openxmlformats.org/drawingml/2006/main">
            <a:off x="266700" y="948418"/>
            <a:ext cx="8610600" cy="30752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90AED53-B374-4B7A-A12E-21DB511BB2FF}"/>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Conditional monthly Sharpe. These regime estimates do not include confidence intervals.</a:t>
            </a:r>
          </a:p>
        </p:txBody>
      </p:sp>
    </p:spTree>
    <p:extLst>
      <p:ext uri="{BB962C8B-B14F-4D97-AF65-F5344CB8AC3E}">
        <p14:creationId xmlns:p14="http://schemas.microsoft.com/office/powerpoint/2010/main" val="207681402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7980B7-6EC6-4E30-9639-EA453C03456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B52ECF-E0E9-401B-B1D8-65EEB89FB45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69C9A96-536E-4FBF-BCAA-A1D0728CC366}"/>
              </a:ext>
            </a:extLst>
          </p:cNvPr>
          <p:cNvSpPr>
            <a:spLocks xmlns:a="http://schemas.openxmlformats.org/drawingml/2006/main" noGrp="1"/>
          </p:cNvSpPr>
          <p:nvPr/>
        </p:nvSpPr>
        <p:spPr>
          <a:xfrm xmlns:a="http://schemas.openxmlformats.org/drawingml/2006/main">
            <a:off x="400050" y="10096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Part 6</a:t>
            </a:r>
          </a:p>
        </p:txBody>
      </p:sp>
      <p:sp>
        <p:nvSpPr>
          <p:cNvPr id="14" name="">
            <a:extLst xmlns:a="http://schemas.openxmlformats.org/drawingml/2006/main">
              <a:ext uri="{FF2B5EF4-FFF2-40B4-BE49-F238E27FC236}">
                <a16:creationId xmlns:a16="http://schemas.microsoft.com/office/drawing/2014/main" id="{0B242768-987B-4243-9034-C0837010034D}"/>
              </a:ext>
            </a:extLst>
          </p:cNvPr>
          <p:cNvSpPr>
            <a:spLocks xmlns:a="http://schemas.openxmlformats.org/drawingml/2006/main" noGrp="1"/>
          </p:cNvSpPr>
          <p:nvPr/>
        </p:nvSpPr>
        <p:spPr>
          <a:xfrm xmlns:a="http://schemas.openxmlformats.org/drawingml/2006/main">
            <a:off x="381000" y="1676400"/>
            <a:ext cx="83629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03262"/>
                </a:solidFill>
                <a:latin typeface="Arial"/>
                <a:ea typeface="Arial"/>
                <a:cs typeface="Arial"/>
              </a:defRPr>
            </a:pPr>
            <a:r>
              <a:rPr sz="3600" b="1">
                <a:solidFill>
                  <a:srgbClr val="003262"/>
                </a:solidFill>
                <a:latin typeface="Arial"/>
                <a:ea typeface="Arial"/>
                <a:cs typeface="Arial"/>
              </a:rPr>
              <a:t>Uncertainty</a:t>
            </a:r>
          </a:p>
        </p:txBody>
      </p:sp>
      <p:sp>
        <p:nvSpPr>
          <p:cNvPr id="15" name="">
            <a:extLst xmlns:a="http://schemas.openxmlformats.org/drawingml/2006/main">
              <a:ext uri="{FF2B5EF4-FFF2-40B4-BE49-F238E27FC236}">
                <a16:creationId xmlns:a16="http://schemas.microsoft.com/office/drawing/2014/main" id="{1CA9D89E-69F9-40C9-8AD4-DB63765DFD4D}"/>
              </a:ext>
            </a:extLst>
          </p:cNvPr>
          <p:cNvSpPr>
            <a:spLocks xmlns:a="http://schemas.openxmlformats.org/drawingml/2006/main" noGrp="1"/>
          </p:cNvSpPr>
          <p:nvPr/>
        </p:nvSpPr>
        <p:spPr>
          <a:xfrm xmlns:a="http://schemas.openxmlformats.org/drawingml/2006/main">
            <a:off x="419100" y="2705100"/>
            <a:ext cx="8058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A37"/>
                </a:solidFill>
                <a:latin typeface="Arial"/>
                <a:ea typeface="Arial"/>
                <a:cs typeface="Arial"/>
              </a:defRPr>
            </a:pPr>
            <a:r>
              <a:rPr sz="1875" b="0">
                <a:solidFill>
                  <a:srgbClr val="1F2A37"/>
                </a:solidFill>
                <a:latin typeface="Arial"/>
                <a:ea typeface="Arial"/>
                <a:cs typeface="Arial"/>
              </a:rPr>
              <a:t>Extension 4. How precisely do we estimate the differences in Sharpe ratios?</a:t>
            </a:r>
          </a:p>
        </p:txBody>
      </p:sp>
      <p:sp>
        <p:nvSpPr>
          <p:cNvPr id="16" name="">
            <a:extLst xmlns:a="http://schemas.openxmlformats.org/drawingml/2006/main">
              <a:ext uri="{FF2B5EF4-FFF2-40B4-BE49-F238E27FC236}">
                <a16:creationId xmlns:a16="http://schemas.microsoft.com/office/drawing/2014/main" id="{79957B78-BFE5-48EA-8A99-AF7B5746B66F}"/>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17" name="">
            <a:extLst xmlns:a="http://schemas.openxmlformats.org/drawingml/2006/main">
              <a:ext uri="{FF2B5EF4-FFF2-40B4-BE49-F238E27FC236}">
                <a16:creationId xmlns:a16="http://schemas.microsoft.com/office/drawing/2014/main" id="{073FED2B-49F6-4F86-8515-A05AE43A3DF3}"/>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23</a:t>
            </a:r>
          </a:p>
        </p:txBody>
      </p:sp>
    </p:spTree>
    <p:extLst>
      <p:ext uri="{BB962C8B-B14F-4D97-AF65-F5344CB8AC3E}">
        <p14:creationId xmlns:p14="http://schemas.microsoft.com/office/powerpoint/2010/main" val="35578140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66F3AD-AB2C-46C9-A764-C82928CDD4CD}"/>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5C9FE0-4892-415D-BDDA-B96FA887205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D8B698-64C8-4609-9EBC-EBD49393650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paired block-bootstrap method</a:t>
            </a:r>
          </a:p>
        </p:txBody>
      </p:sp>
      <p:sp>
        <p:nvSpPr>
          <p:cNvPr id="4" name="">
            <a:extLst xmlns:a="http://schemas.openxmlformats.org/drawingml/2006/main">
              <a:ext uri="{FF2B5EF4-FFF2-40B4-BE49-F238E27FC236}">
                <a16:creationId xmlns:a16="http://schemas.microsoft.com/office/drawing/2014/main" id="{29C225ED-7FEF-4671-B713-F8C687A0375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33563EF8-0359-4721-8AFE-4463B97AA99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24</a:t>
            </a:r>
          </a:p>
        </p:txBody>
      </p:sp>
      <p:sp>
        <p:nvSpPr>
          <p:cNvPr id="6" name="">
            <a:extLst xmlns:a="http://schemas.openxmlformats.org/drawingml/2006/main">
              <a:ext uri="{FF2B5EF4-FFF2-40B4-BE49-F238E27FC236}">
                <a16:creationId xmlns:a16="http://schemas.microsoft.com/office/drawing/2014/main" id="{138AFE0C-3AD8-4E92-BD2D-4ACC96E8FA61}"/>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A paired comparison</a:t>
            </a:r>
          </a:p>
        </p:txBody>
      </p:sp>
      <p:sp>
        <p:nvSpPr>
          <p:cNvPr id="7" name="">
            <a:extLst xmlns:a="http://schemas.openxmlformats.org/drawingml/2006/main">
              <a:ext uri="{FF2B5EF4-FFF2-40B4-BE49-F238E27FC236}">
                <a16:creationId xmlns:a16="http://schemas.microsoft.com/office/drawing/2014/main" id="{5993ECE0-97F2-49A1-BC12-08E6FF6AF35E}"/>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Resample the same months for every portfolio, so each draw preserves the return pairing.</a:t>
            </a:r>
          </a:p>
        </p:txBody>
      </p:sp>
      <p:sp>
        <p:nvSpPr>
          <p:cNvPr id="8" name="">
            <a:extLst xmlns:a="http://schemas.openxmlformats.org/drawingml/2006/main">
              <a:ext uri="{FF2B5EF4-FFF2-40B4-BE49-F238E27FC236}">
                <a16:creationId xmlns:a16="http://schemas.microsoft.com/office/drawing/2014/main" id="{C2369161-785C-41B1-80A0-461909545B1F}"/>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Contiguous blocks</a:t>
            </a:r>
          </a:p>
        </p:txBody>
      </p:sp>
      <p:sp>
        <p:nvSpPr>
          <p:cNvPr id="9" name="">
            <a:extLst xmlns:a="http://schemas.openxmlformats.org/drawingml/2006/main">
              <a:ext uri="{FF2B5EF4-FFF2-40B4-BE49-F238E27FC236}">
                <a16:creationId xmlns:a16="http://schemas.microsoft.com/office/drawing/2014/main" id="{6573144A-7C4E-4F95-B692-BE2575E00598}"/>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Use 10,000 draws and compare 6-, 12- and 24-month blocks to assess dependence sensitivity.</a:t>
            </a:r>
          </a:p>
        </p:txBody>
      </p:sp>
      <p:sp>
        <p:nvSpPr>
          <p:cNvPr id="10" name="">
            <a:extLst xmlns:a="http://schemas.openxmlformats.org/drawingml/2006/main">
              <a:ext uri="{FF2B5EF4-FFF2-40B4-BE49-F238E27FC236}">
                <a16:creationId xmlns:a16="http://schemas.microsoft.com/office/drawing/2014/main" id="{BC0E5994-7FD4-4157-BDB8-1CA6EEE6D604}"/>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The question</a:t>
            </a:r>
          </a:p>
        </p:txBody>
      </p:sp>
      <p:sp>
        <p:nvSpPr>
          <p:cNvPr id="11" name="">
            <a:extLst xmlns:a="http://schemas.openxmlformats.org/drawingml/2006/main">
              <a:ext uri="{FF2B5EF4-FFF2-40B4-BE49-F238E27FC236}">
                <a16:creationId xmlns:a16="http://schemas.microsoft.com/office/drawing/2014/main" id="{F757DF67-3D67-473D-A364-4185B4C4ED3F}"/>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Does a positive observed Sharpe gap remain distinguishable from zero under the bootstrap assumptions?</a:t>
            </a:r>
          </a:p>
        </p:txBody>
      </p:sp>
      <p:sp>
        <p:nvSpPr>
          <p:cNvPr id="12" name="">
            <a:extLst xmlns:a="http://schemas.openxmlformats.org/drawingml/2006/main">
              <a:ext uri="{FF2B5EF4-FFF2-40B4-BE49-F238E27FC236}">
                <a16:creationId xmlns:a16="http://schemas.microsoft.com/office/drawing/2014/main" id="{FD0FE993-7D27-405F-BAC3-E410ABA9104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Uncertainty concerns the return sample, conditional on the saved models.</a:t>
            </a:r>
          </a:p>
        </p:txBody>
      </p:sp>
    </p:spTree>
    <p:extLst>
      <p:ext uri="{BB962C8B-B14F-4D97-AF65-F5344CB8AC3E}">
        <p14:creationId xmlns:p14="http://schemas.microsoft.com/office/powerpoint/2010/main" val="146776759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373195-FBC3-44DA-B1AF-D529FE88CE54}"/>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1FBE87-149A-40D1-BD61-CDDD3C9D2F45}"/>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7FF820-30EE-4631-9070-8C36B8E2A08B}"/>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model Sharpe intervals</a:t>
            </a:r>
          </a:p>
        </p:txBody>
      </p:sp>
      <p:sp>
        <p:nvSpPr>
          <p:cNvPr id="4" name="">
            <a:extLst xmlns:a="http://schemas.openxmlformats.org/drawingml/2006/main">
              <a:ext uri="{FF2B5EF4-FFF2-40B4-BE49-F238E27FC236}">
                <a16:creationId xmlns:a16="http://schemas.microsoft.com/office/drawing/2014/main" id="{DDE91750-1914-4238-AFB3-BBD5310842E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7475D90D-55A5-4ABB-9C86-5FE9FD712B9B}"/>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c82657ed18347e4"/>
          <a:stretch xmlns:a="http://schemas.openxmlformats.org/drawingml/2006/main"/>
        </p:blipFill>
        <p:spPr>
          <a:xfrm xmlns:a="http://schemas.openxmlformats.org/drawingml/2006/main">
            <a:off x="952500" y="857250"/>
            <a:ext cx="7239000" cy="3257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D3F9032-17EE-4A21-8820-36E9934DBA0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Monthly test Sharpe, with 95% basic intervals using 12-month blocks.</a:t>
            </a:r>
          </a:p>
        </p:txBody>
      </p:sp>
    </p:spTree>
    <p:extLst>
      <p:ext uri="{BB962C8B-B14F-4D97-AF65-F5344CB8AC3E}">
        <p14:creationId xmlns:p14="http://schemas.microsoft.com/office/powerpoint/2010/main" val="15868008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CBEAE4-DF3D-49AC-AC77-3827D0C8A476}"/>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711BCB-0BD7-4367-BC9A-E3DEAC4DC03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518004-C98E-4EF1-B645-A32BD34E91F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paired Sharpe differences</a:t>
            </a:r>
          </a:p>
        </p:txBody>
      </p:sp>
      <p:sp>
        <p:nvSpPr>
          <p:cNvPr id="4" name="">
            <a:extLst xmlns:a="http://schemas.openxmlformats.org/drawingml/2006/main">
              <a:ext uri="{FF2B5EF4-FFF2-40B4-BE49-F238E27FC236}">
                <a16:creationId xmlns:a16="http://schemas.microsoft.com/office/drawing/2014/main" id="{C13BD07D-E50E-4FED-84C3-175A0A2A1A6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FA565141-3A51-404A-9DA1-2E8A04D56C2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26</a:t>
            </a:r>
          </a:p>
        </p:txBody>
      </p:sp>
      <p:graphicFrame>
        <p:nvGraphicFramePr>
          <p:cNvPr id="16" name=""/>
          <p:cNvGraphicFramePr/>
          <p:nvPr/>
        </p:nvGraphicFramePr>
        <p:xfrm>
          <a:off xmlns:a="http://schemas.openxmlformats.org/drawingml/2006/main" x="400050" y="1019175"/>
          <a:ext xmlns:a="http://schemas.openxmlformats.org/drawingml/2006/main" cx="8343900" cy="2571750"/>
        </p:xfrm>
        <a:graphic xmlns:a="http://schemas.openxmlformats.org/drawingml/2006/main">
          <a:graphicData uri="http://schemas.openxmlformats.org/drawingml/2006/table">
            <a:tbl>
              <a:tblPr/>
              <a:tblGrid>
                <a:gridCol w="2857500"/>
                <a:gridCol w="1828800"/>
                <a:gridCol w="1828800"/>
                <a:gridCol w="1828800"/>
              </a:tblGrid>
              <a:tr h="642938">
                <a:tc>
                  <a:txBody>
                    <a:bodyPr/>
                    <a:lstStyle/>
                    <a:p>
                      <a:r>
                        <a:rPr sz="1425" b="1">
                          <a:solidFill>
                            <a:srgbClr val="FFFFFF"/>
                          </a:solidFill>
                          <a:latin typeface="Arial"/>
                          <a:ea typeface="Arial"/>
                          <a:cs typeface="Arial"/>
                        </a:rPr>
                        <a:t>A minus B</a:t>
                      </a:r>
                    </a:p>
                  </a:txBody>
                  <a:tcPr marL="91440" marR="91440" marT="45720" marB="45720">
                    <a:solidFill>
                      <a:srgbClr val="003262"/>
                    </a:solidFill>
                  </a:tcPr>
                </a:tc>
                <a:tc>
                  <a:txBody>
                    <a:bodyPr/>
                    <a:lstStyle/>
                    <a:p>
                      <a:r>
                        <a:rPr sz="1425" b="1">
                          <a:solidFill>
                            <a:srgbClr val="FFFFFF"/>
                          </a:solidFill>
                          <a:latin typeface="Arial"/>
                          <a:ea typeface="Arial"/>
                          <a:cs typeface="Arial"/>
                        </a:rPr>
                        <a:t>Difference</a:t>
                      </a:r>
                    </a:p>
                  </a:txBody>
                  <a:tcPr marL="91440" marR="91440" marT="45720" marB="45720">
                    <a:solidFill>
                      <a:srgbClr val="003262"/>
                    </a:solidFill>
                  </a:tcPr>
                </a:tc>
                <a:tc>
                  <a:txBody>
                    <a:bodyPr/>
                    <a:lstStyle/>
                    <a:p>
                      <a:r>
                        <a:rPr sz="1425" b="1">
                          <a:solidFill>
                            <a:srgbClr val="FFFFFF"/>
                          </a:solidFill>
                          <a:latin typeface="Arial"/>
                          <a:ea typeface="Arial"/>
                          <a:cs typeface="Arial"/>
                        </a:rPr>
                        <a:t>95% basic</a:t>
                      </a:r>
                    </a:p>
                  </a:txBody>
                  <a:tcPr marL="91440" marR="91440" marT="45720" marB="45720">
                    <a:solidFill>
                      <a:srgbClr val="003262"/>
                    </a:solidFill>
                  </a:tcPr>
                </a:tc>
                <a:tc>
                  <a:txBody>
                    <a:bodyPr/>
                    <a:lstStyle/>
                    <a:p>
                      <a:r>
                        <a:rPr sz="1425" b="1">
                          <a:solidFill>
                            <a:srgbClr val="FFFFFF"/>
                          </a:solidFill>
                          <a:latin typeface="Arial"/>
                          <a:ea typeface="Arial"/>
                          <a:cs typeface="Arial"/>
                        </a:rPr>
                        <a:t>95% simultaneous</a:t>
                      </a:r>
                    </a:p>
                  </a:txBody>
                  <a:tcPr marL="91440" marR="91440" marT="45720" marB="45720">
                    <a:solidFill>
                      <a:srgbClr val="003262"/>
                    </a:solidFill>
                  </a:tcPr>
                </a:tc>
              </a:tr>
              <a:tr h="642938">
                <a:tc>
                  <a:txBody>
                    <a:bodyPr/>
                    <a:lstStyle/>
                    <a:p>
                      <a:r>
                        <a:rPr sz="1500" b="0">
                          <a:solidFill>
                            <a:srgbClr val="1F2A37"/>
                          </a:solidFill>
                          <a:latin typeface="Arial"/>
                          <a:ea typeface="Arial"/>
                          <a:cs typeface="Arial"/>
                        </a:rPr>
                        <a:t>Paper GAN minus</a:t>
                      </a:r>
                    </a:p>
                    <a:p>
                      <a:r>
                        <a:rPr sz="1500" b="0">
                          <a:solidFill>
                            <a:srgbClr val="1F2A37"/>
                          </a:solidFill>
                          <a:latin typeface="Arial"/>
                          <a:ea typeface="Arial"/>
                          <a:cs typeface="Arial"/>
                        </a:rPr>
                        <a:t>Replicated GAN</a:t>
                      </a:r>
                    </a:p>
                  </a:txBody>
                  <a:tcPr marL="91440" marR="91440" marT="45720" marB="45720">
                    <a:solidFill>
                      <a:srgbClr val="EEF3F8"/>
                    </a:solidFill>
                  </a:tcPr>
                </a:tc>
                <a:tc>
                  <a:txBody>
                    <a:bodyPr/>
                    <a:lstStyle/>
                    <a:p>
                      <a:r>
                        <a:rPr sz="1500" b="0">
                          <a:solidFill>
                            <a:srgbClr val="1F2A37"/>
                          </a:solidFill>
                          <a:latin typeface="Arial"/>
                          <a:ea typeface="Arial"/>
                          <a:cs typeface="Arial"/>
                        </a:rPr>
                        <a:t>0.138</a:t>
                      </a:r>
                    </a:p>
                  </a:txBody>
                  <a:tcPr marL="91440" marR="91440" marT="45720" marB="45720">
                    <a:solidFill>
                      <a:srgbClr val="EEF3F8"/>
                    </a:solidFill>
                  </a:tcPr>
                </a:tc>
                <a:tc>
                  <a:txBody>
                    <a:bodyPr/>
                    <a:lstStyle/>
                    <a:p>
                      <a:r>
                        <a:rPr sz="1500" b="0">
                          <a:solidFill>
                            <a:srgbClr val="1F2A37"/>
                          </a:solidFill>
                          <a:latin typeface="Arial"/>
                          <a:ea typeface="Arial"/>
                          <a:cs typeface="Arial"/>
                        </a:rPr>
                        <a:t>[-0.037, 0.256]</a:t>
                      </a:r>
                    </a:p>
                  </a:txBody>
                  <a:tcPr marL="91440" marR="91440" marT="45720" marB="45720">
                    <a:solidFill>
                      <a:srgbClr val="EEF3F8"/>
                    </a:solidFill>
                  </a:tcPr>
                </a:tc>
                <a:tc>
                  <a:txBody>
                    <a:bodyPr/>
                    <a:lstStyle/>
                    <a:p>
                      <a:r>
                        <a:rPr sz="1500" b="0">
                          <a:solidFill>
                            <a:srgbClr val="1F2A37"/>
                          </a:solidFill>
                          <a:latin typeface="Arial"/>
                          <a:ea typeface="Arial"/>
                          <a:cs typeface="Arial"/>
                        </a:rPr>
                        <a:t>[-0.148, 0.425]</a:t>
                      </a:r>
                    </a:p>
                  </a:txBody>
                  <a:tcPr marL="91440" marR="91440" marT="45720" marB="45720">
                    <a:solidFill>
                      <a:srgbClr val="EEF3F8"/>
                    </a:solidFill>
                  </a:tcPr>
                </a:tc>
              </a:tr>
              <a:tr h="642938">
                <a:tc>
                  <a:txBody>
                    <a:bodyPr/>
                    <a:lstStyle/>
                    <a:p>
                      <a:r>
                        <a:rPr sz="1500" b="0">
                          <a:solidFill>
                            <a:srgbClr val="1F2A37"/>
                          </a:solidFill>
                          <a:latin typeface="Arial"/>
                          <a:ea typeface="Arial"/>
                          <a:cs typeface="Arial"/>
                        </a:rPr>
                        <a:t>Extension LSTM minus</a:t>
                      </a:r>
                    </a:p>
                    <a:p>
                      <a:r>
                        <a:rPr sz="1500" b="0">
                          <a:solidFill>
                            <a:srgbClr val="1F2A37"/>
                          </a:solidFill>
                          <a:latin typeface="Arial"/>
                          <a:ea typeface="Arial"/>
                          <a:cs typeface="Arial"/>
                        </a:rPr>
                        <a:t>Transformer</a:t>
                      </a:r>
                    </a:p>
                  </a:txBody>
                  <a:tcPr marL="91440" marR="91440" marT="45720" marB="45720">
                    <a:solidFill>
                      <a:srgbClr val="FFFFFF"/>
                    </a:solidFill>
                  </a:tcPr>
                </a:tc>
                <a:tc>
                  <a:txBody>
                    <a:bodyPr/>
                    <a:lstStyle/>
                    <a:p>
                      <a:r>
                        <a:rPr sz="1500" b="0">
                          <a:solidFill>
                            <a:srgbClr val="1F2A37"/>
                          </a:solidFill>
                          <a:latin typeface="Arial"/>
                          <a:ea typeface="Arial"/>
                          <a:cs typeface="Arial"/>
                        </a:rPr>
                        <a:t>0.155</a:t>
                      </a:r>
                    </a:p>
                  </a:txBody>
                  <a:tcPr marL="91440" marR="91440" marT="45720" marB="45720">
                    <a:solidFill>
                      <a:srgbClr val="FFFFFF"/>
                    </a:solidFill>
                  </a:tcPr>
                </a:tc>
                <a:tc>
                  <a:txBody>
                    <a:bodyPr/>
                    <a:lstStyle/>
                    <a:p>
                      <a:r>
                        <a:rPr sz="1500" b="0">
                          <a:solidFill>
                            <a:srgbClr val="1F2A37"/>
                          </a:solidFill>
                          <a:latin typeface="Arial"/>
                          <a:ea typeface="Arial"/>
                          <a:cs typeface="Arial"/>
                        </a:rPr>
                        <a:t>[-0.049, 0.365]</a:t>
                      </a:r>
                    </a:p>
                  </a:txBody>
                  <a:tcPr marL="91440" marR="91440" marT="45720" marB="45720">
                    <a:solidFill>
                      <a:srgbClr val="FFFFFF"/>
                    </a:solidFill>
                  </a:tcPr>
                </a:tc>
                <a:tc>
                  <a:txBody>
                    <a:bodyPr/>
                    <a:lstStyle/>
                    <a:p>
                      <a:r>
                        <a:rPr sz="1500" b="0">
                          <a:solidFill>
                            <a:srgbClr val="1F2A37"/>
                          </a:solidFill>
                          <a:latin typeface="Arial"/>
                          <a:ea typeface="Arial"/>
                          <a:cs typeface="Arial"/>
                        </a:rPr>
                        <a:t>[-0.132, 0.441]</a:t>
                      </a:r>
                    </a:p>
                  </a:txBody>
                  <a:tcPr marL="91440" marR="91440" marT="45720" marB="45720">
                    <a:solidFill>
                      <a:srgbClr val="FFFFFF"/>
                    </a:solidFill>
                  </a:tcPr>
                </a:tc>
              </a:tr>
              <a:tr h="642938">
                <a:tc>
                  <a:txBody>
                    <a:bodyPr/>
                    <a:lstStyle/>
                    <a:p>
                      <a:r>
                        <a:rPr sz="1500" b="0">
                          <a:solidFill>
                            <a:srgbClr val="1F2A37"/>
                          </a:solidFill>
                          <a:latin typeface="Arial"/>
                          <a:ea typeface="Arial"/>
                          <a:cs typeface="Arial"/>
                        </a:rPr>
                        <a:t>Extension LSTM minus</a:t>
                      </a:r>
                    </a:p>
                    <a:p>
                      <a:r>
                        <a:rPr sz="150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500" b="0">
                          <a:solidFill>
                            <a:srgbClr val="1F2A37"/>
                          </a:solidFill>
                          <a:latin typeface="Arial"/>
                          <a:ea typeface="Arial"/>
                          <a:cs typeface="Arial"/>
                        </a:rPr>
                        <a:t>-0.004</a:t>
                      </a:r>
                    </a:p>
                  </a:txBody>
                  <a:tcPr marL="91440" marR="91440" marT="45720" marB="45720">
                    <a:solidFill>
                      <a:srgbClr val="EEF3F8"/>
                    </a:solidFill>
                  </a:tcPr>
                </a:tc>
                <a:tc>
                  <a:txBody>
                    <a:bodyPr/>
                    <a:lstStyle/>
                    <a:p>
                      <a:r>
                        <a:rPr sz="1500" b="0">
                          <a:solidFill>
                            <a:srgbClr val="1F2A37"/>
                          </a:solidFill>
                          <a:latin typeface="Arial"/>
                          <a:ea typeface="Arial"/>
                          <a:cs typeface="Arial"/>
                        </a:rPr>
                        <a:t>[-0.132, 0.119]</a:t>
                      </a:r>
                    </a:p>
                  </a:txBody>
                  <a:tcPr marL="91440" marR="91440" marT="45720" marB="45720">
                    <a:solidFill>
                      <a:srgbClr val="EEF3F8"/>
                    </a:solidFill>
                  </a:tcPr>
                </a:tc>
                <a:tc>
                  <a:txBody>
                    <a:bodyPr/>
                    <a:lstStyle/>
                    <a:p>
                      <a:r>
                        <a:rPr sz="1500" b="0">
                          <a:solidFill>
                            <a:srgbClr val="1F2A37"/>
                          </a:solidFill>
                          <a:latin typeface="Arial"/>
                          <a:ea typeface="Arial"/>
                          <a:cs typeface="Arial"/>
                        </a:rPr>
                        <a:t>[-0.290, 0.283]</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48BC5BE1-AD53-4907-9DA1-64D2556CB971}"/>
              </a:ext>
            </a:extLst>
          </p:cNvPr>
          <p:cNvSpPr>
            <a:spLocks xmlns:a="http://schemas.openxmlformats.org/drawingml/2006/main" noGrp="1"/>
          </p:cNvSpPr>
          <p:nvPr/>
        </p:nvSpPr>
        <p:spPr>
          <a:xfrm xmlns:a="http://schemas.openxmlformats.org/drawingml/2006/main">
            <a:off x="419100" y="3771900"/>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F2A37"/>
                </a:solidFill>
                <a:latin typeface="Arial"/>
                <a:ea typeface="Arial"/>
                <a:cs typeface="Arial"/>
              </a:defRPr>
            </a:pPr>
            <a:r>
              <a:rPr sz="1650" b="0">
                <a:solidFill>
                  <a:srgbClr val="1F2A37"/>
                </a:solidFill>
                <a:latin typeface="Arial"/>
                <a:ea typeface="Arial"/>
                <a:cs typeface="Arial"/>
              </a:rPr>
              <a:t>A positive point estimate can coexist with an interval containing zero.</a:t>
            </a:r>
          </a:p>
        </p:txBody>
      </p:sp>
      <p:sp>
        <p:nvSpPr>
          <p:cNvPr id="8" name="">
            <a:extLst xmlns:a="http://schemas.openxmlformats.org/drawingml/2006/main">
              <a:ext uri="{FF2B5EF4-FFF2-40B4-BE49-F238E27FC236}">
                <a16:creationId xmlns:a16="http://schemas.microsoft.com/office/drawing/2014/main" id="{3BAF0132-950B-4822-BA33-0A7136420AC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LSTM minus Transformer is 0.155, with basic interval spanning zero.</a:t>
            </a:r>
          </a:p>
        </p:txBody>
      </p:sp>
    </p:spTree>
    <p:extLst>
      <p:ext uri="{BB962C8B-B14F-4D97-AF65-F5344CB8AC3E}">
        <p14:creationId xmlns:p14="http://schemas.microsoft.com/office/powerpoint/2010/main" val="166096934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EB1B30-0853-4DA0-97CD-2993BCA305C8}"/>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8C2F95-B81F-426F-9E9F-6081E9658F5E}"/>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176AED-8911-4C81-9281-3A0AE94C2E5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interval-method comparison</a:t>
            </a:r>
          </a:p>
        </p:txBody>
      </p:sp>
      <p:sp>
        <p:nvSpPr>
          <p:cNvPr id="4" name="">
            <a:extLst xmlns:a="http://schemas.openxmlformats.org/drawingml/2006/main">
              <a:ext uri="{FF2B5EF4-FFF2-40B4-BE49-F238E27FC236}">
                <a16:creationId xmlns:a16="http://schemas.microsoft.com/office/drawing/2014/main" id="{20F88C12-923E-4A21-9A5F-02167A3AD92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7E08404D-C2F7-4875-B159-8BB686B1CD71}"/>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27</a:t>
            </a:r>
          </a:p>
        </p:txBody>
      </p:sp>
      <p:graphicFrame>
        <p:nvGraphicFramePr>
          <p:cNvPr id="16" name=""/>
          <p:cNvGraphicFramePr/>
          <p:nvPr/>
        </p:nvGraphicFramePr>
        <p:xfrm>
          <a:off xmlns:a="http://schemas.openxmlformats.org/drawingml/2006/main" x="400050" y="1019175"/>
          <a:ext xmlns:a="http://schemas.openxmlformats.org/drawingml/2006/main" cx="8343900" cy="2571750"/>
        </p:xfrm>
        <a:graphic xmlns:a="http://schemas.openxmlformats.org/drawingml/2006/main">
          <a:graphicData uri="http://schemas.openxmlformats.org/drawingml/2006/table">
            <a:tbl>
              <a:tblPr/>
              <a:tblGrid>
                <a:gridCol w="3238500"/>
                <a:gridCol w="1701800"/>
                <a:gridCol w="1701800"/>
                <a:gridCol w="1701800"/>
              </a:tblGrid>
              <a:tr h="642938">
                <a:tc>
                  <a:txBody>
                    <a:bodyPr/>
                    <a:lstStyle/>
                    <a:p>
                      <a:r>
                        <a:rPr sz="1425" b="1">
                          <a:solidFill>
                            <a:srgbClr val="FFFFFF"/>
                          </a:solidFill>
                          <a:latin typeface="Arial"/>
                          <a:ea typeface="Arial"/>
                          <a:cs typeface="Arial"/>
                        </a:rPr>
                        <a:t>A minus B</a:t>
                      </a:r>
                    </a:p>
                  </a:txBody>
                  <a:tcPr marL="91440" marR="91440" marT="45720" marB="45720">
                    <a:solidFill>
                      <a:srgbClr val="003262"/>
                    </a:solidFill>
                  </a:tcPr>
                </a:tc>
                <a:tc>
                  <a:txBody>
                    <a:bodyPr/>
                    <a:lstStyle/>
                    <a:p>
                      <a:r>
                        <a:rPr sz="1425" b="1">
                          <a:solidFill>
                            <a:srgbClr val="FFFFFF"/>
                          </a:solidFill>
                          <a:latin typeface="Arial"/>
                          <a:ea typeface="Arial"/>
                          <a:cs typeface="Arial"/>
                        </a:rPr>
                        <a:t>Basic</a:t>
                      </a:r>
                    </a:p>
                  </a:txBody>
                  <a:tcPr marL="91440" marR="91440" marT="45720" marB="45720">
                    <a:solidFill>
                      <a:srgbClr val="003262"/>
                    </a:solidFill>
                  </a:tcPr>
                </a:tc>
                <a:tc>
                  <a:txBody>
                    <a:bodyPr/>
                    <a:lstStyle/>
                    <a:p>
                      <a:r>
                        <a:rPr sz="1425" b="1">
                          <a:solidFill>
                            <a:srgbClr val="FFFFFF"/>
                          </a:solidFill>
                          <a:latin typeface="Arial"/>
                          <a:ea typeface="Arial"/>
                          <a:cs typeface="Arial"/>
                        </a:rPr>
                        <a:t>Percentile</a:t>
                      </a:r>
                    </a:p>
                  </a:txBody>
                  <a:tcPr marL="91440" marR="91440" marT="45720" marB="45720">
                    <a:solidFill>
                      <a:srgbClr val="003262"/>
                    </a:solidFill>
                  </a:tcPr>
                </a:tc>
                <a:tc>
                  <a:txBody>
                    <a:bodyPr/>
                    <a:lstStyle/>
                    <a:p>
                      <a:r>
                        <a:rPr sz="1425" b="1">
                          <a:solidFill>
                            <a:srgbClr val="FFFFFF"/>
                          </a:solidFill>
                          <a:latin typeface="Arial"/>
                          <a:ea typeface="Arial"/>
                          <a:cs typeface="Arial"/>
                        </a:rPr>
                        <a:t>Simultaneous</a:t>
                      </a:r>
                    </a:p>
                  </a:txBody>
                  <a:tcPr marL="91440" marR="91440" marT="45720" marB="45720">
                    <a:solidFill>
                      <a:srgbClr val="003262"/>
                    </a:solidFill>
                  </a:tcPr>
                </a:tc>
              </a:tr>
              <a:tr h="642938">
                <a:tc>
                  <a:txBody>
                    <a:bodyPr/>
                    <a:lstStyle/>
                    <a:p>
                      <a:r>
                        <a:rPr sz="1500" b="0">
                          <a:solidFill>
                            <a:srgbClr val="1F2A37"/>
                          </a:solidFill>
                          <a:latin typeface="Arial"/>
                          <a:ea typeface="Arial"/>
                          <a:cs typeface="Arial"/>
                        </a:rPr>
                        <a:t>Paper GAN minus</a:t>
                      </a:r>
                    </a:p>
                    <a:p>
                      <a:r>
                        <a:rPr sz="1500" b="0">
                          <a:solidFill>
                            <a:srgbClr val="1F2A37"/>
                          </a:solidFill>
                          <a:latin typeface="Arial"/>
                          <a:ea typeface="Arial"/>
                          <a:cs typeface="Arial"/>
                        </a:rPr>
                        <a:t>Replicated GAN</a:t>
                      </a:r>
                    </a:p>
                  </a:txBody>
                  <a:tcPr marL="91440" marR="91440" marT="45720" marB="45720">
                    <a:solidFill>
                      <a:srgbClr val="EEF3F8"/>
                    </a:solidFill>
                  </a:tcPr>
                </a:tc>
                <a:tc>
                  <a:txBody>
                    <a:bodyPr/>
                    <a:lstStyle/>
                    <a:p>
                      <a:r>
                        <a:rPr sz="1500" b="0">
                          <a:solidFill>
                            <a:srgbClr val="1F2A37"/>
                          </a:solidFill>
                          <a:latin typeface="Arial"/>
                          <a:ea typeface="Arial"/>
                          <a:cs typeface="Arial"/>
                        </a:rPr>
                        <a:t>Unresolved</a:t>
                      </a:r>
                    </a:p>
                  </a:txBody>
                  <a:tcPr marL="91440" marR="91440" marT="45720" marB="45720">
                    <a:solidFill>
                      <a:srgbClr val="EEF3F8"/>
                    </a:solidFill>
                  </a:tcPr>
                </a:tc>
                <a:tc>
                  <a:txBody>
                    <a:bodyPr/>
                    <a:lstStyle/>
                    <a:p>
                      <a:r>
                        <a:rPr sz="1500" b="0">
                          <a:solidFill>
                            <a:srgbClr val="1F2A37"/>
                          </a:solidFill>
                          <a:latin typeface="Arial"/>
                          <a:ea typeface="Arial"/>
                          <a:cs typeface="Arial"/>
                        </a:rPr>
                        <a:t>A higher</a:t>
                      </a:r>
                    </a:p>
                  </a:txBody>
                  <a:tcPr marL="91440" marR="91440" marT="45720" marB="45720">
                    <a:solidFill>
                      <a:srgbClr val="EEF3F8"/>
                    </a:solidFill>
                  </a:tcPr>
                </a:tc>
                <a:tc>
                  <a:txBody>
                    <a:bodyPr/>
                    <a:lstStyle/>
                    <a:p>
                      <a:r>
                        <a:rPr sz="1500" b="0">
                          <a:solidFill>
                            <a:srgbClr val="1F2A37"/>
                          </a:solidFill>
                          <a:latin typeface="Arial"/>
                          <a:ea typeface="Arial"/>
                          <a:cs typeface="Arial"/>
                        </a:rPr>
                        <a:t>Unresolved</a:t>
                      </a:r>
                    </a:p>
                  </a:txBody>
                  <a:tcPr marL="91440" marR="91440" marT="45720" marB="45720">
                    <a:solidFill>
                      <a:srgbClr val="EEF3F8"/>
                    </a:solidFill>
                  </a:tcPr>
                </a:tc>
              </a:tr>
              <a:tr h="642938">
                <a:tc>
                  <a:txBody>
                    <a:bodyPr/>
                    <a:lstStyle/>
                    <a:p>
                      <a:r>
                        <a:rPr sz="1500" b="0">
                          <a:solidFill>
                            <a:srgbClr val="1F2A37"/>
                          </a:solidFill>
                          <a:latin typeface="Arial"/>
                          <a:ea typeface="Arial"/>
                          <a:cs typeface="Arial"/>
                        </a:rPr>
                        <a:t>Extension LSTM minus</a:t>
                      </a:r>
                    </a:p>
                    <a:p>
                      <a:r>
                        <a:rPr sz="1500" b="0">
                          <a:solidFill>
                            <a:srgbClr val="1F2A37"/>
                          </a:solidFill>
                          <a:latin typeface="Arial"/>
                          <a:ea typeface="Arial"/>
                          <a:cs typeface="Arial"/>
                        </a:rPr>
                        <a:t>Transformer</a:t>
                      </a:r>
                    </a:p>
                  </a:txBody>
                  <a:tcPr marL="91440" marR="91440" marT="45720" marB="45720">
                    <a:solidFill>
                      <a:srgbClr val="FFFFFF"/>
                    </a:solidFill>
                  </a:tcPr>
                </a:tc>
                <a:tc>
                  <a:txBody>
                    <a:bodyPr/>
                    <a:lstStyle/>
                    <a:p>
                      <a:r>
                        <a:rPr sz="1500" b="0">
                          <a:solidFill>
                            <a:srgbClr val="1F2A37"/>
                          </a:solidFill>
                          <a:latin typeface="Arial"/>
                          <a:ea typeface="Arial"/>
                          <a:cs typeface="Arial"/>
                        </a:rPr>
                        <a:t>Unresolved</a:t>
                      </a:r>
                    </a:p>
                  </a:txBody>
                  <a:tcPr marL="91440" marR="91440" marT="45720" marB="45720">
                    <a:solidFill>
                      <a:srgbClr val="FFFFFF"/>
                    </a:solidFill>
                  </a:tcPr>
                </a:tc>
                <a:tc>
                  <a:txBody>
                    <a:bodyPr/>
                    <a:lstStyle/>
                    <a:p>
                      <a:r>
                        <a:rPr sz="1500" b="0">
                          <a:solidFill>
                            <a:srgbClr val="1F2A37"/>
                          </a:solidFill>
                          <a:latin typeface="Arial"/>
                          <a:ea typeface="Arial"/>
                          <a:cs typeface="Arial"/>
                        </a:rPr>
                        <a:t>Unresolved</a:t>
                      </a:r>
                    </a:p>
                  </a:txBody>
                  <a:tcPr marL="91440" marR="91440" marT="45720" marB="45720">
                    <a:solidFill>
                      <a:srgbClr val="FFFFFF"/>
                    </a:solidFill>
                  </a:tcPr>
                </a:tc>
                <a:tc>
                  <a:txBody>
                    <a:bodyPr/>
                    <a:lstStyle/>
                    <a:p>
                      <a:r>
                        <a:rPr sz="1500" b="0">
                          <a:solidFill>
                            <a:srgbClr val="1F2A37"/>
                          </a:solidFill>
                          <a:latin typeface="Arial"/>
                          <a:ea typeface="Arial"/>
                          <a:cs typeface="Arial"/>
                        </a:rPr>
                        <a:t>Unresolved</a:t>
                      </a:r>
                    </a:p>
                  </a:txBody>
                  <a:tcPr marL="91440" marR="91440" marT="45720" marB="45720">
                    <a:solidFill>
                      <a:srgbClr val="FFFFFF"/>
                    </a:solidFill>
                  </a:tcPr>
                </a:tc>
              </a:tr>
              <a:tr h="642938">
                <a:tc>
                  <a:txBody>
                    <a:bodyPr/>
                    <a:lstStyle/>
                    <a:p>
                      <a:r>
                        <a:rPr sz="1500" b="0">
                          <a:solidFill>
                            <a:srgbClr val="1F2A37"/>
                          </a:solidFill>
                          <a:latin typeface="Arial"/>
                          <a:ea typeface="Arial"/>
                          <a:cs typeface="Arial"/>
                        </a:rPr>
                        <a:t>Extension LSTM minus</a:t>
                      </a:r>
                    </a:p>
                    <a:p>
                      <a:r>
                        <a:rPr sz="150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500" b="0">
                          <a:solidFill>
                            <a:srgbClr val="1F2A37"/>
                          </a:solidFill>
                          <a:latin typeface="Arial"/>
                          <a:ea typeface="Arial"/>
                          <a:cs typeface="Arial"/>
                        </a:rPr>
                        <a:t>Unresolved</a:t>
                      </a:r>
                    </a:p>
                  </a:txBody>
                  <a:tcPr marL="91440" marR="91440" marT="45720" marB="45720">
                    <a:solidFill>
                      <a:srgbClr val="EEF3F8"/>
                    </a:solidFill>
                  </a:tcPr>
                </a:tc>
                <a:tc>
                  <a:txBody>
                    <a:bodyPr/>
                    <a:lstStyle/>
                    <a:p>
                      <a:r>
                        <a:rPr sz="1500" b="0">
                          <a:solidFill>
                            <a:srgbClr val="1F2A37"/>
                          </a:solidFill>
                          <a:latin typeface="Arial"/>
                          <a:ea typeface="Arial"/>
                          <a:cs typeface="Arial"/>
                        </a:rPr>
                        <a:t>Unresolved</a:t>
                      </a:r>
                    </a:p>
                  </a:txBody>
                  <a:tcPr marL="91440" marR="91440" marT="45720" marB="45720">
                    <a:solidFill>
                      <a:srgbClr val="EEF3F8"/>
                    </a:solidFill>
                  </a:tcPr>
                </a:tc>
                <a:tc>
                  <a:txBody>
                    <a:bodyPr/>
                    <a:lstStyle/>
                    <a:p>
                      <a:r>
                        <a:rPr sz="1500" b="0">
                          <a:solidFill>
                            <a:srgbClr val="1F2A37"/>
                          </a:solidFill>
                          <a:latin typeface="Arial"/>
                          <a:ea typeface="Arial"/>
                          <a:cs typeface="Arial"/>
                        </a:rPr>
                        <a:t>Unresolved</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810CE8F2-E768-4ABB-B513-238E97889106}"/>
              </a:ext>
            </a:extLst>
          </p:cNvPr>
          <p:cNvSpPr>
            <a:spLocks xmlns:a="http://schemas.openxmlformats.org/drawingml/2006/main" noGrp="1"/>
          </p:cNvSpPr>
          <p:nvPr/>
        </p:nvSpPr>
        <p:spPr>
          <a:xfrm xmlns:a="http://schemas.openxmlformats.org/drawingml/2006/main">
            <a:off x="419100" y="3695700"/>
            <a:ext cx="828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F2A37"/>
                </a:solidFill>
                <a:latin typeface="Arial"/>
                <a:ea typeface="Arial"/>
                <a:cs typeface="Arial"/>
              </a:defRPr>
            </a:pPr>
            <a:r>
              <a:rPr sz="1500" b="0">
                <a:solidFill>
                  <a:srgbClr val="1F2A37"/>
                </a:solidFill>
                <a:latin typeface="Arial"/>
                <a:ea typeface="Arial"/>
                <a:cs typeface="Arial"/>
              </a:rPr>
              <a:t>“A higher” means the entire interval lies above zero. “Unresolved” means it contains zero.</a:t>
            </a:r>
          </a:p>
        </p:txBody>
      </p:sp>
      <p:sp>
        <p:nvSpPr>
          <p:cNvPr id="8" name="">
            <a:extLst xmlns:a="http://schemas.openxmlformats.org/drawingml/2006/main">
              <a:ext uri="{FF2B5EF4-FFF2-40B4-BE49-F238E27FC236}">
                <a16:creationId xmlns:a16="http://schemas.microsoft.com/office/drawing/2014/main" id="{8F5C99CB-53F6-4F4A-A22D-39DEDE229DE2}"/>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 paper-versus-replication gap is sensitive to the interval method.</a:t>
            </a:r>
          </a:p>
        </p:txBody>
      </p:sp>
    </p:spTree>
    <p:extLst>
      <p:ext uri="{BB962C8B-B14F-4D97-AF65-F5344CB8AC3E}">
        <p14:creationId xmlns:p14="http://schemas.microsoft.com/office/powerpoint/2010/main" val="52372606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B05A38-54E9-47A9-9866-9AADE7AAEE4F}"/>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3FB848-2160-429C-86D1-DC27400981B3}"/>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23174AF-454F-4602-92F9-F33A1EB434D1}"/>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block-length sensitivity</a:t>
            </a:r>
          </a:p>
        </p:txBody>
      </p:sp>
      <p:sp>
        <p:nvSpPr>
          <p:cNvPr id="4" name="">
            <a:extLst xmlns:a="http://schemas.openxmlformats.org/drawingml/2006/main">
              <a:ext uri="{FF2B5EF4-FFF2-40B4-BE49-F238E27FC236}">
                <a16:creationId xmlns:a16="http://schemas.microsoft.com/office/drawing/2014/main" id="{E684BC7C-D1EC-467E-B937-F8572A896CF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B73B8F7B-89A5-4825-9556-C4C7126089C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28</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367375abaa1148d8"/>
          </a:graphicData>
        </a:graphic>
      </p:graphicFrame>
      <p:sp>
        <p:nvSpPr>
          <p:cNvPr id="7" name="">
            <a:extLst xmlns:a="http://schemas.openxmlformats.org/drawingml/2006/main">
              <a:ext uri="{FF2B5EF4-FFF2-40B4-BE49-F238E27FC236}">
                <a16:creationId xmlns:a16="http://schemas.microsoft.com/office/drawing/2014/main" id="{880C02C0-2860-4047-9C0A-8EA3BD539E3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Both paired basic intervals contain zero at all three block lengths.</a:t>
            </a:r>
          </a:p>
        </p:txBody>
      </p:sp>
    </p:spTree>
    <p:extLst>
      <p:ext uri="{BB962C8B-B14F-4D97-AF65-F5344CB8AC3E}">
        <p14:creationId xmlns:p14="http://schemas.microsoft.com/office/powerpoint/2010/main" val="46055854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2A5CF5-0B4B-408A-AA3D-E36C3E00CD51}"/>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D0B787-AE6F-4FD1-9E33-1DB89C4A2BC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0E8CDC-72F5-47B7-BF89-6D95411E939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rolling-window results</a:t>
            </a:r>
          </a:p>
        </p:txBody>
      </p:sp>
      <p:sp>
        <p:nvSpPr>
          <p:cNvPr id="4" name="">
            <a:extLst xmlns:a="http://schemas.openxmlformats.org/drawingml/2006/main">
              <a:ext uri="{FF2B5EF4-FFF2-40B4-BE49-F238E27FC236}">
                <a16:creationId xmlns:a16="http://schemas.microsoft.com/office/drawing/2014/main" id="{94868F00-5CE3-4D43-8960-647ADBFB067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1C629722-7955-4CEF-B206-36467407686F}"/>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29</a:t>
            </a:r>
          </a:p>
        </p:txBody>
      </p:sp>
      <p:graphicFrame>
        <p:nvGraphicFramePr>
          <p:cNvPr id="16" name=""/>
          <p:cNvGraphicFramePr/>
          <p:nvPr/>
        </p:nvGraphicFramePr>
        <p:xfrm>
          <a:off xmlns:a="http://schemas.openxmlformats.org/drawingml/2006/main" x="400050" y="1019175"/>
          <a:ext xmlns:a="http://schemas.openxmlformats.org/drawingml/2006/main" cx="8343900" cy="2286000"/>
        </p:xfrm>
        <a:graphic xmlns:a="http://schemas.openxmlformats.org/drawingml/2006/main">
          <a:graphicData uri="http://schemas.openxmlformats.org/drawingml/2006/table">
            <a:tbl>
              <a:tblPr/>
              <a:tblGrid>
                <a:gridCol w="1905000"/>
                <a:gridCol w="2146300"/>
                <a:gridCol w="2146300"/>
                <a:gridCol w="2146300"/>
              </a:tblGrid>
              <a:tr h="762000">
                <a:tc>
                  <a:txBody>
                    <a:bodyPr/>
                    <a:lstStyle/>
                    <a:p>
                      <a:r>
                        <a:rPr sz="1500" b="1">
                          <a:solidFill>
                            <a:srgbClr val="FFFFFF"/>
                          </a:solidFill>
                          <a:latin typeface="Arial"/>
                          <a:ea typeface="Arial"/>
                          <a:cs typeface="Arial"/>
                        </a:rPr>
                        <a:t>Rolling window</a:t>
                      </a:r>
                    </a:p>
                  </a:txBody>
                  <a:tcPr marL="91440" marR="91440" marT="45720" marB="45720">
                    <a:solidFill>
                      <a:srgbClr val="003262"/>
                    </a:solidFill>
                  </a:tcPr>
                </a:tc>
                <a:tc>
                  <a:txBody>
                    <a:bodyPr/>
                    <a:lstStyle/>
                    <a:p>
                      <a:r>
                        <a:rPr sz="1500" b="1">
                          <a:solidFill>
                            <a:srgbClr val="FFFFFF"/>
                          </a:solidFill>
                          <a:latin typeface="Arial"/>
                          <a:ea typeface="Arial"/>
                          <a:cs typeface="Arial"/>
                        </a:rPr>
                        <a:t>LSTM point estimate higher</a:t>
                      </a:r>
                    </a:p>
                  </a:txBody>
                  <a:tcPr marL="91440" marR="91440" marT="45720" marB="45720">
                    <a:solidFill>
                      <a:srgbClr val="003262"/>
                    </a:solidFill>
                  </a:tcPr>
                </a:tc>
                <a:tc>
                  <a:txBody>
                    <a:bodyPr/>
                    <a:lstStyle/>
                    <a:p>
                      <a:r>
                        <a:rPr sz="1500" b="1">
                          <a:solidFill>
                            <a:srgbClr val="FFFFFF"/>
                          </a:solidFill>
                          <a:latin typeface="Arial"/>
                          <a:ea typeface="Arial"/>
                          <a:cs typeface="Arial"/>
                        </a:rPr>
                        <a:t>Basic interval favors LSTM</a:t>
                      </a:r>
                    </a:p>
                  </a:txBody>
                  <a:tcPr marL="91440" marR="91440" marT="45720" marB="45720">
                    <a:solidFill>
                      <a:srgbClr val="003262"/>
                    </a:solidFill>
                  </a:tcPr>
                </a:tc>
                <a:tc>
                  <a:txBody>
                    <a:bodyPr/>
                    <a:lstStyle/>
                    <a:p>
                      <a:r>
                        <a:rPr sz="1500" b="1">
                          <a:solidFill>
                            <a:srgbClr val="FFFFFF"/>
                          </a:solidFill>
                          <a:latin typeface="Arial"/>
                          <a:ea typeface="Arial"/>
                          <a:cs typeface="Arial"/>
                        </a:rPr>
                        <a:t>Unresolved</a:t>
                      </a:r>
                    </a:p>
                  </a:txBody>
                  <a:tcPr marL="91440" marR="91440" marT="45720" marB="45720">
                    <a:solidFill>
                      <a:srgbClr val="003262"/>
                    </a:solidFill>
                  </a:tcPr>
                </a:tc>
              </a:tr>
              <a:tr h="762000">
                <a:tc>
                  <a:txBody>
                    <a:bodyPr/>
                    <a:lstStyle/>
                    <a:p>
                      <a:r>
                        <a:rPr sz="1575" b="0">
                          <a:solidFill>
                            <a:srgbClr val="1F2A37"/>
                          </a:solidFill>
                          <a:latin typeface="Arial"/>
                          <a:ea typeface="Arial"/>
                          <a:cs typeface="Arial"/>
                        </a:rPr>
                        <a:t>36 months</a:t>
                      </a:r>
                    </a:p>
                    <a:p>
                      <a:r>
                        <a:rPr sz="1575" b="0">
                          <a:solidFill>
                            <a:srgbClr val="1F2A37"/>
                          </a:solidFill>
                          <a:latin typeface="Arial"/>
                          <a:ea typeface="Arial"/>
                          <a:cs typeface="Arial"/>
                        </a:rPr>
                        <a:t>265 windows</a:t>
                      </a:r>
                    </a:p>
                  </a:txBody>
                  <a:tcPr marL="91440" marR="91440" marT="45720" marB="45720">
                    <a:solidFill>
                      <a:srgbClr val="EEF3F8"/>
                    </a:solidFill>
                  </a:tcPr>
                </a:tc>
                <a:tc>
                  <a:txBody>
                    <a:bodyPr/>
                    <a:lstStyle/>
                    <a:p>
                      <a:r>
                        <a:rPr sz="1575" b="0">
                          <a:solidFill>
                            <a:srgbClr val="1F2A37"/>
                          </a:solidFill>
                          <a:latin typeface="Arial"/>
                          <a:ea typeface="Arial"/>
                          <a:cs typeface="Arial"/>
                        </a:rPr>
                        <a:t>168 / 265</a:t>
                      </a:r>
                    </a:p>
                  </a:txBody>
                  <a:tcPr marL="91440" marR="91440" marT="45720" marB="45720">
                    <a:solidFill>
                      <a:srgbClr val="EEF3F8"/>
                    </a:solidFill>
                  </a:tcPr>
                </a:tc>
                <a:tc>
                  <a:txBody>
                    <a:bodyPr/>
                    <a:lstStyle/>
                    <a:p>
                      <a:r>
                        <a:rPr sz="1575" b="0">
                          <a:solidFill>
                            <a:srgbClr val="1F2A37"/>
                          </a:solidFill>
                          <a:latin typeface="Arial"/>
                          <a:ea typeface="Arial"/>
                          <a:cs typeface="Arial"/>
                        </a:rPr>
                        <a:t>39</a:t>
                      </a:r>
                    </a:p>
                  </a:txBody>
                  <a:tcPr marL="91440" marR="91440" marT="45720" marB="45720">
                    <a:solidFill>
                      <a:srgbClr val="EEF3F8"/>
                    </a:solidFill>
                  </a:tcPr>
                </a:tc>
                <a:tc>
                  <a:txBody>
                    <a:bodyPr/>
                    <a:lstStyle/>
                    <a:p>
                      <a:r>
                        <a:rPr sz="1575" b="0">
                          <a:solidFill>
                            <a:srgbClr val="1F2A37"/>
                          </a:solidFill>
                          <a:latin typeface="Arial"/>
                          <a:ea typeface="Arial"/>
                          <a:cs typeface="Arial"/>
                        </a:rPr>
                        <a:t>226</a:t>
                      </a:r>
                    </a:p>
                  </a:txBody>
                  <a:tcPr marL="91440" marR="91440" marT="45720" marB="45720">
                    <a:solidFill>
                      <a:srgbClr val="EEF3F8"/>
                    </a:solidFill>
                  </a:tcPr>
                </a:tc>
              </a:tr>
              <a:tr h="762000">
                <a:tc>
                  <a:txBody>
                    <a:bodyPr/>
                    <a:lstStyle/>
                    <a:p>
                      <a:r>
                        <a:rPr sz="1575" b="0">
                          <a:solidFill>
                            <a:srgbClr val="1F2A37"/>
                          </a:solidFill>
                          <a:latin typeface="Arial"/>
                          <a:ea typeface="Arial"/>
                          <a:cs typeface="Arial"/>
                        </a:rPr>
                        <a:t>60 months</a:t>
                      </a:r>
                    </a:p>
                    <a:p>
                      <a:r>
                        <a:rPr sz="1575" b="0">
                          <a:solidFill>
                            <a:srgbClr val="1F2A37"/>
                          </a:solidFill>
                          <a:latin typeface="Arial"/>
                          <a:ea typeface="Arial"/>
                          <a:cs typeface="Arial"/>
                        </a:rPr>
                        <a:t>241 windows</a:t>
                      </a:r>
                    </a:p>
                  </a:txBody>
                  <a:tcPr marL="91440" marR="91440" marT="45720" marB="45720">
                    <a:solidFill>
                      <a:srgbClr val="FFFFFF"/>
                    </a:solidFill>
                  </a:tcPr>
                </a:tc>
                <a:tc>
                  <a:txBody>
                    <a:bodyPr/>
                    <a:lstStyle/>
                    <a:p>
                      <a:r>
                        <a:rPr sz="1575" b="0">
                          <a:solidFill>
                            <a:srgbClr val="1F2A37"/>
                          </a:solidFill>
                          <a:latin typeface="Arial"/>
                          <a:ea typeface="Arial"/>
                          <a:cs typeface="Arial"/>
                        </a:rPr>
                        <a:t>193 / 241</a:t>
                      </a:r>
                    </a:p>
                  </a:txBody>
                  <a:tcPr marL="91440" marR="91440" marT="45720" marB="45720">
                    <a:solidFill>
                      <a:srgbClr val="FFFFFF"/>
                    </a:solidFill>
                  </a:tcPr>
                </a:tc>
                <a:tc>
                  <a:txBody>
                    <a:bodyPr/>
                    <a:lstStyle/>
                    <a:p>
                      <a:r>
                        <a:rPr sz="1575" b="0">
                          <a:solidFill>
                            <a:srgbClr val="1F2A37"/>
                          </a:solidFill>
                          <a:latin typeface="Arial"/>
                          <a:ea typeface="Arial"/>
                          <a:cs typeface="Arial"/>
                        </a:rPr>
                        <a:t>45</a:t>
                      </a:r>
                    </a:p>
                  </a:txBody>
                  <a:tcPr marL="91440" marR="91440" marT="45720" marB="45720">
                    <a:solidFill>
                      <a:srgbClr val="FFFFFF"/>
                    </a:solidFill>
                  </a:tcPr>
                </a:tc>
                <a:tc>
                  <a:txBody>
                    <a:bodyPr/>
                    <a:lstStyle/>
                    <a:p>
                      <a:r>
                        <a:rPr sz="1575" b="0">
                          <a:solidFill>
                            <a:srgbClr val="1F2A37"/>
                          </a:solidFill>
                          <a:latin typeface="Arial"/>
                          <a:ea typeface="Arial"/>
                          <a:cs typeface="Arial"/>
                        </a:rPr>
                        <a:t>196</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9557CE6-A98A-4A7D-8664-07558F4EA11B}"/>
              </a:ext>
            </a:extLst>
          </p:cNvPr>
          <p:cNvSpPr>
            <a:spLocks xmlns:a="http://schemas.openxmlformats.org/drawingml/2006/main" noGrp="1"/>
          </p:cNvSpPr>
          <p:nvPr/>
        </p:nvSpPr>
        <p:spPr>
          <a:xfrm xmlns:a="http://schemas.openxmlformats.org/drawingml/2006/main">
            <a:off x="419100" y="3524250"/>
            <a:ext cx="828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F2A37"/>
                </a:solidFill>
                <a:latin typeface="Arial"/>
                <a:ea typeface="Arial"/>
                <a:cs typeface="Arial"/>
              </a:defRPr>
            </a:pPr>
            <a:r>
              <a:rPr sz="1650" b="0">
                <a:solidFill>
                  <a:srgbClr val="1F2A37"/>
                </a:solidFill>
                <a:latin typeface="Arial"/>
                <a:ea typeface="Arial"/>
                <a:cs typeface="Arial"/>
              </a:rPr>
              <a:t>No window has a basic interval favoring Transformer. Most windows remain unresolved.</a:t>
            </a:r>
          </a:p>
        </p:txBody>
      </p:sp>
      <p:sp>
        <p:nvSpPr>
          <p:cNvPr id="8" name="">
            <a:extLst xmlns:a="http://schemas.openxmlformats.org/drawingml/2006/main">
              <a:ext uri="{FF2B5EF4-FFF2-40B4-BE49-F238E27FC236}">
                <a16:creationId xmlns:a16="http://schemas.microsoft.com/office/drawing/2014/main" id="{543E2C8E-B54B-4A3A-86AB-6906FC801B2E}"/>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Overlapping window counts describe the history, rather than independent evidence.</a:t>
            </a:r>
          </a:p>
        </p:txBody>
      </p:sp>
    </p:spTree>
    <p:extLst>
      <p:ext uri="{BB962C8B-B14F-4D97-AF65-F5344CB8AC3E}">
        <p14:creationId xmlns:p14="http://schemas.microsoft.com/office/powerpoint/2010/main" val="55192839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F00BBE-A05A-435B-B7F3-8FEAF044502E}"/>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F27660-158E-44F9-BCE8-2451CEB440C8}"/>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92F6C2-6E1E-4AC8-93CD-4C8212A64A61}"/>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all ten paired comparisons</a:t>
            </a:r>
          </a:p>
        </p:txBody>
      </p:sp>
      <p:sp>
        <p:nvSpPr>
          <p:cNvPr id="4" name="">
            <a:extLst xmlns:a="http://schemas.openxmlformats.org/drawingml/2006/main">
              <a:ext uri="{FF2B5EF4-FFF2-40B4-BE49-F238E27FC236}">
                <a16:creationId xmlns:a16="http://schemas.microsoft.com/office/drawing/2014/main" id="{A5619992-7849-4C0D-85FE-F48E673C9EA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DB6996AA-0C83-402F-8196-993FC9EAC3D3}"/>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30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6ff5d87cbad4cac"/>
          <a:stretch xmlns:a="http://schemas.openxmlformats.org/drawingml/2006/main"/>
        </p:blipFill>
        <p:spPr>
          <a:xfrm xmlns:a="http://schemas.openxmlformats.org/drawingml/2006/main">
            <a:off x="1779814" y="857250"/>
            <a:ext cx="5584371" cy="3257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B5604F1-8474-463A-9CCB-618373343C94}"/>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Paired monthly Sharpe gaps. Pointwise and simultaneous intervals answer different questions.</a:t>
            </a:r>
          </a:p>
        </p:txBody>
      </p:sp>
    </p:spTree>
    <p:extLst>
      <p:ext uri="{BB962C8B-B14F-4D97-AF65-F5344CB8AC3E}">
        <p14:creationId xmlns:p14="http://schemas.microsoft.com/office/powerpoint/2010/main" val="37922418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7980B7-6EC6-4E30-9639-EA453C03456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B52ECF-E0E9-401B-B1D8-65EEB89FB45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F019876-87BE-474C-A1F4-4D8310CCFA19}"/>
              </a:ext>
            </a:extLst>
          </p:cNvPr>
          <p:cNvSpPr>
            <a:spLocks xmlns:a="http://schemas.openxmlformats.org/drawingml/2006/main" noGrp="1"/>
          </p:cNvSpPr>
          <p:nvPr/>
        </p:nvSpPr>
        <p:spPr>
          <a:xfrm xmlns:a="http://schemas.openxmlformats.org/drawingml/2006/main">
            <a:off x="400050" y="10096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Part 7</a:t>
            </a:r>
          </a:p>
        </p:txBody>
      </p:sp>
      <p:sp>
        <p:nvSpPr>
          <p:cNvPr id="14" name="">
            <a:extLst xmlns:a="http://schemas.openxmlformats.org/drawingml/2006/main">
              <a:ext uri="{FF2B5EF4-FFF2-40B4-BE49-F238E27FC236}">
                <a16:creationId xmlns:a16="http://schemas.microsoft.com/office/drawing/2014/main" id="{12449FC5-2C3F-41CA-8C13-AC8437810555}"/>
              </a:ext>
            </a:extLst>
          </p:cNvPr>
          <p:cNvSpPr>
            <a:spLocks xmlns:a="http://schemas.openxmlformats.org/drawingml/2006/main" noGrp="1"/>
          </p:cNvSpPr>
          <p:nvPr/>
        </p:nvSpPr>
        <p:spPr>
          <a:xfrm xmlns:a="http://schemas.openxmlformats.org/drawingml/2006/main">
            <a:off x="381000" y="1676400"/>
            <a:ext cx="83629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03262"/>
                </a:solidFill>
                <a:latin typeface="Arial"/>
                <a:ea typeface="Arial"/>
                <a:cs typeface="Arial"/>
              </a:defRPr>
            </a:pPr>
            <a:r>
              <a:rPr sz="3600" b="1">
                <a:solidFill>
                  <a:srgbClr val="003262"/>
                </a:solidFill>
                <a:latin typeface="Arial"/>
                <a:ea typeface="Arial"/>
                <a:cs typeface="Arial"/>
              </a:rPr>
              <a:t>Combination</a:t>
            </a:r>
          </a:p>
        </p:txBody>
      </p:sp>
      <p:sp>
        <p:nvSpPr>
          <p:cNvPr id="15" name="">
            <a:extLst xmlns:a="http://schemas.openxmlformats.org/drawingml/2006/main">
              <a:ext uri="{FF2B5EF4-FFF2-40B4-BE49-F238E27FC236}">
                <a16:creationId xmlns:a16="http://schemas.microsoft.com/office/drawing/2014/main" id="{5BDCAD9D-6C6C-44C2-BD86-31972B457E8E}"/>
              </a:ext>
            </a:extLst>
          </p:cNvPr>
          <p:cNvSpPr>
            <a:spLocks xmlns:a="http://schemas.openxmlformats.org/drawingml/2006/main" noGrp="1"/>
          </p:cNvSpPr>
          <p:nvPr/>
        </p:nvSpPr>
        <p:spPr>
          <a:xfrm xmlns:a="http://schemas.openxmlformats.org/drawingml/2006/main">
            <a:off x="419100" y="2705100"/>
            <a:ext cx="8058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F2A37"/>
                </a:solidFill>
                <a:latin typeface="Arial"/>
                <a:ea typeface="Arial"/>
                <a:cs typeface="Arial"/>
              </a:defRPr>
            </a:pPr>
            <a:r>
              <a:rPr sz="1875" b="0">
                <a:solidFill>
                  <a:srgbClr val="1F2A37"/>
                </a:solidFill>
                <a:latin typeface="Arial"/>
                <a:ea typeface="Arial"/>
                <a:cs typeface="Arial"/>
              </a:rPr>
              <a:t>Joint comparisons across architectures, rolling windows, economic regimes, and the fixed portfolio combination.</a:t>
            </a:r>
          </a:p>
        </p:txBody>
      </p:sp>
      <p:sp>
        <p:nvSpPr>
          <p:cNvPr id="16" name="">
            <a:extLst xmlns:a="http://schemas.openxmlformats.org/drawingml/2006/main">
              <a:ext uri="{FF2B5EF4-FFF2-40B4-BE49-F238E27FC236}">
                <a16:creationId xmlns:a16="http://schemas.microsoft.com/office/drawing/2014/main" id="{9BA238F4-87A9-4395-8AD4-4BC00D5933E4}"/>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17" name="">
            <a:extLst xmlns:a="http://schemas.openxmlformats.org/drawingml/2006/main">
              <a:ext uri="{FF2B5EF4-FFF2-40B4-BE49-F238E27FC236}">
                <a16:creationId xmlns:a16="http://schemas.microsoft.com/office/drawing/2014/main" id="{64AA887C-3D9F-4E6E-9684-15F97AFC5CB9}"/>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31</a:t>
            </a:r>
          </a:p>
        </p:txBody>
      </p:sp>
    </p:spTree>
    <p:extLst>
      <p:ext uri="{BB962C8B-B14F-4D97-AF65-F5344CB8AC3E}">
        <p14:creationId xmlns:p14="http://schemas.microsoft.com/office/powerpoint/2010/main" val="35578140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94D9E8-B03D-45E3-9690-E6ABF21524F7}"/>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4A16DC-AFFE-4E3E-8F3B-D514FB7BE675}"/>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45F4658-1DED-492A-8404-CB19961A18E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equal-weight architecture portfolio</a:t>
            </a:r>
          </a:p>
        </p:txBody>
      </p:sp>
      <p:sp>
        <p:nvSpPr>
          <p:cNvPr id="4" name="">
            <a:extLst xmlns:a="http://schemas.openxmlformats.org/drawingml/2006/main">
              <a:ext uri="{FF2B5EF4-FFF2-40B4-BE49-F238E27FC236}">
                <a16:creationId xmlns:a16="http://schemas.microsoft.com/office/drawing/2014/main" id="{557FCD5B-A371-45DD-A32A-F8921A1B040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5587A2AA-703A-4DD7-ADD9-77E7EFBB5C6E}"/>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32</a:t>
            </a:r>
          </a:p>
        </p:txBody>
      </p:sp>
      <p:graphicFrame>
        <p:nvGraphicFramePr>
          <p:cNvPr id="16" name=""/>
          <p:cNvGraphicFramePr/>
          <p:nvPr/>
        </p:nvGraphicFramePr>
        <p:xfrm>
          <a:off xmlns:a="http://schemas.openxmlformats.org/drawingml/2006/main" x="400050" y="1019175"/>
          <a:ext xmlns:a="http://schemas.openxmlformats.org/drawingml/2006/main" cx="8343900" cy="2286000"/>
        </p:xfrm>
        <a:graphic xmlns:a="http://schemas.openxmlformats.org/drawingml/2006/main">
          <a:graphicData uri="http://schemas.openxmlformats.org/drawingml/2006/table">
            <a:tbl>
              <a:tblPr/>
              <a:tblGrid>
                <a:gridCol w="2857500"/>
                <a:gridCol w="1828800"/>
                <a:gridCol w="1828800"/>
                <a:gridCol w="1828800"/>
              </a:tblGrid>
              <a:tr h="571500">
                <a:tc>
                  <a:txBody>
                    <a:bodyPr/>
                    <a:lstStyle/>
                    <a:p>
                      <a:r>
                        <a:rPr sz="1650" b="1">
                          <a:solidFill>
                            <a:srgbClr val="FFFFFF"/>
                          </a:solidFill>
                          <a:latin typeface="Arial"/>
                          <a:ea typeface="Arial"/>
                          <a:cs typeface="Arial"/>
                        </a:rPr>
                        <a:t>Portfolio</a:t>
                      </a:r>
                    </a:p>
                  </a:txBody>
                  <a:tcPr marL="91440" marR="91440" marT="45720" marB="45720">
                    <a:solidFill>
                      <a:srgbClr val="003262"/>
                    </a:solidFill>
                  </a:tcPr>
                </a:tc>
                <a:tc>
                  <a:txBody>
                    <a:bodyPr/>
                    <a:lstStyle/>
                    <a:p>
                      <a:r>
                        <a:rPr sz="1650" b="1">
                          <a:solidFill>
                            <a:srgbClr val="FFFFFF"/>
                          </a:solidFill>
                          <a:latin typeface="Arial"/>
                          <a:ea typeface="Arial"/>
                          <a:cs typeface="Arial"/>
                        </a:rPr>
                        <a:t>Train</a:t>
                      </a:r>
                    </a:p>
                  </a:txBody>
                  <a:tcPr marL="91440" marR="91440" marT="45720" marB="45720">
                    <a:solidFill>
                      <a:srgbClr val="003262"/>
                    </a:solidFill>
                  </a:tcPr>
                </a:tc>
                <a:tc>
                  <a:txBody>
                    <a:bodyPr/>
                    <a:lstStyle/>
                    <a:p>
                      <a:r>
                        <a:rPr sz="1650" b="1">
                          <a:solidFill>
                            <a:srgbClr val="FFFFFF"/>
                          </a:solidFill>
                          <a:latin typeface="Arial"/>
                          <a:ea typeface="Arial"/>
                          <a:cs typeface="Arial"/>
                        </a:rPr>
                        <a:t>Validation</a:t>
                      </a:r>
                    </a:p>
                  </a:txBody>
                  <a:tcPr marL="91440" marR="91440" marT="45720" marB="45720">
                    <a:solidFill>
                      <a:srgbClr val="003262"/>
                    </a:solidFill>
                  </a:tcPr>
                </a:tc>
                <a:tc>
                  <a:txBody>
                    <a:bodyPr/>
                    <a:lstStyle/>
                    <a:p>
                      <a:r>
                        <a:rPr sz="1650" b="1">
                          <a:solidFill>
                            <a:srgbClr val="FFFFFF"/>
                          </a:solidFill>
                          <a:latin typeface="Arial"/>
                          <a:ea typeface="Arial"/>
                          <a:cs typeface="Arial"/>
                        </a:rPr>
                        <a:t>Test</a:t>
                      </a:r>
                    </a:p>
                  </a:txBody>
                  <a:tcPr marL="91440" marR="91440" marT="45720" marB="45720">
                    <a:solidFill>
                      <a:srgbClr val="003262"/>
                    </a:solidFill>
                  </a:tcPr>
                </a:tc>
              </a:tr>
              <a:tr h="571500">
                <a:tc>
                  <a:txBody>
                    <a:bodyPr/>
                    <a:lstStyle/>
                    <a:p>
                      <a:r>
                        <a:rPr sz="1725" b="0">
                          <a:solidFill>
                            <a:srgbClr val="1F2A37"/>
                          </a:solidFill>
                          <a:latin typeface="Arial"/>
                          <a:ea typeface="Arial"/>
                          <a:cs typeface="Arial"/>
                        </a:rPr>
                        <a:t>LSTM</a:t>
                      </a:r>
                    </a:p>
                  </a:txBody>
                  <a:tcPr marL="91440" marR="91440" marT="45720" marB="45720">
                    <a:solidFill>
                      <a:srgbClr val="EEF3F8"/>
                    </a:solidFill>
                  </a:tcPr>
                </a:tc>
                <a:tc>
                  <a:txBody>
                    <a:bodyPr/>
                    <a:lstStyle/>
                    <a:p>
                      <a:r>
                        <a:rPr sz="1725" b="0">
                          <a:solidFill>
                            <a:srgbClr val="1F2A37"/>
                          </a:solidFill>
                          <a:latin typeface="Arial"/>
                          <a:ea typeface="Arial"/>
                          <a:cs typeface="Arial"/>
                        </a:rPr>
                        <a:t>1.308</a:t>
                      </a:r>
                    </a:p>
                  </a:txBody>
                  <a:tcPr marL="91440" marR="91440" marT="45720" marB="45720">
                    <a:solidFill>
                      <a:srgbClr val="EEF3F8"/>
                    </a:solidFill>
                  </a:tcPr>
                </a:tc>
                <a:tc>
                  <a:txBody>
                    <a:bodyPr/>
                    <a:lstStyle/>
                    <a:p>
                      <a:r>
                        <a:rPr sz="1725" b="0">
                          <a:solidFill>
                            <a:srgbClr val="1F2A37"/>
                          </a:solidFill>
                          <a:latin typeface="Arial"/>
                          <a:ea typeface="Arial"/>
                          <a:cs typeface="Arial"/>
                        </a:rPr>
                        <a:t>0.750</a:t>
                      </a:r>
                    </a:p>
                  </a:txBody>
                  <a:tcPr marL="91440" marR="91440" marT="45720" marB="45720">
                    <a:solidFill>
                      <a:srgbClr val="EEF3F8"/>
                    </a:solidFill>
                  </a:tcPr>
                </a:tc>
                <a:tc>
                  <a:txBody>
                    <a:bodyPr/>
                    <a:lstStyle/>
                    <a:p>
                      <a:r>
                        <a:rPr sz="1725" b="0">
                          <a:solidFill>
                            <a:srgbClr val="1F2A37"/>
                          </a:solidFill>
                          <a:latin typeface="Arial"/>
                          <a:ea typeface="Arial"/>
                          <a:cs typeface="Arial"/>
                        </a:rPr>
                        <a:t>0.459</a:t>
                      </a:r>
                    </a:p>
                  </a:txBody>
                  <a:tcPr marL="91440" marR="91440" marT="45720" marB="45720">
                    <a:solidFill>
                      <a:srgbClr val="EEF3F8"/>
                    </a:solidFill>
                  </a:tcPr>
                </a:tc>
              </a:tr>
              <a:tr h="571500">
                <a:tc>
                  <a:txBody>
                    <a:bodyPr/>
                    <a:lstStyle/>
                    <a:p>
                      <a:r>
                        <a:rPr sz="1725" b="0">
                          <a:solidFill>
                            <a:srgbClr val="1F2A37"/>
                          </a:solidFill>
                          <a:latin typeface="Arial"/>
                          <a:ea typeface="Arial"/>
                          <a:cs typeface="Arial"/>
                        </a:rPr>
                        <a:t>Transformer</a:t>
                      </a:r>
                    </a:p>
                  </a:txBody>
                  <a:tcPr marL="91440" marR="91440" marT="45720" marB="45720">
                    <a:solidFill>
                      <a:srgbClr val="FFFFFF"/>
                    </a:solidFill>
                  </a:tcPr>
                </a:tc>
                <a:tc>
                  <a:txBody>
                    <a:bodyPr/>
                    <a:lstStyle/>
                    <a:p>
                      <a:r>
                        <a:rPr sz="1725" b="0">
                          <a:solidFill>
                            <a:srgbClr val="1F2A37"/>
                          </a:solidFill>
                          <a:latin typeface="Arial"/>
                          <a:ea typeface="Arial"/>
                          <a:cs typeface="Arial"/>
                        </a:rPr>
                        <a:t>1.049</a:t>
                      </a:r>
                    </a:p>
                  </a:txBody>
                  <a:tcPr marL="91440" marR="91440" marT="45720" marB="45720">
                    <a:solidFill>
                      <a:srgbClr val="FFFFFF"/>
                    </a:solidFill>
                  </a:tcPr>
                </a:tc>
                <a:tc>
                  <a:txBody>
                    <a:bodyPr/>
                    <a:lstStyle/>
                    <a:p>
                      <a:r>
                        <a:rPr sz="1725" b="0">
                          <a:solidFill>
                            <a:srgbClr val="1F2A37"/>
                          </a:solidFill>
                          <a:latin typeface="Arial"/>
                          <a:ea typeface="Arial"/>
                          <a:cs typeface="Arial"/>
                        </a:rPr>
                        <a:t>0.589</a:t>
                      </a:r>
                    </a:p>
                  </a:txBody>
                  <a:tcPr marL="91440" marR="91440" marT="45720" marB="45720">
                    <a:solidFill>
                      <a:srgbClr val="FFFFFF"/>
                    </a:solidFill>
                  </a:tcPr>
                </a:tc>
                <a:tc>
                  <a:txBody>
                    <a:bodyPr/>
                    <a:lstStyle/>
                    <a:p>
                      <a:r>
                        <a:rPr sz="1725" b="0">
                          <a:solidFill>
                            <a:srgbClr val="1F2A37"/>
                          </a:solidFill>
                          <a:latin typeface="Arial"/>
                          <a:ea typeface="Arial"/>
                          <a:cs typeface="Arial"/>
                        </a:rPr>
                        <a:t>0.304</a:t>
                      </a:r>
                    </a:p>
                  </a:txBody>
                  <a:tcPr marL="91440" marR="91440" marT="45720" marB="45720">
                    <a:solidFill>
                      <a:srgbClr val="FFFFFF"/>
                    </a:solidFill>
                  </a:tcPr>
                </a:tc>
              </a:tr>
              <a:tr h="571500">
                <a:tc>
                  <a:txBody>
                    <a:bodyPr/>
                    <a:lstStyle/>
                    <a:p>
                      <a:r>
                        <a:rPr sz="1725" b="0">
                          <a:solidFill>
                            <a:srgbClr val="1F2A37"/>
                          </a:solidFill>
                          <a:latin typeface="Arial"/>
                          <a:ea typeface="Arial"/>
                          <a:cs typeface="Arial"/>
                        </a:rPr>
                        <a:t>50/50 blend</a:t>
                      </a:r>
                    </a:p>
                  </a:txBody>
                  <a:tcPr marL="91440" marR="91440" marT="45720" marB="45720">
                    <a:solidFill>
                      <a:srgbClr val="EEF3F8"/>
                    </a:solidFill>
                  </a:tcPr>
                </a:tc>
                <a:tc>
                  <a:txBody>
                    <a:bodyPr/>
                    <a:lstStyle/>
                    <a:p>
                      <a:r>
                        <a:rPr sz="1725" b="0">
                          <a:solidFill>
                            <a:srgbClr val="1F2A37"/>
                          </a:solidFill>
                          <a:latin typeface="Arial"/>
                          <a:ea typeface="Arial"/>
                          <a:cs typeface="Arial"/>
                        </a:rPr>
                        <a:t>1.414</a:t>
                      </a:r>
                    </a:p>
                  </a:txBody>
                  <a:tcPr marL="91440" marR="91440" marT="45720" marB="45720">
                    <a:solidFill>
                      <a:srgbClr val="EEF3F8"/>
                    </a:solidFill>
                  </a:tcPr>
                </a:tc>
                <a:tc>
                  <a:txBody>
                    <a:bodyPr/>
                    <a:lstStyle/>
                    <a:p>
                      <a:r>
                        <a:rPr sz="1725" b="0">
                          <a:solidFill>
                            <a:srgbClr val="1F2A37"/>
                          </a:solidFill>
                          <a:latin typeface="Arial"/>
                          <a:ea typeface="Arial"/>
                          <a:cs typeface="Arial"/>
                        </a:rPr>
                        <a:t>0.915</a:t>
                      </a:r>
                    </a:p>
                  </a:txBody>
                  <a:tcPr marL="91440" marR="91440" marT="45720" marB="45720">
                    <a:solidFill>
                      <a:srgbClr val="EEF3F8"/>
                    </a:solidFill>
                  </a:tcPr>
                </a:tc>
                <a:tc>
                  <a:txBody>
                    <a:bodyPr/>
                    <a:lstStyle/>
                    <a:p>
                      <a:r>
                        <a:rPr sz="1725" b="0">
                          <a:solidFill>
                            <a:srgbClr val="1F2A37"/>
                          </a:solidFill>
                          <a:latin typeface="Arial"/>
                          <a:ea typeface="Arial"/>
                          <a:cs typeface="Arial"/>
                        </a:rPr>
                        <a:t>0.463</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0FC919DC-B92E-4C58-9020-10967D75D7E8}"/>
              </a:ext>
            </a:extLst>
          </p:cNvPr>
          <p:cNvSpPr>
            <a:spLocks xmlns:a="http://schemas.openxmlformats.org/drawingml/2006/main" noGrp="1"/>
          </p:cNvSpPr>
          <p:nvPr/>
        </p:nvSpPr>
        <p:spPr>
          <a:xfrm xmlns:a="http://schemas.openxmlformats.org/drawingml/2006/main">
            <a:off x="419100" y="353377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Test correlation between architectures is 0.292. Averaging lowers volatility.</a:t>
            </a:r>
          </a:p>
        </p:txBody>
      </p:sp>
      <p:sp>
        <p:nvSpPr>
          <p:cNvPr id="8" name="">
            <a:extLst xmlns:a="http://schemas.openxmlformats.org/drawingml/2006/main">
              <a:ext uri="{FF2B5EF4-FFF2-40B4-BE49-F238E27FC236}">
                <a16:creationId xmlns:a16="http://schemas.microsoft.com/office/drawing/2014/main" id="{8992F0A9-022A-4C77-A101-70B40B9CBA9F}"/>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Blend test Sharpe improves only slightly: 0.463 versus LSTM 0.459.</a:t>
            </a:r>
          </a:p>
        </p:txBody>
      </p:sp>
    </p:spTree>
    <p:extLst>
      <p:ext uri="{BB962C8B-B14F-4D97-AF65-F5344CB8AC3E}">
        <p14:creationId xmlns:p14="http://schemas.microsoft.com/office/powerpoint/2010/main" val="46281989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6E2435-F682-4AC7-9CD8-043B9498078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4F9B56-293E-48B2-BB40-06519F0039E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7526ADE-D5DB-4A98-B338-1860740F516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conditional months and rolling endpoints</a:t>
            </a:r>
          </a:p>
        </p:txBody>
      </p:sp>
      <p:sp>
        <p:nvSpPr>
          <p:cNvPr id="4" name="">
            <a:extLst xmlns:a="http://schemas.openxmlformats.org/drawingml/2006/main">
              <a:ext uri="{FF2B5EF4-FFF2-40B4-BE49-F238E27FC236}">
                <a16:creationId xmlns:a16="http://schemas.microsoft.com/office/drawing/2014/main" id="{4B7AAED8-E062-4AC8-A0F8-BC5567B21E6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FD1E3F18-3E3F-45E9-A182-90601092DD15}"/>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33</a:t>
            </a:r>
          </a:p>
        </p:txBody>
      </p:sp>
      <p:graphicFrame>
        <p:nvGraphicFramePr>
          <p:cNvPr id="16" name=""/>
          <p:cNvGraphicFramePr/>
          <p:nvPr/>
        </p:nvGraphicFramePr>
        <p:xfrm>
          <a:off xmlns:a="http://schemas.openxmlformats.org/drawingml/2006/main" x="400050" y="1019175"/>
          <a:ext xmlns:a="http://schemas.openxmlformats.org/drawingml/2006/main" cx="8343900" cy="2171700"/>
        </p:xfrm>
        <a:graphic xmlns:a="http://schemas.openxmlformats.org/drawingml/2006/main">
          <a:graphicData uri="http://schemas.openxmlformats.org/drawingml/2006/table">
            <a:tbl>
              <a:tblPr/>
              <a:tblGrid>
                <a:gridCol w="2286000"/>
                <a:gridCol w="3028950"/>
                <a:gridCol w="3028950"/>
              </a:tblGrid>
              <a:tr h="723900">
                <a:tc>
                  <a:txBody>
                    <a:bodyPr/>
                    <a:lstStyle/>
                    <a:p>
                      <a:r>
                        <a:rPr sz="1350" b="1">
                          <a:solidFill>
                            <a:srgbClr val="FFFFFF"/>
                          </a:solidFill>
                          <a:latin typeface="Arial"/>
                          <a:ea typeface="Arial"/>
                          <a:cs typeface="Arial"/>
                        </a:rPr>
                        <a:t>Analysis</a:t>
                      </a:r>
                    </a:p>
                  </a:txBody>
                  <a:tcPr marL="91440" marR="91440" marT="45720" marB="45720">
                    <a:solidFill>
                      <a:srgbClr val="003262"/>
                    </a:solidFill>
                  </a:tcPr>
                </a:tc>
                <a:tc>
                  <a:txBody>
                    <a:bodyPr/>
                    <a:lstStyle/>
                    <a:p>
                      <a:r>
                        <a:rPr sz="1350" b="1">
                          <a:solidFill>
                            <a:srgbClr val="FFFFFF"/>
                          </a:solidFill>
                          <a:latin typeface="Arial"/>
                          <a:ea typeface="Arial"/>
                          <a:cs typeface="Arial"/>
                        </a:rPr>
                        <a:t>Returns used</a:t>
                      </a:r>
                    </a:p>
                  </a:txBody>
                  <a:tcPr marL="91440" marR="91440" marT="45720" marB="45720">
                    <a:solidFill>
                      <a:srgbClr val="003262"/>
                    </a:solidFill>
                  </a:tcPr>
                </a:tc>
                <a:tc>
                  <a:txBody>
                    <a:bodyPr/>
                    <a:lstStyle/>
                    <a:p>
                      <a:r>
                        <a:rPr sz="1350" b="1">
                          <a:solidFill>
                            <a:srgbClr val="FFFFFF"/>
                          </a:solidFill>
                          <a:latin typeface="Arial"/>
                          <a:ea typeface="Arial"/>
                          <a:cs typeface="Arial"/>
                        </a:rPr>
                        <a:t>Question</a:t>
                      </a:r>
                    </a:p>
                  </a:txBody>
                  <a:tcPr marL="91440" marR="91440" marT="45720" marB="45720">
                    <a:solidFill>
                      <a:srgbClr val="003262"/>
                    </a:solidFill>
                  </a:tcPr>
                </a:tc>
              </a:tr>
              <a:tr h="723900">
                <a:tc>
                  <a:txBody>
                    <a:bodyPr/>
                    <a:lstStyle/>
                    <a:p>
                      <a:r>
                        <a:rPr sz="1425" b="0">
                          <a:solidFill>
                            <a:srgbClr val="1F2A37"/>
                          </a:solidFill>
                          <a:latin typeface="Arial"/>
                          <a:ea typeface="Arial"/>
                          <a:cs typeface="Arial"/>
                        </a:rPr>
                        <a:t>Conditional regime Sharpe</a:t>
                      </a:r>
                    </a:p>
                  </a:txBody>
                  <a:tcPr marL="91440" marR="91440" marT="45720" marB="45720">
                    <a:solidFill>
                      <a:srgbClr val="EEF3F8"/>
                    </a:solidFill>
                  </a:tcPr>
                </a:tc>
                <a:tc>
                  <a:txBody>
                    <a:bodyPr/>
                    <a:lstStyle/>
                    <a:p>
                      <a:r>
                        <a:rPr sz="1425" b="0">
                          <a:solidFill>
                            <a:srgbClr val="1F2A37"/>
                          </a:solidFill>
                          <a:latin typeface="Arial"/>
                          <a:ea typeface="Arial"/>
                          <a:cs typeface="Arial"/>
                        </a:rPr>
                        <a:t>Only labeled months</a:t>
                      </a:r>
                    </a:p>
                  </a:txBody>
                  <a:tcPr marL="91440" marR="91440" marT="45720" marB="45720">
                    <a:solidFill>
                      <a:srgbClr val="EEF3F8"/>
                    </a:solidFill>
                  </a:tcPr>
                </a:tc>
                <a:tc>
                  <a:txBody>
                    <a:bodyPr/>
                    <a:lstStyle/>
                    <a:p>
                      <a:r>
                        <a:rPr sz="1425" b="0">
                          <a:solidFill>
                            <a:srgbClr val="1F2A37"/>
                          </a:solidFill>
                          <a:latin typeface="Arial"/>
                          <a:ea typeface="Arial"/>
                          <a:cs typeface="Arial"/>
                        </a:rPr>
                        <a:t>How does performance differ within the state?</a:t>
                      </a:r>
                    </a:p>
                  </a:txBody>
                  <a:tcPr marL="91440" marR="91440" marT="45720" marB="45720">
                    <a:solidFill>
                      <a:srgbClr val="EEF3F8"/>
                    </a:solidFill>
                  </a:tcPr>
                </a:tc>
              </a:tr>
              <a:tr h="723900">
                <a:tc>
                  <a:txBody>
                    <a:bodyPr/>
                    <a:lstStyle/>
                    <a:p>
                      <a:r>
                        <a:rPr sz="1425" b="0">
                          <a:solidFill>
                            <a:srgbClr val="1F2A37"/>
                          </a:solidFill>
                          <a:latin typeface="Arial"/>
                          <a:ea typeface="Arial"/>
                          <a:cs typeface="Arial"/>
                        </a:rPr>
                        <a:t>Rolling by endpoint regime</a:t>
                      </a:r>
                    </a:p>
                  </a:txBody>
                  <a:tcPr marL="91440" marR="91440" marT="45720" marB="45720">
                    <a:solidFill>
                      <a:srgbClr val="FFFFFF"/>
                    </a:solidFill>
                  </a:tcPr>
                </a:tc>
                <a:tc>
                  <a:txBody>
                    <a:bodyPr/>
                    <a:lstStyle/>
                    <a:p>
                      <a:r>
                        <a:rPr sz="1425" b="0">
                          <a:solidFill>
                            <a:srgbClr val="1F2A37"/>
                          </a:solidFill>
                          <a:latin typeface="Arial"/>
                          <a:ea typeface="Arial"/>
                          <a:cs typeface="Arial"/>
                        </a:rPr>
                        <a:t>All returns in each trailing window</a:t>
                      </a:r>
                    </a:p>
                  </a:txBody>
                  <a:tcPr marL="91440" marR="91440" marT="45720" marB="45720">
                    <a:solidFill>
                      <a:srgbClr val="FFFFFF"/>
                    </a:solidFill>
                  </a:tcPr>
                </a:tc>
                <a:tc>
                  <a:txBody>
                    <a:bodyPr/>
                    <a:lstStyle/>
                    <a:p>
                      <a:r>
                        <a:rPr sz="1425" b="0">
                          <a:solidFill>
                            <a:srgbClr val="1F2A37"/>
                          </a:solidFill>
                          <a:latin typeface="Arial"/>
                          <a:ea typeface="Arial"/>
                          <a:cs typeface="Arial"/>
                        </a:rPr>
                        <a:t>What trailing performance do we observe in that state?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D71EF81-EB3D-4F20-877D-CC1F2D87F580}"/>
              </a:ext>
            </a:extLst>
          </p:cNvPr>
          <p:cNvSpPr>
            <a:spLocks xmlns:a="http://schemas.openxmlformats.org/drawingml/2006/main" noGrp="1"/>
          </p:cNvSpPr>
          <p:nvPr/>
        </p:nvSpPr>
        <p:spPr>
          <a:xfrm xmlns:a="http://schemas.openxmlformats.org/drawingml/2006/main">
            <a:off x="419100" y="3438525"/>
            <a:ext cx="8286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03262"/>
                </a:solidFill>
                <a:latin typeface="Arial"/>
                <a:ea typeface="Arial"/>
                <a:cs typeface="Arial"/>
              </a:defRPr>
            </a:pPr>
            <a:r>
              <a:rPr sz="1725" b="1">
                <a:solidFill>
                  <a:srgbClr val="003262"/>
                </a:solidFill>
                <a:latin typeface="Arial"/>
                <a:ea typeface="Arial"/>
                <a:cs typeface="Arial"/>
              </a:rPr>
              <a:t>A 36-month recession-ending window can include many expansion months.</a:t>
            </a:r>
          </a:p>
        </p:txBody>
      </p:sp>
      <p:sp>
        <p:nvSpPr>
          <p:cNvPr id="8" name="">
            <a:extLst xmlns:a="http://schemas.openxmlformats.org/drawingml/2006/main">
              <a:ext uri="{FF2B5EF4-FFF2-40B4-BE49-F238E27FC236}">
                <a16:creationId xmlns:a16="http://schemas.microsoft.com/office/drawing/2014/main" id="{41036B9C-FE34-46EE-A91D-5ED8C591309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 two measures can rank the models differently because they use different returns.</a:t>
            </a:r>
          </a:p>
        </p:txBody>
      </p:sp>
    </p:spTree>
    <p:extLst>
      <p:ext uri="{BB962C8B-B14F-4D97-AF65-F5344CB8AC3E}">
        <p14:creationId xmlns:p14="http://schemas.microsoft.com/office/powerpoint/2010/main" val="128877108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5238D6-5086-432D-98AA-7DDBE213212F}"/>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9AB788-A3CB-4EEF-AC86-E36CEFE24C2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BD27E0-1B6C-4952-9327-18EC64F6A78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36-month rolling results by regime</a:t>
            </a:r>
          </a:p>
        </p:txBody>
      </p:sp>
      <p:sp>
        <p:nvSpPr>
          <p:cNvPr id="4" name="">
            <a:extLst xmlns:a="http://schemas.openxmlformats.org/drawingml/2006/main">
              <a:ext uri="{FF2B5EF4-FFF2-40B4-BE49-F238E27FC236}">
                <a16:creationId xmlns:a16="http://schemas.microsoft.com/office/drawing/2014/main" id="{A86CDF18-B593-4A19-B134-0A48AEC1C48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ADD87B3E-7529-4B7C-8BF9-638E6E3CCCEB}"/>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34</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83083846cfaf48c0"/>
          </a:graphicData>
        </a:graphic>
      </p:graphicFrame>
      <p:sp>
        <p:nvSpPr>
          <p:cNvPr id="7" name="">
            <a:extLst xmlns:a="http://schemas.openxmlformats.org/drawingml/2006/main">
              <a:ext uri="{FF2B5EF4-FFF2-40B4-BE49-F238E27FC236}">
                <a16:creationId xmlns:a16="http://schemas.microsoft.com/office/drawing/2014/main" id="{8B4F6AFE-170B-43B1-9D94-8AA0213CF5B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In recession-ending windows, Transformer 1.409 slightly exceeds new LSTM 1.383.</a:t>
            </a:r>
          </a:p>
        </p:txBody>
      </p:sp>
    </p:spTree>
    <p:extLst>
      <p:ext uri="{BB962C8B-B14F-4D97-AF65-F5344CB8AC3E}">
        <p14:creationId xmlns:p14="http://schemas.microsoft.com/office/powerpoint/2010/main" val="147792407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526C2B-ADFE-4EB6-9777-090B47968ED1}"/>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C7D032-2B8D-429C-86FC-995DB1C21A3E}"/>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7A97F9-D4CE-4B79-9C7D-59519B0ED7B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60-month rolling results by regime</a:t>
            </a:r>
          </a:p>
        </p:txBody>
      </p:sp>
      <p:sp>
        <p:nvSpPr>
          <p:cNvPr id="4" name="">
            <a:extLst xmlns:a="http://schemas.openxmlformats.org/drawingml/2006/main">
              <a:ext uri="{FF2B5EF4-FFF2-40B4-BE49-F238E27FC236}">
                <a16:creationId xmlns:a16="http://schemas.microsoft.com/office/drawing/2014/main" id="{91DF4854-0561-44BE-A4D8-62D307E0C62D}"/>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8F9BBBBF-089C-4EE7-AE40-5EF574290133}"/>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35</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150de99240bd4a88"/>
          </a:graphicData>
        </a:graphic>
      </p:graphicFrame>
      <p:sp>
        <p:nvSpPr>
          <p:cNvPr id="7" name="">
            <a:extLst xmlns:a="http://schemas.openxmlformats.org/drawingml/2006/main">
              <a:ext uri="{FF2B5EF4-FFF2-40B4-BE49-F238E27FC236}">
                <a16:creationId xmlns:a16="http://schemas.microsoft.com/office/drawing/2014/main" id="{215B0EA5-9611-4F9E-817C-9A044B3522D4}"/>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In recession-ending windows, new LSTM 1.893 exceeds Transformer 1.775.</a:t>
            </a:r>
          </a:p>
        </p:txBody>
      </p:sp>
    </p:spTree>
    <p:extLst>
      <p:ext uri="{BB962C8B-B14F-4D97-AF65-F5344CB8AC3E}">
        <p14:creationId xmlns:p14="http://schemas.microsoft.com/office/powerpoint/2010/main" val="159940367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9F5BDD-3436-4EA1-9882-F120A5876464}"/>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EC75D1-6415-4B87-8069-70B8E844593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60FC82-304A-4118-9184-352F3E506DD7}"/>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overall portfolio comparison</a:t>
            </a:r>
          </a:p>
        </p:txBody>
      </p:sp>
      <p:sp>
        <p:nvSpPr>
          <p:cNvPr id="4" name="">
            <a:extLst xmlns:a="http://schemas.openxmlformats.org/drawingml/2006/main">
              <a:ext uri="{FF2B5EF4-FFF2-40B4-BE49-F238E27FC236}">
                <a16:creationId xmlns:a16="http://schemas.microsoft.com/office/drawing/2014/main" id="{798E05B1-4B3A-4529-9CC8-9EF39BAEFC8B}"/>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3FBD79A6-93EA-4DAC-A953-6A962DAC0FE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36</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d279d6ce1ec742da"/>
          </a:graphicData>
        </a:graphic>
      </p:graphicFrame>
      <p:sp>
        <p:nvSpPr>
          <p:cNvPr id="7" name="">
            <a:extLst xmlns:a="http://schemas.openxmlformats.org/drawingml/2006/main">
              <a:ext uri="{FF2B5EF4-FFF2-40B4-BE49-F238E27FC236}">
                <a16:creationId xmlns:a16="http://schemas.microsoft.com/office/drawing/2014/main" id="{FB06AA6B-F677-4632-B804-5593C93D33D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Author GAN 0.750, replication 0.612, extension LSTM 0.459, Transformer 0.304.</a:t>
            </a:r>
          </a:p>
        </p:txBody>
      </p:sp>
    </p:spTree>
    <p:extLst>
      <p:ext uri="{BB962C8B-B14F-4D97-AF65-F5344CB8AC3E}">
        <p14:creationId xmlns:p14="http://schemas.microsoft.com/office/powerpoint/2010/main" val="202651877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BA5D51-E367-4934-9161-1A9AA29B882B}"/>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F77CDE-17F8-443C-A072-4E45D948A7C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C6496D-D32A-43E8-A621-7E656AA7F7B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overall, rolling and recession results</a:t>
            </a:r>
          </a:p>
        </p:txBody>
      </p:sp>
      <p:sp>
        <p:nvSpPr>
          <p:cNvPr id="4" name="">
            <a:extLst xmlns:a="http://schemas.openxmlformats.org/drawingml/2006/main">
              <a:ext uri="{FF2B5EF4-FFF2-40B4-BE49-F238E27FC236}">
                <a16:creationId xmlns:a16="http://schemas.microsoft.com/office/drawing/2014/main" id="{E2DB1C94-88D7-4A6C-AC02-94343312E21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20C572EC-5677-4400-B899-B8F048EE0119}"/>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37</a:t>
            </a:r>
          </a:p>
        </p:txBody>
      </p:sp>
      <p:graphicFrame>
        <p:nvGraphicFramePr>
          <p:cNvPr id="15"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571750"/>
                <a:gridCol w="1924050"/>
                <a:gridCol w="1924050"/>
                <a:gridCol w="1924050"/>
              </a:tblGrid>
              <a:tr h="357188">
                <a:tc>
                  <a:txBody>
                    <a:bodyPr/>
                    <a:lstStyle/>
                    <a:p>
                      <a:r>
                        <a:rPr sz="1275" b="1">
                          <a:solidFill>
                            <a:srgbClr val="FFFFFF"/>
                          </a:solidFill>
                          <a:latin typeface="Arial"/>
                          <a:ea typeface="Arial"/>
                          <a:cs typeface="Arial"/>
                        </a:rPr>
                        <a:t>Local portfolio</a:t>
                      </a:r>
                    </a:p>
                  </a:txBody>
                  <a:tcPr marL="91440" marR="91440" marT="45720" marB="45720">
                    <a:solidFill>
                      <a:srgbClr val="003262"/>
                    </a:solidFill>
                  </a:tcPr>
                </a:tc>
                <a:tc>
                  <a:txBody>
                    <a:bodyPr/>
                    <a:lstStyle/>
                    <a:p>
                      <a:r>
                        <a:rPr sz="1275" b="1">
                          <a:solidFill>
                            <a:srgbClr val="FFFFFF"/>
                          </a:solidFill>
                          <a:latin typeface="Arial"/>
                          <a:ea typeface="Arial"/>
                          <a:cs typeface="Arial"/>
                        </a:rPr>
                        <a:t>Test Sharpe</a:t>
                      </a:r>
                    </a:p>
                    <a:p>
                      <a:r>
                        <a:rPr sz="1275" b="1">
                          <a:solidFill>
                            <a:srgbClr val="FFFFFF"/>
                          </a:solidFill>
                          <a:latin typeface="Arial"/>
                          <a:ea typeface="Arial"/>
                          <a:cs typeface="Arial"/>
                        </a:rPr>
                        <a:t>monthly</a:t>
                      </a:r>
                    </a:p>
                  </a:txBody>
                  <a:tcPr marL="91440" marR="91440" marT="45720" marB="45720">
                    <a:solidFill>
                      <a:srgbClr val="003262"/>
                    </a:solidFill>
                  </a:tcPr>
                </a:tc>
                <a:tc>
                  <a:txBody>
                    <a:bodyPr/>
                    <a:lstStyle/>
                    <a:p>
                      <a:r>
                        <a:rPr sz="1275" b="1">
                          <a:solidFill>
                            <a:srgbClr val="FFFFFF"/>
                          </a:solidFill>
                          <a:latin typeface="Arial"/>
                          <a:ea typeface="Arial"/>
                          <a:cs typeface="Arial"/>
                        </a:rPr>
                        <a:t>36-month mean</a:t>
                      </a:r>
                    </a:p>
                    <a:p>
                      <a:r>
                        <a:rPr sz="1275" b="1">
                          <a:solidFill>
                            <a:srgbClr val="FFFFFF"/>
                          </a:solidFill>
                          <a:latin typeface="Arial"/>
                          <a:ea typeface="Arial"/>
                          <a:cs typeface="Arial"/>
                        </a:rPr>
                        <a:t>annualized</a:t>
                      </a:r>
                    </a:p>
                  </a:txBody>
                  <a:tcPr marL="91440" marR="91440" marT="45720" marB="45720">
                    <a:solidFill>
                      <a:srgbClr val="003262"/>
                    </a:solidFill>
                  </a:tcPr>
                </a:tc>
                <a:tc>
                  <a:txBody>
                    <a:bodyPr/>
                    <a:lstStyle/>
                    <a:p>
                      <a:r>
                        <a:rPr sz="1275" b="1">
                          <a:solidFill>
                            <a:srgbClr val="FFFFFF"/>
                          </a:solidFill>
                          <a:latin typeface="Arial"/>
                          <a:ea typeface="Arial"/>
                          <a:cs typeface="Arial"/>
                        </a:rPr>
                        <a:t>Recession Sharpe</a:t>
                      </a:r>
                    </a:p>
                    <a:p>
                      <a:r>
                        <a:rPr sz="1275" b="1">
                          <a:solidFill>
                            <a:srgbClr val="FFFFFF"/>
                          </a:solidFill>
                          <a:latin typeface="Arial"/>
                          <a:ea typeface="Arial"/>
                          <a:cs typeface="Arial"/>
                        </a:rPr>
                        <a:t>monthly</a:t>
                      </a:r>
                    </a:p>
                  </a:txBody>
                  <a:tcPr marL="91440" marR="91440" marT="45720" marB="45720">
                    <a:solidFill>
                      <a:srgbClr val="003262"/>
                    </a:solidFill>
                  </a:tcPr>
                </a:tc>
              </a:tr>
              <a:tr h="357188">
                <a:tc>
                  <a:txBody>
                    <a:bodyPr/>
                    <a:lstStyle/>
                    <a:p>
                      <a:r>
                        <a:rPr sz="1350" b="0">
                          <a:solidFill>
                            <a:srgbClr val="1F2A37"/>
                          </a:solidFill>
                          <a:latin typeface="Arial"/>
                          <a:ea typeface="Arial"/>
                          <a:cs typeface="Arial"/>
                        </a:rPr>
                        <a:t>Replicated GAN</a:t>
                      </a:r>
                    </a:p>
                  </a:txBody>
                  <a:tcPr marL="91440" marR="91440" marT="45720" marB="45720">
                    <a:solidFill>
                      <a:srgbClr val="EEF3F8"/>
                    </a:solidFill>
                  </a:tcPr>
                </a:tc>
                <a:tc>
                  <a:txBody>
                    <a:bodyPr/>
                    <a:lstStyle/>
                    <a:p>
                      <a:r>
                        <a:rPr sz="1350" b="0">
                          <a:solidFill>
                            <a:srgbClr val="1F2A37"/>
                          </a:solidFill>
                          <a:latin typeface="Arial"/>
                          <a:ea typeface="Arial"/>
                          <a:cs typeface="Arial"/>
                        </a:rPr>
                        <a:t>0.612</a:t>
                      </a:r>
                    </a:p>
                  </a:txBody>
                  <a:tcPr marL="91440" marR="91440" marT="45720" marB="45720">
                    <a:solidFill>
                      <a:srgbClr val="EEF3F8"/>
                    </a:solidFill>
                  </a:tcPr>
                </a:tc>
                <a:tc>
                  <a:txBody>
                    <a:bodyPr/>
                    <a:lstStyle/>
                    <a:p>
                      <a:r>
                        <a:rPr sz="1350" b="0">
                          <a:solidFill>
                            <a:srgbClr val="1F2A37"/>
                          </a:solidFill>
                          <a:latin typeface="Arial"/>
                          <a:ea typeface="Arial"/>
                          <a:cs typeface="Arial"/>
                        </a:rPr>
                        <a:t>2.890</a:t>
                      </a:r>
                    </a:p>
                  </a:txBody>
                  <a:tcPr marL="91440" marR="91440" marT="45720" marB="45720">
                    <a:solidFill>
                      <a:srgbClr val="EEF3F8"/>
                    </a:solidFill>
                  </a:tcPr>
                </a:tc>
                <a:tc>
                  <a:txBody>
                    <a:bodyPr/>
                    <a:lstStyle/>
                    <a:p>
                      <a:r>
                        <a:rPr sz="1350" b="0">
                          <a:solidFill>
                            <a:srgbClr val="1F2A37"/>
                          </a:solidFill>
                          <a:latin typeface="Arial"/>
                          <a:ea typeface="Arial"/>
                          <a:cs typeface="Arial"/>
                        </a:rPr>
                        <a:t>0.455</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Feedforward</a:t>
                      </a:r>
                    </a:p>
                  </a:txBody>
                  <a:tcPr marL="91440" marR="91440" marT="45720" marB="45720">
                    <a:solidFill>
                      <a:srgbClr val="FFFFFF"/>
                    </a:solidFill>
                  </a:tcPr>
                </a:tc>
                <a:tc>
                  <a:txBody>
                    <a:bodyPr/>
                    <a:lstStyle/>
                    <a:p>
                      <a:r>
                        <a:rPr sz="1350" b="0">
                          <a:solidFill>
                            <a:srgbClr val="1F2A37"/>
                          </a:solidFill>
                          <a:latin typeface="Arial"/>
                          <a:ea typeface="Arial"/>
                          <a:cs typeface="Arial"/>
                        </a:rPr>
                        <a:t>0.570</a:t>
                      </a:r>
                    </a:p>
                  </a:txBody>
                  <a:tcPr marL="91440" marR="91440" marT="45720" marB="45720">
                    <a:solidFill>
                      <a:srgbClr val="FFFFFF"/>
                    </a:solidFill>
                  </a:tcPr>
                </a:tc>
                <a:tc>
                  <a:txBody>
                    <a:bodyPr/>
                    <a:lstStyle/>
                    <a:p>
                      <a:r>
                        <a:rPr sz="1350" b="0">
                          <a:solidFill>
                            <a:srgbClr val="1F2A37"/>
                          </a:solidFill>
                          <a:latin typeface="Arial"/>
                          <a:ea typeface="Arial"/>
                          <a:cs typeface="Arial"/>
                        </a:rPr>
                        <a:t>2.620</a:t>
                      </a:r>
                    </a:p>
                  </a:txBody>
                  <a:tcPr marL="91440" marR="91440" marT="45720" marB="45720">
                    <a:solidFill>
                      <a:srgbClr val="FFFFFF"/>
                    </a:solidFill>
                  </a:tcPr>
                </a:tc>
                <a:tc>
                  <a:txBody>
                    <a:bodyPr/>
                    <a:lstStyle/>
                    <a:p>
                      <a:r>
                        <a:rPr sz="1350" b="0">
                          <a:solidFill>
                            <a:srgbClr val="1F2A37"/>
                          </a:solidFill>
                          <a:latin typeface="Arial"/>
                          <a:ea typeface="Arial"/>
                          <a:cs typeface="Arial"/>
                        </a:rPr>
                        <a:t>0.570</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350" b="0">
                          <a:solidFill>
                            <a:srgbClr val="1F2A37"/>
                          </a:solidFill>
                          <a:latin typeface="Arial"/>
                          <a:ea typeface="Arial"/>
                          <a:cs typeface="Arial"/>
                        </a:rPr>
                        <a:t>0.463</a:t>
                      </a:r>
                    </a:p>
                  </a:txBody>
                  <a:tcPr marL="91440" marR="91440" marT="45720" marB="45720">
                    <a:solidFill>
                      <a:srgbClr val="EEF3F8"/>
                    </a:solidFill>
                  </a:tcPr>
                </a:tc>
                <a:tc>
                  <a:txBody>
                    <a:bodyPr/>
                    <a:lstStyle/>
                    <a:p>
                      <a:r>
                        <a:rPr sz="1350" b="0">
                          <a:solidFill>
                            <a:srgbClr val="1F2A37"/>
                          </a:solidFill>
                          <a:latin typeface="Arial"/>
                          <a:ea typeface="Arial"/>
                          <a:cs typeface="Arial"/>
                        </a:rPr>
                        <a:t>2.166</a:t>
                      </a:r>
                    </a:p>
                  </a:txBody>
                  <a:tcPr marL="91440" marR="91440" marT="45720" marB="45720">
                    <a:solidFill>
                      <a:srgbClr val="EEF3F8"/>
                    </a:solidFill>
                  </a:tcPr>
                </a:tc>
                <a:tc>
                  <a:txBody>
                    <a:bodyPr/>
                    <a:lstStyle/>
                    <a:p>
                      <a:r>
                        <a:rPr sz="1350" b="0">
                          <a:solidFill>
                            <a:srgbClr val="1F2A37"/>
                          </a:solidFill>
                          <a:latin typeface="Arial"/>
                          <a:ea typeface="Arial"/>
                          <a:cs typeface="Arial"/>
                        </a:rPr>
                        <a:t>0.076</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Extension LSTM</a:t>
                      </a:r>
                    </a:p>
                  </a:txBody>
                  <a:tcPr marL="91440" marR="91440" marT="45720" marB="45720">
                    <a:solidFill>
                      <a:srgbClr val="FFFFFF"/>
                    </a:solidFill>
                  </a:tcPr>
                </a:tc>
                <a:tc>
                  <a:txBody>
                    <a:bodyPr/>
                    <a:lstStyle/>
                    <a:p>
                      <a:r>
                        <a:rPr sz="1350" b="0">
                          <a:solidFill>
                            <a:srgbClr val="1F2A37"/>
                          </a:solidFill>
                          <a:latin typeface="Arial"/>
                          <a:ea typeface="Arial"/>
                          <a:cs typeface="Arial"/>
                        </a:rPr>
                        <a:t>0.459</a:t>
                      </a:r>
                    </a:p>
                  </a:txBody>
                  <a:tcPr marL="91440" marR="91440" marT="45720" marB="45720">
                    <a:solidFill>
                      <a:srgbClr val="FFFFFF"/>
                    </a:solidFill>
                  </a:tcPr>
                </a:tc>
                <a:tc>
                  <a:txBody>
                    <a:bodyPr/>
                    <a:lstStyle/>
                    <a:p>
                      <a:r>
                        <a:rPr sz="1350" b="0">
                          <a:solidFill>
                            <a:srgbClr val="1F2A37"/>
                          </a:solidFill>
                          <a:latin typeface="Arial"/>
                          <a:ea typeface="Arial"/>
                          <a:cs typeface="Arial"/>
                        </a:rPr>
                        <a:t>1.992</a:t>
                      </a:r>
                    </a:p>
                  </a:txBody>
                  <a:tcPr marL="91440" marR="91440" marT="45720" marB="45720">
                    <a:solidFill>
                      <a:srgbClr val="FFFFFF"/>
                    </a:solidFill>
                  </a:tcPr>
                </a:tc>
                <a:tc>
                  <a:txBody>
                    <a:bodyPr/>
                    <a:lstStyle/>
                    <a:p>
                      <a:r>
                        <a:rPr sz="1350" b="0">
                          <a:solidFill>
                            <a:srgbClr val="1F2A37"/>
                          </a:solidFill>
                          <a:latin typeface="Arial"/>
                          <a:ea typeface="Arial"/>
                          <a:cs typeface="Arial"/>
                        </a:rPr>
                        <a:t>0.264</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Elastic Net</a:t>
                      </a:r>
                    </a:p>
                  </a:txBody>
                  <a:tcPr marL="91440" marR="91440" marT="45720" marB="45720">
                    <a:solidFill>
                      <a:srgbClr val="EEF3F8"/>
                    </a:solidFill>
                  </a:tcPr>
                </a:tc>
                <a:tc>
                  <a:txBody>
                    <a:bodyPr/>
                    <a:lstStyle/>
                    <a:p>
                      <a:r>
                        <a:rPr sz="1350" b="0">
                          <a:solidFill>
                            <a:srgbClr val="1F2A37"/>
                          </a:solidFill>
                          <a:latin typeface="Arial"/>
                          <a:ea typeface="Arial"/>
                          <a:cs typeface="Arial"/>
                        </a:rPr>
                        <a:t>0.412</a:t>
                      </a:r>
                    </a:p>
                  </a:txBody>
                  <a:tcPr marL="91440" marR="91440" marT="45720" marB="45720">
                    <a:solidFill>
                      <a:srgbClr val="EEF3F8"/>
                    </a:solidFill>
                  </a:tcPr>
                </a:tc>
                <a:tc>
                  <a:txBody>
                    <a:bodyPr/>
                    <a:lstStyle/>
                    <a:p>
                      <a:r>
                        <a:rPr sz="1350" b="0">
                          <a:solidFill>
                            <a:srgbClr val="1F2A37"/>
                          </a:solidFill>
                          <a:latin typeface="Arial"/>
                          <a:ea typeface="Arial"/>
                          <a:cs typeface="Arial"/>
                        </a:rPr>
                        <a:t>2.074</a:t>
                      </a:r>
                    </a:p>
                  </a:txBody>
                  <a:tcPr marL="91440" marR="91440" marT="45720" marB="45720">
                    <a:solidFill>
                      <a:srgbClr val="EEF3F8"/>
                    </a:solidFill>
                  </a:tcPr>
                </a:tc>
                <a:tc>
                  <a:txBody>
                    <a:bodyPr/>
                    <a:lstStyle/>
                    <a:p>
                      <a:r>
                        <a:rPr sz="1350" b="0">
                          <a:solidFill>
                            <a:srgbClr val="1F2A37"/>
                          </a:solidFill>
                          <a:latin typeface="Arial"/>
                          <a:ea typeface="Arial"/>
                          <a:cs typeface="Arial"/>
                        </a:rPr>
                        <a:t>0.254</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Linear</a:t>
                      </a:r>
                    </a:p>
                  </a:txBody>
                  <a:tcPr marL="91440" marR="91440" marT="45720" marB="45720">
                    <a:solidFill>
                      <a:srgbClr val="FFFFFF"/>
                    </a:solidFill>
                  </a:tcPr>
                </a:tc>
                <a:tc>
                  <a:txBody>
                    <a:bodyPr/>
                    <a:lstStyle/>
                    <a:p>
                      <a:r>
                        <a:rPr sz="1350" b="0">
                          <a:solidFill>
                            <a:srgbClr val="1F2A37"/>
                          </a:solidFill>
                          <a:latin typeface="Arial"/>
                          <a:ea typeface="Arial"/>
                          <a:cs typeface="Arial"/>
                        </a:rPr>
                        <a:t>0.406</a:t>
                      </a:r>
                    </a:p>
                  </a:txBody>
                  <a:tcPr marL="91440" marR="91440" marT="45720" marB="45720">
                    <a:solidFill>
                      <a:srgbClr val="FFFFFF"/>
                    </a:solidFill>
                  </a:tcPr>
                </a:tc>
                <a:tc>
                  <a:txBody>
                    <a:bodyPr/>
                    <a:lstStyle/>
                    <a:p>
                      <a:r>
                        <a:rPr sz="1350" b="0">
                          <a:solidFill>
                            <a:srgbClr val="1F2A37"/>
                          </a:solidFill>
                          <a:latin typeface="Arial"/>
                          <a:ea typeface="Arial"/>
                          <a:cs typeface="Arial"/>
                        </a:rPr>
                        <a:t>1.740</a:t>
                      </a:r>
                    </a:p>
                  </a:txBody>
                  <a:tcPr marL="91440" marR="91440" marT="45720" marB="45720">
                    <a:solidFill>
                      <a:srgbClr val="FFFFFF"/>
                    </a:solidFill>
                  </a:tcPr>
                </a:tc>
                <a:tc>
                  <a:txBody>
                    <a:bodyPr/>
                    <a:lstStyle/>
                    <a:p>
                      <a:r>
                        <a:rPr sz="1350" b="0">
                          <a:solidFill>
                            <a:srgbClr val="1F2A37"/>
                          </a:solidFill>
                          <a:latin typeface="Arial"/>
                          <a:ea typeface="Arial"/>
                          <a:cs typeface="Arial"/>
                        </a:rPr>
                        <a:t>0.404</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Transformer</a:t>
                      </a:r>
                    </a:p>
                  </a:txBody>
                  <a:tcPr marL="91440" marR="91440" marT="45720" marB="45720">
                    <a:solidFill>
                      <a:srgbClr val="EEF3F8"/>
                    </a:solidFill>
                  </a:tcPr>
                </a:tc>
                <a:tc>
                  <a:txBody>
                    <a:bodyPr/>
                    <a:lstStyle/>
                    <a:p>
                      <a:r>
                        <a:rPr sz="1350" b="0">
                          <a:solidFill>
                            <a:srgbClr val="1F2A37"/>
                          </a:solidFill>
                          <a:latin typeface="Arial"/>
                          <a:ea typeface="Arial"/>
                          <a:cs typeface="Arial"/>
                        </a:rPr>
                        <a:t>0.304</a:t>
                      </a:r>
                    </a:p>
                  </a:txBody>
                  <a:tcPr marL="91440" marR="91440" marT="45720" marB="45720">
                    <a:solidFill>
                      <a:srgbClr val="EEF3F8"/>
                    </a:solidFill>
                  </a:tcPr>
                </a:tc>
                <a:tc>
                  <a:txBody>
                    <a:bodyPr/>
                    <a:lstStyle/>
                    <a:p>
                      <a:r>
                        <a:rPr sz="1350" b="0">
                          <a:solidFill>
                            <a:srgbClr val="1F2A37"/>
                          </a:solidFill>
                          <a:latin typeface="Arial"/>
                          <a:ea typeface="Arial"/>
                          <a:cs typeface="Arial"/>
                        </a:rPr>
                        <a:t>1.467</a:t>
                      </a:r>
                    </a:p>
                  </a:txBody>
                  <a:tcPr marL="91440" marR="91440" marT="45720" marB="45720">
                    <a:solidFill>
                      <a:srgbClr val="EEF3F8"/>
                    </a:solidFill>
                  </a:tcPr>
                </a:tc>
                <a:tc>
                  <a:txBody>
                    <a:bodyPr/>
                    <a:lstStyle/>
                    <a:p>
                      <a:r>
                        <a:rPr sz="1350" b="0">
                          <a:solidFill>
                            <a:srgbClr val="1F2A37"/>
                          </a:solidFill>
                          <a:latin typeface="Arial"/>
                          <a:ea typeface="Arial"/>
                          <a:cs typeface="Arial"/>
                        </a:rPr>
                        <a:t>-0.071</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31206935-53F7-4ABA-8DD8-91909E420DB2}"/>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 paper benchmark remains in earlier comparisons. This adds seven local portfolios.</a:t>
            </a:r>
          </a:p>
        </p:txBody>
      </p:sp>
    </p:spTree>
    <p:extLst>
      <p:ext uri="{BB962C8B-B14F-4D97-AF65-F5344CB8AC3E}">
        <p14:creationId xmlns:p14="http://schemas.microsoft.com/office/powerpoint/2010/main" val="56163358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01E8C3-1DCC-4E85-92A6-66CC0CBFEE7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74995C-121F-414F-B645-644EDF71B691}"/>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FF864F-D740-4428-953A-32F614C80A9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Summary: findings and next steps</a:t>
            </a:r>
          </a:p>
        </p:txBody>
      </p:sp>
      <p:sp>
        <p:nvSpPr>
          <p:cNvPr id="4" name="">
            <a:extLst xmlns:a="http://schemas.openxmlformats.org/drawingml/2006/main">
              <a:ext uri="{FF2B5EF4-FFF2-40B4-BE49-F238E27FC236}">
                <a16:creationId xmlns:a16="http://schemas.microsoft.com/office/drawing/2014/main" id="{6DDDBBEA-F23A-4ADB-972A-F61DC40B706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8. Summary</a:t>
            </a:r>
          </a:p>
        </p:txBody>
      </p:sp>
      <p:sp>
        <p:nvSpPr>
          <p:cNvPr id="5" name="">
            <a:extLst xmlns:a="http://schemas.openxmlformats.org/drawingml/2006/main">
              <a:ext uri="{FF2B5EF4-FFF2-40B4-BE49-F238E27FC236}">
                <a16:creationId xmlns:a16="http://schemas.microsoft.com/office/drawing/2014/main" id="{73145E81-73FE-42B4-8FA2-7F83EDB2382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38</a:t>
            </a:r>
          </a:p>
        </p:txBody>
      </p:sp>
      <p:sp>
        <p:nvSpPr>
          <p:cNvPr id="6" name="">
            <a:extLst xmlns:a="http://schemas.openxmlformats.org/drawingml/2006/main">
              <a:ext uri="{FF2B5EF4-FFF2-40B4-BE49-F238E27FC236}">
                <a16:creationId xmlns:a16="http://schemas.microsoft.com/office/drawing/2014/main" id="{2BF1B0E0-CB9C-4205-84CE-FADFDA20B85D}"/>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What we add</a:t>
            </a:r>
          </a:p>
        </p:txBody>
      </p:sp>
      <p:sp>
        <p:nvSpPr>
          <p:cNvPr id="7" name="">
            <a:extLst xmlns:a="http://schemas.openxmlformats.org/drawingml/2006/main">
              <a:ext uri="{FF2B5EF4-FFF2-40B4-BE49-F238E27FC236}">
                <a16:creationId xmlns:a16="http://schemas.microsoft.com/office/drawing/2014/main" id="{6A78B5E2-A11D-40F2-B58B-7C3EE8B62B11}"/>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A common-budget encoder comparison, rolling and regime evaluation, a fixed combination, and paired uncertainty.</a:t>
            </a:r>
          </a:p>
        </p:txBody>
      </p:sp>
      <p:sp>
        <p:nvSpPr>
          <p:cNvPr id="8" name="">
            <a:extLst xmlns:a="http://schemas.openxmlformats.org/drawingml/2006/main">
              <a:ext uri="{FF2B5EF4-FFF2-40B4-BE49-F238E27FC236}">
                <a16:creationId xmlns:a16="http://schemas.microsoft.com/office/drawing/2014/main" id="{CDCA378D-6329-481B-A219-8273096AF7CE}"/>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What the evidence supports</a:t>
            </a:r>
          </a:p>
        </p:txBody>
      </p:sp>
      <p:sp>
        <p:nvSpPr>
          <p:cNvPr id="9" name="">
            <a:extLst xmlns:a="http://schemas.openxmlformats.org/drawingml/2006/main">
              <a:ext uri="{FF2B5EF4-FFF2-40B4-BE49-F238E27FC236}">
                <a16:creationId xmlns:a16="http://schemas.microsoft.com/office/drawing/2014/main" id="{B114AB3E-811C-4B4C-9233-EB852CC9840B}"/>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LSTM has higher observed test Sharpe. Bootstrap intervals leave its advantage over Transformer unresolved.</a:t>
            </a:r>
          </a:p>
        </p:txBody>
      </p:sp>
      <p:sp>
        <p:nvSpPr>
          <p:cNvPr id="10" name="">
            <a:extLst xmlns:a="http://schemas.openxmlformats.org/drawingml/2006/main">
              <a:ext uri="{FF2B5EF4-FFF2-40B4-BE49-F238E27FC236}">
                <a16:creationId xmlns:a16="http://schemas.microsoft.com/office/drawing/2014/main" id="{23138FAA-5FB2-4EA1-A541-B08A503D5A01}"/>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What remains open</a:t>
            </a:r>
          </a:p>
        </p:txBody>
      </p:sp>
      <p:sp>
        <p:nvSpPr>
          <p:cNvPr id="11" name="">
            <a:extLst xmlns:a="http://schemas.openxmlformats.org/drawingml/2006/main">
              <a:ext uri="{FF2B5EF4-FFF2-40B4-BE49-F238E27FC236}">
                <a16:creationId xmlns:a16="http://schemas.microsoft.com/office/drawing/2014/main" id="{975CC6A3-F469-4177-8B8E-F3299805EBF6}"/>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Full author-schedule GPU training, a new holdout, transaction costs and uncertainty across training runs.</a:t>
            </a:r>
          </a:p>
        </p:txBody>
      </p:sp>
      <p:sp>
        <p:nvSpPr>
          <p:cNvPr id="12" name="">
            <a:extLst xmlns:a="http://schemas.openxmlformats.org/drawingml/2006/main">
              <a:ext uri="{FF2B5EF4-FFF2-40B4-BE49-F238E27FC236}">
                <a16:creationId xmlns:a16="http://schemas.microsoft.com/office/drawing/2014/main" id="{7041D236-D17B-4DE1-93D2-11EA9292527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 extensions explain performance differences and the limits of those conclusions.</a:t>
            </a:r>
          </a:p>
        </p:txBody>
      </p:sp>
    </p:spTree>
    <p:extLst>
      <p:ext uri="{BB962C8B-B14F-4D97-AF65-F5344CB8AC3E}">
        <p14:creationId xmlns:p14="http://schemas.microsoft.com/office/powerpoint/2010/main" val="1118212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2026-10-06T23:40:49.9450000Z</dcterms:created>
  <dcterms:modified xsi:type="dcterms:W3CDTF">2026-10-06T23:40:49.9450000Z</dcterms:modified>
</coreProperties>
</file>