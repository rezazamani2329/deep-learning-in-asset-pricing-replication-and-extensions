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1.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2.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slides/charts/chart3.xml" ContentType="application/vnd.openxmlformats-officedocument.drawingml.chart+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31d4833da2754e06" /><Relationship Type="http://schemas.openxmlformats.org/officeDocument/2006/relationships/extended-properties" Target="/docProps/app.xml" Id="R5258907ab44a4356" /><Relationship Type="http://schemas.openxmlformats.org/officeDocument/2006/relationships/officeDocument" Target="/ppt/presentation.xml" Id="R696e65264e0942a4" /></Relationships>
</file>

<file path=ppt/presentation.xml><?xml version="1.0" encoding="utf-8"?>
<p:presentation xmlns:p="http://schemas.openxmlformats.org/presentationml/2006/main">
  <p:sldMasterIdLst>
    <p:sldMasterId xmlns:r="http://schemas.openxmlformats.org/officeDocument/2006/relationships" id="2147483648" r:id="Rd098a2fa63f24823"/>
  </p:sldMasterIdLst>
  <p:notesMasterIdLst>
    <p:notesMasterId xmlns:r="http://schemas.openxmlformats.org/officeDocument/2006/relationships" r:id="R36efab5f328440b1"/>
  </p:notesMasterIdLst>
  <p:sldIdLst>
    <p:sldId xmlns:r="http://schemas.openxmlformats.org/officeDocument/2006/relationships" id="256" r:id="R678534c56e284245"/>
    <p:sldId xmlns:r="http://schemas.openxmlformats.org/officeDocument/2006/relationships" id="257" r:id="R3d17570e01604993"/>
    <p:sldId xmlns:r="http://schemas.openxmlformats.org/officeDocument/2006/relationships" id="258" r:id="R8b497ce73fbe451c"/>
    <p:sldId xmlns:r="http://schemas.openxmlformats.org/officeDocument/2006/relationships" id="259" r:id="Rc2669d5b6b2e43c8"/>
    <p:sldId xmlns:r="http://schemas.openxmlformats.org/officeDocument/2006/relationships" id="260" r:id="R068016d3f1c94cb5"/>
    <p:sldId xmlns:r="http://schemas.openxmlformats.org/officeDocument/2006/relationships" id="261" r:id="R55c6c8338eb644b3"/>
    <p:sldId xmlns:r="http://schemas.openxmlformats.org/officeDocument/2006/relationships" id="262" r:id="R388f2ebdd1eb4a3e"/>
    <p:sldId xmlns:r="http://schemas.openxmlformats.org/officeDocument/2006/relationships" id="263" r:id="Re68a01b7791c49c2"/>
    <p:sldId xmlns:r="http://schemas.openxmlformats.org/officeDocument/2006/relationships" id="264" r:id="R54a35602213b4e78"/>
    <p:sldId xmlns:r="http://schemas.openxmlformats.org/officeDocument/2006/relationships" id="265" r:id="R1ce3c048df6f4a40"/>
    <p:sldId xmlns:r="http://schemas.openxmlformats.org/officeDocument/2006/relationships" id="266" r:id="R085f7c17849245e6"/>
    <p:sldId xmlns:r="http://schemas.openxmlformats.org/officeDocument/2006/relationships" id="267" r:id="Ra9555f98c83b4de8"/>
    <p:sldId xmlns:r="http://schemas.openxmlformats.org/officeDocument/2006/relationships" id="268" r:id="R643b0c30b27e4ded"/>
    <p:sldId xmlns:r="http://schemas.openxmlformats.org/officeDocument/2006/relationships" id="269" r:id="R5ec3c84f0dc348ce"/>
    <p:sldId xmlns:r="http://schemas.openxmlformats.org/officeDocument/2006/relationships" id="270" r:id="R3f10e440d4eb4940"/>
    <p:sldId xmlns:r="http://schemas.openxmlformats.org/officeDocument/2006/relationships" id="271" r:id="Rdf3b9ccced5d4731"/>
    <p:sldId xmlns:r="http://schemas.openxmlformats.org/officeDocument/2006/relationships" id="272" r:id="R0f2822462e1f4244"/>
    <p:sldId xmlns:r="http://schemas.openxmlformats.org/officeDocument/2006/relationships" id="273" r:id="Raac6a5d8852b45ac"/>
    <p:sldId xmlns:r="http://schemas.openxmlformats.org/officeDocument/2006/relationships" id="274" r:id="R31679c8d9d9e4e08"/>
  </p:sldIdLst>
  <p:sldSz cx="9144000" cy="5143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e290db23af9450c" /><Relationship Type="http://schemas.openxmlformats.org/officeDocument/2006/relationships/slideMaster" Target="/ppt/slideMasters/slideMaster1.xml" Id="Rd098a2fa63f24823" /><Relationship Type="http://schemas.openxmlformats.org/officeDocument/2006/relationships/notesMaster" Target="/ppt/notesMasters/notesMaster1.xml" Id="R36efab5f328440b1" /><Relationship Type="http://schemas.openxmlformats.org/officeDocument/2006/relationships/presProps" Target="/ppt/presProps.xml" Id="Rfdec605fd0de4a9d" /><Relationship Type="http://schemas.openxmlformats.org/officeDocument/2006/relationships/tableStyles" Target="/ppt/tableStyles.xml" Id="R009bcc41de354312" /><Relationship Type="http://schemas.openxmlformats.org/officeDocument/2006/relationships/slide" Target="/ppt/slides/slide1.xml" Id="R678534c56e284245" /><Relationship Type="http://schemas.openxmlformats.org/officeDocument/2006/relationships/slide" Target="/ppt/slides/slide2.xml" Id="R3d17570e01604993" /><Relationship Type="http://schemas.openxmlformats.org/officeDocument/2006/relationships/slide" Target="/ppt/slides/slide3.xml" Id="R8b497ce73fbe451c" /><Relationship Type="http://schemas.openxmlformats.org/officeDocument/2006/relationships/slide" Target="/ppt/slides/slide4.xml" Id="Rc2669d5b6b2e43c8" /><Relationship Type="http://schemas.openxmlformats.org/officeDocument/2006/relationships/slide" Target="/ppt/slides/slide5.xml" Id="R068016d3f1c94cb5" /><Relationship Type="http://schemas.openxmlformats.org/officeDocument/2006/relationships/slide" Target="/ppt/slides/slide6.xml" Id="R55c6c8338eb644b3" /><Relationship Type="http://schemas.openxmlformats.org/officeDocument/2006/relationships/slide" Target="/ppt/slides/slide7.xml" Id="R388f2ebdd1eb4a3e" /><Relationship Type="http://schemas.openxmlformats.org/officeDocument/2006/relationships/slide" Target="/ppt/slides/slide8.xml" Id="Re68a01b7791c49c2" /><Relationship Type="http://schemas.openxmlformats.org/officeDocument/2006/relationships/slide" Target="/ppt/slides/slide9.xml" Id="R54a35602213b4e78" /><Relationship Type="http://schemas.openxmlformats.org/officeDocument/2006/relationships/slide" Target="/ppt/slides/slide10.xml" Id="R1ce3c048df6f4a40" /><Relationship Type="http://schemas.openxmlformats.org/officeDocument/2006/relationships/slide" Target="/ppt/slides/slide11.xml" Id="R085f7c17849245e6" /><Relationship Type="http://schemas.openxmlformats.org/officeDocument/2006/relationships/slide" Target="/ppt/slides/slide12.xml" Id="Ra9555f98c83b4de8" /><Relationship Type="http://schemas.openxmlformats.org/officeDocument/2006/relationships/slide" Target="/ppt/slides/slide13.xml" Id="R643b0c30b27e4ded" /><Relationship Type="http://schemas.openxmlformats.org/officeDocument/2006/relationships/slide" Target="/ppt/slides/slide14.xml" Id="R5ec3c84f0dc348ce" /><Relationship Type="http://schemas.openxmlformats.org/officeDocument/2006/relationships/slide" Target="/ppt/slides/slide15.xml" Id="R3f10e440d4eb4940" /><Relationship Type="http://schemas.openxmlformats.org/officeDocument/2006/relationships/slide" Target="/ppt/slides/slide16.xml" Id="Rdf3b9ccced5d4731" /><Relationship Type="http://schemas.openxmlformats.org/officeDocument/2006/relationships/slide" Target="/ppt/slides/slide17.xml" Id="R0f2822462e1f4244" /><Relationship Type="http://schemas.openxmlformats.org/officeDocument/2006/relationships/slide" Target="/ppt/slides/slide18.xml" Id="Raac6a5d8852b45ac" /><Relationship Type="http://schemas.openxmlformats.org/officeDocument/2006/relationships/slide" Target="/ppt/slides/slide19.xml" Id="R31679c8d9d9e4e0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8e7a65d19b1407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ecdc5f158034233" /><Relationship Type="http://schemas.openxmlformats.org/officeDocument/2006/relationships/notesMaster" Target="/ppt/notesMasters/notesMaster1.xml" Id="R7d59607e1dac400e" /></Relationships>
</file>

<file path=ppt/notesSlides/_rels/notesSlide2.xml.rels>&#65279;<?xml version="1.0" encoding="utf-8"?><Relationships xmlns="http://schemas.openxmlformats.org/package/2006/relationships"><Relationship Type="http://schemas.openxmlformats.org/officeDocument/2006/relationships/slide" Target="/ppt/slides/slide2.xml" Id="R397f3c2402d6480e" /><Relationship Type="http://schemas.openxmlformats.org/officeDocument/2006/relationships/notesMaster" Target="/ppt/notesMasters/notesMaster1.xml" Id="R0077a188d76a45bf" /></Relationships>
</file>

<file path=ppt/notesSlides/_rels/notesSlide3.xml.rels>&#65279;<?xml version="1.0" encoding="utf-8"?><Relationships xmlns="http://schemas.openxmlformats.org/package/2006/relationships"><Relationship Type="http://schemas.openxmlformats.org/officeDocument/2006/relationships/slide" Target="/ppt/slides/slide3.xml" Id="R4a2d2d1cdddb4395" /><Relationship Type="http://schemas.openxmlformats.org/officeDocument/2006/relationships/notesMaster" Target="/ppt/notesMasters/notesMaster1.xml" Id="R7d6b91acae4c491d" /></Relationships>
</file>

<file path=ppt/notesSlides/_rels/notesSlide4.xml.rels>&#65279;<?xml version="1.0" encoding="utf-8"?><Relationships xmlns="http://schemas.openxmlformats.org/package/2006/relationships"><Relationship Type="http://schemas.openxmlformats.org/officeDocument/2006/relationships/slide" Target="/ppt/slides/slide4.xml" Id="R0d7d1b8430dc4f2e" /><Relationship Type="http://schemas.openxmlformats.org/officeDocument/2006/relationships/notesMaster" Target="/ppt/notesMasters/notesMaster1.xml" Id="R0f05dab9ff6f4ceb" /></Relationships>
</file>

<file path=ppt/notesSlides/_rels/notesSlide5.xml.rels>&#65279;<?xml version="1.0" encoding="utf-8"?><Relationships xmlns="http://schemas.openxmlformats.org/package/2006/relationships"><Relationship Type="http://schemas.openxmlformats.org/officeDocument/2006/relationships/slide" Target="/ppt/slides/slide5.xml" Id="R0751fe688da64699" /><Relationship Type="http://schemas.openxmlformats.org/officeDocument/2006/relationships/notesMaster" Target="/ppt/notesMasters/notesMaster1.xml" Id="Rbc68ee6be914489b" /></Relationships>
</file>

<file path=ppt/notesSlides/_rels/notesSlide6.xml.rels>&#65279;<?xml version="1.0" encoding="utf-8"?><Relationships xmlns="http://schemas.openxmlformats.org/package/2006/relationships"><Relationship Type="http://schemas.openxmlformats.org/officeDocument/2006/relationships/slide" Target="/ppt/slides/slide6.xml" Id="R090318ab5b404c76" /><Relationship Type="http://schemas.openxmlformats.org/officeDocument/2006/relationships/notesMaster" Target="/ppt/notesMasters/notesMaster1.xml" Id="R23140445ba0e49d9" /></Relationships>
</file>

<file path=ppt/notesSlides/_rels/notesSlide7.xml.rels>&#65279;<?xml version="1.0" encoding="utf-8"?><Relationships xmlns="http://schemas.openxmlformats.org/package/2006/relationships"><Relationship Type="http://schemas.openxmlformats.org/officeDocument/2006/relationships/slide" Target="/ppt/slides/slide7.xml" Id="Rf6e555468c6443dd" /><Relationship Type="http://schemas.openxmlformats.org/officeDocument/2006/relationships/notesMaster" Target="/ppt/notesMasters/notesMaster1.xml" Id="R4dea4a8171364529" /></Relationships>
</file>

<file path=ppt/notesSlides/_rels/notesSlide8.xml.rels>&#65279;<?xml version="1.0" encoding="utf-8"?><Relationships xmlns="http://schemas.openxmlformats.org/package/2006/relationships"><Relationship Type="http://schemas.openxmlformats.org/officeDocument/2006/relationships/slide" Target="/ppt/slides/slide8.xml" Id="Rf5c3e16794a043a7" /><Relationship Type="http://schemas.openxmlformats.org/officeDocument/2006/relationships/notesMaster" Target="/ppt/notesMasters/notesMaster1.xml" Id="Rcea12735dda246ba" /></Relationships>
</file>

<file path=ppt/notesSlides/_rels/notesSlide9.xml.rels>&#65279;<?xml version="1.0" encoding="utf-8"?><Relationships xmlns="http://schemas.openxmlformats.org/package/2006/relationships"><Relationship Type="http://schemas.openxmlformats.org/officeDocument/2006/relationships/slide" Target="/ppt/slides/slide9.xml" Id="R044541af4c874014" /><Relationship Type="http://schemas.openxmlformats.org/officeDocument/2006/relationships/notesMaster" Target="/ppt/notesMasters/notesMaster1.xml" Id="R13ec2cbb9cc9439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983b876936340de" /><Relationship Type="http://schemas.openxmlformats.org/officeDocument/2006/relationships/notesMaster" Target="/ppt/notesMasters/notesMaster1.xml" Id="Rac080374d34b4cb0"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8fcfe96290c41cf" /><Relationship Type="http://schemas.openxmlformats.org/officeDocument/2006/relationships/notesMaster" Target="/ppt/notesMasters/notesMaster1.xml" Id="Rbc919e0aa3dd4232"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8bfc2465ef984bca" /><Relationship Type="http://schemas.openxmlformats.org/officeDocument/2006/relationships/notesMaster" Target="/ppt/notesMasters/notesMaster1.xml" Id="R22726caef6d94e35"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c8d84aec02b94fae" /><Relationship Type="http://schemas.openxmlformats.org/officeDocument/2006/relationships/notesMaster" Target="/ppt/notesMasters/notesMaster1.xml" Id="R6218831fe8a6473b"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42013be2b7b342e1" /><Relationship Type="http://schemas.openxmlformats.org/officeDocument/2006/relationships/notesMaster" Target="/ppt/notesMasters/notesMaster1.xml" Id="R86ba317d117846cf"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613006b1422d417a" /><Relationship Type="http://schemas.openxmlformats.org/officeDocument/2006/relationships/notesMaster" Target="/ppt/notesMasters/notesMaster1.xml" Id="Re71f6769ad9440ec"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efceeb14803c4290" /><Relationship Type="http://schemas.openxmlformats.org/officeDocument/2006/relationships/notesMaster" Target="/ppt/notesMasters/notesMaster1.xml" Id="Ra645782a297946fa"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d3f7ece2f3b14457" /><Relationship Type="http://schemas.openxmlformats.org/officeDocument/2006/relationships/notesMaster" Target="/ppt/notesMasters/notesMaster1.xml" Id="Rf09db98009a6445f"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d78a0d74e3354675" /><Relationship Type="http://schemas.openxmlformats.org/officeDocument/2006/relationships/notesMaster" Target="/ppt/notesMasters/notesMaster1.xml" Id="Rca58a399c3e94c9f"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e3e630ab8ccd4222" /><Relationship Type="http://schemas.openxmlformats.org/officeDocument/2006/relationships/notesMaster" Target="/ppt/notesMasters/notesMaster1.xml" Id="Rd34d092fa84d4c6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speaking time: 15 seconds.</a:t>
            </a:r>
          </a:p>
          <a:p xmlns:a="http://schemas.openxmlformats.org/drawingml/2006/main">
            <a:r>
              <a:t>Introduce the asset-pricing question and the team. This talk distinguishes the published paper, our historical replication and the matched extension experiment.</a:t>
            </a:r>
          </a:p>
          <a:p xmlns:a="http://schemas.openxmlformats.org/drawingml/2006/main">
            <a:r>
              <a:t/>
            </a:r>
          </a:p>
          <a:p xmlns:a="http://schemas.openxmlformats.org/drawingml/2006/main">
            <a:r>
              <a:t>Source notes preserved:</a:t>
            </a:r>
          </a:p>
          <a:p xmlns:a="http://schemas.openxmlformats.org/drawingml/2006/main">
            <a:r>
              <a:t>Asset Pricing with Deep Learning: Replication and Extensions. Eight sections: main paper, replication, Transformer, rolling windows, regime change, uncertainty, combination, summary. Source photograph and logo retained from the earlier presentation.</a:t>
            </a:r>
          </a:p>
          <a:p xmlns:a="http://schemas.openxmlformats.org/drawingml/2006/main">
            <a:r>
              <a:t/>
            </a:r>
          </a:p>
          <a:p xmlns:a="http://schemas.openxmlformats.org/drawingml/2006/main">
            <a:r>
              <a:t>Presenter points:</a:t>
            </a:r>
          </a:p>
          <a:p xmlns:a="http://schemas.openxmlformats.org/drawingml/2006/main">
            <a:r>
              <a:t>1. Research question: can model changes improve asset-pricing performance?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speaking time: 25 seconds.</a:t>
            </a:r>
          </a:p>
          <a:p xmlns:a="http://schemas.openxmlformats.org/drawingml/2006/main">
            <a:r>
              <a:t>Give the eight-part roadmap. Four extensions cover Transformer, rolling performance, economic regimes and uncertainty. The final comparison combines these perspectives.</a:t>
            </a:r>
          </a:p>
          <a:p xmlns:a="http://schemas.openxmlformats.org/drawingml/2006/main">
            <a:r>
              <a:t/>
            </a:r>
          </a:p>
          <a:p xmlns:a="http://schemas.openxmlformats.org/drawingml/2006/main">
            <a:r>
              <a:t>Source notes preserved:</a:t>
            </a:r>
          </a:p>
          <a:p xmlns:a="http://schemas.openxmlformats.org/drawingml/2006/main">
            <a:r>
              <a:t>Four extension sections: Transformer, rolling windows, regime change, and uncertainty. The combination section compares results jointly before the summary.</a:t>
            </a:r>
          </a:p>
          <a:p xmlns:a="http://schemas.openxmlformats.org/drawingml/2006/main">
            <a:r>
              <a:t/>
            </a:r>
          </a:p>
          <a:p xmlns:a="http://schemas.openxmlformats.org/drawingml/2006/main">
            <a:r>
              <a:t>Presenter points:</a:t>
            </a:r>
          </a:p>
          <a:p xmlns:a="http://schemas.openxmlformats.org/drawingml/2006/main">
            <a:r>
              <a:t>1. Establish the published paper and replication benchmarks.</a:t>
            </a:r>
          </a:p>
          <a:p xmlns:a="http://schemas.openxmlformats.org/drawingml/2006/main">
            <a:r>
              <a:t>2. Evaluate four extensions, then compare combined results.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speaking time: 50 seconds.</a:t>
            </a:r>
          </a:p>
          <a:p xmlns:a="http://schemas.openxmlformats.org/drawingml/2006/main">
            <a:r>
              <a:t>Explain that the pricing network learns a stochastic discount factor and the adversary searches for pricing errors. LSTM summarizes macroeconomic history. State the train, validation and test dates.</a:t>
            </a:r>
          </a:p>
          <a:p xmlns:a="http://schemas.openxmlformats.org/drawingml/2006/main">
            <a:r>
              <a:t/>
            </a:r>
          </a:p>
          <a:p xmlns:a="http://schemas.openxmlformats.org/drawingml/2006/main">
            <a:r>
              <a:t>Source notes preserved:</a:t>
            </a:r>
          </a:p>
          <a:p xmlns:a="http://schemas.openxmlformats.org/drawingml/2006/main">
            <a:r>
              <a:t>Chen, Pelger and Zhu, Deep Learning in Asset Pricing, arXiv:1904.00745v6, https://arxiv.org/pdf/1904.00745. Published results use Table I. Corrected the earlier slides: 46 firm characteristics, 64 hidden units, and 0.95 dropout retention (0.05 dropout probability).</a:t>
            </a:r>
          </a:p>
          <a:p xmlns:a="http://schemas.openxmlformats.org/drawingml/2006/main">
            <a:r>
              <a:t/>
            </a:r>
          </a:p>
          <a:p xmlns:a="http://schemas.openxmlformats.org/drawingml/2006/main">
            <a:r>
              <a:t>Presenter points:</a:t>
            </a:r>
          </a:p>
          <a:p xmlns:a="http://schemas.openxmlformats.org/drawingml/2006/main">
            <a:r>
              <a:t>1. The SDF network minimizes pricing errors, while an adversary exposes remaining errors.</a:t>
            </a:r>
          </a:p>
          <a:p xmlns:a="http://schemas.openxmlformats.org/drawingml/2006/main">
            <a:r>
              <a:t>2. Train 1967–86, validate 1987–91, and test 1992–2016.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speaking time: 40 seconds.</a:t>
            </a:r>
          </a:p>
          <a:p xmlns:a="http://schemas.openxmlformats.org/drawingml/2006/main">
            <a:r>
              <a:t>State the published monthly test Sharpe of 0.750. Published results are the reference, with the model and data definitions shown here.</a:t>
            </a:r>
          </a:p>
          <a:p xmlns:a="http://schemas.openxmlformats.org/drawingml/2006/main">
            <a:r>
              <a:t/>
            </a:r>
          </a:p>
          <a:p xmlns:a="http://schemas.openxmlformats.org/drawingml/2006/main">
            <a:r>
              <a:t>Source notes preserved:</a:t>
            </a:r>
          </a:p>
          <a:p xmlns:a="http://schemas.openxmlformats.org/drawingml/2006/main">
            <a:r>
              <a:t>Chen, Pelger and Zhu, Deep Learning in Asset Pricing, arXiv:1904.00745v6, https://arxiv.org/pdf/1904.00745. Published results use Table I. All numbers on this slide are monthly Table I Sharpe ratios. Annualized values multiply by square root of 12.</a:t>
            </a:r>
          </a:p>
          <a:p xmlns:a="http://schemas.openxmlformats.org/drawingml/2006/main">
            <a:r>
              <a:t/>
            </a:r>
          </a:p>
          <a:p xmlns:a="http://schemas.openxmlformats.org/drawingml/2006/main">
            <a:r>
              <a:t>Presenter points:</a:t>
            </a:r>
          </a:p>
          <a:p xmlns:a="http://schemas.openxmlformats.org/drawingml/2006/main">
            <a:r>
              <a:t>1. GAN has the highest published monthly Sharpe in every split.</a:t>
            </a:r>
          </a:p>
          <a:p xmlns:a="http://schemas.openxmlformats.org/drawingml/2006/main">
            <a:r>
              <a:t>2. Use these results as the reference benchmark for our replication and extensions.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speaking time: 45 seconds.</a:t>
            </a:r>
          </a:p>
          <a:p xmlns:a="http://schemas.openxmlformats.org/drawingml/2006/main">
            <a:r>
              <a:t>Our replicated GAN reaches monthly test Sharpe 0.612. Distinguish this historical replication from the later extension implementation. The gap from 0.750 does not isolate one implementation choice.</a:t>
            </a:r>
          </a:p>
          <a:p xmlns:a="http://schemas.openxmlformats.org/drawingml/2006/main">
            <a:r>
              <a:t/>
            </a:r>
          </a:p>
          <a:p xmlns:a="http://schemas.openxmlformats.org/drawingml/2006/main">
            <a:r>
              <a:t>Source notes preserved:</a:t>
            </a:r>
          </a:p>
          <a:p xmlns:a="http://schemas.openxmlformats.org/drawingml/2006/main">
            <a:r>
              <a:t>Chen, Pelger and Zhu, Deep Learning in Asset Pricing, arXiv:1904.00745v6, https://arxiv.org/pdf/1904.00745. Published results use Table I. Local values recomputed with population standard deviation for consistency. This changes the earlier presentation’s GAN test 0.611 to 0.612 after rounding. Source results/rolling_oos_reduced_schedule/tables/all_models_vs_paper_monthly_sharpe.csv.</a:t>
            </a:r>
          </a:p>
          <a:p xmlns:a="http://schemas.openxmlformats.org/drawingml/2006/main">
            <a:r>
              <a:t/>
            </a:r>
          </a:p>
          <a:p xmlns:a="http://schemas.openxmlformats.org/drawingml/2006/main">
            <a:r>
              <a:t>Presenter points:</a:t>
            </a:r>
          </a:p>
          <a:p xmlns:a="http://schemas.openxmlformats.org/drawingml/2006/main">
            <a:r>
              <a:t>1. Our GAN test Sharpe is 0.612, compared with the paper’s 0.750.</a:t>
            </a:r>
          </a:p>
          <a:p xmlns:a="http://schemas.openxmlformats.org/drawingml/2006/main">
            <a:r>
              <a:t>2. Similar rankings support replication, but do not imply exact numerical reproduction.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speaking time: 35 seconds.</a:t>
            </a:r>
          </a:p>
          <a:p xmlns:a="http://schemas.openxmlformats.org/drawingml/2006/main">
            <a:r>
              <a:t>Summarize validation and common signals. Explain why reproduction checks matter before interpreting architectural extensions.</a:t>
            </a:r>
          </a:p>
          <a:p xmlns:a="http://schemas.openxmlformats.org/drawingml/2006/main">
            <a:r>
              <a:t/>
            </a:r>
          </a:p>
          <a:p xmlns:a="http://schemas.openxmlformats.org/drawingml/2006/main">
            <a:r>
              <a:t>Source notes preserved:</a:t>
            </a:r>
          </a:p>
          <a:p xmlns:a="http://schemas.openxmlformats.org/drawingml/2006/main">
            <a:r>
              <a:t>Sources: previous replication deck slides 11, 14, 15. results/tables/gan_official_sdf_comparison.csv. Fama–French benchmark values retain the earlier deck’s displayed convention.</a:t>
            </a:r>
          </a:p>
          <a:p xmlns:a="http://schemas.openxmlformats.org/drawingml/2006/main">
            <a:r>
              <a:t/>
            </a:r>
          </a:p>
          <a:p xmlns:a="http://schemas.openxmlformats.org/drawingml/2006/main">
            <a:r>
              <a:t>Presenter points:</a:t>
            </a:r>
          </a:p>
          <a:p xmlns:a="http://schemas.openxmlformats.org/drawingml/2006/main">
            <a:r>
              <a:t>1. Factor Sharpe, return correlation and leading characteristics show economic similarity.</a:t>
            </a:r>
          </a:p>
          <a:p xmlns:a="http://schemas.openxmlformats.org/drawingml/2006/main">
            <a:r>
              <a:t>2. Implementation differences can still affect the replication gap.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speaking time: 60 seconds.</a:t>
            </a:r>
          </a:p>
          <a:p xmlns:a="http://schemas.openxmlformats.org/drawingml/2006/main">
            <a:r>
              <a:t>Compare train, validation and test on the same schedule. Monthly test Sharpe is 0.459 for extension LSTM and 0.304 for Transformer. A newer architecture does not guarantee improvement.</a:t>
            </a:r>
          </a:p>
          <a:p xmlns:a="http://schemas.openxmlformats.org/drawingml/2006/main">
            <a:r>
              <a:t/>
            </a:r>
          </a:p>
          <a:p xmlns:a="http://schemas.openxmlformats.org/drawingml/2006/main">
            <a:r>
              <a:t>Source notes preserved:</a:t>
            </a:r>
          </a:p>
          <a:p xmlns:a="http://schemas.openxmlformats.org/drawingml/2006/main">
            <a:r>
              <a:t>Chen, Pelger and Zhu, Deep Learning in Asset Pricing, arXiv:1904.00745v6, https://arxiv.org/pdf/1904.00745. Published results use Table I. Source results/rolling_oos_reduced_schedule/tables/all_models_vs_paper_monthly_sharpe.csv. Original paper and Code 07 use different estimation procedures from the matched new pair.</a:t>
            </a:r>
          </a:p>
          <a:p xmlns:a="http://schemas.openxmlformats.org/drawingml/2006/main">
            <a:r>
              <a:t/>
            </a:r>
          </a:p>
          <a:p xmlns:a="http://schemas.openxmlformats.org/drawingml/2006/main">
            <a:r>
              <a:t>Presenter points:</a:t>
            </a:r>
          </a:p>
          <a:p xmlns:a="http://schemas.openxmlformats.org/drawingml/2006/main">
            <a:r>
              <a:t>1. Extension LSTM leads Transformer: test monthly Sharpe is 0.459 versus 0.304.</a:t>
            </a:r>
          </a:p>
          <a:p xmlns:a="http://schemas.openxmlformats.org/drawingml/2006/main">
            <a:r>
              <a:t>2. This comparison holds under our reduced budget, not the full author schedule.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speaking time: 55 seconds. Source: results/readme/figures/rolling_sharpe.png from README. Both panels show annualized Sharpe for fixed saved portfolios, using complete 36- and 60-month rolling windows. Authors GAN corresponds to the original-paper portfolio, Code 07 GAN to our replicated GAN, New LSTM to extension LSTM, and 50/50 blend to the equal-weight LSTM–Transformer return combination. Explain how longer windows smooth fluctuations. These are evaluations of fixed models, with no rolling retraining. Overlapping windows do not provide independent evidence.</a:t>
            </a:r>
          </a:p>
          <a:p xmlns:a="http://schemas.openxmlformats.org/drawingml/2006/main">
            <a:r>
              <a:t/>
            </a:r>
          </a:p>
          <a:p xmlns:a="http://schemas.openxmlformats.org/drawingml/2006/main">
            <a:r>
              <a:t>Presenter points:</a:t>
            </a:r>
          </a:p>
          <a:p xmlns:a="http://schemas.openxmlformats.org/drawingml/2006/main">
            <a:r>
              <a:t>1. Curves show annualized Sharpe over the previous 36 or 60 months.</a:t>
            </a:r>
          </a:p>
          <a:p xmlns:a="http://schemas.openxmlformats.org/drawingml/2006/main">
            <a:r>
              <a:t>2. Longer windows smooth fluctuations. These fixed models are not retrained.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speaking time: 35 seconds. Source: results/bootstrap_uncertainty/figures/rolling_difference_uncertainty.png. Annualized paired rolling differences, pointwise 95% basic intervals, six-month blocks and 2,000 paired draws. Top: LSTM minus Transformer. Middle: replication minus extension LSTM. Bottom: LSTM minus equal-weight combination. Overlapping windows are dependent. A band containing zero leaves that window unresolved.</a:t>
            </a:r>
          </a:p>
          <a:p xmlns:a="http://schemas.openxmlformats.org/drawingml/2006/main">
            <a:r>
              <a:t/>
            </a:r>
          </a:p>
          <a:p xmlns:a="http://schemas.openxmlformats.org/drawingml/2006/main">
            <a:r>
              <a:t>Presenter points:</a:t>
            </a:r>
          </a:p>
          <a:p xmlns:a="http://schemas.openxmlformats.org/drawingml/2006/main">
            <a:r>
              <a:t>1. Line: observed paired Sharpe gap. Shading: pointwise 95% basic interval.</a:t>
            </a:r>
          </a:p>
          <a:p xmlns:a="http://schemas.openxmlformats.org/drawingml/2006/main">
            <a:r>
              <a:t>2. A band crossing zero leaves that window’s ranking unresolved.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speaking time: 40 seconds.</a:t>
            </a:r>
          </a:p>
          <a:p xmlns:a="http://schemas.openxmlformats.org/drawingml/2006/main">
            <a:r>
              <a:t>Extension 3: define NBER expansion/recession and past-volatility regimes. The test includes only 26 recession months, so regime estimates have limited precision.</a:t>
            </a:r>
          </a:p>
          <a:p xmlns:a="http://schemas.openxmlformats.org/drawingml/2006/main">
            <a:r>
              <a:t/>
            </a:r>
          </a:p>
          <a:p xmlns:a="http://schemas.openxmlformats.org/drawingml/2006/main">
            <a:r>
              <a:t>Source notes preserved:</a:t>
            </a:r>
          </a:p>
          <a:p xmlns:a="http://schemas.openxmlformats.org/drawingml/2006/main">
            <a:r>
              <a:t>Saved replication and extension returns. New models use nine seeds, a shortened 16/4/48 schedule, four optimizer passes, and validation checkpoint selection. Code 012 subsequently assesses return-sample uncertainty with a paired block bootstrap. Codes 09–11 evaluate saved models without retraining. Source results/regime_analysis/tables/monthly_regime_labels.csv. https://fred.stlouisfed.org/series/USREC. Fama–French market returns define lagged volatility with training median threshold 0.039783.</a:t>
            </a:r>
          </a:p>
          <a:p xmlns:a="http://schemas.openxmlformats.org/drawingml/2006/main">
            <a:r>
              <a:t/>
            </a:r>
          </a:p>
          <a:p xmlns:a="http://schemas.openxmlformats.org/drawingml/2006/main">
            <a:r>
              <a:t>Presenter points:</a:t>
            </a:r>
          </a:p>
          <a:p xmlns:a="http://schemas.openxmlformats.org/drawingml/2006/main">
            <a:r>
              <a:t>1. Business-cycle and volatility regimes classify different economic conditions.</a:t>
            </a:r>
          </a:p>
          <a:p xmlns:a="http://schemas.openxmlformats.org/drawingml/2006/main">
            <a:r>
              <a:t>2. Only 26 recession months limit precision. NBER labels are retrospective.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speaking time: 55 seconds.</a:t>
            </a:r>
          </a:p>
          <a:p xmlns:a="http://schemas.openxmlformats.org/drawingml/2006/main">
            <a:r>
              <a:t>Use the Code 012 figure to compare all local portfolios by regime. Highlight the variation in rankings and treat the recession results as descriptive point estimates.</a:t>
            </a:r>
          </a:p>
          <a:p xmlns:a="http://schemas.openxmlformats.org/drawingml/2006/main">
            <a:r>
              <a:t/>
            </a:r>
          </a:p>
          <a:p xmlns:a="http://schemas.openxmlformats.org/drawingml/2006/main">
            <a:r>
              <a:t>Source notes preserved:</a:t>
            </a:r>
          </a:p>
          <a:p xmlns:a="http://schemas.openxmlformats.org/drawingml/2006/main">
            <a:r>
              <a:t>Source: results/bootstrap_uncertainty/tables/. Code 012 uses 300 aligned monthly excess returns, January 1992–December 2016, population standard deviation, 10,000 paired circular-block draws, 6/12/24-month blocks. Primary full-test block length is 12. Intervals condition on fixed saved models and the existing history. Figure copied unchanged from results/bootstrap_uncertainty/local_only/figures/local_regime_comparison.png. Interpret with the preceding method and results tables.</a:t>
            </a:r>
          </a:p>
          <a:p xmlns:a="http://schemas.openxmlformats.org/drawingml/2006/main">
            <a:r>
              <a:t/>
            </a:r>
          </a:p>
          <a:p xmlns:a="http://schemas.openxmlformats.org/drawingml/2006/main">
            <a:r>
              <a:t>Presenter points:</a:t>
            </a:r>
          </a:p>
          <a:p xmlns:a="http://schemas.openxmlformats.org/drawingml/2006/main">
            <a:r>
              <a:t>1. Bars show monthly Sharpe using only months in each regime.</a:t>
            </a:r>
          </a:p>
          <a:p xmlns:a="http://schemas.openxmlformats.org/drawingml/2006/main">
            <a:r>
              <a:t>2. Feedforward leads recession Sharpe at 0.570, while Transformer has -0.071.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speaking time: 35 seconds. Source: results/bootstrap_uncertainty/figures/rolling_model_uncertainty.png, Code 012. Original-paper GAN and our replicated GAN, both window lengths. The original figure is split across slides 12 and 13 without omitting any model panel. Curves show annualized rolling model Sharpe, bands pointwise 95% basic intervals with six-month blocks. These are marginal model intervals. Their overlap does not establish uncertainty in paired differences. The paired-difference figure on slide 9 uses six-month blocks. Both analyses condition on saved models. Overlapping windows are not independent observations.</a:t>
            </a:r>
          </a:p>
          <a:p xmlns:a="http://schemas.openxmlformats.org/drawingml/2006/main">
            <a:r>
              <a:t/>
            </a:r>
          </a:p>
          <a:p xmlns:a="http://schemas.openxmlformats.org/drawingml/2006/main">
            <a:r>
              <a:t>Presenter points:</a:t>
            </a:r>
          </a:p>
          <a:p xmlns:a="http://schemas.openxmlformats.org/drawingml/2006/main">
            <a:r>
              <a:t>1. Lines show annualized rolling Sharpe for the paper and replicated GAN.</a:t>
            </a:r>
          </a:p>
          <a:p xmlns:a="http://schemas.openxmlformats.org/drawingml/2006/main">
            <a:r>
              <a:t>2. Some bands cross zero, leaving positive Sharpe unresolved in those windows.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speaking time: 50 seconds. Source: results/bootstrap_uncertainty/figures/rolling_model_uncertainty.png, Code 012. Extension LSTM, Transformer and equal-weight combination, both window lengths. The original figure is split across slides 12 and 13 without omitting any model panel. Curves show annualized rolling model Sharpe, bands pointwise 95% basic intervals with six-month blocks. These are marginal model intervals. Their overlap does not establish uncertainty in paired differences. The paired-difference figure on slide 9 uses six-month blocks. Both analyses condition on saved models. Overlapping windows are not independent observations.</a:t>
            </a:r>
          </a:p>
          <a:p xmlns:a="http://schemas.openxmlformats.org/drawingml/2006/main">
            <a:r>
              <a:t/>
            </a:r>
          </a:p>
          <a:p xmlns:a="http://schemas.openxmlformats.org/drawingml/2006/main">
            <a:r>
              <a:t>Presenter points:</a:t>
            </a:r>
          </a:p>
          <a:p xmlns:a="http://schemas.openxmlformats.org/drawingml/2006/main">
            <a:r>
              <a:t>1. Separate confidence bands show sampling uncertainty for each extension model.</a:t>
            </a:r>
          </a:p>
          <a:p xmlns:a="http://schemas.openxmlformats.org/drawingml/2006/main">
            <a:r>
              <a:t>2. Several bands cross zero. Use the paired comparison on slide 14 to assess model gaps.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speaking time: 55 seconds.</a:t>
            </a:r>
          </a:p>
          <a:p xmlns:a="http://schemas.openxmlformats.org/drawingml/2006/main">
            <a:r>
              <a:t>The LSTM minus Transformer point gap is 0.155 monthly Sharpe. Its basic 95% interval includes zero. Simultaneous comparisons also leave that ranking unresolved. This does not prove equivalence.</a:t>
            </a:r>
          </a:p>
          <a:p xmlns:a="http://schemas.openxmlformats.org/drawingml/2006/main">
            <a:r>
              <a:t/>
            </a:r>
          </a:p>
          <a:p xmlns:a="http://schemas.openxmlformats.org/drawingml/2006/main">
            <a:r>
              <a:t>Source notes preserved:</a:t>
            </a:r>
          </a:p>
          <a:p xmlns:a="http://schemas.openxmlformats.org/drawingml/2006/main">
            <a:r>
              <a:t>Source: results/bootstrap_uncertainty/tables/. Code 012 uses 300 aligned monthly excess returns, January 1992–December 2016, population standard deviation, 10,000 paired circular-block draws, 6/12/24-month blocks. Primary full-test block length is 12. Intervals condition on fixed saved models and the existing history. paired_sharpe_difference_intervals.csv. Difference is A minus B. Pointwise basic intervals and simultaneous intervals adjust for different families. Simultaneous family contains all ten pairs among the five portfolios.</a:t>
            </a:r>
          </a:p>
          <a:p xmlns:a="http://schemas.openxmlformats.org/drawingml/2006/main">
            <a:r>
              <a:t/>
            </a:r>
          </a:p>
          <a:p xmlns:a="http://schemas.openxmlformats.org/drawingml/2006/main">
            <a:r>
              <a:t>Presenter points:</a:t>
            </a:r>
          </a:p>
          <a:p xmlns:a="http://schemas.openxmlformats.org/drawingml/2006/main">
            <a:r>
              <a:t>1. LSTM exceeds Transformer by 0.155 monthly Sharpe, but both intervals include zero.</a:t>
            </a:r>
          </a:p>
          <a:p xmlns:a="http://schemas.openxmlformats.org/drawingml/2006/main">
            <a:r>
              <a:t>2. The observed advantage remains statistically unresolved. This does not prove equality.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speaking time: 30 seconds. Source: results/bootstrap_uncertainty/figures/bootstrap_difference_distributions.png, Code 012. These are 10,000 paired circular bootstrap draws using 12-month blocks over the full 300-month test sample. X axis is a monthly Sharpe difference and y axis counts bootstrap replicates. Dashed black indicates zero and gold the observed gap. The LSTM minus Transformer point gap is 0.155, with 95% basic interval [-0.049,0.365]. The LSTM minus combination gap is -0.004, interval [-0.132,0.119]. These distributions are conditional on saved models and are not posterior probabilities or null-test distributions. Both paired basic intervals include zero.</a:t>
            </a:r>
          </a:p>
          <a:p xmlns:a="http://schemas.openxmlformats.org/drawingml/2006/main">
            <a:r>
              <a:t/>
            </a:r>
          </a:p>
          <a:p xmlns:a="http://schemas.openxmlformats.org/drawingml/2006/main">
            <a:r>
              <a:t>Presenter points:</a:t>
            </a:r>
          </a:p>
          <a:p xmlns:a="http://schemas.openxmlformats.org/drawingml/2006/main">
            <a:r>
              <a:t>1. Bars count 10,000 draws. Gold marks the observed gap, black marks zero.</a:t>
            </a:r>
          </a:p>
          <a:p xmlns:a="http://schemas.openxmlformats.org/drawingml/2006/main">
            <a:r>
              <a:t>2. Both paired 95% basic intervals include zero, despite different point estimates.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speaking time: 40 seconds.</a:t>
            </a:r>
          </a:p>
          <a:p xmlns:a="http://schemas.openxmlformats.org/drawingml/2006/main">
            <a:r>
              <a:t>The fixed 50/50 average combines saved LSTM and Transformer portfolio returns. Its test Sharpe is 0.463 versus LSTM 0.459. This exploratory combination was constructed after inspecting test outcomes.</a:t>
            </a:r>
          </a:p>
          <a:p xmlns:a="http://schemas.openxmlformats.org/drawingml/2006/main">
            <a:r>
              <a:t/>
            </a:r>
          </a:p>
          <a:p xmlns:a="http://schemas.openxmlformats.org/drawingml/2006/main">
            <a:r>
              <a:t>Source notes preserved:</a:t>
            </a:r>
          </a:p>
          <a:p xmlns:a="http://schemas.openxmlformats.org/drawingml/2006/main">
            <a:r>
              <a:t>Saved replication and extension returns. New models use nine seeds, a shortened 16/4/48 schedule, four optimizer passes, and validation checkpoint selection. Code 012 subsequently assesses return-sample uncertainty with a paired block bootstrap. Codes 09–11 evaluate saved models without retraining. Source results/consolidated_comparison/tables/architecture_blend_split_comparison.csv. Blend returns equal 0.5*LSTM+0.5*Transformer, without additional gross renormalization. Added after prior test review. Weights are fixed and not optimized.</a:t>
            </a:r>
          </a:p>
          <a:p xmlns:a="http://schemas.openxmlformats.org/drawingml/2006/main">
            <a:r>
              <a:t/>
            </a:r>
          </a:p>
          <a:p xmlns:a="http://schemas.openxmlformats.org/drawingml/2006/main">
            <a:r>
              <a:t>Presenter points:</a:t>
            </a:r>
          </a:p>
          <a:p xmlns:a="http://schemas.openxmlformats.org/drawingml/2006/main">
            <a:r>
              <a:t>1. Averaging saved LSTM and Transformer returns lowers volatility.</a:t>
            </a:r>
          </a:p>
          <a:p xmlns:a="http://schemas.openxmlformats.org/drawingml/2006/main">
            <a:r>
              <a:t>2. Test Sharpe rises only from 0.459 to 0.463. The combination is exploratory.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speaking time: 45 seconds.</a:t>
            </a:r>
          </a:p>
          <a:p xmlns:a="http://schemas.openxmlformats.org/drawingml/2006/main">
            <a:r>
              <a:t>Combine rolling evaluation with regimes labeled at the endpoint. A recession-ending 36-month window includes earlier expansion months. These annualized values answer a different question from conditional monthly regime Sharpe.</a:t>
            </a:r>
          </a:p>
          <a:p xmlns:a="http://schemas.openxmlformats.org/drawingml/2006/main">
            <a:r>
              <a:t/>
            </a:r>
          </a:p>
          <a:p xmlns:a="http://schemas.openxmlformats.org/drawingml/2006/main">
            <a:r>
              <a:t>Source notes preserved:</a:t>
            </a:r>
          </a:p>
          <a:p xmlns:a="http://schemas.openxmlformats.org/drawingml/2006/main">
            <a:r>
              <a:t>Saved replication and extension returns. New models use nine seeds, a shortened 16/4/48 schedule, four optimizer passes, and validation checkpoint selection. Code 012 subsequently assesses return-sample uncertainty with a paired block bootstrap. Codes 09–11 evaluate saved models without retraining. Source results/consolidated_comparison/tables/official_extended_endpoint_regimes.csv. These are mean annualized trailing Sharpes classified by end-month state. They are not Sharpe ratios of regime-only returns. Window observations overlap.</a:t>
            </a:r>
          </a:p>
          <a:p xmlns:a="http://schemas.openxmlformats.org/drawingml/2006/main">
            <a:r>
              <a:t/>
            </a:r>
          </a:p>
          <a:p xmlns:a="http://schemas.openxmlformats.org/drawingml/2006/main">
            <a:r>
              <a:t>Presenter points:</a:t>
            </a:r>
          </a:p>
          <a:p xmlns:a="http://schemas.openxmlformats.org/drawingml/2006/main">
            <a:r>
              <a:t>1. Bars group rolling windows by the economic regime at their endpoint.</a:t>
            </a:r>
          </a:p>
          <a:p xmlns:a="http://schemas.openxmlformats.org/drawingml/2006/main">
            <a:r>
              <a:t>2. A recession-ending window includes expansion months, unlike conditional regime Sharpe.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speaking time: 50 seconds.</a:t>
            </a:r>
          </a:p>
          <a:p xmlns:a="http://schemas.openxmlformats.org/drawingml/2006/main">
            <a:r>
              <a:t>Compare all seven local portfolios across overall, rolling and recession metrics. Read the column units explicitly. Historical replication models and the matched new architecture experiment have different implementations.</a:t>
            </a:r>
          </a:p>
          <a:p xmlns:a="http://schemas.openxmlformats.org/drawingml/2006/main">
            <a:r>
              <a:t/>
            </a:r>
          </a:p>
          <a:p xmlns:a="http://schemas.openxmlformats.org/drawingml/2006/main">
            <a:r>
              <a:t>Source notes preserved:</a:t>
            </a:r>
          </a:p>
          <a:p xmlns:a="http://schemas.openxmlformats.org/drawingml/2006/main">
            <a:r>
              <a:t>Source: results/bootstrap_uncertainty/tables/. Code 012 uses 300 aligned monthly excess returns, January 1992–December 2016, population standard deviation, 10,000 paired circular-block draws, 6/12/24-month blocks. Primary full-test block length is 12. Intervals condition on fixed saved models and the existing history. Additional sources: results/bootstrap_uncertainty/local_only/tables/overall_performance.csv, rolling_summary.csv, regime_comparison.csv, paired_intervals.csv. Monthly full-test and recession-only Sharpes differ from mean annualized rolling Sharpe. Local simultaneous intervals recalibrate all 21 local pairs. Regime entries are point estimates with no regime-specific confidence intervals. Recession contains only 26 months.</a:t>
            </a:r>
          </a:p>
          <a:p xmlns:a="http://schemas.openxmlformats.org/drawingml/2006/main">
            <a:r>
              <a:t/>
            </a:r>
          </a:p>
          <a:p xmlns:a="http://schemas.openxmlformats.org/drawingml/2006/main">
            <a:r>
              <a:t>Presenter points:</a:t>
            </a:r>
          </a:p>
          <a:p xmlns:a="http://schemas.openxmlformats.org/drawingml/2006/main">
            <a:r>
              <a:t>1. Overall, rolling and recession columns answer different questions and use different units.</a:t>
            </a:r>
          </a:p>
          <a:p xmlns:a="http://schemas.openxmlformats.org/drawingml/2006/main">
            <a:r>
              <a:t>2. Replication leads local test Sharpe at 0.612. Feedforward leads recessions at 0.570.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speaking time: 90 seconds.</a:t>
            </a:r>
          </a:p>
          <a:p xmlns:a="http://schemas.openxmlformats.org/drawingml/2006/main">
            <a:r>
              <a:t>Close with the contribution: matched architecture comparison plus rolling, regime and bootstrap evaluation, with an illustrative portfolio combination. LSTM leads the Transformer in point estimates, but intervals leave the gap unresolved. Full author-schedule GPU runs, a new holdout and trading costs remain future work.</a:t>
            </a:r>
          </a:p>
          <a:p xmlns:a="http://schemas.openxmlformats.org/drawingml/2006/main">
            <a:r>
              <a:t/>
            </a:r>
          </a:p>
          <a:p xmlns:a="http://schemas.openxmlformats.org/drawingml/2006/main">
            <a:r>
              <a:t>Source notes preserved:</a:t>
            </a:r>
          </a:p>
          <a:p xmlns:a="http://schemas.openxmlformats.org/drawingml/2006/main">
            <a:r>
              <a:t>Saved replication and extension returns. New models use nine seeds, a shortened 16/4/48 schedule, four optimizer passes, and validation checkpoint selection. Code 012 subsequently assesses return-sample uncertainty with a paired block bootstrap. Codes 09–11 evaluate saved models without retraining. Code 012 does not establish equivalence from an interval containing zero. Fixed equal-weight combination was considered after test inspection. Recession labels are retrospective. No transaction costs, genuinely unseen holdout, retraining uncertainty, or real-time vintage correction is included.</a:t>
            </a:r>
          </a:p>
          <a:p xmlns:a="http://schemas.openxmlformats.org/drawingml/2006/main">
            <a:r>
              <a:t/>
            </a:r>
          </a:p>
          <a:p xmlns:a="http://schemas.openxmlformats.org/drawingml/2006/main">
            <a:r>
              <a:t>Presenter points:</a:t>
            </a:r>
          </a:p>
          <a:p xmlns:a="http://schemas.openxmlformats.org/drawingml/2006/main">
            <a:r>
              <a:t>1. Our contribution combines architecture, rolling, regime and uncertainty evaluation.</a:t>
            </a:r>
          </a:p>
          <a:p xmlns:a="http://schemas.openxmlformats.org/drawingml/2006/main">
            <a:r>
              <a:t>2. Higher point estimates still need uncertainty checks and a new holdout.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ca2f1576f424bf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40ffb1b16bf4380" /><Relationship Type="http://schemas.openxmlformats.org/officeDocument/2006/relationships/slideLayout" Target="/ppt/slideLayouts/slideLayout1.xml" Id="Ra106580b813f470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106580b813f470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376776d851424e9a" /><Relationship Type="http://schemas.openxmlformats.org/officeDocument/2006/relationships/image" Target="/ppt/media/image.png" Id="R8a949bdb503146c4" /><Relationship Type="http://schemas.openxmlformats.org/officeDocument/2006/relationships/image" Target="/ppt/media/image2.png" Id="Re8366c4b54b24317" /><Relationship Type="http://schemas.openxmlformats.org/officeDocument/2006/relationships/notesSlide" Target="/ppt/notesSlides/notesSlide1.xml" Id="Rbae9057581a6484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3aee2ef443d54488" /><Relationship Type="http://schemas.openxmlformats.org/officeDocument/2006/relationships/notesSlide" Target="/ppt/notesSlides/notesSlide2.xml" Id="R72477f8cdb2649f8"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2da438655c4e41e2" /><Relationship Type="http://schemas.openxmlformats.org/officeDocument/2006/relationships/notesSlide" Target="/ppt/notesSlides/notesSlide3.xml" Id="R270c7cc7c56a40d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0aeca56114a4547" /><Relationship Type="http://schemas.openxmlformats.org/officeDocument/2006/relationships/notesSlide" Target="/ppt/notesSlides/notesSlide4.xml" Id="R41674967f24347fd"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196e3467a2974246" /><Relationship Type="http://schemas.openxmlformats.org/officeDocument/2006/relationships/chart" Target="/ppt/slides/charts/chart1.xml" Id="R9958dbb2c6c4402d" /><Relationship Type="http://schemas.openxmlformats.org/officeDocument/2006/relationships/notesSlide" Target="/ppt/notesSlides/notesSlide5.xml" Id="R66f39d2c3e0b4938"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60352714f07d442b" /><Relationship Type="http://schemas.openxmlformats.org/officeDocument/2006/relationships/notesSlide" Target="/ppt/notesSlides/notesSlide6.xml" Id="R72b34ec4bd5b46cc"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1e42b6dff3ea4d32" /><Relationship Type="http://schemas.openxmlformats.org/officeDocument/2006/relationships/chart" Target="/ppt/slides/charts/chart2.xml" Id="Rcce8f694c8fa4fab" /><Relationship Type="http://schemas.openxmlformats.org/officeDocument/2006/relationships/notesSlide" Target="/ppt/notesSlides/notesSlide7.xml" Id="Rf24e779e45e34040"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6a5bc1b906c74c7f" /><Relationship Type="http://schemas.openxmlformats.org/officeDocument/2006/relationships/image" Target="/ppt/media/image3.png" Id="R7b542a8bbd7148b1" /><Relationship Type="http://schemas.openxmlformats.org/officeDocument/2006/relationships/notesSlide" Target="/ppt/notesSlides/notesSlide8.xml" Id="R5d4d0fa1baba4ee9"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450bc7e371a44b1e" /><Relationship Type="http://schemas.openxmlformats.org/officeDocument/2006/relationships/image" Target="/ppt/media/image4.png" Id="Rb1a7100c465340be" /><Relationship Type="http://schemas.openxmlformats.org/officeDocument/2006/relationships/notesSlide" Target="/ppt/notesSlides/notesSlide9.xml" Id="R2a72749a54c043e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5242b9ff74bb444e" /><Relationship Type="http://schemas.openxmlformats.org/officeDocument/2006/relationships/notesSlide" Target="/ppt/notesSlides/notesSlide10.xml" Id="Rd75043e489324af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3fcec54cea4246a8" /><Relationship Type="http://schemas.openxmlformats.org/officeDocument/2006/relationships/image" Target="/ppt/media/image5.png" Id="R30535fc693ba4ca7" /><Relationship Type="http://schemas.openxmlformats.org/officeDocument/2006/relationships/notesSlide" Target="/ppt/notesSlides/notesSlide11.xml" Id="R7e5d993118ec46e1"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209d9a4cde3f4d07" /><Relationship Type="http://schemas.openxmlformats.org/officeDocument/2006/relationships/image" Target="/ppt/media/image6.png" Id="R36ca01ff37a2478f" /><Relationship Type="http://schemas.openxmlformats.org/officeDocument/2006/relationships/notesSlide" Target="/ppt/notesSlides/notesSlide12.xml" Id="R62ffbcb67ea84725"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b5a05ee43033437c" /><Relationship Type="http://schemas.openxmlformats.org/officeDocument/2006/relationships/image" Target="/ppt/media/image7.png" Id="Re74c03f198d243f1" /><Relationship Type="http://schemas.openxmlformats.org/officeDocument/2006/relationships/notesSlide" Target="/ppt/notesSlides/notesSlide13.xml" Id="Racb28fb7d33d4d85"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898def6195e747df" /><Relationship Type="http://schemas.openxmlformats.org/officeDocument/2006/relationships/notesSlide" Target="/ppt/notesSlides/notesSlide14.xml" Id="R620bfc474ab34765"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876a5173753b4415" /><Relationship Type="http://schemas.openxmlformats.org/officeDocument/2006/relationships/image" Target="/ppt/media/image8.png" Id="R06de82607f8a4ec3" /><Relationship Type="http://schemas.openxmlformats.org/officeDocument/2006/relationships/notesSlide" Target="/ppt/notesSlides/notesSlide15.xml" Id="Ra7b7c9e32d804866"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da7986e22e42417c" /><Relationship Type="http://schemas.openxmlformats.org/officeDocument/2006/relationships/notesSlide" Target="/ppt/notesSlides/notesSlide16.xml" Id="Rb981b1eb33eb4132"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6a8a74657eae4a1b" /><Relationship Type="http://schemas.openxmlformats.org/officeDocument/2006/relationships/chart" Target="/ppt/slides/charts/chart3.xml" Id="R9db3c727d11d4d6d" /><Relationship Type="http://schemas.openxmlformats.org/officeDocument/2006/relationships/notesSlide" Target="/ppt/notesSlides/notesSlide17.xml" Id="Ra8ea1152c4a5436a"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1f7abd74fc194ee7" /><Relationship Type="http://schemas.openxmlformats.org/officeDocument/2006/relationships/notesSlide" Target="/ppt/notesSlides/notesSlide18.xml" Id="R276aad8de25f4c49"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a02221de431b4f34" /><Relationship Type="http://schemas.openxmlformats.org/officeDocument/2006/relationships/notesSlide" Target="/ppt/notesSlides/notesSlide19.xml" Id="R949f525bd01a49dc"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9.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Original paper</c:v>
          </c:tx>
          <c:spPr>
            <a:solidFill xmlns:a="http://schemas.openxmlformats.org/drawingml/2006/main">
              <a:srgbClr val="94A3B8"/>
            </a:solidFill>
          </c:spPr>
          <c:cat>
            <c:strRef>
              <c:f>'Chart Data'!$A$2:$A$5</c:f>
              <c:strCache>
                <c:ptCount val="4"/>
                <c:pt idx="0">
                  <c:v>LS</c:v>
                </c:pt>
                <c:pt idx="1">
                  <c:v>EN</c:v>
                </c:pt>
                <c:pt idx="2">
                  <c:v>FFN</c:v>
                </c:pt>
                <c:pt idx="3">
                  <c:v>GAN</c:v>
                </c:pt>
              </c:strCache>
            </c:strRef>
          </c:cat>
          <c:val>
            <c:numRef>
              <c:f>'Chart Data'!$B$2:$B$5</c:f>
              <c:numCache>
                <c:formatCode>0.000</c:formatCode>
                <c:ptCount val="4"/>
                <c:pt idx="0">
                  <c:v>0.42</c:v>
                </c:pt>
                <c:pt idx="1">
                  <c:v>0.5</c:v>
                </c:pt>
                <c:pt idx="2">
                  <c:v>0.44</c:v>
                </c:pt>
                <c:pt idx="3">
                  <c:v>0.75</c:v>
                </c:pt>
              </c:numCache>
            </c:numRef>
          </c:val>
        </c:ser>
        <c:ser>
          <c:idx val="1"/>
          <c:order val="1"/>
          <c:tx>
            <c:v>Code 07 replication</c:v>
          </c:tx>
          <c:spPr>
            <a:solidFill xmlns:a="http://schemas.openxmlformats.org/drawingml/2006/main">
              <a:srgbClr val="003262"/>
            </a:solidFill>
          </c:spPr>
          <c:cat>
            <c:strRef>
              <c:f>'Chart Data'!$C$2:$C$5</c:f>
              <c:strCache>
                <c:ptCount val="4"/>
                <c:pt idx="0">
                  <c:v>LS</c:v>
                </c:pt>
                <c:pt idx="1">
                  <c:v>EN</c:v>
                </c:pt>
                <c:pt idx="2">
                  <c:v>FFN</c:v>
                </c:pt>
                <c:pt idx="3">
                  <c:v>GAN</c:v>
                </c:pt>
              </c:strCache>
            </c:strRef>
          </c:cat>
          <c:val>
            <c:numRef>
              <c:f>'Chart Data'!$D$2:$D$5</c:f>
              <c:numCache>
                <c:formatCode>0.000</c:formatCode>
                <c:ptCount val="4"/>
                <c:pt idx="0">
                  <c:v>0.40639203</c:v>
                </c:pt>
                <c:pt idx="1">
                  <c:v>0.41150844</c:v>
                </c:pt>
                <c:pt idx="2">
                  <c:v>0.56952059</c:v>
                </c:pt>
                <c:pt idx="3">
                  <c:v>0.61188757</c:v>
                </c:pt>
              </c:numCache>
            </c:numRef>
          </c:val>
        </c:ser>
        <c:dLbls>
          <c:txPr>
            <a:bodyPr xmlns:a="http://schemas.openxmlformats.org/drawingml/2006/main" anchorCtr="1"/>
            <a:lstStyle xmlns:a="http://schemas.openxmlformats.org/drawingml/2006/main"/>
            <a:p xmlns:a="http://schemas.openxmlformats.org/drawingml/2006/main">
              <a:pPr>
                <a:defRPr sz="1125">
                  <a:solidFill>
                    <a:srgbClr val="1F2A37"/>
                  </a:solidFill>
                  <a:latin typeface="Arial"/>
                  <a:ea typeface="Arial"/>
                  <a:cs typeface="Arial"/>
                </a:defRPr>
              </a:pPr>
            </a:p>
          </c:txPr>
          <c:dLblPos val="outEnd"/>
          <c:showLegendKey val="0"/>
          <c:showVal val="1"/>
          <c:showCatName val="0"/>
          <c:showSerName val="0"/>
          <c:showPercent val="0"/>
          <c:showBubbleSize val="0"/>
          <c:showLeaderLines val="0"/>
        </c:dLbls>
        <c:gapWidth val="6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1F2A37"/>
                </a:solidFill>
                <a:latin typeface="Arial"/>
                <a:ea typeface="Arial"/>
                <a:cs typeface="Arial"/>
              </a:defRPr>
            </a:pPr>
          </a:p>
        </c:txPr>
        <c:crossAx val="48672768"/>
      </c:catAx>
      <c:valAx>
        <c:axId val="48672768"/>
        <c:scaling>
          <c:orientation val="minMax"/>
          <c:max val="0.9"/>
          <c:min val="0"/>
        </c:scaling>
        <c:delete val="0"/>
        <c:axPos val="l"/>
        <c:majorGridlines>
          <c:spPr>
            <a:ln xmlns:a="http://schemas.openxmlformats.org/drawingml/2006/main" w="4763">
              <a:solidFill>
                <a:srgbClr val="D5DDE5"/>
              </a:solidFill>
            </a:ln>
          </c:spPr>
        </c:majorGridlines>
        <c:title>
          <c:tx>
            <c:rich>
              <a:bodyPr xmlns:a="http://schemas.openxmlformats.org/drawingml/2006/main"/>
              <a:lstStyle xmlns:a="http://schemas.openxmlformats.org/drawingml/2006/main"/>
              <a:p xmlns:a="http://schemas.openxmlformats.org/drawingml/2006/main">
                <a:r>
                  <a:rPr sz="1200">
                    <a:solidFill>
                      <a:srgbClr val="1F2A37"/>
                    </a:solidFill>
                    <a:latin typeface="Arial"/>
                    <a:ea typeface="Arial"/>
                    <a:cs typeface="Arial"/>
                  </a:rPr>
                  <a:t>Monthly Sharpe</a:t>
                </a:r>
              </a:p>
            </c:rich>
          </c:tx>
          <c:overlay val="0"/>
          <c:txPr>
            <a:bodyPr xmlns:a="http://schemas.openxmlformats.org/drawingml/2006/main" anchorCtr="1"/>
            <a:lstStyle xmlns:a="http://schemas.openxmlformats.org/drawingml/2006/main"/>
            <a:p xmlns:a="http://schemas.openxmlformats.org/drawingml/2006/main">
              <a:pPr>
                <a:defRPr sz="1200">
                  <a:solidFill>
                    <a:srgbClr val="1F2A37"/>
                  </a:solidFill>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666666"/>
                </a:solidFill>
                <a:latin typeface="Arial"/>
                <a:ea typeface="Arial"/>
                <a:cs typeface="Arial"/>
              </a:defRPr>
            </a:pPr>
          </a:p>
        </c:txPr>
        <c:crossAx val="48650112"/>
        <c:crossBetween val="between"/>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125">
              <a:solidFill>
                <a:srgbClr val="1F2A37"/>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Paper GAN</c:v>
          </c:tx>
          <c:spPr>
            <a:solidFill xmlns:a="http://schemas.openxmlformats.org/drawingml/2006/main">
              <a:srgbClr val="94A3B8"/>
            </a:solidFill>
          </c:spPr>
          <c:cat>
            <c:strRef>
              <c:f>'Chart Data'!$A$2:$A$4</c:f>
              <c:strCache>
                <c:ptCount val="3"/>
                <c:pt idx="0">
                  <c:v>Train</c:v>
                </c:pt>
                <c:pt idx="1">
                  <c:v>Validation</c:v>
                </c:pt>
                <c:pt idx="2">
                  <c:v>Test</c:v>
                </c:pt>
              </c:strCache>
            </c:strRef>
          </c:cat>
          <c:val>
            <c:numRef>
              <c:f>'Chart Data'!$B$2:$B$4</c:f>
              <c:numCache>
                <c:formatCode>0.000</c:formatCode>
                <c:ptCount val="3"/>
                <c:pt idx="0">
                  <c:v>2.68</c:v>
                </c:pt>
                <c:pt idx="1">
                  <c:v>1.43</c:v>
                </c:pt>
                <c:pt idx="2">
                  <c:v>0.75</c:v>
                </c:pt>
              </c:numCache>
            </c:numRef>
          </c:val>
        </c:ser>
        <c:ser>
          <c:idx val="1"/>
          <c:order val="1"/>
          <c:tx>
            <c:v>Replicated GAN</c:v>
          </c:tx>
          <c:spPr>
            <a:solidFill xmlns:a="http://schemas.openxmlformats.org/drawingml/2006/main">
              <a:srgbClr val="003262"/>
            </a:solidFill>
          </c:spPr>
          <c:cat>
            <c:strRef>
              <c:f>'Chart Data'!$C$2:$C$4</c:f>
              <c:strCache>
                <c:ptCount val="3"/>
                <c:pt idx="0">
                  <c:v>Train</c:v>
                </c:pt>
                <c:pt idx="1">
                  <c:v>Validation</c:v>
                </c:pt>
                <c:pt idx="2">
                  <c:v>Test</c:v>
                </c:pt>
              </c:strCache>
            </c:strRef>
          </c:cat>
          <c:val>
            <c:numRef>
              <c:f>'Chart Data'!$D$2:$D$4</c:f>
              <c:numCache>
                <c:formatCode>0.000</c:formatCode>
                <c:ptCount val="3"/>
                <c:pt idx="0">
                  <c:v>2.22351534</c:v>
                </c:pt>
                <c:pt idx="1">
                  <c:v>1.18540902</c:v>
                </c:pt>
                <c:pt idx="2">
                  <c:v>0.61188757</c:v>
                </c:pt>
              </c:numCache>
            </c:numRef>
          </c:val>
        </c:ser>
        <c:ser>
          <c:idx val="2"/>
          <c:order val="2"/>
          <c:tx>
            <c:v>Extension LSTM</c:v>
          </c:tx>
          <c:spPr>
            <a:solidFill xmlns:a="http://schemas.openxmlformats.org/drawingml/2006/main">
              <a:srgbClr val="2563EB"/>
            </a:solidFill>
          </c:spPr>
          <c:cat>
            <c:strRef>
              <c:f>'Chart Data'!$E$2:$E$4</c:f>
              <c:strCache>
                <c:ptCount val="3"/>
                <c:pt idx="0">
                  <c:v>Train</c:v>
                </c:pt>
                <c:pt idx="1">
                  <c:v>Validation</c:v>
                </c:pt>
                <c:pt idx="2">
                  <c:v>Test</c:v>
                </c:pt>
              </c:strCache>
            </c:strRef>
          </c:cat>
          <c:val>
            <c:numRef>
              <c:f>'Chart Data'!$F$2:$F$4</c:f>
              <c:numCache>
                <c:formatCode>0.000</c:formatCode>
                <c:ptCount val="3"/>
                <c:pt idx="0">
                  <c:v>1.30755655</c:v>
                </c:pt>
                <c:pt idx="1">
                  <c:v>0.75013562</c:v>
                </c:pt>
                <c:pt idx="2">
                  <c:v>0.45929328</c:v>
                </c:pt>
              </c:numCache>
            </c:numRef>
          </c:val>
        </c:ser>
        <c:ser>
          <c:idx val="3"/>
          <c:order val="3"/>
          <c:tx>
            <c:v>Transformer</c:v>
          </c:tx>
          <c:spPr>
            <a:solidFill xmlns:a="http://schemas.openxmlformats.org/drawingml/2006/main">
              <a:srgbClr val="B7790B"/>
            </a:solidFill>
          </c:spPr>
          <c:cat>
            <c:strRef>
              <c:f>'Chart Data'!$G$2:$G$4</c:f>
              <c:strCache>
                <c:ptCount val="3"/>
                <c:pt idx="0">
                  <c:v>Train</c:v>
                </c:pt>
                <c:pt idx="1">
                  <c:v>Validation</c:v>
                </c:pt>
                <c:pt idx="2">
                  <c:v>Test</c:v>
                </c:pt>
              </c:strCache>
            </c:strRef>
          </c:cat>
          <c:val>
            <c:numRef>
              <c:f>'Chart Data'!$H$2:$H$4</c:f>
              <c:numCache>
                <c:formatCode>0.000</c:formatCode>
                <c:ptCount val="3"/>
                <c:pt idx="0">
                  <c:v>1.04903636</c:v>
                </c:pt>
                <c:pt idx="1">
                  <c:v>0.58874548</c:v>
                </c:pt>
                <c:pt idx="2">
                  <c:v>0.3044769</c:v>
                </c:pt>
              </c:numCache>
            </c:numRef>
          </c:val>
        </c:ser>
        <c:dLbls>
          <c:txPr>
            <a:bodyPr xmlns:a="http://schemas.openxmlformats.org/drawingml/2006/main" anchorCtr="1"/>
            <a:lstStyle xmlns:a="http://schemas.openxmlformats.org/drawingml/2006/main"/>
            <a:p xmlns:a="http://schemas.openxmlformats.org/drawingml/2006/main">
              <a:pPr>
                <a:defRPr sz="1125">
                  <a:solidFill>
                    <a:srgbClr val="1F2A37"/>
                  </a:solidFill>
                  <a:latin typeface="Arial"/>
                  <a:ea typeface="Arial"/>
                  <a:cs typeface="Arial"/>
                </a:defRPr>
              </a:pPr>
            </a:p>
          </c:txPr>
          <c:dLblPos val="outEnd"/>
          <c:showLegendKey val="0"/>
          <c:showVal val="1"/>
          <c:showCatName val="0"/>
          <c:showSerName val="0"/>
          <c:showPercent val="0"/>
          <c:showBubbleSize val="0"/>
          <c:showLeaderLines val="0"/>
        </c:dLbls>
        <c:gapWidth val="6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1F2A37"/>
                </a:solidFill>
                <a:latin typeface="Arial"/>
                <a:ea typeface="Arial"/>
                <a:cs typeface="Arial"/>
              </a:defRPr>
            </a:pPr>
          </a:p>
        </c:txPr>
        <c:crossAx val="48672768"/>
      </c:catAx>
      <c:valAx>
        <c:axId val="48672768"/>
        <c:scaling>
          <c:orientation val="minMax"/>
          <c:max val="3.2"/>
          <c:min val="0"/>
        </c:scaling>
        <c:delete val="0"/>
        <c:axPos val="l"/>
        <c:majorGridlines>
          <c:spPr>
            <a:ln xmlns:a="http://schemas.openxmlformats.org/drawingml/2006/main" w="4763">
              <a:solidFill>
                <a:srgbClr val="D5DDE5"/>
              </a:solidFill>
            </a:ln>
          </c:spPr>
        </c:majorGridlines>
        <c:title>
          <c:tx>
            <c:rich>
              <a:bodyPr xmlns:a="http://schemas.openxmlformats.org/drawingml/2006/main"/>
              <a:lstStyle xmlns:a="http://schemas.openxmlformats.org/drawingml/2006/main"/>
              <a:p xmlns:a="http://schemas.openxmlformats.org/drawingml/2006/main">
                <a:r>
                  <a:rPr sz="1200">
                    <a:solidFill>
                      <a:srgbClr val="1F2A37"/>
                    </a:solidFill>
                    <a:latin typeface="Arial"/>
                    <a:ea typeface="Arial"/>
                    <a:cs typeface="Arial"/>
                  </a:rPr>
                  <a:t>Monthly Sharpe</a:t>
                </a:r>
              </a:p>
            </c:rich>
          </c:tx>
          <c:overlay val="0"/>
          <c:txPr>
            <a:bodyPr xmlns:a="http://schemas.openxmlformats.org/drawingml/2006/main" anchorCtr="1"/>
            <a:lstStyle xmlns:a="http://schemas.openxmlformats.org/drawingml/2006/main"/>
            <a:p xmlns:a="http://schemas.openxmlformats.org/drawingml/2006/main">
              <a:pPr>
                <a:defRPr sz="1200">
                  <a:solidFill>
                    <a:srgbClr val="1F2A37"/>
                  </a:solidFill>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666666"/>
                </a:solidFill>
                <a:latin typeface="Arial"/>
                <a:ea typeface="Arial"/>
                <a:cs typeface="Arial"/>
              </a:defRPr>
            </a:pPr>
          </a:p>
        </c:txPr>
        <c:crossAx val="48650112"/>
        <c:crossBetween val="between"/>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125">
              <a:solidFill>
                <a:srgbClr val="1F2A37"/>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Paper GAN</c:v>
          </c:tx>
          <c:spPr>
            <a:solidFill xmlns:a="http://schemas.openxmlformats.org/drawingml/2006/main">
              <a:srgbClr val="94A3B8"/>
            </a:solidFill>
          </c:spPr>
          <c:cat>
            <c:strRef>
              <c:f>'Chart Data'!$A$2:$A$5</c:f>
              <c:strCache>
                <c:ptCount val="4"/>
                <c:pt idx="0">
                  <c:v>Expansion</c:v>
                </c:pt>
                <c:pt idx="1">
                  <c:v>Recession</c:v>
                </c:pt>
                <c:pt idx="2">
                  <c:v>High volatility</c:v>
                </c:pt>
                <c:pt idx="3">
                  <c:v>Low volatility</c:v>
                </c:pt>
              </c:strCache>
            </c:strRef>
          </c:cat>
          <c:val>
            <c:numRef>
              <c:f>'Chart Data'!$B$2:$B$5</c:f>
              <c:numCache>
                <c:formatCode>0.000</c:formatCode>
                <c:ptCount val="4"/>
                <c:pt idx="0">
                  <c:v>3.70641062</c:v>
                </c:pt>
                <c:pt idx="1">
                  <c:v>3.00443061</c:v>
                </c:pt>
                <c:pt idx="2">
                  <c:v>3.49685192</c:v>
                </c:pt>
                <c:pt idx="3">
                  <c:v>3.74875446</c:v>
                </c:pt>
              </c:numCache>
            </c:numRef>
          </c:val>
        </c:ser>
        <c:ser>
          <c:idx val="1"/>
          <c:order val="1"/>
          <c:tx>
            <c:v>Replicated GAN</c:v>
          </c:tx>
          <c:spPr>
            <a:solidFill xmlns:a="http://schemas.openxmlformats.org/drawingml/2006/main">
              <a:srgbClr val="003262"/>
            </a:solidFill>
          </c:spPr>
          <c:cat>
            <c:strRef>
              <c:f>'Chart Data'!$C$2:$C$5</c:f>
              <c:strCache>
                <c:ptCount val="4"/>
                <c:pt idx="0">
                  <c:v>Expansion</c:v>
                </c:pt>
                <c:pt idx="1">
                  <c:v>Recession</c:v>
                </c:pt>
                <c:pt idx="2">
                  <c:v>High volatility</c:v>
                </c:pt>
                <c:pt idx="3">
                  <c:v>Low volatility</c:v>
                </c:pt>
              </c:strCache>
            </c:strRef>
          </c:cat>
          <c:val>
            <c:numRef>
              <c:f>'Chart Data'!$D$2:$D$5</c:f>
              <c:numCache>
                <c:formatCode>0.000</c:formatCode>
                <c:ptCount val="4"/>
                <c:pt idx="0">
                  <c:v>2.94245335</c:v>
                </c:pt>
                <c:pt idx="1">
                  <c:v>2.40358567</c:v>
                </c:pt>
                <c:pt idx="2">
                  <c:v>2.6865745</c:v>
                </c:pt>
                <c:pt idx="3">
                  <c:v>3.05007001</c:v>
                </c:pt>
              </c:numCache>
            </c:numRef>
          </c:val>
        </c:ser>
        <c:ser>
          <c:idx val="2"/>
          <c:order val="2"/>
          <c:tx>
            <c:v>Extension LSTM</c:v>
          </c:tx>
          <c:spPr>
            <a:solidFill xmlns:a="http://schemas.openxmlformats.org/drawingml/2006/main">
              <a:srgbClr val="2563EB"/>
            </a:solidFill>
          </c:spPr>
          <c:cat>
            <c:strRef>
              <c:f>'Chart Data'!$E$2:$E$5</c:f>
              <c:strCache>
                <c:ptCount val="4"/>
                <c:pt idx="0">
                  <c:v>Expansion</c:v>
                </c:pt>
                <c:pt idx="1">
                  <c:v>Recession</c:v>
                </c:pt>
                <c:pt idx="2">
                  <c:v>High volatility</c:v>
                </c:pt>
                <c:pt idx="3">
                  <c:v>Low volatility</c:v>
                </c:pt>
              </c:strCache>
            </c:strRef>
          </c:cat>
          <c:val>
            <c:numRef>
              <c:f>'Chart Data'!$F$2:$F$5</c:f>
              <c:numCache>
                <c:formatCode>0.000</c:formatCode>
                <c:ptCount val="4"/>
                <c:pt idx="0">
                  <c:v>2.05784917</c:v>
                </c:pt>
                <c:pt idx="1">
                  <c:v>1.38254624</c:v>
                </c:pt>
                <c:pt idx="2">
                  <c:v>1.64211907</c:v>
                </c:pt>
                <c:pt idx="3">
                  <c:v>2.26786637</c:v>
                </c:pt>
              </c:numCache>
            </c:numRef>
          </c:val>
        </c:ser>
        <c:ser>
          <c:idx val="3"/>
          <c:order val="3"/>
          <c:tx>
            <c:v>Transformer</c:v>
          </c:tx>
          <c:spPr>
            <a:solidFill xmlns:a="http://schemas.openxmlformats.org/drawingml/2006/main">
              <a:srgbClr val="B7790B"/>
            </a:solidFill>
          </c:spPr>
          <c:cat>
            <c:strRef>
              <c:f>'Chart Data'!$G$2:$G$5</c:f>
              <c:strCache>
                <c:ptCount val="4"/>
                <c:pt idx="0">
                  <c:v>Expansion</c:v>
                </c:pt>
                <c:pt idx="1">
                  <c:v>Recession</c:v>
                </c:pt>
                <c:pt idx="2">
                  <c:v>High volatility</c:v>
                </c:pt>
                <c:pt idx="3">
                  <c:v>Low volatility</c:v>
                </c:pt>
              </c:strCache>
            </c:strRef>
          </c:cat>
          <c:val>
            <c:numRef>
              <c:f>'Chart Data'!$H$2:$H$5</c:f>
              <c:numCache>
                <c:formatCode>0.000</c:formatCode>
                <c:ptCount val="4"/>
                <c:pt idx="0">
                  <c:v>1.4734821</c:v>
                </c:pt>
                <c:pt idx="1">
                  <c:v>1.40927834</c:v>
                </c:pt>
                <c:pt idx="2">
                  <c:v>0.89283968</c:v>
                </c:pt>
                <c:pt idx="3">
                  <c:v>1.92122442</c:v>
                </c:pt>
              </c:numCache>
            </c:numRef>
          </c:val>
        </c:ser>
        <c:ser>
          <c:idx val="4"/>
          <c:order val="4"/>
          <c:tx>
            <c:v>Equal-weight blend</c:v>
          </c:tx>
          <c:spPr>
            <a:solidFill xmlns:a="http://schemas.openxmlformats.org/drawingml/2006/main">
              <a:srgbClr val="16816B"/>
            </a:solidFill>
          </c:spPr>
          <c:cat>
            <c:strRef>
              <c:f>'Chart Data'!$I$2:$I$5</c:f>
              <c:strCache>
                <c:ptCount val="4"/>
                <c:pt idx="0">
                  <c:v>Expansion</c:v>
                </c:pt>
                <c:pt idx="1">
                  <c:v>Recession</c:v>
                </c:pt>
                <c:pt idx="2">
                  <c:v>High volatility</c:v>
                </c:pt>
                <c:pt idx="3">
                  <c:v>Low volatility</c:v>
                </c:pt>
              </c:strCache>
            </c:strRef>
          </c:cat>
          <c:val>
            <c:numRef>
              <c:f>'Chart Data'!$J$2:$J$5</c:f>
              <c:numCache>
                <c:formatCode>0.000</c:formatCode>
                <c:ptCount val="4"/>
                <c:pt idx="0">
                  <c:v>2.19054578</c:v>
                </c:pt>
                <c:pt idx="1">
                  <c:v>1.94098684</c:v>
                </c:pt>
                <c:pt idx="2">
                  <c:v>1.48894614</c:v>
                </c:pt>
                <c:pt idx="3">
                  <c:v>2.7013473</c:v>
                </c:pt>
              </c:numCache>
            </c:numRef>
          </c:val>
        </c:ser>
        <c:dLbls>
          <c:txPr>
            <a:bodyPr xmlns:a="http://schemas.openxmlformats.org/drawingml/2006/main" anchorCtr="1"/>
            <a:lstStyle xmlns:a="http://schemas.openxmlformats.org/drawingml/2006/main"/>
            <a:p xmlns:a="http://schemas.openxmlformats.org/drawingml/2006/main">
              <a:pPr>
                <a:defRPr sz="1125">
                  <a:solidFill>
                    <a:srgbClr val="1F2A37"/>
                  </a:solidFill>
                  <a:latin typeface="Arial"/>
                  <a:ea typeface="Arial"/>
                  <a:cs typeface="Arial"/>
                </a:defRPr>
              </a:pPr>
            </a:p>
          </c:txPr>
          <c:dLblPos val="outEnd"/>
          <c:showLegendKey val="0"/>
          <c:showVal val="0"/>
          <c:showCatName val="0"/>
          <c:showSerName val="0"/>
          <c:showPercent val="0"/>
          <c:showBubbleSize val="0"/>
          <c:showLeaderLines val="0"/>
        </c:dLbls>
        <c:gapWidth val="6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1F2A37"/>
                </a:solidFill>
                <a:latin typeface="Arial"/>
                <a:ea typeface="Arial"/>
                <a:cs typeface="Arial"/>
              </a:defRPr>
            </a:pPr>
          </a:p>
        </c:txPr>
        <c:crossAx val="48672768"/>
      </c:catAx>
      <c:valAx>
        <c:axId val="48672768"/>
        <c:scaling>
          <c:orientation val="minMax"/>
          <c:max val="5"/>
          <c:min val="0"/>
        </c:scaling>
        <c:delete val="0"/>
        <c:axPos val="l"/>
        <c:majorGridlines>
          <c:spPr>
            <a:ln xmlns:a="http://schemas.openxmlformats.org/drawingml/2006/main" w="4763">
              <a:solidFill>
                <a:srgbClr val="D5DDE5"/>
              </a:solidFill>
            </a:ln>
          </c:spPr>
        </c:majorGridlines>
        <c:title>
          <c:tx>
            <c:rich>
              <a:bodyPr xmlns:a="http://schemas.openxmlformats.org/drawingml/2006/main"/>
              <a:lstStyle xmlns:a="http://schemas.openxmlformats.org/drawingml/2006/main"/>
              <a:p xmlns:a="http://schemas.openxmlformats.org/drawingml/2006/main">
                <a:r>
                  <a:rPr sz="1200">
                    <a:solidFill>
                      <a:srgbClr val="1F2A37"/>
                    </a:solidFill>
                    <a:latin typeface="Arial"/>
                    <a:ea typeface="Arial"/>
                    <a:cs typeface="Arial"/>
                  </a:rPr>
                  <a:t>Mean annualized rolling Sharpe</a:t>
                </a:r>
              </a:p>
            </c:rich>
          </c:tx>
          <c:overlay val="0"/>
          <c:txPr>
            <a:bodyPr xmlns:a="http://schemas.openxmlformats.org/drawingml/2006/main" anchorCtr="1"/>
            <a:lstStyle xmlns:a="http://schemas.openxmlformats.org/drawingml/2006/main"/>
            <a:p xmlns:a="http://schemas.openxmlformats.org/drawingml/2006/main">
              <a:pPr>
                <a:defRPr sz="1200">
                  <a:solidFill>
                    <a:srgbClr val="1F2A37"/>
                  </a:solidFill>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666666"/>
                </a:solidFill>
                <a:latin typeface="Arial"/>
                <a:ea typeface="Arial"/>
                <a:cs typeface="Arial"/>
              </a:defRPr>
            </a:pPr>
          </a:p>
        </c:txPr>
        <c:crossAx val="48650112"/>
        <c:crossBetween val="between"/>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125">
              <a:solidFill>
                <a:srgbClr val="1F2A37"/>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slide1.xml><?xml version="1.0" encoding="utf-8"?>
<ns0:sld xmlns:ns0="http://schemas.openxmlformats.org/presentationml/2006/main" xmlns:ns1="http://schemas.openxmlformats.org/drawingml/2006/main" xmlns:ns2="http://schemas.openxmlformats.org/officeDocument/2006/relationships" xmlns:ns3="http://schemas.microsoft.com/office/drawing/2014/main" xmlns:ns4="http://schemas.microsoft.com/office/powerpoint/2010/main">
  <ns0:cSld>
    <ns0:bg>
      <ns0:bgPr>
        <ns1:solidFill>
          <ns1:srgbClr val="FFFFFF"/>
        </ns1:solidFill>
      </ns0:bgPr>
    </ns0:bg>
    <ns0:spTree>
      <ns0:nvGrpSpPr>
        <ns0:cNvPr id="1" name=""/>
        <ns0:cNvGrpSpPr/>
        <ns0:nvPr/>
      </ns0:nvGrpSpPr>
      <ns0:grpSpPr>
        <ns1:xfrm/>
      </ns0:grpSpPr>
      <ns0:pic>
        <ns0:nvPicPr>
          <ns0:cNvPr id="14" name=""/>
          <ns0:cNvPicPr>
            <ns1:picLocks noChangeAspect="1"/>
          </ns0:cNvPicPr>
          <ns0:nvPr/>
        </ns0:nvPicPr>
        <ns0:blipFill>
          <ns1:blip ns2:embed="R8a949bdb503146c4"/>
          <ns1:srcRect l="0" t="22546" r="0" b="22546"/>
          <ns1:stretch>
            <ns1:fillRect l="0" t="0" r="0" b="0"/>
          </ns1:stretch>
        </ns0:blipFill>
        <ns0:spPr>
          <ns1:xfrm>
            <ns1:off x="0" y="0"/>
            <ns1:ext cx="9144000" cy="3238500"/>
          </ns1:xfrm>
          <ns1:prstGeom prst="rect">
            <ns1:avLst/>
          </ns1:prstGeom>
        </ns0:spPr>
      </ns0:pic>
      <ns0:sp>
        <ns0:nvSpPr>
          <ns0:cNvPr id="2" name="">
            <ns1:extLst>
              <ns1:ext uri="{FF2B5EF4-FFF2-40B4-BE49-F238E27FC236}">
                <ns3:creationId id="{DE7B2E12-71FE-425D-AA0C-3E48724DFAC5}"/>
              </ns1:ext>
            </ns1:extLst>
          </ns0:cNvPr>
          <ns0:cNvSpPr>
            <ns1:spLocks noGrp="1"/>
          </ns0:cNvSpPr>
          <ns0:nvPr/>
        </ns0:nvSpPr>
        <ns0:spPr>
          <ns1:xfrm>
            <ns1:off x="342900" y="2343150"/>
            <ns1:ext cx="8420100" cy="552450"/>
          </ns1:xfrm>
          <ns1:prstGeom prst="rect">
            <ns1:avLst/>
          </ns1:prstGeom>
          <ns1:noFill/>
          <ns1:ln w="0">
            <ns1:noFill/>
          </ns1:ln>
        </ns0:spPr>
        <ns0:txBody>
          <ns1:bodyPr>
            <ns1:noAutofit/>
          </ns1:bodyPr>
          <ns1:lstStyle/>
          <ns1:p>
            <ns1:pPr>
              <ns1:buNone/>
              <ns1:defRPr sz="3000" b="1">
                <ns1:solidFill>
                  <ns1:srgbClr val="FFFFFF"/>
                </ns1:solidFill>
                <ns1:latin typeface="Arial"/>
                <ns1:ea typeface="Arial"/>
                <ns1:cs typeface="Arial"/>
              </ns1:defRPr>
            </ns1:pPr>
            <ns1:r>
              <ns1:rPr sz="3000" b="1">
                <ns1:solidFill>
                  <ns1:srgbClr val="FFFFFF"/>
                </ns1:solidFill>
                <ns1:latin typeface="Arial"/>
                <ns1:ea typeface="Arial"/>
                <ns1:cs typeface="Arial"/>
              </ns1:rPr>
              <ns1:t>Deep Learning in Asset Pricing</ns1:t>
            </ns1:r>
          </ns1:p>
        </ns0:txBody>
      </ns0:sp>
      <ns0:sp>
        <ns0:nvSpPr>
          <ns0:cNvPr id="3" name="">
            <ns1:extLst>
              <ns1:ext uri="{FF2B5EF4-FFF2-40B4-BE49-F238E27FC236}">
                <ns3:creationId id="{DF695EB0-547D-4965-94D1-D835C4659154}"/>
              </ns1:ext>
            </ns1:extLst>
          </ns0:cNvPr>
          <ns0:cNvSpPr>
            <ns1:spLocks noGrp="1"/>
          </ns0:cNvSpPr>
          <ns0:nvPr/>
        </ns0:nvSpPr>
        <ns0:spPr>
          <ns1:xfrm>
            <ns1:off x="361950" y="3476625"/>
            <ns1:ext cx="7810500" cy="342900"/>
          </ns1:xfrm>
          <ns1:prstGeom prst="rect">
            <ns1:avLst/>
          </ns1:prstGeom>
          <ns1:noFill/>
          <ns1:ln w="0">
            <ns1:noFill/>
          </ns1:ln>
        </ns0:spPr>
        <ns0:txBody>
          <ns1:bodyPr>
            <ns1:noAutofit/>
          </ns1:bodyPr>
          <ns1:lstStyle/>
          <ns1:p>
            <ns1:pPr>
              <ns1:buNone/>
              <ns1:defRPr sz="2025" b="1">
                <ns1:solidFill>
                  <ns1:srgbClr val="003262"/>
                </ns1:solidFill>
                <ns1:latin typeface="Arial"/>
                <ns1:ea typeface="Arial"/>
                <ns1:cs typeface="Arial"/>
              </ns1:defRPr>
            </ns1:pPr>
            <ns1:r>
              <ns1:rPr sz="2025" b="1">
                <ns1:solidFill>
                  <ns1:srgbClr val="003262"/>
                </ns1:solidFill>
                <ns1:latin typeface="Arial"/>
                <ns1:ea typeface="Arial"/>
                <ns1:cs typeface="Arial"/>
              </ns1:rPr>
              <ns1:t>Replication and Model Comparisons</ns1:t>
            </ns1:r>
          </ns1:p>
        </ns0:txBody>
      </ns0:sp>
      <ns0:sp>
        <ns0:nvSpPr>
          <ns0:cNvPr id="4" name="">
            <ns1:extLst>
              <ns1:ext uri="{FF2B5EF4-FFF2-40B4-BE49-F238E27FC236}">
                <ns3:creationId id="{5481CBCE-E7D6-4BC4-800A-9A7C0A831F5E}"/>
              </ns1:ext>
            </ns1:extLst>
          </ns0:cNvPr>
          <ns0:cNvSpPr>
            <ns1:spLocks noGrp="1"/>
          </ns0:cNvSpPr>
          <ns0:nvPr/>
        </ns0:nvSpPr>
        <ns0:spPr>
          <ns1:xfrm>
            <ns1:off x="361950" y="3886200"/>
            <ns1:ext cx="8191500" cy="342900"/>
          </ns1:xfrm>
          <ns1:prstGeom prst="rect">
            <ns1:avLst/>
          </ns1:prstGeom>
          <ns1:noFill/>
          <ns1:ln w="0">
            <ns1:noFill/>
          </ns1:ln>
        </ns0:spPr>
        <ns0:txBody>
          <ns1:bodyPr>
            <ns1:noAutofit/>
          </ns1:bodyPr>
          <ns1:lstStyle/>
          <ns1:p>
            <ns1:pPr>
              <ns1:buNone/>
              <ns1:defRPr sz="1500" b="0">
                <ns1:solidFill>
                  <ns1:srgbClr val="1F2A37"/>
                </ns1:solidFill>
                <ns1:latin typeface="Arial"/>
                <ns1:ea typeface="Arial"/>
                <ns1:cs typeface="Arial"/>
              </ns1:defRPr>
            </ns1:pPr>
            <ns1:r>
              <ns1:rPr sz="1500" b="0">
                <ns1:solidFill>
                  <ns1:srgbClr val="1F2A37"/>
                </ns1:solidFill>
                <ns1:latin typeface="Arial"/>
                <ns1:ea typeface="Arial"/>
                <ns1:cs typeface="Arial"/>
              </ns1:rPr>
              <ns1:t>Transformer, rolling windows, regimes and portfolio combinations</ns1:t>
            </ns1:r>
          </ns1:p>
        </ns0:txBody>
      </ns0:sp>
      <ns0:sp>
        <ns0:nvSpPr>
          <ns0:cNvPr id="5" name="">
            <ns1:extLst>
              <ns1:ext uri="{FF2B5EF4-FFF2-40B4-BE49-F238E27FC236}">
                <ns3:creationId id="{A4983446-7EC0-4107-BF9F-D59958BEF0F6}"/>
              </ns1:ext>
            </ns1:extLst>
          </ns0:cNvPr>
          <ns0:cNvSpPr>
            <ns1:spLocks noGrp="1"/>
          </ns0:cNvSpPr>
          <ns0:nvPr/>
        </ns0:nvSpPr>
        <ns0:spPr>
          <ns1:xfrm>
            <ns1:off x="361950" y="4257675"/>
            <ns1:ext cx="6762750" cy="228600"/>
          </ns1:xfrm>
          <ns1:prstGeom prst="rect">
            <ns1:avLst/>
          </ns1:prstGeom>
          <ns1:noFill/>
          <ns1:ln w="0">
            <ns1:noFill/>
          </ns1:ln>
        </ns0:spPr>
        <ns0:txBody>
          <ns1:bodyPr>
            <ns1:noAutofit/>
          </ns1:bodyPr>
          <ns1:lstStyle/>
          <ns1:p>
            <ns1:pPr>
              <ns1:buNone/>
              <ns1:defRPr sz="1350" b="0">
                <ns1:solidFill>
                  <ns1:srgbClr val="1F2A37"/>
                </ns1:solidFill>
                <ns1:latin typeface="Arial"/>
                <ns1:ea typeface="Arial"/>
                <ns1:cs typeface="Arial"/>
              </ns1:defRPr>
            </ns1:pPr>
            <ns1:r>
              <ns1:rPr sz="1350" b="0">
                <ns1:solidFill>
                  <ns1:srgbClr val="1F2A37"/>
                </ns1:solidFill>
                <ns1:latin typeface="Arial"/>
                <ns1:ea typeface="Arial"/>
                <ns1:cs typeface="Arial"/>
              </ns1:rPr>
              <ns1:t>Reza Zamani, Hrafnhildur Lif Jonsdottir</ns1:t>
            </ns1:r>
          </ns1:p>
        </ns0:txBody>
      </ns0:sp>
      <ns0:sp>
        <ns0:nvSpPr>
          <ns0:cNvPr id="6" name="">
            <ns1:extLst>
              <ns1:ext uri="{FF2B5EF4-FFF2-40B4-BE49-F238E27FC236}">
                <ns3:creationId id="{6558B462-85ED-457A-8617-624E02B58E9C}"/>
              </ns1:ext>
            </ns1:extLst>
          </ns0:cNvPr>
          <ns0:cNvSpPr>
            <ns1:spLocks noGrp="1"/>
          </ns0:cNvSpPr>
          <ns0:nvPr/>
        </ns0:nvSpPr>
        <ns0:spPr>
          <ns1:xfrm>
            <ns1:off x="361950" y="4495800"/>
            <ns1:ext cx="6762750" cy="228600"/>
          </ns1:xfrm>
          <ns1:prstGeom prst="rect">
            <ns1:avLst/>
          </ns1:prstGeom>
          <ns1:noFill/>
          <ns1:ln w="0">
            <ns1:noFill/>
          </ns1:ln>
        </ns0:spPr>
        <ns0:txBody>
          <ns1:bodyPr>
            <ns1:noAutofit/>
          </ns1:bodyPr>
          <ns1:lstStyle/>
          <ns1:p>
            <ns1:pPr>
              <ns1:buNone/>
              <ns1:defRPr sz="1350" b="0">
                <ns1:solidFill>
                  <ns1:srgbClr val="1F2A37"/>
                </ns1:solidFill>
                <ns1:latin typeface="Arial"/>
                <ns1:ea typeface="Arial"/>
                <ns1:cs typeface="Arial"/>
              </ns1:defRPr>
            </ns1:pPr>
            <ns1:r>
              <ns1:rPr sz="1350" b="0">
                <ns1:solidFill>
                  <ns1:srgbClr val="1F2A37"/>
                </ns1:solidFill>
                <ns1:latin typeface="Arial"/>
                <ns1:ea typeface="Arial"/>
                <ns1:cs typeface="Arial"/>
              </ns1:rPr>
              <ns1:t>Paraj Goyal and Elouan Bahri</ns1:t>
            </ns1:r>
          </ns1:p>
        </ns0:txBody>
      </ns0:sp>
      <ns0:sp>
        <ns0:nvSpPr>
          <ns0:cNvPr id="7" name="">
            <ns1:extLst>
              <ns1:ext uri="{FF2B5EF4-FFF2-40B4-BE49-F238E27FC236}">
                <ns3:creationId id="{7AF936C5-CA29-4C4B-B20A-86125B385748}"/>
              </ns1:ext>
            </ns1:extLst>
          </ns0:cNvPr>
          <ns0:cNvSpPr>
            <ns1:spLocks noGrp="1"/>
          </ns0:cNvSpPr>
          <ns0:nvPr/>
        </ns0:nvSpPr>
        <ns0:spPr>
          <ns1:xfrm>
            <ns1:off x="361950" y="4743450"/>
            <ns1:ext cx="6762750" cy="219075"/>
          </ns1:xfrm>
          <ns1:prstGeom prst="rect">
            <ns1:avLst/>
          </ns1:prstGeom>
          <ns1:noFill/>
          <ns1:ln w="0">
            <ns1:noFill/>
          </ns1:ln>
        </ns0:spPr>
        <ns0:txBody>
          <ns1:bodyPr>
            <ns1:noAutofit/>
          </ns1:bodyPr>
          <ns1:lstStyle/>
          <ns1:p>
            <ns1:pPr>
              <ns1:buNone/>
              <ns1:defRPr sz="1275" b="0">
                <ns1:solidFill>
                  <ns1:srgbClr val="5B6770"/>
                </ns1:solidFill>
                <ns1:latin typeface="Arial"/>
                <ns1:ea typeface="Arial"/>
                <ns1:cs typeface="Arial"/>
              </ns1:defRPr>
            </ns1:pPr>
            <ns1:r>
              <ns1:rPr sz="1275" b="0">
                <ns1:solidFill>
                  <ns1:srgbClr val="5B6770"/>
                </ns1:solidFill>
                <ns1:latin typeface="Arial"/>
                <ns1:ea typeface="Arial"/>
                <ns1:cs typeface="Arial"/>
              </ns1:rPr>
              <ns1:t>Professor: Ali Kakhbod</ns1:t>
            </ns1:r>
          </ns1:p>
        </ns0:txBody>
      </ns0:sp>
      <ns0:sp>
        <ns0:nvSpPr>
          <ns0:cNvPr id="8" name="">
            <ns1:extLst>
              <ns1:ext uri="{FF2B5EF4-FFF2-40B4-BE49-F238E27FC236}">
                <ns3:creationId id="{7D106F92-9820-4CB8-BF48-38DE4E16A808}"/>
              </ns1:ext>
            </ns1:extLst>
          </ns0:cNvPr>
          <ns0:cNvSpPr>
            <ns1:spLocks noGrp="1"/>
          </ns0:cNvSpPr>
          <ns0:nvPr/>
        </ns0:nvSpPr>
        <ns0:spPr>
          <ns1:xfrm>
            <ns1:off x="7277100" y="4895850"/>
            <ns1:ext cx="1714500" cy="190500"/>
          </ns1:xfrm>
          <ns1:prstGeom prst="rect">
            <ns1:avLst/>
          </ns1:prstGeom>
          <ns1:noFill/>
          <ns1:ln w="0">
            <ns1:noFill/>
          </ns1:ln>
        </ns0:spPr>
        <ns0:txBody>
          <ns1:bodyPr>
            <ns1:noAutofit/>
          </ns1:bodyPr>
          <ns1:lstStyle/>
          <ns1:p>
            <ns1:pPr>
              <ns1:buNone/>
              <ns1:defRPr sz="900" b="0">
                <ns1:solidFill>
                  <ns1:srgbClr val="5B6770"/>
                </ns1:solidFill>
                <ns1:latin typeface="Arial"/>
                <ns1:ea typeface="Arial"/>
                <ns1:cs typeface="Arial"/>
              </ns1:defRPr>
            </ns1:pPr>
            <ns1:r>
              <ns1:rPr sz="900" b="0">
                <ns1:solidFill>
                  <ns1:srgbClr val="5B6770"/>
                </ns1:solidFill>
                <ns1:latin typeface="Arial"/>
                <ns1:ea typeface="Arial"/>
                <ns1:cs typeface="Arial"/>
              </ns1:rPr>
              <ns1:t>Group 7 · October 2026</ns1:t>
            </ns1:r>
          </ns1:p>
        </ns0:txBody>
      </ns0:sp>
      <ns0:pic>
        <ns0:nvPicPr>
          <ns0:cNvPr id="22" name=""/>
          <ns0:cNvPicPr>
            <ns1:picLocks noChangeAspect="1"/>
          </ns0:cNvPicPr>
          <ns0:nvPr/>
        </ns0:nvPicPr>
        <ns0:blipFill>
          <ns1:blip ns2:embed="Re8366c4b54b24317"/>
          <ns1:stretch/>
        </ns0:blipFill>
        <ns0:spPr>
          <ns1:xfrm>
            <ns1:off x="7279079" y="4514850"/>
            <ns1:ext cx="1520042" cy="285750"/>
          </ns1:xfrm>
          <ns1:prstGeom prst="rect">
            <ns1:avLst/>
          </ns1:prstGeom>
        </ns0:spPr>
      </ns0:pic>
      <ns0:sp>
        <ns0:nvSpPr>
          <ns0:cNvPr id="11" name="">
            <ns1:extLst>
              <ns1:ext uri="{FF2B5EF4-FFF2-40B4-BE49-F238E27FC236}">
                <ns3:creationId id="{A5FF583E-8111-4644-B27C-6C46792DD834}"/>
              </ns1:ext>
            </ns1:extLst>
          </ns0:cNvPr>
          <ns0:cNvSpPr>
            <ns1:spLocks noGrp="1"/>
          </ns0:cNvSpPr>
          <ns0:nvPr/>
        </ns0:nvSpPr>
        <ns0:spPr>
          <ns1:xfrm>
            <ns1:off x="361950" y="3267075"/>
            <ns1:ext cx="8286750" cy="209550"/>
          </ns1:xfrm>
          <ns1:prstGeom prst="rect">
            <ns1:avLst/>
          </ns1:prstGeom>
          <ns1:noFill/>
          <ns1:ln w="0">
            <ns1:noFill/>
          </ns1:ln>
        </ns0:spPr>
        <ns0:txBody>
          <ns1:bodyPr>
            <ns1:noAutofit/>
          </ns1:bodyPr>
          <ns1:lstStyle/>
          <ns1:p>
            <ns1:pPr marL="152400" indent="-88900">
              <ns1:spcAft>
                <ns1:spcPts val="200"/>
              </ns1:spcAft>
              <ns1:buChar char="•"/>
              <ns1:defRPr sz="1200" b="0">
                <ns1:solidFill>
                  <ns1:srgbClr val="003262"/>
                </ns1:solidFill>
                <ns1:latin typeface="Arial"/>
                <ns1:ea typeface="Arial"/>
                <ns1:cs typeface="Arial"/>
              </ns1:defRPr>
            </ns1:pPr>
            <ns1:r>
              <ns1:rPr sz="1200" b="0">
                <ns1:solidFill>
                  <ns1:srgbClr val="003262"/>
                </ns1:solidFill>
                <ns1:latin typeface="Arial"/>
                <ns1:ea typeface="Arial"/>
                <ns1:cs typeface="Arial"/>
              </ns1:rPr>
              <ns1:t>Research question: can model changes improve asset-pricing performance?</ns1:t>
            </ns1:r>
          </ns1:p>
        </ns0:txBody>
      </ns0:sp>
    </ns0:spTree>
    <ns0:extLst>
      <ns0:ext uri="{BB962C8B-B14F-4D97-AF65-F5344CB8AC3E}">
        <ns4:creationId val="624588145"/>
      </ns0:ext>
    </ns0:extLst>
  </ns0:cSld>
</ns0:sld>
</file>

<file path=ppt/slides/slide2.xml><?xml version="1.0" encoding="utf-8"?>
<ns0:sld xmlns:ns0="http://schemas.openxmlformats.org/presentationml/2006/main" xmlns:ns1="http://schemas.openxmlformats.org/drawingml/2006/main" xmlns:ns2="http://schemas.microsoft.com/office/drawing/2014/main" xmlns:ns3="http://schemas.microsoft.com/office/powerpoint/2010/main">
  <ns0:cSld>
    <ns0:bg>
      <ns0:bgPr>
        <ns1:solidFill>
          <ns1:srgbClr val="FFFFFF"/>
        </ns1:solidFill>
      </ns0:bgPr>
    </ns0:bg>
    <ns0:spTree>
      <ns0:nvGrpSpPr>
        <ns0:cNvPr id="1" name=""/>
        <ns0:cNvGrpSpPr/>
        <ns0:nvPr/>
      </ns0:nvGrpSpPr>
      <ns0:grpSpPr>
        <ns1:xfrm/>
      </ns0:grpSpPr>
      <ns0:sp>
        <ns0:nvSpPr>
          <ns0:cNvPr id="12" name="">
            <ns1:extLst>
              <ns1:ext uri="{FF2B5EF4-FFF2-40B4-BE49-F238E27FC236}">
                <ns2:creationId id="{927980B7-6EC6-4E30-9639-EA453C034569}"/>
              </ns1:ext>
            </ns1:extLst>
          </ns0:cNvPr>
          <ns0:cNvSpPr>
            <ns1:spLocks noGrp="1"/>
          </ns0:cNvSpPr>
          <ns0:nvPr/>
        </ns0:nvSpPr>
        <ns0:spPr>
          <ns1:xfrm>
            <ns1:off x="0" y="0"/>
            <ns1:ext cx="66675" cy="2381250"/>
          </ns1:xfrm>
          <ns1:prstGeom prst="rect">
            <ns1:avLst/>
          </ns1:prstGeom>
          <ns1:solidFill>
            <ns1:srgbClr val="FDB515"/>
          </ns1:solidFill>
          <ns1:ln w="0">
            <ns1:noFill/>
          </ns1:ln>
        </ns0:spPr>
      </ns0:sp>
      <ns0:sp>
        <ns0:nvSpPr>
          <ns0:cNvPr id="2" name="">
            <ns1:extLst>
              <ns1:ext uri="{FF2B5EF4-FFF2-40B4-BE49-F238E27FC236}">
                <ns2:creationId id="{BDB52ECF-E0E9-401B-B1D8-65EEB89FB45B}"/>
              </ns1:ext>
            </ns1:extLst>
          </ns0:cNvPr>
          <ns0:cNvSpPr>
            <ns1:spLocks noGrp="1"/>
          </ns0:cNvSpPr>
          <ns0:nvPr/>
        </ns0:nvSpPr>
        <ns0:spPr>
          <ns1:xfrm>
            <ns1:off x="0" y="2381250"/>
            <ns1:ext cx="66675" cy="2762250"/>
          </ns1:xfrm>
          <ns1:prstGeom prst="rect">
            <ns1:avLst/>
          </ns1:prstGeom>
          <ns1:solidFill>
            <ns1:srgbClr val="003262"/>
          </ns1:solidFill>
          <ns1:ln w="0">
            <ns1:noFill/>
          </ns1:ln>
        </ns0:spPr>
      </ns0:sp>
      <ns0:sp>
        <ns0:nvSpPr>
          <ns0:cNvPr id="3" name="">
            <ns1:extLst>
              <ns1:ext uri="{FF2B5EF4-FFF2-40B4-BE49-F238E27FC236}">
                <ns2:creationId id="{2EBE4EFE-9E3F-401C-8660-2CC3C1EEDB04}"/>
              </ns1:ext>
            </ns1:extLst>
          </ns0:cNvPr>
          <ns0:cNvSpPr>
            <ns1:spLocks noGrp="1"/>
          </ns0:cNvSpPr>
          <ns0:nvPr/>
        </ns0:nvSpPr>
        <ns0:spPr>
          <ns1:xfrm>
            <ns1:off x="342900" y="238125"/>
            <ns1:ext cx="8458200" cy="514350"/>
          </ns1:xfrm>
          <ns1:prstGeom prst="rect">
            <ns1:avLst/>
          </ns1:prstGeom>
          <ns1:noFill/>
          <ns1:ln w="0">
            <ns1:noFill/>
          </ns1:ln>
        </ns0:spPr>
        <ns0:txBody>
          <ns1:bodyPr>
            <ns1:noAutofit/>
          </ns1:bodyPr>
          <ns1:lstStyle/>
          <ns1:p>
            <ns1:pPr>
              <ns1:buNone/>
              <ns1:defRPr sz="2175" b="1">
                <ns1:solidFill>
                  <ns1:srgbClr val="003262"/>
                </ns1:solidFill>
                <ns1:latin typeface="Arial"/>
                <ns1:ea typeface="Arial"/>
                <ns1:cs typeface="Arial"/>
              </ns1:defRPr>
            </ns1:pPr>
            <ns1:r>
              <ns1:rPr sz="2175" b="1">
                <ns1:solidFill>
                  <ns1:srgbClr val="003262"/>
                </ns1:solidFill>
                <ns1:latin typeface="Arial"/>
                <ns1:ea typeface="Arial"/>
                <ns1:cs typeface="Arial"/>
              </ns1:rPr>
              <ns1:t>Presentation overview</ns1:t>
            </ns1:r>
          </ns1:p>
        </ns0:txBody>
      </ns0:sp>
      <ns0:sp>
        <ns0:nvSpPr>
          <ns0:cNvPr id="4" name="">
            <ns1:extLst>
              <ns1:ext uri="{FF2B5EF4-FFF2-40B4-BE49-F238E27FC236}">
                <ns2:creationId id="{815A581A-E841-46B9-8044-106CAEBA053B}"/>
              </ns1:ext>
            </ns1:extLst>
          </ns0:cNvPr>
          <ns0:cNvSpPr>
            <ns1:spLocks noGrp="1"/>
          </ns0:cNvSpPr>
          <ns0:nvPr/>
        </ns0:nvSpPr>
        <ns0:spPr>
          <ns1:xfrm>
            <ns1:off x="342900" y="4781550"/>
            <ns1:ext cx="7810500" cy="228600"/>
          </ns1:xfrm>
          <ns1:prstGeom prst="rect">
            <ns1:avLst/>
          </ns1:prstGeom>
          <ns1:noFill/>
          <ns1:ln w="0">
            <ns1:noFill/>
          </ns1:ln>
        </ns0:spPr>
        <ns0:txBody>
          <ns1:bodyPr>
            <ns1:noAutofit/>
          </ns1:bodyPr>
          <ns1:lstStyle/>
          <ns1:p>
            <ns1:pPr>
              <ns1:buNone/>
              <ns1:defRPr sz="900" b="0">
                <ns1:solidFill>
                  <ns1:srgbClr val="5B6770"/>
                </ns1:solidFill>
                <ns1:latin typeface="Arial"/>
                <ns1:ea typeface="Arial"/>
                <ns1:cs typeface="Arial"/>
              </ns1:defRPr>
            </ns1:pPr>
            <ns1:r>
              <ns1:rPr sz="900" b="0">
                <ns1:solidFill>
                  <ns1:srgbClr val="5B6770"/>
                </ns1:solidFill>
                <ns1:latin typeface="Arial"/>
                <ns1:ea typeface="Arial"/>
                <ns1:cs typeface="Arial"/>
              </ns1:rPr>
              <ns1:t>15-minute presentation</ns1:t>
            </ns1:r>
          </ns1:p>
        </ns0:txBody>
      </ns0:sp>
      <ns0:sp>
        <ns0:nvSpPr>
          <ns0:cNvPr id="5" name="">
            <ns1:extLst>
              <ns1:ext uri="{FF2B5EF4-FFF2-40B4-BE49-F238E27FC236}">
                <ns2:creationId id="{6EDB3EE9-E9C5-44FF-8907-70CCFD3811F6}"/>
              </ns1:ext>
            </ns1:extLst>
          </ns0:cNvPr>
          <ns0:cNvSpPr>
            <ns1:spLocks noGrp="1"/>
          </ns0:cNvSpPr>
          <ns0:nvPr/>
        </ns0:nvSpPr>
        <ns0:spPr>
          <ns1:xfrm>
            <ns1:off x="8458200" y="4781550"/>
            <ns1:ext cx="457200" cy="228600"/>
          </ns1:xfrm>
          <ns1:prstGeom prst="rect">
            <ns1:avLst/>
          </ns1:prstGeom>
          <ns1:noFill/>
          <ns1:ln w="0">
            <ns1:noFill/>
          </ns1:ln>
        </ns0:spPr>
        <ns0:txBody>
          <ns1:bodyPr>
            <ns1:noAutofit/>
          </ns1:bodyPr>
          <ns1:lstStyle/>
          <ns1:p>
            <ns1:pPr>
              <ns1:buNone/>
              <ns1:defRPr sz="900" b="0">
                <ns1:solidFill>
                  <ns1:srgbClr val="5B6770"/>
                </ns1:solidFill>
                <ns1:latin typeface="Arial"/>
                <ns1:ea typeface="Arial"/>
                <ns1:cs typeface="Arial"/>
              </ns1:defRPr>
            </ns1:pPr>
            <ns1:r>
              <ns1:rPr sz="900" b="0">
                <ns1:solidFill>
                  <ns1:srgbClr val="5B6770"/>
                </ns1:solidFill>
                <ns1:latin typeface="Arial"/>
                <ns1:ea typeface="Arial"/>
                <ns1:cs typeface="Arial"/>
              </ns1:rPr>
              <ns1:t>2</ns1:t>
            </ns1:r>
          </ns1:p>
        </ns0:txBody>
      </ns0:sp>
      <ns0:sp>
        <ns0:nvSpPr>
          <ns0:cNvPr id="13" name="">
            <ns1:extLst>
              <ns1:ext uri="{FF2B5EF4-FFF2-40B4-BE49-F238E27FC236}">
                <ns2:creationId id="{61872CCB-F385-49C3-BB99-836BA8911FB4}"/>
              </ns1:ext>
            </ns1:extLst>
          </ns0:cNvPr>
          <ns0:cNvSpPr>
            <ns1:spLocks noGrp="1"/>
          </ns0:cNvSpPr>
          <ns0:nvPr/>
        </ns0:nvSpPr>
        <ns0:spPr>
          <ns1:xfrm>
            <ns1:off x="419100" y="981075"/>
            <ns1:ext cx="8286750" cy="342900"/>
          </ns1:xfrm>
          <ns1:prstGeom prst="rect">
            <ns1:avLst/>
          </ns1:prstGeom>
          <ns1:noFill/>
          <ns1:ln w="0">
            <ns1:noFill/>
          </ns1:ln>
        </ns0:spPr>
        <ns0:txBody>
          <ns1:bodyPr>
            <ns1:noAutofit/>
          </ns1:bodyPr>
          <ns1:lstStyle/>
          <ns1:p>
            <ns1:pPr>
              <ns1:buNone/>
              <ns1:defRPr sz="1875" b="0">
                <ns1:solidFill>
                  <ns1:srgbClr val="003262"/>
                </ns1:solidFill>
                <ns1:latin typeface="Arial"/>
                <ns1:ea typeface="Arial"/>
                <ns1:cs typeface="Arial"/>
              </ns1:defRPr>
            </ns1:pPr>
            <ns1:r>
              <ns1:rPr sz="1875" b="0">
                <ns1:solidFill>
                  <ns1:srgbClr val="003262"/>
                </ns1:solidFill>
                <ns1:latin typeface="Arial"/>
                <ns1:ea typeface="Arial"/>
                <ns1:cs typeface="Arial"/>
              </ns1:rPr>
              <ns1:t>1. Main paper</ns1:t>
            </ns1:r>
          </ns1:p>
        </ns0:txBody>
      </ns0:sp>
      <ns0:sp>
        <ns0:nvSpPr>
          <ns0:cNvPr id="14" name="">
            <ns1:extLst>
              <ns1:ext uri="{FF2B5EF4-FFF2-40B4-BE49-F238E27FC236}">
                <ns2:creationId id="{7CA9D290-0D17-4D0A-A3E0-27664A63086A}"/>
              </ns1:ext>
            </ns1:extLst>
          </ns0:cNvPr>
          <ns0:cNvSpPr>
            <ns1:spLocks noGrp="1"/>
          </ns0:cNvSpPr>
          <ns0:nvPr/>
        </ns0:nvSpPr>
        <ns0:spPr>
          <ns1:xfrm>
            <ns1:off x="419100" y="1371600"/>
            <ns1:ext cx="8286750" cy="342900"/>
          </ns1:xfrm>
          <ns1:prstGeom prst="rect">
            <ns1:avLst/>
          </ns1:prstGeom>
          <ns1:noFill/>
          <ns1:ln w="0">
            <ns1:noFill/>
          </ns1:ln>
        </ns0:spPr>
        <ns0:txBody>
          <ns1:bodyPr>
            <ns1:noAutofit/>
          </ns1:bodyPr>
          <ns1:lstStyle/>
          <ns1:p>
            <ns1:pPr>
              <ns1:buNone/>
              <ns1:defRPr sz="1875" b="0">
                <ns1:solidFill>
                  <ns1:srgbClr val="003262"/>
                </ns1:solidFill>
                <ns1:latin typeface="Arial"/>
                <ns1:ea typeface="Arial"/>
                <ns1:cs typeface="Arial"/>
              </ns1:defRPr>
            </ns1:pPr>
            <ns1:r>
              <ns1:rPr sz="1875" b="0">
                <ns1:solidFill>
                  <ns1:srgbClr val="003262"/>
                </ns1:solidFill>
                <ns1:latin typeface="Arial"/>
                <ns1:ea typeface="Arial"/>
                <ns1:cs typeface="Arial"/>
              </ns1:rPr>
              <ns1:t>2. Replication</ns1:t>
            </ns1:r>
          </ns1:p>
        </ns0:txBody>
      </ns0:sp>
      <ns0:sp>
        <ns0:nvSpPr>
          <ns0:cNvPr id="15" name="">
            <ns1:extLst>
              <ns1:ext uri="{FF2B5EF4-FFF2-40B4-BE49-F238E27FC236}">
                <ns2:creationId id="{ED379246-1383-4C99-8F72-8762051F65EF}"/>
              </ns1:ext>
            </ns1:extLst>
          </ns0:cNvPr>
          <ns0:cNvSpPr>
            <ns1:spLocks noGrp="1"/>
          </ns0:cNvSpPr>
          <ns0:nvPr/>
        </ns0:nvSpPr>
        <ns0:spPr>
          <ns1:xfrm>
            <ns1:off x="419100" y="1762125"/>
            <ns1:ext cx="8286750" cy="342900"/>
          </ns1:xfrm>
          <ns1:prstGeom prst="rect">
            <ns1:avLst/>
          </ns1:prstGeom>
          <ns1:noFill/>
          <ns1:ln w="0">
            <ns1:noFill/>
          </ns1:ln>
        </ns0:spPr>
        <ns0:txBody>
          <ns1:bodyPr>
            <ns1:noAutofit/>
          </ns1:bodyPr>
          <ns1:lstStyle/>
          <ns1:p>
            <ns1:pPr>
              <ns1:buNone/>
              <ns1:defRPr sz="1875" b="1">
                <ns1:solidFill>
                  <ns1:srgbClr val="003262"/>
                </ns1:solidFill>
                <ns1:latin typeface="Arial"/>
                <ns1:ea typeface="Arial"/>
                <ns1:cs typeface="Arial"/>
              </ns1:defRPr>
            </ns1:pPr>
            <ns1:r>
              <ns1:rPr sz="1875" b="1">
                <ns1:solidFill>
                  <ns1:srgbClr val="003262"/>
                </ns1:solidFill>
                <ns1:latin typeface="Arial"/>
                <ns1:ea typeface="Arial"/>
                <ns1:cs typeface="Arial"/>
              </ns1:rPr>
              <ns1:t>3. Transformer</ns1:t>
            </ns1:r>
          </ns1:p>
        </ns0:txBody>
      </ns0:sp>
      <ns0:sp>
        <ns0:nvSpPr>
          <ns0:cNvPr id="16" name="">
            <ns1:extLst>
              <ns1:ext uri="{FF2B5EF4-FFF2-40B4-BE49-F238E27FC236}">
                <ns2:creationId id="{70793E91-35E3-408F-8B9A-E58F50BB11E9}"/>
              </ns1:ext>
            </ns1:extLst>
          </ns0:cNvPr>
          <ns0:cNvSpPr>
            <ns1:spLocks noGrp="1"/>
          </ns0:cNvSpPr>
          <ns0:nvPr/>
        </ns0:nvSpPr>
        <ns0:spPr>
          <ns1:xfrm>
            <ns1:off x="419100" y="2152650"/>
            <ns1:ext cx="8286750" cy="342900"/>
          </ns1:xfrm>
          <ns1:prstGeom prst="rect">
            <ns1:avLst/>
          </ns1:prstGeom>
          <ns1:noFill/>
          <ns1:ln w="0">
            <ns1:noFill/>
          </ns1:ln>
        </ns0:spPr>
        <ns0:txBody>
          <ns1:bodyPr>
            <ns1:noAutofit/>
          </ns1:bodyPr>
          <ns1:lstStyle/>
          <ns1:p>
            <ns1:pPr>
              <ns1:buNone/>
              <ns1:defRPr sz="1875" b="1">
                <ns1:solidFill>
                  <ns1:srgbClr val="003262"/>
                </ns1:solidFill>
                <ns1:latin typeface="Arial"/>
                <ns1:ea typeface="Arial"/>
                <ns1:cs typeface="Arial"/>
              </ns1:defRPr>
            </ns1:pPr>
            <ns1:r>
              <ns1:rPr sz="1875" b="1">
                <ns1:solidFill>
                  <ns1:srgbClr val="003262"/>
                </ns1:solidFill>
                <ns1:latin typeface="Arial"/>
                <ns1:ea typeface="Arial"/>
                <ns1:cs typeface="Arial"/>
              </ns1:rPr>
              <ns1:t>4. Rolling windows</ns1:t>
            </ns1:r>
          </ns1:p>
        </ns0:txBody>
      </ns0:sp>
      <ns0:sp>
        <ns0:nvSpPr>
          <ns0:cNvPr id="17" name="">
            <ns1:extLst>
              <ns1:ext uri="{FF2B5EF4-FFF2-40B4-BE49-F238E27FC236}">
                <ns2:creationId id="{3B10CDF6-7AA4-4389-9B95-7DA57B884B2F}"/>
              </ns1:ext>
            </ns1:extLst>
          </ns0:cNvPr>
          <ns0:cNvSpPr>
            <ns1:spLocks noGrp="1"/>
          </ns0:cNvSpPr>
          <ns0:nvPr/>
        </ns0:nvSpPr>
        <ns0:spPr>
          <ns1:xfrm>
            <ns1:off x="419100" y="2543175"/>
            <ns1:ext cx="8286750" cy="342900"/>
          </ns1:xfrm>
          <ns1:prstGeom prst="rect">
            <ns1:avLst/>
          </ns1:prstGeom>
          <ns1:noFill/>
          <ns1:ln w="0">
            <ns1:noFill/>
          </ns1:ln>
        </ns0:spPr>
        <ns0:txBody>
          <ns1:bodyPr>
            <ns1:noAutofit/>
          </ns1:bodyPr>
          <ns1:lstStyle/>
          <ns1:p>
            <ns1:pPr>
              <ns1:buNone/>
              <ns1:defRPr sz="1875" b="1">
                <ns1:solidFill>
                  <ns1:srgbClr val="003262"/>
                </ns1:solidFill>
                <ns1:latin typeface="Arial"/>
                <ns1:ea typeface="Arial"/>
                <ns1:cs typeface="Arial"/>
              </ns1:defRPr>
            </ns1:pPr>
            <ns1:r>
              <ns1:rPr sz="1875" b="1">
                <ns1:solidFill>
                  <ns1:srgbClr val="003262"/>
                </ns1:solidFill>
                <ns1:latin typeface="Arial"/>
                <ns1:ea typeface="Arial"/>
                <ns1:cs typeface="Arial"/>
              </ns1:rPr>
              <ns1:t>5. Regime change</ns1:t>
            </ns1:r>
          </ns1:p>
        </ns0:txBody>
      </ns0:sp>
      <ns0:sp>
        <ns0:nvSpPr>
          <ns0:cNvPr id="18" name="">
            <ns1:extLst>
              <ns1:ext uri="{FF2B5EF4-FFF2-40B4-BE49-F238E27FC236}">
                <ns2:creationId id="{DFDA38ED-53C5-49E1-BABA-729B78BD85FF}"/>
              </ns1:ext>
            </ns1:extLst>
          </ns0:cNvPr>
          <ns0:cNvSpPr>
            <ns1:spLocks noGrp="1"/>
          </ns0:cNvSpPr>
          <ns0:nvPr/>
        </ns0:nvSpPr>
        <ns0:spPr>
          <ns1:xfrm>
            <ns1:off x="419100" y="2933700"/>
            <ns1:ext cx="8286750" cy="342900"/>
          </ns1:xfrm>
          <ns1:prstGeom prst="rect">
            <ns1:avLst/>
          </ns1:prstGeom>
          <ns1:noFill/>
          <ns1:ln w="0">
            <ns1:noFill/>
          </ns1:ln>
        </ns0:spPr>
        <ns0:txBody>
          <ns1:bodyPr>
            <ns1:noAutofit/>
          </ns1:bodyPr>
          <ns1:lstStyle/>
          <ns1:p>
            <ns1:pPr>
              <ns1:buNone/>
              <ns1:defRPr sz="1875" b="1">
                <ns1:solidFill>
                  <ns1:srgbClr val="003262"/>
                </ns1:solidFill>
                <ns1:latin typeface="Arial"/>
                <ns1:ea typeface="Arial"/>
                <ns1:cs typeface="Arial"/>
              </ns1:defRPr>
            </ns1:pPr>
            <ns1:r>
              <ns1:rPr sz="1875" b="1">
                <ns1:solidFill>
                  <ns1:srgbClr val="003262"/>
                </ns1:solidFill>
                <ns1:latin typeface="Arial"/>
                <ns1:ea typeface="Arial"/>
                <ns1:cs typeface="Arial"/>
              </ns1:rPr>
              <ns1:t>6. Uncertainty</ns1:t>
            </ns1:r>
          </ns1:p>
        </ns0:txBody>
      </ns0:sp>
      <ns0:sp>
        <ns0:nvSpPr>
          <ns0:cNvPr id="19" name="">
            <ns1:extLst>
              <ns1:ext uri="{FF2B5EF4-FFF2-40B4-BE49-F238E27FC236}">
                <ns2:creationId id="{411BD56C-9CB6-44BF-BB65-F27E3D2E1995}"/>
              </ns1:ext>
            </ns1:extLst>
          </ns0:cNvPr>
          <ns0:cNvSpPr>
            <ns1:spLocks noGrp="1"/>
          </ns0:cNvSpPr>
          <ns0:nvPr/>
        </ns0:nvSpPr>
        <ns0:spPr>
          <ns1:xfrm>
            <ns1:off x="419100" y="3324225"/>
            <ns1:ext cx="8286750" cy="342900"/>
          </ns1:xfrm>
          <ns1:prstGeom prst="rect">
            <ns1:avLst/>
          </ns1:prstGeom>
          <ns1:noFill/>
          <ns1:ln w="0">
            <ns1:noFill/>
          </ns1:ln>
        </ns0:spPr>
        <ns0:txBody>
          <ns1:bodyPr>
            <ns1:noAutofit/>
          </ns1:bodyPr>
          <ns1:lstStyle/>
          <ns1:p>
            <ns1:pPr>
              <ns1:buNone/>
              <ns1:defRPr sz="1875" b="0">
                <ns1:solidFill>
                  <ns1:srgbClr val="003262"/>
                </ns1:solidFill>
                <ns1:latin typeface="Arial"/>
                <ns1:ea typeface="Arial"/>
                <ns1:cs typeface="Arial"/>
              </ns1:defRPr>
            </ns1:pPr>
            <ns1:r>
              <ns1:rPr sz="1875" b="0">
                <ns1:solidFill>
                  <ns1:srgbClr val="003262"/>
                </ns1:solidFill>
                <ns1:latin typeface="Arial"/>
                <ns1:ea typeface="Arial"/>
                <ns1:cs typeface="Arial"/>
              </ns1:rPr>
              <ns1:t>7. Combination</ns1:t>
            </ns1:r>
          </ns1:p>
        </ns0:txBody>
      </ns0:sp>
      <ns0:sp>
        <ns0:nvSpPr>
          <ns0:cNvPr id="20" name="">
            <ns1:extLst>
              <ns1:ext uri="{FF2B5EF4-FFF2-40B4-BE49-F238E27FC236}">
                <ns2:creationId id="{7D78D46F-6855-49A8-A7ED-1FF50B26BB81}"/>
              </ns1:ext>
            </ns1:extLst>
          </ns0:cNvPr>
          <ns0:cNvSpPr>
            <ns1:spLocks noGrp="1"/>
          </ns0:cNvSpPr>
          <ns0:nvPr/>
        </ns0:nvSpPr>
        <ns0:spPr>
          <ns1:xfrm>
            <ns1:off x="419100" y="3714750"/>
            <ns1:ext cx="8286750" cy="342900"/>
          </ns1:xfrm>
          <ns1:prstGeom prst="rect">
            <ns1:avLst/>
          </ns1:prstGeom>
          <ns1:noFill/>
          <ns1:ln w="0">
            <ns1:noFill/>
          </ns1:ln>
        </ns0:spPr>
        <ns0:txBody>
          <ns1:bodyPr>
            <ns1:noAutofit/>
          </ns1:bodyPr>
          <ns1:lstStyle/>
          <ns1:p>
            <ns1:pPr>
              <ns1:buNone/>
              <ns1:defRPr sz="1875" b="0">
                <ns1:solidFill>
                  <ns1:srgbClr val="003262"/>
                </ns1:solidFill>
                <ns1:latin typeface="Arial"/>
                <ns1:ea typeface="Arial"/>
                <ns1:cs typeface="Arial"/>
              </ns1:defRPr>
            </ns1:pPr>
            <ns1:r>
              <ns1:rPr sz="1875" b="0">
                <ns1:solidFill>
                  <ns1:srgbClr val="003262"/>
                </ns1:solidFill>
                <ns1:latin typeface="Arial"/>
                <ns1:ea typeface="Arial"/>
                <ns1:cs typeface="Arial"/>
              </ns1:rPr>
              <ns1:t>8. Summary</ns1:t>
            </ns1:r>
          </ns1:p>
        </ns0:txBody>
      </ns0:sp>
      <ns0:sp>
        <ns0:nvSpPr>
          <ns0:cNvPr id="21" name="">
            <ns1:extLst>
              <ns1:ext uri="{FF2B5EF4-FFF2-40B4-BE49-F238E27FC236}">
                <ns2:creationId id="{60184AF2-CAE6-43A6-8292-02A626BDCC5C}"/>
              </ns1:ext>
            </ns1:extLst>
          </ns0:cNvPr>
          <ns0:cNvSpPr>
            <ns1:spLocks noGrp="1"/>
          </ns0:cNvSpPr>
          <ns0:nvPr/>
        </ns0:nvSpPr>
        <ns0:spPr>
          <ns1:xfrm>
            <ns1:off x="419100" y="4257675"/>
            <ns1:ext cx="8286750" cy="457200"/>
          </ns1:xfrm>
          <ns1:prstGeom prst="rect">
            <ns1:avLst/>
          </ns1:prstGeom>
          <ns1:noFill/>
          <ns1:ln w="0">
            <ns1:noFill/>
          </ns1:ln>
        </ns0:spPr>
        <ns0:txBody>
          <ns1:bodyPr>
            <ns1:noAutofit/>
          </ns1:bodyPr>
          <ns1:lstStyle/>
          <ns1:p>
            <ns1:pPr marL="152400" indent="-88900">
              <ns1:spcAft>
                <ns1:spcPts val="200"/>
              </ns1:spcAft>
              <ns1:buChar char="•"/>
              <ns1:defRPr sz="1275" b="1">
                <ns1:solidFill>
                  <ns1:srgbClr val="003262"/>
                </ns1:solidFill>
                <ns1:latin typeface="Arial"/>
                <ns1:ea typeface="Arial"/>
                <ns1:cs typeface="Arial"/>
              </ns1:defRPr>
            </ns1:pPr>
            <ns1:r>
              <ns1:rPr sz="1275" b="1">
                <ns1:solidFill>
                  <ns1:srgbClr val="003262"/>
                </ns1:solidFill>
                <ns1:latin typeface="Arial"/>
                <ns1:ea typeface="Arial"/>
                <ns1:cs typeface="Arial"/>
              </ns1:rPr>
              <ns1:t>Establish the published paper and replication benchmarks.</ns1:t>
            </ns1:r>
          </ns1:p>
          <ns1:p>
            <ns1:pPr marL="152400" indent="-88900">
              <ns1:spcAft>
                <ns1:spcPts val="200"/>
              </ns1:spcAft>
              <ns1:buChar char="•"/>
              <ns1:defRPr sz="1275" b="1">
                <ns1:solidFill>
                  <ns1:srgbClr val="003262"/>
                </ns1:solidFill>
                <ns1:latin typeface="Arial"/>
                <ns1:ea typeface="Arial"/>
                <ns1:cs typeface="Arial"/>
              </ns1:defRPr>
            </ns1:pPr>
            <ns1:r>
              <ns1:rPr sz="1275" b="1">
                <ns1:solidFill>
                  <ns1:srgbClr val="003262"/>
                </ns1:solidFill>
                <ns1:latin typeface="Arial"/>
                <ns1:ea typeface="Arial"/>
                <ns1:cs typeface="Arial"/>
              </ns1:rPr>
              <ns1:t>Evaluate four extensions, then compare combined results.</ns1:t>
            </ns1:r>
          </ns1:p>
        </ns0:txBody>
      </ns0:sp>
    </ns0:spTree>
    <ns0:extLst>
      <ns0:ext uri="{BB962C8B-B14F-4D97-AF65-F5344CB8AC3E}">
        <ns3:creationId val="355781408"/>
      </ns0:ext>
    </ns0:extLst>
  </ns0:cSld>
</ns0:sld>
</file>

<file path=ppt/slides/slide3.xml><?xml version="1.0" encoding="utf-8"?>
<ns0:sld xmlns:ns0="http://schemas.openxmlformats.org/presentationml/2006/main" xmlns:ns1="http://schemas.openxmlformats.org/drawingml/2006/main" xmlns:ns2="http://schemas.microsoft.com/office/drawing/2014/main" xmlns:ns3="http://schemas.microsoft.com/office/powerpoint/2010/main">
  <ns0:cSld>
    <ns0:bg>
      <ns0:bgPr>
        <ns1:solidFill>
          <ns1:srgbClr val="FFFFFF"/>
        </ns1:solidFill>
      </ns0:bgPr>
    </ns0:bg>
    <ns0:spTree>
      <ns0:nvGrpSpPr>
        <ns0:cNvPr id="1" name=""/>
        <ns0:cNvGrpSpPr/>
        <ns0:nvPr/>
      </ns0:nvGrpSpPr>
      <ns0:grpSpPr>
        <ns1:xfrm/>
      </ns0:grpSpPr>
      <ns0:sp>
        <ns0:nvSpPr>
          <ns0:cNvPr id="8" name="">
            <ns1:extLst>
              <ns1:ext uri="{FF2B5EF4-FFF2-40B4-BE49-F238E27FC236}">
                <ns2:creationId id="{6D19653F-3B5A-47D0-B2D7-8355BF53C991}"/>
              </ns1:ext>
            </ns1:extLst>
          </ns0:cNvPr>
          <ns0:cNvSpPr>
            <ns1:spLocks noGrp="1"/>
          </ns0:cNvSpPr>
          <ns0:nvPr/>
        </ns0:nvSpPr>
        <ns0:spPr>
          <ns1:xfrm>
            <ns1:off x="0" y="0"/>
            <ns1:ext cx="66675" cy="2381250"/>
          </ns1:xfrm>
          <ns1:prstGeom prst="rect">
            <ns1:avLst/>
          </ns1:prstGeom>
          <ns1:solidFill>
            <ns1:srgbClr val="FDB515"/>
          </ns1:solidFill>
          <ns1:ln w="0">
            <ns1:noFill/>
          </ns1:ln>
        </ns0:spPr>
      </ns0:sp>
      <ns0:sp>
        <ns0:nvSpPr>
          <ns0:cNvPr id="2" name="">
            <ns1:extLst>
              <ns1:ext uri="{FF2B5EF4-FFF2-40B4-BE49-F238E27FC236}">
                <ns2:creationId id="{71600C88-6EE6-4DE8-B6F7-A059329EB01A}"/>
              </ns1:ext>
            </ns1:extLst>
          </ns0:cNvPr>
          <ns0:cNvSpPr>
            <ns1:spLocks noGrp="1"/>
          </ns0:cNvSpPr>
          <ns0:nvPr/>
        </ns0:nvSpPr>
        <ns0:spPr>
          <ns1:xfrm>
            <ns1:off x="0" y="2381250"/>
            <ns1:ext cx="66675" cy="2762250"/>
          </ns1:xfrm>
          <ns1:prstGeom prst="rect">
            <ns1:avLst/>
          </ns1:prstGeom>
          <ns1:solidFill>
            <ns1:srgbClr val="003262"/>
          </ns1:solidFill>
          <ns1:ln w="0">
            <ns1:noFill/>
          </ns1:ln>
        </ns0:spPr>
      </ns0:sp>
      <ns0:sp>
        <ns0:nvSpPr>
          <ns0:cNvPr id="3" name="">
            <ns1:extLst>
              <ns1:ext uri="{FF2B5EF4-FFF2-40B4-BE49-F238E27FC236}">
                <ns2:creationId id="{B55B9CED-0996-46C0-AD6F-C37867C6D868}"/>
              </ns1:ext>
            </ns1:extLst>
          </ns0:cNvPr>
          <ns0:cNvSpPr>
            <ns1:spLocks noGrp="1"/>
          </ns0:cNvSpPr>
          <ns0:nvPr/>
        </ns0:nvSpPr>
        <ns0:spPr>
          <ns1:xfrm>
            <ns1:off x="342900" y="238125"/>
            <ns1:ext cx="8458200" cy="514350"/>
          </ns1:xfrm>
          <ns1:prstGeom prst="rect">
            <ns1:avLst/>
          </ns1:prstGeom>
          <ns1:noFill/>
          <ns1:ln w="0">
            <ns1:noFill/>
          </ns1:ln>
        </ns0:spPr>
        <ns0:txBody>
          <ns1:bodyPr>
            <ns1:noAutofit/>
          </ns1:bodyPr>
          <ns1:lstStyle/>
          <ns1:p>
            <ns1:pPr>
              <ns1:buNone/>
              <ns1:defRPr sz="2175" b="1">
                <ns1:solidFill>
                  <ns1:srgbClr val="003262"/>
                </ns1:solidFill>
                <ns1:latin typeface="Arial"/>
                <ns1:ea typeface="Arial"/>
                <ns1:cs typeface="Arial"/>
              </ns1:defRPr>
            </ns1:pPr>
            <ns1:r>
              <ns1:rPr sz="2175" b="1">
                <ns1:solidFill>
                  <ns1:srgbClr val="003262"/>
                </ns1:solidFill>
                <ns1:latin typeface="Arial"/>
                <ns1:ea typeface="Arial"/>
                <ns1:cs typeface="Arial"/>
              </ns1:rPr>
              <ns1:t>Main paper: model architecture and data</ns1:t>
            </ns1:r>
          </ns1:p>
        </ns0:txBody>
      </ns0:sp>
      <ns0:sp>
        <ns0:nvSpPr>
          <ns0:cNvPr id="4" name="">
            <ns1:extLst>
              <ns1:ext uri="{FF2B5EF4-FFF2-40B4-BE49-F238E27FC236}">
                <ns2:creationId id="{EE670733-DBC5-4AEC-8017-BF150C2A5AA1}"/>
              </ns1:ext>
            </ns1:extLst>
          </ns0:cNvPr>
          <ns0:cNvSpPr>
            <ns1:spLocks noGrp="1"/>
          </ns0:cNvSpPr>
          <ns0:nvPr/>
        </ns0:nvSpPr>
        <ns0:spPr>
          <ns1:xfrm>
            <ns1:off x="342900" y="4781550"/>
            <ns1:ext cx="7810500" cy="228600"/>
          </ns1:xfrm>
          <ns1:prstGeom prst="rect">
            <ns1:avLst/>
          </ns1:prstGeom>
          <ns1:noFill/>
          <ns1:ln w="0">
            <ns1:noFill/>
          </ns1:ln>
        </ns0:spPr>
        <ns0:txBody>
          <ns1:bodyPr>
            <ns1:noAutofit/>
          </ns1:bodyPr>
          <ns1:lstStyle/>
          <ns1:p>
            <ns1:pPr>
              <ns1:buNone/>
              <ns1:defRPr sz="900" b="0">
                <ns1:solidFill>
                  <ns1:srgbClr val="5B6770"/>
                </ns1:solidFill>
                <ns1:latin typeface="Arial"/>
                <ns1:ea typeface="Arial"/>
                <ns1:cs typeface="Arial"/>
              </ns1:defRPr>
            </ns1:pPr>
            <ns1:r>
              <ns1:rPr sz="900" b="0">
                <ns1:solidFill>
                  <ns1:srgbClr val="5B6770"/>
                </ns1:solidFill>
                <ns1:latin typeface="Arial"/>
                <ns1:ea typeface="Arial"/>
                <ns1:cs typeface="Arial"/>
              </ns1:rPr>
              <ns1:t>Part 1. Main paper</ns1:t>
            </ns1:r>
          </ns1:p>
        </ns0:txBody>
      </ns0:sp>
      <ns0:sp>
        <ns0:nvSpPr>
          <ns0:cNvPr id="5" name="">
            <ns1:extLst>
              <ns1:ext uri="{FF2B5EF4-FFF2-40B4-BE49-F238E27FC236}">
                <ns2:creationId id="{AD17B70D-D8E3-4FD1-9512-A52F64769393}"/>
              </ns1:ext>
            </ns1:extLst>
          </ns0:cNvPr>
          <ns0:cNvSpPr>
            <ns1:spLocks noGrp="1"/>
          </ns0:cNvSpPr>
          <ns0:nvPr/>
        </ns0:nvSpPr>
        <ns0:spPr>
          <ns1:xfrm>
            <ns1:off x="8458200" y="4781550"/>
            <ns1:ext cx="457200" cy="228600"/>
          </ns1:xfrm>
          <ns1:prstGeom prst="rect">
            <ns1:avLst/>
          </ns1:prstGeom>
          <ns1:noFill/>
          <ns1:ln w="0">
            <ns1:noFill/>
          </ns1:ln>
        </ns0:spPr>
        <ns0:txBody>
          <ns1:bodyPr>
            <ns1:noAutofit/>
          </ns1:bodyPr>
          <ns1:lstStyle/>
          <ns1:p>
            <ns1:pPr>
              <ns1:buNone/>
              <ns1:defRPr sz="900" b="0">
                <ns1:solidFill>
                  <ns1:srgbClr val="5B6770"/>
                </ns1:solidFill>
                <ns1:latin typeface="Arial"/>
                <ns1:ea typeface="Arial"/>
                <ns1:cs typeface="Arial"/>
              </ns1:defRPr>
            </ns1:pPr>
            <ns1:r>
              <ns1:rPr sz="900" b="0">
                <ns1:solidFill>
                  <ns1:srgbClr val="5B6770"/>
                </ns1:solidFill>
                <ns1:latin typeface="Arial"/>
                <ns1:ea typeface="Arial"/>
                <ns1:cs typeface="Arial"/>
              </ns1:rPr>
              <ns1:t>3</ns1:t>
            </ns1:r>
          </ns1:p>
        </ns0:txBody>
      </ns0:sp>
      <ns0:graphicFrame>
        <ns0:nvGraphicFramePr>
          <ns0:cNvPr id="19" name=""/>
          <ns0:cNvGraphicFramePr/>
          <ns0:nvPr/>
        </ns0:nvGraphicFramePr>
        <ns0:xfrm>
          <ns1:off x="400050" y="1019175"/>
          <ns1:ext cx="8343900" cy="2857500"/>
        </ns0:xfrm>
        <ns1:graphic>
          <ns1:graphicData uri="http://schemas.openxmlformats.org/drawingml/2006/table">
            <ns1:tbl>
              <ns1:tblPr/>
              <ns1:tblGrid>
                <ns1:gridCol w="2476500"/>
                <ns1:gridCol w="2933700"/>
                <ns1:gridCol w="2933700"/>
              </ns1:tblGrid>
              <ns1:tr h="571500">
                <ns1:tc>
                  <ns1:txBody>
                    <ns1:bodyPr/>
                    <ns1:lstStyle/>
                    <ns1:p>
                      <ns1:r>
                        <ns1:rPr sz="1350" b="1">
                          <ns1:solidFill>
                            <ns1:srgbClr val="FFFFFF"/>
                          </ns1:solidFill>
                          <ns1:latin typeface="Arial"/>
                          <ns1:ea typeface="Arial"/>
                          <ns1:cs typeface="Arial"/>
                        </ns1:rPr>
                        <ns1:t>Component</ns1:t>
                      </ns1:r>
                    </ns1:p>
                  </ns1:txBody>
                  <ns1:tcPr marL="91440" marR="91440" marT="45720" marB="45720">
                    <ns1:solidFill>
                      <ns1:srgbClr val="003262"/>
                    </ns1:solidFill>
                  </ns1:tcPr>
                </ns1:tc>
                <ns1:tc>
                  <ns1:txBody>
                    <ns1:bodyPr/>
                    <ns1:lstStyle/>
                    <ns1:p>
                      <ns1:r>
                        <ns1:rPr sz="1350" b="1">
                          <ns1:solidFill>
                            <ns1:srgbClr val="FFFFFF"/>
                          </ns1:solidFill>
                          <ns1:latin typeface="Arial"/>
                          <ns1:ea typeface="Arial"/>
                          <ns1:cs typeface="Arial"/>
                        </ns1:rPr>
                        <ns1:t>Input and role</ns1:t>
                      </ns1:r>
                    </ns1:p>
                  </ns1:txBody>
                  <ns1:tcPr marL="91440" marR="91440" marT="45720" marB="45720">
                    <ns1:solidFill>
                      <ns1:srgbClr val="003262"/>
                    </ns1:solidFill>
                  </ns1:tcPr>
                </ns1:tc>
                <ns1:tc>
                  <ns1:txBody>
                    <ns1:bodyPr/>
                    <ns1:lstStyle/>
                    <ns1:p>
                      <ns1:r>
                        <ns1:rPr sz="1350" b="1">
                          <ns1:solidFill>
                            <ns1:srgbClr val="FFFFFF"/>
                          </ns1:solidFill>
                          <ns1:latin typeface="Arial"/>
                          <ns1:ea typeface="Arial"/>
                          <ns1:cs typeface="Arial"/>
                        </ns1:rPr>
                        <ns1:t>Output</ns1:t>
                      </ns1:r>
                    </ns1:p>
                  </ns1:txBody>
                  <ns1:tcPr marL="91440" marR="91440" marT="45720" marB="45720">
                    <ns1:solidFill>
                      <ns1:srgbClr val="003262"/>
                    </ns1:solidFill>
                  </ns1:tcPr>
                </ns1:tc>
              </ns1:tr>
              <ns1:tr h="571500">
                <ns1:tc>
                  <ns1:txBody>
                    <ns1:bodyPr/>
                    <ns1:lstStyle/>
                    <ns1:p>
                      <ns1:r>
                        <ns1:rPr sz="1425" b="0">
                          <ns1:solidFill>
                            <ns1:srgbClr val="1F2A37"/>
                          </ns1:solidFill>
                          <ns1:latin typeface="Arial"/>
                          <ns1:ea typeface="Arial"/>
                          <ns1:cs typeface="Arial"/>
                        </ns1:rPr>
                        <ns1:t>Macro SDF encoder</ns1:t>
                      </ns1:r>
                    </ns1:p>
                  </ns1:txBody>
                  <ns1:tcPr marL="91440" marR="91440" marT="45720" marB="45720">
                    <ns1:solidFill>
                      <ns1:srgbClr val="EEF3F8"/>
                    </ns1:solidFill>
                  </ns1:tcPr>
                </ns1:tc>
                <ns1:tc>
                  <ns1:txBody>
                    <ns1:bodyPr/>
                    <ns1:lstStyle/>
                    <ns1:p>
                      <ns1:r>
                        <ns1:rPr sz="1425" b="0">
                          <ns1:solidFill>
                            <ns1:srgbClr val="1F2A37"/>
                          </ns1:solidFill>
                          <ns1:latin typeface="Arial"/>
                          <ns1:ea typeface="Arial"/>
                          <ns1:cs typeface="Arial"/>
                        </ns1:rPr>
                        <ns1:t>178 macro series, LSTM</ns1:t>
                      </ns1:r>
                    </ns1:p>
                  </ns1:txBody>
                  <ns1:tcPr marL="91440" marR="91440" marT="45720" marB="45720">
                    <ns1:solidFill>
                      <ns1:srgbClr val="EEF3F8"/>
                    </ns1:solidFill>
                  </ns1:tcPr>
                </ns1:tc>
                <ns1:tc>
                  <ns1:txBody>
                    <ns1:bodyPr/>
                    <ns1:lstStyle/>
                    <ns1:p>
                      <ns1:r>
                        <ns1:rPr sz="1425" b="0">
                          <ns1:solidFill>
                            <ns1:srgbClr val="1F2A37"/>
                          </ns1:solidFill>
                          <ns1:latin typeface="Arial"/>
                          <ns1:ea typeface="Arial"/>
                          <ns1:cs typeface="Arial"/>
                        </ns1:rPr>
                        <ns1:t>4 states</ns1:t>
                      </ns1:r>
                    </ns1:p>
                  </ns1:txBody>
                  <ns1:tcPr marL="91440" marR="91440" marT="45720" marB="45720">
                    <ns1:solidFill>
                      <ns1:srgbClr val="EEF3F8"/>
                    </ns1:solidFill>
                  </ns1:tcPr>
                </ns1:tc>
              </ns1:tr>
              <ns1:tr h="571500">
                <ns1:tc>
                  <ns1:txBody>
                    <ns1:bodyPr/>
                    <ns1:lstStyle/>
                    <ns1:p>
                      <ns1:r>
                        <ns1:rPr sz="1425" b="0">
                          <ns1:solidFill>
                            <ns1:srgbClr val="1F2A37"/>
                          </ns1:solidFill>
                          <ns1:latin typeface="Arial"/>
                          <ns1:ea typeface="Arial"/>
                          <ns1:cs typeface="Arial"/>
                        </ns1:rPr>
                        <ns1:t>Pricing-weight network</ns1:t>
                      </ns1:r>
                    </ns1:p>
                  </ns1:txBody>
                  <ns1:tcPr marL="91440" marR="91440" marT="45720" marB="45720">
                    <ns1:solidFill>
                      <ns1:srgbClr val="FFFFFF"/>
                    </ns1:solidFill>
                  </ns1:tcPr>
                </ns1:tc>
                <ns1:tc>
                  <ns1:txBody>
                    <ns1:bodyPr/>
                    <ns1:lstStyle/>
                    <ns1:p>
                      <ns1:r>
                        <ns1:rPr sz="1425" b="0">
                          <ns1:solidFill>
                            <ns1:srgbClr val="1F2A37"/>
                          </ns1:solidFill>
                          <ns1:latin typeface="Arial"/>
                          <ns1:ea typeface="Arial"/>
                          <ns1:cs typeface="Arial"/>
                        </ns1:rPr>
                        <ns1:t>46 characteristics + states</ns1:t>
                      </ns1:r>
                    </ns1:p>
                  </ns1:txBody>
                  <ns1:tcPr marL="91440" marR="91440" marT="45720" marB="45720">
                    <ns1:solidFill>
                      <ns1:srgbClr val="FFFFFF"/>
                    </ns1:solidFill>
                  </ns1:tcPr>
                </ns1:tc>
                <ns1:tc>
                  <ns1:txBody>
                    <ns1:bodyPr/>
                    <ns1:lstStyle/>
                    <ns1:p>
                      <ns1:r>
                        <ns1:rPr sz="1425" b="0">
                          <ns1:solidFill>
                            <ns1:srgbClr val="1F2A37"/>
                          </ns1:solidFill>
                          <ns1:latin typeface="Arial"/>
                          <ns1:ea typeface="Arial"/>
                          <ns1:cs typeface="Arial"/>
                        </ns1:rPr>
                        <ns1:t>Two layers of 64 units</ns1:t>
                      </ns1:r>
                    </ns1:p>
                  </ns1:txBody>
                  <ns1:tcPr marL="91440" marR="91440" marT="45720" marB="45720">
                    <ns1:solidFill>
                      <ns1:srgbClr val="FFFFFF"/>
                    </ns1:solidFill>
                  </ns1:tcPr>
                </ns1:tc>
              </ns1:tr>
              <ns1:tr h="571500">
                <ns1:tc>
                  <ns1:txBody>
                    <ns1:bodyPr/>
                    <ns1:lstStyle/>
                    <ns1:p>
                      <ns1:r>
                        <ns1:rPr sz="1425" b="0">
                          <ns1:solidFill>
                            <ns1:srgbClr val="1F2A37"/>
                          </ns1:solidFill>
                          <ns1:latin typeface="Arial"/>
                          <ns1:ea typeface="Arial"/>
                          <ns1:cs typeface="Arial"/>
                        </ns1:rPr>
                        <ns1:t>Macro instrument encoder</ns1:t>
                      </ns1:r>
                    </ns1:p>
                  </ns1:txBody>
                  <ns1:tcPr marL="91440" marR="91440" marT="45720" marB="45720">
                    <ns1:solidFill>
                      <ns1:srgbClr val="EEF3F8"/>
                    </ns1:solidFill>
                  </ns1:tcPr>
                </ns1:tc>
                <ns1:tc>
                  <ns1:txBody>
                    <ns1:bodyPr/>
                    <ns1:lstStyle/>
                    <ns1:p>
                      <ns1:r>
                        <ns1:rPr sz="1425" b="0">
                          <ns1:solidFill>
                            <ns1:srgbClr val="1F2A37"/>
                          </ns1:solidFill>
                          <ns1:latin typeface="Arial"/>
                          <ns1:ea typeface="Arial"/>
                          <ns1:cs typeface="Arial"/>
                        </ns1:rPr>
                        <ns1:t>178 macro series, LSTM</ns1:t>
                      </ns1:r>
                    </ns1:p>
                  </ns1:txBody>
                  <ns1:tcPr marL="91440" marR="91440" marT="45720" marB="45720">
                    <ns1:solidFill>
                      <ns1:srgbClr val="EEF3F8"/>
                    </ns1:solidFill>
                  </ns1:tcPr>
                </ns1:tc>
                <ns1:tc>
                  <ns1:txBody>
                    <ns1:bodyPr/>
                    <ns1:lstStyle/>
                    <ns1:p>
                      <ns1:r>
                        <ns1:rPr sz="1425" b="0">
                          <ns1:solidFill>
                            <ns1:srgbClr val="1F2A37"/>
                          </ns1:solidFill>
                          <ns1:latin typeface="Arial"/>
                          <ns1:ea typeface="Arial"/>
                          <ns1:cs typeface="Arial"/>
                        </ns1:rPr>
                        <ns1:t>32 states</ns1:t>
                      </ns1:r>
                    </ns1:p>
                  </ns1:txBody>
                  <ns1:tcPr marL="91440" marR="91440" marT="45720" marB="45720">
                    <ns1:solidFill>
                      <ns1:srgbClr val="EEF3F8"/>
                    </ns1:solidFill>
                  </ns1:tcPr>
                </ns1:tc>
              </ns1:tr>
              <ns1:tr h="571500">
                <ns1:tc>
                  <ns1:txBody>
                    <ns1:bodyPr/>
                    <ns1:lstStyle/>
                    <ns1:p>
                      <ns1:r>
                        <ns1:rPr sz="1425" b="0">
                          <ns1:solidFill>
                            <ns1:srgbClr val="1F2A37"/>
                          </ns1:solidFill>
                          <ns1:latin typeface="Arial"/>
                          <ns1:ea typeface="Arial"/>
                          <ns1:cs typeface="Arial"/>
                        </ns1:rPr>
                        <ns1:t>Conditional network</ns1:t>
                      </ns1:r>
                    </ns1:p>
                  </ns1:txBody>
                  <ns1:tcPr marL="91440" marR="91440" marT="45720" marB="45720">
                    <ns1:solidFill>
                      <ns1:srgbClr val="FFFFFF"/>
                    </ns1:solidFill>
                  </ns1:tcPr>
                </ns1:tc>
                <ns1:tc>
                  <ns1:txBody>
                    <ns1:bodyPr/>
                    <ns1:lstStyle/>
                    <ns1:p>
                      <ns1:r>
                        <ns1:rPr sz="1425" b="0">
                          <ns1:solidFill>
                            <ns1:srgbClr val="1F2A37"/>
                          </ns1:solidFill>
                          <ns1:latin typeface="Arial"/>
                          <ns1:ea typeface="Arial"/>
                          <ns1:cs typeface="Arial"/>
                        </ns1:rPr>
                        <ns1:t>Characteristics + states</ns1:t>
                      </ns1:r>
                    </ns1:p>
                  </ns1:txBody>
                  <ns1:tcPr marL="91440" marR="91440" marT="45720" marB="45720">
                    <ns1:solidFill>
                      <ns1:srgbClr val="FFFFFF"/>
                    </ns1:solidFill>
                  </ns1:tcPr>
                </ns1:tc>
                <ns1:tc>
                  <ns1:txBody>
                    <ns1:bodyPr/>
                    <ns1:lstStyle/>
                    <ns1:p>
                      <ns1:r>
                        <ns1:rPr sz="1425" b="0">
                          <ns1:solidFill>
                            <ns1:srgbClr val="1F2A37"/>
                          </ns1:solidFill>
                          <ns1:latin typeface="Arial"/>
                          <ns1:ea typeface="Arial"/>
                          <ns1:cs typeface="Arial"/>
                        </ns1:rPr>
                        <ns1:t>8 bounded instruments</ns1:t>
                      </ns1:r>
                    </ns1:p>
                  </ns1:txBody>
                  <ns1:tcPr marL="91440" marR="91440" marT="45720" marB="45720">
                    <ns1:solidFill>
                      <ns1:srgbClr val="FFFFFF"/>
                    </ns1:solidFill>
                  </ns1:tcPr>
                </ns1:tc>
              </ns1:tr>
            </ns1:tbl>
          </ns1:graphicData>
        </ns1:graphic>
      </ns0:graphicFrame>
      <ns0:sp>
        <ns0:nvSpPr>
          <ns0:cNvPr id="10" name="">
            <ns1:extLst>
              <ns1:ext uri="{FF2B5EF4-FFF2-40B4-BE49-F238E27FC236}">
                <ns2:creationId id="{549E0823-13F8-46EA-9053-08FEB3CE12C3}"/>
              </ns1:ext>
            </ns1:extLst>
          </ns0:cNvPr>
          <ns0:cNvSpPr>
            <ns1:spLocks noGrp="1"/>
          </ns0:cNvSpPr>
          <ns0:nvPr/>
        </ns0:nvSpPr>
        <ns0:spPr>
          <ns1:xfrm>
            <ns1:off x="419100" y="781050"/>
            <ns1:ext cx="8286750" cy="209550"/>
          </ns1:xfrm>
          <ns1:prstGeom prst="rect">
            <ns1:avLst/>
          </ns1:prstGeom>
          <ns1:noFill/>
          <ns1:ln w="0">
            <ns1:noFill/>
          </ns1:ln>
        </ns0:spPr>
        <ns0:txBody>
          <ns1:bodyPr>
            <ns1:noAutofit/>
          </ns1:bodyPr>
          <ns1:lstStyle/>
          <ns1:p>
            <ns1:pPr>
              <ns1:buNone/>
              <ns1:defRPr sz="1275" b="0">
                <ns1:solidFill>
                  <ns1:srgbClr val="1F2A37"/>
                </ns1:solidFill>
                <ns1:latin typeface="Arial"/>
                <ns1:ea typeface="Arial"/>
                <ns1:cs typeface="Arial"/>
              </ns1:defRPr>
            </ns1:pPr>
            <ns1:r>
              <ns1:rPr sz="1275" b="0">
                <ns1:solidFill>
                  <ns1:srgbClr val="1F2A37"/>
                </ns1:solidFill>
                <ns1:latin typeface="Arial"/>
                <ns1:ea typeface="Arial"/>
                <ns1:cs typeface="Arial"/>
              </ns1:rPr>
              <ns1:t>Goal: learn a stochastic discount factor through conditional pricing moments.</ns1:t>
            </ns1:r>
          </ns1:p>
        </ns0:txBody>
      </ns0:sp>
      <ns0:sp>
        <ns0:nvSpPr>
          <ns0:cNvPr id="12" name="">
            <ns1:extLst>
              <ns1:ext uri="{FF2B5EF4-FFF2-40B4-BE49-F238E27FC236}">
                <ns2:creationId id="{D0CD2774-67DF-44C3-BAEF-1EB247BE1153}"/>
              </ns1:ext>
            </ns1:extLst>
          </ns0:cNvPr>
          <ns0:cNvSpPr>
            <ns1:spLocks noGrp="1"/>
          </ns0:cNvSpPr>
          <ns0:nvPr/>
        </ns0:nvSpPr>
        <ns0:spPr>
          <ns1:xfrm>
            <ns1:off x="419100" y="4257675"/>
            <ns1:ext cx="8286750" cy="457200"/>
          </ns1:xfrm>
          <ns1:prstGeom prst="rect">
            <ns1:avLst/>
          </ns1:prstGeom>
          <ns1:noFill/>
          <ns1:ln w="0">
            <ns1:noFill/>
          </ns1:ln>
        </ns0:spPr>
        <ns0:txBody>
          <ns1:bodyPr>
            <ns1:noAutofit/>
          </ns1:bodyPr>
          <ns1:lstStyle/>
          <ns1:p>
            <ns1:pPr marL="152400" indent="-88900">
              <ns1:spcAft>
                <ns1:spcPts val="200"/>
              </ns1:spcAft>
              <ns1:buChar char="•"/>
              <ns1:defRPr sz="1275" b="1">
                <ns1:solidFill>
                  <ns1:srgbClr val="003262"/>
                </ns1:solidFill>
                <ns1:latin typeface="Arial"/>
                <ns1:ea typeface="Arial"/>
                <ns1:cs typeface="Arial"/>
              </ns1:defRPr>
            </ns1:pPr>
            <ns1:r>
              <ns1:rPr sz="1275" b="1">
                <ns1:solidFill>
                  <ns1:srgbClr val="003262"/>
                </ns1:solidFill>
                <ns1:latin typeface="Arial"/>
                <ns1:ea typeface="Arial"/>
                <ns1:cs typeface="Arial"/>
              </ns1:rPr>
              <ns1:t>The SDF network minimizes pricing errors, while an adversary exposes remaining errors.</ns1:t>
            </ns1:r>
          </ns1:p>
          <ns1:p>
            <ns1:pPr marL="152400" indent="-88900">
              <ns1:spcAft>
                <ns1:spcPts val="200"/>
              </ns1:spcAft>
              <ns1:buChar char="•"/>
              <ns1:defRPr sz="1275" b="1">
                <ns1:solidFill>
                  <ns1:srgbClr val="003262"/>
                </ns1:solidFill>
                <ns1:latin typeface="Arial"/>
                <ns1:ea typeface="Arial"/>
                <ns1:cs typeface="Arial"/>
              </ns1:defRPr>
            </ns1:pPr>
            <ns1:r>
              <ns1:rPr sz="1275" b="1">
                <ns1:solidFill>
                  <ns1:srgbClr val="003262"/>
                </ns1:solidFill>
                <ns1:latin typeface="Arial"/>
                <ns1:ea typeface="Arial"/>
                <ns1:cs typeface="Arial"/>
              </ns1:rPr>
              <ns1:t>Train 1967–86, validate 1987–91, and test 1992–2016.</ns1:t>
            </ns1:r>
          </ns1:p>
        </ns0:txBody>
      </ns0:sp>
    </ns0:spTree>
    <ns0:extLst>
      <ns0:ext uri="{BB962C8B-B14F-4D97-AF65-F5344CB8AC3E}">
        <ns3:creationId val="241089024"/>
      </ns0:ext>
    </ns0:extLst>
  </ns0:cSld>
</ns0:sld>
</file>

<file path=ppt/slides/slide4.xml><?xml version="1.0" encoding="utf-8"?>
<ns0:sld xmlns:ns0="http://schemas.openxmlformats.org/presentationml/2006/main" xmlns:ns1="http://schemas.openxmlformats.org/drawingml/2006/main" xmlns:ns2="http://schemas.microsoft.com/office/drawing/2014/main" xmlns:ns3="http://schemas.microsoft.com/office/powerpoint/2010/main">
  <ns0:cSld>
    <ns0:bg>
      <ns0:bgPr>
        <ns1:solidFill>
          <ns1:srgbClr val="FFFFFF"/>
        </ns1:solidFill>
      </ns0:bgPr>
    </ns0:bg>
    <ns0:spTree>
      <ns0:nvGrpSpPr>
        <ns0:cNvPr id="1" name=""/>
        <ns0:cNvGrpSpPr/>
        <ns0:nvPr/>
      </ns0:nvGrpSpPr>
      <ns0:grpSpPr>
        <ns1:xfrm/>
      </ns0:grpSpPr>
      <ns0:sp>
        <ns0:nvSpPr>
          <ns0:cNvPr id="8" name="">
            <ns1:extLst>
              <ns1:ext uri="{FF2B5EF4-FFF2-40B4-BE49-F238E27FC236}">
                <ns2:creationId id="{BA4B65EB-3C9D-4A0A-A5B6-F43D5650CC63}"/>
              </ns1:ext>
            </ns1:extLst>
          </ns0:cNvPr>
          <ns0:cNvSpPr>
            <ns1:spLocks noGrp="1"/>
          </ns0:cNvSpPr>
          <ns0:nvPr/>
        </ns0:nvSpPr>
        <ns0:spPr>
          <ns1:xfrm>
            <ns1:off x="0" y="0"/>
            <ns1:ext cx="66675" cy="2381250"/>
          </ns1:xfrm>
          <ns1:prstGeom prst="rect">
            <ns1:avLst/>
          </ns1:prstGeom>
          <ns1:solidFill>
            <ns1:srgbClr val="FDB515"/>
          </ns1:solidFill>
          <ns1:ln w="0">
            <ns1:noFill/>
          </ns1:ln>
        </ns0:spPr>
      </ns0:sp>
      <ns0:sp>
        <ns0:nvSpPr>
          <ns0:cNvPr id="2" name="">
            <ns1:extLst>
              <ns1:ext uri="{FF2B5EF4-FFF2-40B4-BE49-F238E27FC236}">
                <ns2:creationId id="{4D037A00-CA31-49B7-A348-515295FC9802}"/>
              </ns1:ext>
            </ns1:extLst>
          </ns0:cNvPr>
          <ns0:cNvSpPr>
            <ns1:spLocks noGrp="1"/>
          </ns0:cNvSpPr>
          <ns0:nvPr/>
        </ns0:nvSpPr>
        <ns0:spPr>
          <ns1:xfrm>
            <ns1:off x="0" y="2381250"/>
            <ns1:ext cx="66675" cy="2762250"/>
          </ns1:xfrm>
          <ns1:prstGeom prst="rect">
            <ns1:avLst/>
          </ns1:prstGeom>
          <ns1:solidFill>
            <ns1:srgbClr val="003262"/>
          </ns1:solidFill>
          <ns1:ln w="0">
            <ns1:noFill/>
          </ns1:ln>
        </ns0:spPr>
      </ns0:sp>
      <ns0:sp>
        <ns0:nvSpPr>
          <ns0:cNvPr id="3" name="">
            <ns1:extLst>
              <ns1:ext uri="{FF2B5EF4-FFF2-40B4-BE49-F238E27FC236}">
                <ns2:creationId id="{AD6F88D0-05A6-4D75-A6AB-BCA7B61A97BA}"/>
              </ns1:ext>
            </ns1:extLst>
          </ns0:cNvPr>
          <ns0:cNvSpPr>
            <ns1:spLocks noGrp="1"/>
          </ns0:cNvSpPr>
          <ns0:nvPr/>
        </ns0:nvSpPr>
        <ns0:spPr>
          <ns1:xfrm>
            <ns1:off x="342900" y="238125"/>
            <ns1:ext cx="8458200" cy="514350"/>
          </ns1:xfrm>
          <ns1:prstGeom prst="rect">
            <ns1:avLst/>
          </ns1:prstGeom>
          <ns1:noFill/>
          <ns1:ln w="0">
            <ns1:noFill/>
          </ns1:ln>
        </ns0:spPr>
        <ns0:txBody>
          <ns1:bodyPr>
            <ns1:noAutofit/>
          </ns1:bodyPr>
          <ns1:lstStyle/>
          <ns1:p>
            <ns1:pPr>
              <ns1:buNone/>
              <ns1:defRPr sz="2175" b="1">
                <ns1:solidFill>
                  <ns1:srgbClr val="003262"/>
                </ns1:solidFill>
                <ns1:latin typeface="Arial"/>
                <ns1:ea typeface="Arial"/>
                <ns1:cs typeface="Arial"/>
              </ns1:defRPr>
            </ns1:pPr>
            <ns1:r>
              <ns1:rPr sz="2175" b="1">
                <ns1:solidFill>
                  <ns1:srgbClr val="003262"/>
                </ns1:solidFill>
                <ns1:latin typeface="Arial"/>
                <ns1:ea typeface="Arial"/>
                <ns1:cs typeface="Arial"/>
              </ns1:rPr>
              <ns1:t>Main paper: published results</ns1:t>
            </ns1:r>
          </ns1:p>
        </ns0:txBody>
      </ns0:sp>
      <ns0:sp>
        <ns0:nvSpPr>
          <ns0:cNvPr id="4" name="">
            <ns1:extLst>
              <ns1:ext uri="{FF2B5EF4-FFF2-40B4-BE49-F238E27FC236}">
                <ns2:creationId id="{26248FE1-8E51-4EA7-AC8B-62E05E017D53}"/>
              </ns1:ext>
            </ns1:extLst>
          </ns0:cNvPr>
          <ns0:cNvSpPr>
            <ns1:spLocks noGrp="1"/>
          </ns0:cNvSpPr>
          <ns0:nvPr/>
        </ns0:nvSpPr>
        <ns0:spPr>
          <ns1:xfrm>
            <ns1:off x="342900" y="4781550"/>
            <ns1:ext cx="7810500" cy="228600"/>
          </ns1:xfrm>
          <ns1:prstGeom prst="rect">
            <ns1:avLst/>
          </ns1:prstGeom>
          <ns1:noFill/>
          <ns1:ln w="0">
            <ns1:noFill/>
          </ns1:ln>
        </ns0:spPr>
        <ns0:txBody>
          <ns1:bodyPr>
            <ns1:noAutofit/>
          </ns1:bodyPr>
          <ns1:lstStyle/>
          <ns1:p>
            <ns1:pPr>
              <ns1:buNone/>
              <ns1:defRPr sz="900" b="0">
                <ns1:solidFill>
                  <ns1:srgbClr val="5B6770"/>
                </ns1:solidFill>
                <ns1:latin typeface="Arial"/>
                <ns1:ea typeface="Arial"/>
                <ns1:cs typeface="Arial"/>
              </ns1:defRPr>
            </ns1:pPr>
            <ns1:r>
              <ns1:rPr sz="900" b="0">
                <ns1:solidFill>
                  <ns1:srgbClr val="5B6770"/>
                </ns1:solidFill>
                <ns1:latin typeface="Arial"/>
                <ns1:ea typeface="Arial"/>
                <ns1:cs typeface="Arial"/>
              </ns1:rPr>
              <ns1:t>Part 1. Main paper</ns1:t>
            </ns1:r>
          </ns1:p>
        </ns0:txBody>
      </ns0:sp>
      <ns0:sp>
        <ns0:nvSpPr>
          <ns0:cNvPr id="5" name="">
            <ns1:extLst>
              <ns1:ext uri="{FF2B5EF4-FFF2-40B4-BE49-F238E27FC236}">
                <ns2:creationId id="{B8C358BC-7C57-4258-98AB-F5B0C57525E2}"/>
              </ns1:ext>
            </ns1:extLst>
          </ns0:cNvPr>
          <ns0:cNvSpPr>
            <ns1:spLocks noGrp="1"/>
          </ns0:cNvSpPr>
          <ns0:nvPr/>
        </ns0:nvSpPr>
        <ns0:spPr>
          <ns1:xfrm>
            <ns1:off x="8458200" y="4781550"/>
            <ns1:ext cx="457200" cy="228600"/>
          </ns1:xfrm>
          <ns1:prstGeom prst="rect">
            <ns1:avLst/>
          </ns1:prstGeom>
          <ns1:noFill/>
          <ns1:ln w="0">
            <ns1:noFill/>
          </ns1:ln>
        </ns0:spPr>
        <ns0:txBody>
          <ns1:bodyPr>
            <ns1:noAutofit/>
          </ns1:bodyPr>
          <ns1:lstStyle/>
          <ns1:p>
            <ns1:pPr>
              <ns1:buNone/>
              <ns1:defRPr sz="900" b="0">
                <ns1:solidFill>
                  <ns1:srgbClr val="5B6770"/>
                </ns1:solidFill>
                <ns1:latin typeface="Arial"/>
                <ns1:ea typeface="Arial"/>
                <ns1:cs typeface="Arial"/>
              </ns1:defRPr>
            </ns1:pPr>
            <ns1:r>
              <ns1:rPr sz="900" b="0">
                <ns1:solidFill>
                  <ns1:srgbClr val="5B6770"/>
                </ns1:solidFill>
                <ns1:latin typeface="Arial"/>
                <ns1:ea typeface="Arial"/>
                <ns1:cs typeface="Arial"/>
              </ns1:rPr>
              <ns1:t>4</ns1:t>
            </ns1:r>
          </ns1:p>
        </ns0:txBody>
      </ns0:sp>
      <ns0:graphicFrame>
        <ns0:nvGraphicFramePr>
          <ns0:cNvPr id="17" name=""/>
          <ns0:cNvGraphicFramePr/>
          <ns0:nvPr/>
        </ns0:nvGraphicFramePr>
        <ns0:xfrm>
          <ns1:off x="400050" y="1019175"/>
          <ns1:ext cx="8343900" cy="2686050"/>
        </ns0:xfrm>
        <ns1:graphic>
          <ns1:graphicData uri="http://schemas.openxmlformats.org/drawingml/2006/table">
            <ns1:tbl>
              <ns1:tblPr/>
              <ns1:tblGrid>
                <ns1:gridCol w="2476500"/>
                <ns1:gridCol w="1955800"/>
                <ns1:gridCol w="1955800"/>
                <ns1:gridCol w="1955800"/>
              </ns1:tblGrid>
              <ns1:tr h="537210">
                <ns1:tc>
                  <ns1:txBody>
                    <ns1:bodyPr/>
                    <ns1:lstStyle/>
                    <ns1:p>
                      <ns1:r>
                        <ns1:rPr sz="1425" b="1">
                          <ns1:solidFill>
                            <ns1:srgbClr val="FFFFFF"/>
                          </ns1:solidFill>
                          <ns1:latin typeface="Arial"/>
                          <ns1:ea typeface="Arial"/>
                          <ns1:cs typeface="Arial"/>
                        </ns1:rPr>
                        <ns1:t>Model</ns1:t>
                      </ns1:r>
                    </ns1:p>
                  </ns1:txBody>
                  <ns1:tcPr marL="91440" marR="91440" marT="45720" marB="45720">
                    <ns1:solidFill>
                      <ns1:srgbClr val="003262"/>
                    </ns1:solidFill>
                  </ns1:tcPr>
                </ns1:tc>
                <ns1:tc>
                  <ns1:txBody>
                    <ns1:bodyPr/>
                    <ns1:lstStyle/>
                    <ns1:p>
                      <ns1:r>
                        <ns1:rPr sz="1425" b="1">
                          <ns1:solidFill>
                            <ns1:srgbClr val="FFFFFF"/>
                          </ns1:solidFill>
                          <ns1:latin typeface="Arial"/>
                          <ns1:ea typeface="Arial"/>
                          <ns1:cs typeface="Arial"/>
                        </ns1:rPr>
                        <ns1:t>Train</ns1:t>
                      </ns1:r>
                    </ns1:p>
                  </ns1:txBody>
                  <ns1:tcPr marL="91440" marR="91440" marT="45720" marB="45720">
                    <ns1:solidFill>
                      <ns1:srgbClr val="003262"/>
                    </ns1:solidFill>
                  </ns1:tcPr>
                </ns1:tc>
                <ns1:tc>
                  <ns1:txBody>
                    <ns1:bodyPr/>
                    <ns1:lstStyle/>
                    <ns1:p>
                      <ns1:r>
                        <ns1:rPr sz="1425" b="1">
                          <ns1:solidFill>
                            <ns1:srgbClr val="FFFFFF"/>
                          </ns1:solidFill>
                          <ns1:latin typeface="Arial"/>
                          <ns1:ea typeface="Arial"/>
                          <ns1:cs typeface="Arial"/>
                        </ns1:rPr>
                        <ns1:t>Validation</ns1:t>
                      </ns1:r>
                    </ns1:p>
                  </ns1:txBody>
                  <ns1:tcPr marL="91440" marR="91440" marT="45720" marB="45720">
                    <ns1:solidFill>
                      <ns1:srgbClr val="003262"/>
                    </ns1:solidFill>
                  </ns1:tcPr>
                </ns1:tc>
                <ns1:tc>
                  <ns1:txBody>
                    <ns1:bodyPr/>
                    <ns1:lstStyle/>
                    <ns1:p>
                      <ns1:r>
                        <ns1:rPr sz="1425" b="1">
                          <ns1:solidFill>
                            <ns1:srgbClr val="FFFFFF"/>
                          </ns1:solidFill>
                          <ns1:latin typeface="Arial"/>
                          <ns1:ea typeface="Arial"/>
                          <ns1:cs typeface="Arial"/>
                        </ns1:rPr>
                        <ns1:t>Test</ns1:t>
                      </ns1:r>
                    </ns1:p>
                  </ns1:txBody>
                  <ns1:tcPr marL="91440" marR="91440" marT="45720" marB="45720">
                    <ns1:solidFill>
                      <ns1:srgbClr val="003262"/>
                    </ns1:solidFill>
                  </ns1:tcPr>
                </ns1:tc>
              </ns1:tr>
              <ns1:tr h="537210">
                <ns1:tc>
                  <ns1:txBody>
                    <ns1:bodyPr/>
                    <ns1:lstStyle/>
                    <ns1:p>
                      <ns1:r>
                        <ns1:rPr sz="1500" b="0">
                          <ns1:solidFill>
                            <ns1:srgbClr val="1F2A37"/>
                          </ns1:solidFill>
                          <ns1:latin typeface="Arial"/>
                          <ns1:ea typeface="Arial"/>
                          <ns1:cs typeface="Arial"/>
                        </ns1:rPr>
                        <ns1:t>LS</ns1:t>
                      </ns1:r>
                    </ns1:p>
                  </ns1:txBody>
                  <ns1:tcPr marL="91440" marR="91440" marT="45720" marB="45720">
                    <ns1:solidFill>
                      <ns1:srgbClr val="EEF3F8"/>
                    </ns1:solidFill>
                  </ns1:tcPr>
                </ns1:tc>
                <ns1:tc>
                  <ns1:txBody>
                    <ns1:bodyPr/>
                    <ns1:lstStyle/>
                    <ns1:p>
                      <ns1:r>
                        <ns1:rPr sz="1500" b="0">
                          <ns1:solidFill>
                            <ns1:srgbClr val="1F2A37"/>
                          </ns1:solidFill>
                          <ns1:latin typeface="Arial"/>
                          <ns1:ea typeface="Arial"/>
                          <ns1:cs typeface="Arial"/>
                        </ns1:rPr>
                        <ns1:t>1.800</ns1:t>
                      </ns1:r>
                    </ns1:p>
                  </ns1:txBody>
                  <ns1:tcPr marL="91440" marR="91440" marT="45720" marB="45720">
                    <ns1:solidFill>
                      <ns1:srgbClr val="EEF3F8"/>
                    </ns1:solidFill>
                  </ns1:tcPr>
                </ns1:tc>
                <ns1:tc>
                  <ns1:txBody>
                    <ns1:bodyPr/>
                    <ns1:lstStyle/>
                    <ns1:p>
                      <ns1:r>
                        <ns1:rPr sz="1500" b="0">
                          <ns1:solidFill>
                            <ns1:srgbClr val="1F2A37"/>
                          </ns1:solidFill>
                          <ns1:latin typeface="Arial"/>
                          <ns1:ea typeface="Arial"/>
                          <ns1:cs typeface="Arial"/>
                        </ns1:rPr>
                        <ns1:t>0.580</ns1:t>
                      </ns1:r>
                    </ns1:p>
                  </ns1:txBody>
                  <ns1:tcPr marL="91440" marR="91440" marT="45720" marB="45720">
                    <ns1:solidFill>
                      <ns1:srgbClr val="EEF3F8"/>
                    </ns1:solidFill>
                  </ns1:tcPr>
                </ns1:tc>
                <ns1:tc>
                  <ns1:txBody>
                    <ns1:bodyPr/>
                    <ns1:lstStyle/>
                    <ns1:p>
                      <ns1:r>
                        <ns1:rPr sz="1500" b="0">
                          <ns1:solidFill>
                            <ns1:srgbClr val="1F2A37"/>
                          </ns1:solidFill>
                          <ns1:latin typeface="Arial"/>
                          <ns1:ea typeface="Arial"/>
                          <ns1:cs typeface="Arial"/>
                        </ns1:rPr>
                        <ns1:t>0.420</ns1:t>
                      </ns1:r>
                    </ns1:p>
                  </ns1:txBody>
                  <ns1:tcPr marL="91440" marR="91440" marT="45720" marB="45720">
                    <ns1:solidFill>
                      <ns1:srgbClr val="EEF3F8"/>
                    </ns1:solidFill>
                  </ns1:tcPr>
                </ns1:tc>
              </ns1:tr>
              <ns1:tr h="537210">
                <ns1:tc>
                  <ns1:txBody>
                    <ns1:bodyPr/>
                    <ns1:lstStyle/>
                    <ns1:p>
                      <ns1:r>
                        <ns1:rPr sz="1500" b="0">
                          <ns1:solidFill>
                            <ns1:srgbClr val="1F2A37"/>
                          </ns1:solidFill>
                          <ns1:latin typeface="Arial"/>
                          <ns1:ea typeface="Arial"/>
                          <ns1:cs typeface="Arial"/>
                        </ns1:rPr>
                        <ns1:t>EN</ns1:t>
                      </ns1:r>
                    </ns1:p>
                  </ns1:txBody>
                  <ns1:tcPr marL="91440" marR="91440" marT="45720" marB="45720">
                    <ns1:solidFill>
                      <ns1:srgbClr val="FFFFFF"/>
                    </ns1:solidFill>
                  </ns1:tcPr>
                </ns1:tc>
                <ns1:tc>
                  <ns1:txBody>
                    <ns1:bodyPr/>
                    <ns1:lstStyle/>
                    <ns1:p>
                      <ns1:r>
                        <ns1:rPr sz="1500" b="0">
                          <ns1:solidFill>
                            <ns1:srgbClr val="1F2A37"/>
                          </ns1:solidFill>
                          <ns1:latin typeface="Arial"/>
                          <ns1:ea typeface="Arial"/>
                          <ns1:cs typeface="Arial"/>
                        </ns1:rPr>
                        <ns1:t>1.370</ns1:t>
                      </ns1:r>
                    </ns1:p>
                  </ns1:txBody>
                  <ns1:tcPr marL="91440" marR="91440" marT="45720" marB="45720">
                    <ns1:solidFill>
                      <ns1:srgbClr val="FFFFFF"/>
                    </ns1:solidFill>
                  </ns1:tcPr>
                </ns1:tc>
                <ns1:tc>
                  <ns1:txBody>
                    <ns1:bodyPr/>
                    <ns1:lstStyle/>
                    <ns1:p>
                      <ns1:r>
                        <ns1:rPr sz="1500" b="0">
                          <ns1:solidFill>
                            <ns1:srgbClr val="1F2A37"/>
                          </ns1:solidFill>
                          <ns1:latin typeface="Arial"/>
                          <ns1:ea typeface="Arial"/>
                          <ns1:cs typeface="Arial"/>
                        </ns1:rPr>
                        <ns1:t>1.150</ns1:t>
                      </ns1:r>
                    </ns1:p>
                  </ns1:txBody>
                  <ns1:tcPr marL="91440" marR="91440" marT="45720" marB="45720">
                    <ns1:solidFill>
                      <ns1:srgbClr val="FFFFFF"/>
                    </ns1:solidFill>
                  </ns1:tcPr>
                </ns1:tc>
                <ns1:tc>
                  <ns1:txBody>
                    <ns1:bodyPr/>
                    <ns1:lstStyle/>
                    <ns1:p>
                      <ns1:r>
                        <ns1:rPr sz="1500" b="0">
                          <ns1:solidFill>
                            <ns1:srgbClr val="1F2A37"/>
                          </ns1:solidFill>
                          <ns1:latin typeface="Arial"/>
                          <ns1:ea typeface="Arial"/>
                          <ns1:cs typeface="Arial"/>
                        </ns1:rPr>
                        <ns1:t>0.500</ns1:t>
                      </ns1:r>
                    </ns1:p>
                  </ns1:txBody>
                  <ns1:tcPr marL="91440" marR="91440" marT="45720" marB="45720">
                    <ns1:solidFill>
                      <ns1:srgbClr val="FFFFFF"/>
                    </ns1:solidFill>
                  </ns1:tcPr>
                </ns1:tc>
              </ns1:tr>
              <ns1:tr h="537210">
                <ns1:tc>
                  <ns1:txBody>
                    <ns1:bodyPr/>
                    <ns1:lstStyle/>
                    <ns1:p>
                      <ns1:r>
                        <ns1:rPr sz="1500" b="0">
                          <ns1:solidFill>
                            <ns1:srgbClr val="1F2A37"/>
                          </ns1:solidFill>
                          <ns1:latin typeface="Arial"/>
                          <ns1:ea typeface="Arial"/>
                          <ns1:cs typeface="Arial"/>
                        </ns1:rPr>
                        <ns1:t>FFN</ns1:t>
                      </ns1:r>
                    </ns1:p>
                  </ns1:txBody>
                  <ns1:tcPr marL="91440" marR="91440" marT="45720" marB="45720">
                    <ns1:solidFill>
                      <ns1:srgbClr val="EEF3F8"/>
                    </ns1:solidFill>
                  </ns1:tcPr>
                </ns1:tc>
                <ns1:tc>
                  <ns1:txBody>
                    <ns1:bodyPr/>
                    <ns1:lstStyle/>
                    <ns1:p>
                      <ns1:r>
                        <ns1:rPr sz="1500" b="0">
                          <ns1:solidFill>
                            <ns1:srgbClr val="1F2A37"/>
                          </ns1:solidFill>
                          <ns1:latin typeface="Arial"/>
                          <ns1:ea typeface="Arial"/>
                          <ns1:cs typeface="Arial"/>
                        </ns1:rPr>
                        <ns1:t>0.450</ns1:t>
                      </ns1:r>
                    </ns1:p>
                  </ns1:txBody>
                  <ns1:tcPr marL="91440" marR="91440" marT="45720" marB="45720">
                    <ns1:solidFill>
                      <ns1:srgbClr val="EEF3F8"/>
                    </ns1:solidFill>
                  </ns1:tcPr>
                </ns1:tc>
                <ns1:tc>
                  <ns1:txBody>
                    <ns1:bodyPr/>
                    <ns1:lstStyle/>
                    <ns1:p>
                      <ns1:r>
                        <ns1:rPr sz="1500" b="0">
                          <ns1:solidFill>
                            <ns1:srgbClr val="1F2A37"/>
                          </ns1:solidFill>
                          <ns1:latin typeface="Arial"/>
                          <ns1:ea typeface="Arial"/>
                          <ns1:cs typeface="Arial"/>
                        </ns1:rPr>
                        <ns1:t>0.420</ns1:t>
                      </ns1:r>
                    </ns1:p>
                  </ns1:txBody>
                  <ns1:tcPr marL="91440" marR="91440" marT="45720" marB="45720">
                    <ns1:solidFill>
                      <ns1:srgbClr val="EEF3F8"/>
                    </ns1:solidFill>
                  </ns1:tcPr>
                </ns1:tc>
                <ns1:tc>
                  <ns1:txBody>
                    <ns1:bodyPr/>
                    <ns1:lstStyle/>
                    <ns1:p>
                      <ns1:r>
                        <ns1:rPr sz="1500" b="0">
                          <ns1:solidFill>
                            <ns1:srgbClr val="1F2A37"/>
                          </ns1:solidFill>
                          <ns1:latin typeface="Arial"/>
                          <ns1:ea typeface="Arial"/>
                          <ns1:cs typeface="Arial"/>
                        </ns1:rPr>
                        <ns1:t>0.440</ns1:t>
                      </ns1:r>
                    </ns1:p>
                  </ns1:txBody>
                  <ns1:tcPr marL="91440" marR="91440" marT="45720" marB="45720">
                    <ns1:solidFill>
                      <ns1:srgbClr val="EEF3F8"/>
                    </ns1:solidFill>
                  </ns1:tcPr>
                </ns1:tc>
              </ns1:tr>
              <ns1:tr h="537210">
                <ns1:tc>
                  <ns1:txBody>
                    <ns1:bodyPr/>
                    <ns1:lstStyle/>
                    <ns1:p>
                      <ns1:r>
                        <ns1:rPr sz="1500" b="0">
                          <ns1:solidFill>
                            <ns1:srgbClr val="1F2A37"/>
                          </ns1:solidFill>
                          <ns1:latin typeface="Arial"/>
                          <ns1:ea typeface="Arial"/>
                          <ns1:cs typeface="Arial"/>
                        </ns1:rPr>
                        <ns1:t>GAN</ns1:t>
                      </ns1:r>
                    </ns1:p>
                  </ns1:txBody>
                  <ns1:tcPr marL="91440" marR="91440" marT="45720" marB="45720">
                    <ns1:solidFill>
                      <ns1:srgbClr val="FFFFFF"/>
                    </ns1:solidFill>
                  </ns1:tcPr>
                </ns1:tc>
                <ns1:tc>
                  <ns1:txBody>
                    <ns1:bodyPr/>
                    <ns1:lstStyle/>
                    <ns1:p>
                      <ns1:r>
                        <ns1:rPr sz="1500" b="0">
                          <ns1:solidFill>
                            <ns1:srgbClr val="1F2A37"/>
                          </ns1:solidFill>
                          <ns1:latin typeface="Arial"/>
                          <ns1:ea typeface="Arial"/>
                          <ns1:cs typeface="Arial"/>
                        </ns1:rPr>
                        <ns1:t>2.680</ns1:t>
                      </ns1:r>
                    </ns1:p>
                  </ns1:txBody>
                  <ns1:tcPr marL="91440" marR="91440" marT="45720" marB="45720">
                    <ns1:solidFill>
                      <ns1:srgbClr val="FFFFFF"/>
                    </ns1:solidFill>
                  </ns1:tcPr>
                </ns1:tc>
                <ns1:tc>
                  <ns1:txBody>
                    <ns1:bodyPr/>
                    <ns1:lstStyle/>
                    <ns1:p>
                      <ns1:r>
                        <ns1:rPr sz="1500" b="0">
                          <ns1:solidFill>
                            <ns1:srgbClr val="1F2A37"/>
                          </ns1:solidFill>
                          <ns1:latin typeface="Arial"/>
                          <ns1:ea typeface="Arial"/>
                          <ns1:cs typeface="Arial"/>
                        </ns1:rPr>
                        <ns1:t>1.430</ns1:t>
                      </ns1:r>
                    </ns1:p>
                  </ns1:txBody>
                  <ns1:tcPr marL="91440" marR="91440" marT="45720" marB="45720">
                    <ns1:solidFill>
                      <ns1:srgbClr val="FFFFFF"/>
                    </ns1:solidFill>
                  </ns1:tcPr>
                </ns1:tc>
                <ns1:tc>
                  <ns1:txBody>
                    <ns1:bodyPr/>
                    <ns1:lstStyle/>
                    <ns1:p>
                      <ns1:r>
                        <ns1:rPr sz="1500" b="0">
                          <ns1:solidFill>
                            <ns1:srgbClr val="1F2A37"/>
                          </ns1:solidFill>
                          <ns1:latin typeface="Arial"/>
                          <ns1:ea typeface="Arial"/>
                          <ns1:cs typeface="Arial"/>
                        </ns1:rPr>
                        <ns1:t>0.750</ns1:t>
                      </ns1:r>
                    </ns1:p>
                  </ns1:txBody>
                  <ns1:tcPr marL="91440" marR="91440" marT="45720" marB="45720">
                    <ns1:solidFill>
                      <ns1:srgbClr val="FFFFFF"/>
                    </ns1:solidFill>
                  </ns1:tcPr>
                </ns1:tc>
              </ns1:tr>
            </ns1:tbl>
          </ns1:graphicData>
        </ns1:graphic>
      </ns0:graphicFrame>
      <ns0:sp>
        <ns0:nvSpPr>
          <ns0:cNvPr id="10" name="">
            <ns1:extLst>
              <ns1:ext uri="{FF2B5EF4-FFF2-40B4-BE49-F238E27FC236}">
                <ns2:creationId id="{FAB9BC73-6FE2-414D-A10D-7E7859018E26}"/>
              </ns1:ext>
            </ns1:extLst>
          </ns0:cNvPr>
          <ns0:cNvSpPr>
            <ns1:spLocks noGrp="1"/>
          </ns0:cNvSpPr>
          <ns0:nvPr/>
        </ns0:nvSpPr>
        <ns0:spPr>
          <ns1:xfrm>
            <ns1:off x="419100" y="4257675"/>
            <ns1:ext cx="8286750" cy="457200"/>
          </ns1:xfrm>
          <ns1:prstGeom prst="rect">
            <ns1:avLst/>
          </ns1:prstGeom>
          <ns1:noFill/>
          <ns1:ln w="0">
            <ns1:noFill/>
          </ns1:ln>
        </ns0:spPr>
        <ns0:txBody>
          <ns1:bodyPr>
            <ns1:noAutofit/>
          </ns1:bodyPr>
          <ns1:lstStyle/>
          <ns1:p>
            <ns1:pPr marL="152400" indent="-88900">
              <ns1:spcAft>
                <ns1:spcPts val="200"/>
              </ns1:spcAft>
              <ns1:buChar char="•"/>
              <ns1:defRPr sz="1275" b="1">
                <ns1:solidFill>
                  <ns1:srgbClr val="003262"/>
                </ns1:solidFill>
                <ns1:latin typeface="Arial"/>
                <ns1:ea typeface="Arial"/>
                <ns1:cs typeface="Arial"/>
              </ns1:defRPr>
            </ns1:pPr>
            <ns1:r>
              <ns1:rPr sz="1275" b="1">
                <ns1:solidFill>
                  <ns1:srgbClr val="003262"/>
                </ns1:solidFill>
                <ns1:latin typeface="Arial"/>
                <ns1:ea typeface="Arial"/>
                <ns1:cs typeface="Arial"/>
              </ns1:rPr>
              <ns1:t>GAN has the highest published monthly Sharpe in every split.</ns1:t>
            </ns1:r>
          </ns1:p>
          <ns1:p>
            <ns1:pPr marL="152400" indent="-88900">
              <ns1:spcAft>
                <ns1:spcPts val="200"/>
              </ns1:spcAft>
              <ns1:buChar char="•"/>
              <ns1:defRPr sz="1275" b="1">
                <ns1:solidFill>
                  <ns1:srgbClr val="003262"/>
                </ns1:solidFill>
                <ns1:latin typeface="Arial"/>
                <ns1:ea typeface="Arial"/>
                <ns1:cs typeface="Arial"/>
              </ns1:defRPr>
            </ns1:pPr>
            <ns1:r>
              <ns1:rPr sz="1275" b="1">
                <ns1:solidFill>
                  <ns1:srgbClr val="003262"/>
                </ns1:solidFill>
                <ns1:latin typeface="Arial"/>
                <ns1:ea typeface="Arial"/>
                <ns1:cs typeface="Arial"/>
              </ns1:rPr>
              <ns1:t>Use these results as the reference benchmark for our replication and extensions.</ns1:t>
            </ns1:r>
          </ns1:p>
        </ns0:txBody>
      </ns0:sp>
    </ns0:spTree>
    <ns0:extLst>
      <ns0:ext uri="{BB962C8B-B14F-4D97-AF65-F5344CB8AC3E}">
        <ns3:creationId val="551301269"/>
      </ns0:ext>
    </ns0:extLst>
  </ns0:cSld>
</ns0:sld>
</file>

<file path=ppt/slides/slide5.xml><?xml version="1.0" encoding="utf-8"?>
<ns0:sld xmlns:ns0="http://schemas.openxmlformats.org/presentationml/2006/main" xmlns:ns1="http://schemas.openxmlformats.org/drawingml/2006/main" xmlns:ns2="http://schemas.microsoft.com/office/drawing/2014/main" xmlns:ns3="http://schemas.openxmlformats.org/drawingml/2006/chart" xmlns:ns4="http://schemas.openxmlformats.org/officeDocument/2006/relationships" xmlns:ns5="http://schemas.microsoft.com/office/powerpoint/2010/main">
  <ns0:cSld>
    <ns0:bg>
      <ns0:bgPr>
        <ns1:solidFill>
          <ns1:srgbClr val="FFFFFF"/>
        </ns1:solidFill>
      </ns0:bgPr>
    </ns0:bg>
    <ns0:spTree>
      <ns0:nvGrpSpPr>
        <ns0:cNvPr id="1" name=""/>
        <ns0:cNvGrpSpPr/>
        <ns0:nvPr/>
      </ns0:nvGrpSpPr>
      <ns0:grpSpPr>
        <ns1:xfrm/>
      </ns0:grpSpPr>
      <ns0:sp>
        <ns0:nvSpPr>
          <ns0:cNvPr id="8" name="">
            <ns1:extLst>
              <ns1:ext uri="{FF2B5EF4-FFF2-40B4-BE49-F238E27FC236}">
                <ns2:creationId id="{611089D9-1563-44C8-9239-8F2DD8B5FEA0}"/>
              </ns1:ext>
            </ns1:extLst>
          </ns0:cNvPr>
          <ns0:cNvSpPr>
            <ns1:spLocks noGrp="1"/>
          </ns0:cNvSpPr>
          <ns0:nvPr/>
        </ns0:nvSpPr>
        <ns0:spPr>
          <ns1:xfrm>
            <ns1:off x="0" y="0"/>
            <ns1:ext cx="66675" cy="2381250"/>
          </ns1:xfrm>
          <ns1:prstGeom prst="rect">
            <ns1:avLst/>
          </ns1:prstGeom>
          <ns1:solidFill>
            <ns1:srgbClr val="FDB515"/>
          </ns1:solidFill>
          <ns1:ln w="0">
            <ns1:noFill/>
          </ns1:ln>
        </ns0:spPr>
      </ns0:sp>
      <ns0:sp>
        <ns0:nvSpPr>
          <ns0:cNvPr id="2" name="">
            <ns1:extLst>
              <ns1:ext uri="{FF2B5EF4-FFF2-40B4-BE49-F238E27FC236}">
                <ns2:creationId id="{6731BE8F-AA89-476B-91FE-CC5063C98979}"/>
              </ns1:ext>
            </ns1:extLst>
          </ns0:cNvPr>
          <ns0:cNvSpPr>
            <ns1:spLocks noGrp="1"/>
          </ns0:cNvSpPr>
          <ns0:nvPr/>
        </ns0:nvSpPr>
        <ns0:spPr>
          <ns1:xfrm>
            <ns1:off x="0" y="2381250"/>
            <ns1:ext cx="66675" cy="2762250"/>
          </ns1:xfrm>
          <ns1:prstGeom prst="rect">
            <ns1:avLst/>
          </ns1:prstGeom>
          <ns1:solidFill>
            <ns1:srgbClr val="003262"/>
          </ns1:solidFill>
          <ns1:ln w="0">
            <ns1:noFill/>
          </ns1:ln>
        </ns0:spPr>
      </ns0:sp>
      <ns0:sp>
        <ns0:nvSpPr>
          <ns0:cNvPr id="3" name="">
            <ns1:extLst>
              <ns1:ext uri="{FF2B5EF4-FFF2-40B4-BE49-F238E27FC236}">
                <ns2:creationId id="{7DACBCC0-67AE-43F4-BDFC-C6776354450F}"/>
              </ns1:ext>
            </ns1:extLst>
          </ns0:cNvPr>
          <ns0:cNvSpPr>
            <ns1:spLocks noGrp="1"/>
          </ns0:cNvSpPr>
          <ns0:nvPr/>
        </ns0:nvSpPr>
        <ns0:spPr>
          <ns1:xfrm>
            <ns1:off x="342900" y="238125"/>
            <ns1:ext cx="8458200" cy="514350"/>
          </ns1:xfrm>
          <ns1:prstGeom prst="rect">
            <ns1:avLst/>
          </ns1:prstGeom>
          <ns1:noFill/>
          <ns1:ln w="0">
            <ns1:noFill/>
          </ns1:ln>
        </ns0:spPr>
        <ns0:txBody>
          <ns1:bodyPr>
            <ns1:noAutofit/>
          </ns1:bodyPr>
          <ns1:lstStyle/>
          <ns1:p>
            <ns1:pPr>
              <ns1:buNone/>
              <ns1:defRPr sz="2175" b="1">
                <ns1:solidFill>
                  <ns1:srgbClr val="003262"/>
                </ns1:solidFill>
                <ns1:latin typeface="Arial"/>
                <ns1:ea typeface="Arial"/>
                <ns1:cs typeface="Arial"/>
              </ns1:defRPr>
            </ns1:pPr>
            <ns1:r>
              <ns1:rPr sz="2175" b="1">
                <ns1:solidFill>
                  <ns1:srgbClr val="003262"/>
                </ns1:solidFill>
                <ns1:latin typeface="Arial"/>
                <ns1:ea typeface="Arial"/>
                <ns1:cs typeface="Arial"/>
              </ns1:rPr>
              <ns1:t>Replication: comparison with the main paper</ns1:t>
            </ns1:r>
          </ns1:p>
        </ns0:txBody>
      </ns0:sp>
      <ns0:sp>
        <ns0:nvSpPr>
          <ns0:cNvPr id="4" name="">
            <ns1:extLst>
              <ns1:ext uri="{FF2B5EF4-FFF2-40B4-BE49-F238E27FC236}">
                <ns2:creationId id="{455A9CFE-0B65-4701-B6FA-F0A4C683D33B}"/>
              </ns1:ext>
            </ns1:extLst>
          </ns0:cNvPr>
          <ns0:cNvSpPr>
            <ns1:spLocks noGrp="1"/>
          </ns0:cNvSpPr>
          <ns0:nvPr/>
        </ns0:nvSpPr>
        <ns0:spPr>
          <ns1:xfrm>
            <ns1:off x="342900" y="4781550"/>
            <ns1:ext cx="7810500" cy="228600"/>
          </ns1:xfrm>
          <ns1:prstGeom prst="rect">
            <ns1:avLst/>
          </ns1:prstGeom>
          <ns1:noFill/>
          <ns1:ln w="0">
            <ns1:noFill/>
          </ns1:ln>
        </ns0:spPr>
        <ns0:txBody>
          <ns1:bodyPr>
            <ns1:noAutofit/>
          </ns1:bodyPr>
          <ns1:lstStyle/>
          <ns1:p>
            <ns1:pPr>
              <ns1:buNone/>
              <ns1:defRPr sz="900" b="0">
                <ns1:solidFill>
                  <ns1:srgbClr val="5B6770"/>
                </ns1:solidFill>
                <ns1:latin typeface="Arial"/>
                <ns1:ea typeface="Arial"/>
                <ns1:cs typeface="Arial"/>
              </ns1:defRPr>
            </ns1:pPr>
            <ns1:r>
              <ns1:rPr sz="900" b="0">
                <ns1:solidFill>
                  <ns1:srgbClr val="5B6770"/>
                </ns1:solidFill>
                <ns1:latin typeface="Arial"/>
                <ns1:ea typeface="Arial"/>
                <ns1:cs typeface="Arial"/>
              </ns1:rPr>
              <ns1:t>Part 2. Replication</ns1:t>
            </ns1:r>
          </ns1:p>
        </ns0:txBody>
      </ns0:sp>
      <ns0:sp>
        <ns0:nvSpPr>
          <ns0:cNvPr id="5" name="">
            <ns1:extLst>
              <ns1:ext uri="{FF2B5EF4-FFF2-40B4-BE49-F238E27FC236}">
                <ns2:creationId id="{CACB040B-69F3-452C-914A-CAD15924BA7D}"/>
              </ns1:ext>
            </ns1:extLst>
          </ns0:cNvPr>
          <ns0:cNvSpPr>
            <ns1:spLocks noGrp="1"/>
          </ns0:cNvSpPr>
          <ns0:nvPr/>
        </ns0:nvSpPr>
        <ns0:spPr>
          <ns1:xfrm>
            <ns1:off x="8458200" y="4781550"/>
            <ns1:ext cx="457200" cy="228600"/>
          </ns1:xfrm>
          <ns1:prstGeom prst="rect">
            <ns1:avLst/>
          </ns1:prstGeom>
          <ns1:noFill/>
          <ns1:ln w="0">
            <ns1:noFill/>
          </ns1:ln>
        </ns0:spPr>
        <ns0:txBody>
          <ns1:bodyPr>
            <ns1:noAutofit/>
          </ns1:bodyPr>
          <ns1:lstStyle/>
          <ns1:p>
            <ns1:pPr>
              <ns1:buNone/>
              <ns1:defRPr sz="900" b="0">
                <ns1:solidFill>
                  <ns1:srgbClr val="5B6770"/>
                </ns1:solidFill>
                <ns1:latin typeface="Arial"/>
                <ns1:ea typeface="Arial"/>
                <ns1:cs typeface="Arial"/>
              </ns1:defRPr>
            </ns1:pPr>
            <ns1:r>
              <ns1:rPr sz="900" b="0">
                <ns1:solidFill>
                  <ns1:srgbClr val="5B6770"/>
                </ns1:solidFill>
                <ns1:latin typeface="Arial"/>
                <ns1:ea typeface="Arial"/>
                <ns1:cs typeface="Arial"/>
              </ns1:rPr>
              <ns1:t>5</ns1:t>
            </ns1:r>
          </ns1:p>
        </ns0:txBody>
      </ns0:sp>
      <ns0:graphicFrame>
        <ns0:nvGraphicFramePr>
          <ns0:cNvPr id="17" name="Chart"/>
          <ns0:cNvGraphicFramePr/>
          <ns0:nvPr/>
        </ns0:nvGraphicFramePr>
        <ns0:xfrm>
          <ns1:off x="419100" y="933450"/>
          <ns1:ext cx="8305800" cy="3095625"/>
        </ns0:xfrm>
        <ns1:graphic>
          <ns1:graphicData uri="http://schemas.openxmlformats.org/drawingml/2006/chart">
            <ns3:chart ns4:id="R9958dbb2c6c4402d"/>
          </ns1:graphicData>
        </ns1:graphic>
      </ns0:graphicFrame>
      <ns0:sp>
        <ns0:nvSpPr>
          <ns0:cNvPr id="10" name="">
            <ns1:extLst>
              <ns1:ext uri="{FF2B5EF4-FFF2-40B4-BE49-F238E27FC236}">
                <ns2:creationId id="{ECE7A36E-BA5F-4318-A592-20FB24A644B4}"/>
              </ns1:ext>
            </ns1:extLst>
          </ns0:cNvPr>
          <ns0:cNvSpPr>
            <ns1:spLocks noGrp="1"/>
          </ns0:cNvSpPr>
          <ns0:nvPr/>
        </ns0:nvSpPr>
        <ns0:spPr>
          <ns1:xfrm>
            <ns1:off x="419100" y="4257675"/>
            <ns1:ext cx="8286750" cy="457200"/>
          </ns1:xfrm>
          <ns1:prstGeom prst="rect">
            <ns1:avLst/>
          </ns1:prstGeom>
          <ns1:noFill/>
          <ns1:ln w="0">
            <ns1:noFill/>
          </ns1:ln>
        </ns0:spPr>
        <ns0:txBody>
          <ns1:bodyPr>
            <ns1:noAutofit/>
          </ns1:bodyPr>
          <ns1:lstStyle/>
          <ns1:p>
            <ns1:pPr marL="152400" indent="-88900">
              <ns1:spcAft>
                <ns1:spcPts val="200"/>
              </ns1:spcAft>
              <ns1:buChar char="•"/>
              <ns1:defRPr sz="1275" b="1">
                <ns1:solidFill>
                  <ns1:srgbClr val="003262"/>
                </ns1:solidFill>
                <ns1:latin typeface="Arial"/>
                <ns1:ea typeface="Arial"/>
                <ns1:cs typeface="Arial"/>
              </ns1:defRPr>
            </ns1:pPr>
            <ns1:r>
              <ns1:rPr sz="1275" b="1">
                <ns1:solidFill>
                  <ns1:srgbClr val="003262"/>
                </ns1:solidFill>
                <ns1:latin typeface="Arial"/>
                <ns1:ea typeface="Arial"/>
                <ns1:cs typeface="Arial"/>
              </ns1:rPr>
              <ns1:t>Our GAN test Sharpe is 0.612, compared with the paper’s 0.750.</ns1:t>
            </ns1:r>
          </ns1:p>
          <ns1:p>
            <ns1:pPr marL="152400" indent="-88900">
              <ns1:spcAft>
                <ns1:spcPts val="200"/>
              </ns1:spcAft>
              <ns1:buChar char="•"/>
              <ns1:defRPr sz="1275" b="1">
                <ns1:solidFill>
                  <ns1:srgbClr val="003262"/>
                </ns1:solidFill>
                <ns1:latin typeface="Arial"/>
                <ns1:ea typeface="Arial"/>
                <ns1:cs typeface="Arial"/>
              </ns1:defRPr>
            </ns1:pPr>
            <ns1:r>
              <ns1:rPr sz="1275" b="1">
                <ns1:solidFill>
                  <ns1:srgbClr val="003262"/>
                </ns1:solidFill>
                <ns1:latin typeface="Arial"/>
                <ns1:ea typeface="Arial"/>
                <ns1:cs typeface="Arial"/>
              </ns1:rPr>
              <ns1:t>Similar rankings support replication, but do not imply exact numerical reproduction.</ns1:t>
            </ns1:r>
          </ns1:p>
        </ns0:txBody>
      </ns0:sp>
    </ns0:spTree>
    <ns0:extLst>
      <ns0:ext uri="{BB962C8B-B14F-4D97-AF65-F5344CB8AC3E}">
        <ns5:creationId val="1020934128"/>
      </ns0:ext>
    </ns0:extLst>
  </ns0:cSld>
</ns0:sld>
</file>

<file path=ppt/slides/slide6.xml><?xml version="1.0" encoding="utf-8"?>
<ns0:sld xmlns:ns0="http://schemas.openxmlformats.org/presentationml/2006/main" xmlns:ns1="http://schemas.openxmlformats.org/drawingml/2006/main" xmlns:ns2="http://schemas.microsoft.com/office/drawing/2014/main" xmlns:ns3="http://schemas.microsoft.com/office/powerpoint/2010/main">
  <ns0:cSld>
    <ns0:bg>
      <ns0:bgPr>
        <ns1:solidFill>
          <ns1:srgbClr val="FFFFFF"/>
        </ns1:solidFill>
      </ns0:bgPr>
    </ns0:bg>
    <ns0:spTree>
      <ns0:nvGrpSpPr>
        <ns0:cNvPr id="1" name=""/>
        <ns0:cNvGrpSpPr/>
        <ns0:nvPr/>
      </ns0:nvGrpSpPr>
      <ns0:grpSpPr>
        <ns1:xfrm/>
      </ns0:grpSpPr>
      <ns0:sp>
        <ns0:nvSpPr>
          <ns0:cNvPr id="8" name="">
            <ns1:extLst>
              <ns1:ext uri="{FF2B5EF4-FFF2-40B4-BE49-F238E27FC236}">
                <ns2:creationId id="{E99BE11B-4261-4CF5-9249-013190E84BC2}"/>
              </ns1:ext>
            </ns1:extLst>
          </ns0:cNvPr>
          <ns0:cNvSpPr>
            <ns1:spLocks noGrp="1"/>
          </ns0:cNvSpPr>
          <ns0:nvPr/>
        </ns0:nvSpPr>
        <ns0:spPr>
          <ns1:xfrm>
            <ns1:off x="0" y="0"/>
            <ns1:ext cx="66675" cy="2381250"/>
          </ns1:xfrm>
          <ns1:prstGeom prst="rect">
            <ns1:avLst/>
          </ns1:prstGeom>
          <ns1:solidFill>
            <ns1:srgbClr val="FDB515"/>
          </ns1:solidFill>
          <ns1:ln w="0">
            <ns1:noFill/>
          </ns1:ln>
        </ns0:spPr>
      </ns0:sp>
      <ns0:sp>
        <ns0:nvSpPr>
          <ns0:cNvPr id="2" name="">
            <ns1:extLst>
              <ns1:ext uri="{FF2B5EF4-FFF2-40B4-BE49-F238E27FC236}">
                <ns2:creationId id="{6F166329-D555-4B4B-B517-9F976DFD5E54}"/>
              </ns1:ext>
            </ns1:extLst>
          </ns0:cNvPr>
          <ns0:cNvSpPr>
            <ns1:spLocks noGrp="1"/>
          </ns0:cNvSpPr>
          <ns0:nvPr/>
        </ns0:nvSpPr>
        <ns0:spPr>
          <ns1:xfrm>
            <ns1:off x="0" y="2381250"/>
            <ns1:ext cx="66675" cy="2762250"/>
          </ns1:xfrm>
          <ns1:prstGeom prst="rect">
            <ns1:avLst/>
          </ns1:prstGeom>
          <ns1:solidFill>
            <ns1:srgbClr val="003262"/>
          </ns1:solidFill>
          <ns1:ln w="0">
            <ns1:noFill/>
          </ns1:ln>
        </ns0:spPr>
      </ns0:sp>
      <ns0:sp>
        <ns0:nvSpPr>
          <ns0:cNvPr id="3" name="">
            <ns1:extLst>
              <ns1:ext uri="{FF2B5EF4-FFF2-40B4-BE49-F238E27FC236}">
                <ns2:creationId id="{4FFADD75-D94A-448B-924C-D90C51A96C3B}"/>
              </ns1:ext>
            </ns1:extLst>
          </ns0:cNvPr>
          <ns0:cNvSpPr>
            <ns1:spLocks noGrp="1"/>
          </ns0:cNvSpPr>
          <ns0:nvPr/>
        </ns0:nvSpPr>
        <ns0:spPr>
          <ns1:xfrm>
            <ns1:off x="342900" y="238125"/>
            <ns1:ext cx="8458200" cy="514350"/>
          </ns1:xfrm>
          <ns1:prstGeom prst="rect">
            <ns1:avLst/>
          </ns1:prstGeom>
          <ns1:noFill/>
          <ns1:ln w="0">
            <ns1:noFill/>
          </ns1:ln>
        </ns0:spPr>
        <ns0:txBody>
          <ns1:bodyPr>
            <ns1:noAutofit/>
          </ns1:bodyPr>
          <ns1:lstStyle/>
          <ns1:p>
            <ns1:pPr>
              <ns1:buNone/>
              <ns1:defRPr sz="2175" b="1">
                <ns1:solidFill>
                  <ns1:srgbClr val="003262"/>
                </ns1:solidFill>
                <ns1:latin typeface="Arial"/>
                <ns1:ea typeface="Arial"/>
                <ns1:cs typeface="Arial"/>
              </ns1:defRPr>
            </ns1:pPr>
            <ns1:r>
              <ns1:rPr sz="2175" b="1">
                <ns1:solidFill>
                  <ns1:srgbClr val="003262"/>
                </ns1:solidFill>
                <ns1:latin typeface="Arial"/>
                <ns1:ea typeface="Arial"/>
                <ns1:cs typeface="Arial"/>
              </ns1:rPr>
              <ns1:t>Replication: validation and common signals</ns1:t>
            </ns1:r>
          </ns1:p>
        </ns0:txBody>
      </ns0:sp>
      <ns0:sp>
        <ns0:nvSpPr>
          <ns0:cNvPr id="4" name="">
            <ns1:extLst>
              <ns1:ext uri="{FF2B5EF4-FFF2-40B4-BE49-F238E27FC236}">
                <ns2:creationId id="{0DE48038-808C-4205-B9C5-761686BAF993}"/>
              </ns1:ext>
            </ns1:extLst>
          </ns0:cNvPr>
          <ns0:cNvSpPr>
            <ns1:spLocks noGrp="1"/>
          </ns0:cNvSpPr>
          <ns0:nvPr/>
        </ns0:nvSpPr>
        <ns0:spPr>
          <ns1:xfrm>
            <ns1:off x="342900" y="4781550"/>
            <ns1:ext cx="7810500" cy="228600"/>
          </ns1:xfrm>
          <ns1:prstGeom prst="rect">
            <ns1:avLst/>
          </ns1:prstGeom>
          <ns1:noFill/>
          <ns1:ln w="0">
            <ns1:noFill/>
          </ns1:ln>
        </ns0:spPr>
        <ns0:txBody>
          <ns1:bodyPr>
            <ns1:noAutofit/>
          </ns1:bodyPr>
          <ns1:lstStyle/>
          <ns1:p>
            <ns1:pPr>
              <ns1:buNone/>
              <ns1:defRPr sz="900" b="0">
                <ns1:solidFill>
                  <ns1:srgbClr val="5B6770"/>
                </ns1:solidFill>
                <ns1:latin typeface="Arial"/>
                <ns1:ea typeface="Arial"/>
                <ns1:cs typeface="Arial"/>
              </ns1:defRPr>
            </ns1:pPr>
            <ns1:r>
              <ns1:rPr sz="900" b="0">
                <ns1:solidFill>
                  <ns1:srgbClr val="5B6770"/>
                </ns1:solidFill>
                <ns1:latin typeface="Arial"/>
                <ns1:ea typeface="Arial"/>
                <ns1:cs typeface="Arial"/>
              </ns1:rPr>
              <ns1:t>Part 2. Replication</ns1:t>
            </ns1:r>
          </ns1:p>
        </ns0:txBody>
      </ns0:sp>
      <ns0:sp>
        <ns0:nvSpPr>
          <ns0:cNvPr id="5" name="">
            <ns1:extLst>
              <ns1:ext uri="{FF2B5EF4-FFF2-40B4-BE49-F238E27FC236}">
                <ns2:creationId id="{EA5EF2CC-5A0F-44CD-95D6-09752255A97C}"/>
              </ns1:ext>
            </ns1:extLst>
          </ns0:cNvPr>
          <ns0:cNvSpPr>
            <ns1:spLocks noGrp="1"/>
          </ns0:cNvSpPr>
          <ns0:nvPr/>
        </ns0:nvSpPr>
        <ns0:spPr>
          <ns1:xfrm>
            <ns1:off x="8458200" y="4781550"/>
            <ns1:ext cx="457200" cy="228600"/>
          </ns1:xfrm>
          <ns1:prstGeom prst="rect">
            <ns1:avLst/>
          </ns1:prstGeom>
          <ns1:noFill/>
          <ns1:ln w="0">
            <ns1:noFill/>
          </ns1:ln>
        </ns0:spPr>
        <ns0:txBody>
          <ns1:bodyPr>
            <ns1:noAutofit/>
          </ns1:bodyPr>
          <ns1:lstStyle/>
          <ns1:p>
            <ns1:pPr>
              <ns1:buNone/>
              <ns1:defRPr sz="900" b="0">
                <ns1:solidFill>
                  <ns1:srgbClr val="5B6770"/>
                </ns1:solidFill>
                <ns1:latin typeface="Arial"/>
                <ns1:ea typeface="Arial"/>
                <ns1:cs typeface="Arial"/>
              </ns1:defRPr>
            </ns1:pPr>
            <ns1:r>
              <ns1:rPr sz="900" b="0">
                <ns1:solidFill>
                  <ns1:srgbClr val="5B6770"/>
                </ns1:solidFill>
                <ns1:latin typeface="Arial"/>
                <ns1:ea typeface="Arial"/>
                <ns1:cs typeface="Arial"/>
              </ns1:rPr>
              <ns1:t>6</ns1:t>
            </ns1:r>
          </ns1:p>
        </ns0:txBody>
      </ns0:sp>
      <ns0:graphicFrame>
        <ns0:nvGraphicFramePr>
          <ns0:cNvPr id="17" name=""/>
          <ns0:cNvGraphicFramePr/>
          <ns0:nvPr/>
        </ns0:nvGraphicFramePr>
        <ns0:xfrm>
          <ns1:off x="400050" y="1019175"/>
          <ns1:ext cx="8343900" cy="2781300"/>
        </ns0:xfrm>
        <ns1:graphic>
          <ns1:graphicData uri="http://schemas.openxmlformats.org/drawingml/2006/table">
            <ns1:tbl>
              <ns1:tblPr/>
              <ns1:tblGrid>
                <ns1:gridCol w="2714625"/>
                <ns1:gridCol w="2814638"/>
                <ns1:gridCol w="2814638"/>
              </ns1:tblGrid>
              <ns1:tr h="556260">
                <ns1:tc>
                  <ns1:txBody>
                    <ns1:bodyPr/>
                    <ns1:lstStyle/>
                    <ns1:p>
                      <ns1:r>
                        <ns1:rPr sz="1350" b="1">
                          <ns1:solidFill>
                            <ns1:srgbClr val="FFFFFF"/>
                          </ns1:solidFill>
                          <ns1:latin typeface="Arial"/>
                          <ns1:ea typeface="Arial"/>
                          <ns1:cs typeface="Arial"/>
                        </ns1:rPr>
                        <ns1:t>Check</ns1:t>
                      </ns1:r>
                    </ns1:p>
                  </ns1:txBody>
                  <ns1:tcPr marL="91440" marR="91440" marT="45720" marB="45720">
                    <ns1:solidFill>
                      <ns1:srgbClr val="003262"/>
                    </ns1:solidFill>
                  </ns1:tcPr>
                </ns1:tc>
                <ns1:tc>
                  <ns1:txBody>
                    <ns1:bodyPr/>
                    <ns1:lstStyle/>
                    <ns1:p>
                      <ns1:r>
                        <ns1:rPr sz="1350" b="1">
                          <ns1:solidFill>
                            <ns1:srgbClr val="FFFFFF"/>
                          </ns1:solidFill>
                          <ns1:latin typeface="Arial"/>
                          <ns1:ea typeface="Arial"/>
                          <ns1:cs typeface="Arial"/>
                        </ns1:rPr>
                        <ns1:t>Our result</ns1:t>
                      </ns1:r>
                    </ns1:p>
                  </ns1:txBody>
                  <ns1:tcPr marL="91440" marR="91440" marT="45720" marB="45720">
                    <ns1:solidFill>
                      <ns1:srgbClr val="003262"/>
                    </ns1:solidFill>
                  </ns1:tcPr>
                </ns1:tc>
                <ns1:tc>
                  <ns1:txBody>
                    <ns1:bodyPr/>
                    <ns1:lstStyle/>
                    <ns1:p>
                      <ns1:r>
                        <ns1:rPr sz="1350" b="1">
                          <ns1:solidFill>
                            <ns1:srgbClr val="FFFFFF"/>
                          </ns1:solidFill>
                          <ns1:latin typeface="Arial"/>
                          <ns1:ea typeface="Arial"/>
                          <ns1:cs typeface="Arial"/>
                        </ns1:rPr>
                        <ns1:t>Reference</ns1:t>
                      </ns1:r>
                    </ns1:p>
                  </ns1:txBody>
                  <ns1:tcPr marL="91440" marR="91440" marT="45720" marB="45720">
                    <ns1:solidFill>
                      <ns1:srgbClr val="003262"/>
                    </ns1:solidFill>
                  </ns1:tcPr>
                </ns1:tc>
              </ns1:tr>
              <ns1:tr h="556260">
                <ns1:tc>
                  <ns1:txBody>
                    <ns1:bodyPr/>
                    <ns1:lstStyle/>
                    <ns1:p>
                      <ns1:r>
                        <ns1:rPr sz="1425" b="0">
                          <ns1:solidFill>
                            <ns1:srgbClr val="1F2A37"/>
                          </ns1:solidFill>
                          <ns1:latin typeface="Arial"/>
                          <ns1:ea typeface="Arial"/>
                          <ns1:cs typeface="Arial"/>
                        </ns1:rPr>
                        <ns1:t>FF-3 test Sharpe</ns1:t>
                      </ns1:r>
                    </ns1:p>
                  </ns1:txBody>
                  <ns1:tcPr marL="91440" marR="91440" marT="45720" marB="45720">
                    <ns1:solidFill>
                      <ns1:srgbClr val="EEF3F8"/>
                    </ns1:solidFill>
                  </ns1:tcPr>
                </ns1:tc>
                <ns1:tc>
                  <ns1:txBody>
                    <ns1:bodyPr/>
                    <ns1:lstStyle/>
                    <ns1:p>
                      <ns1:r>
                        <ns1:rPr sz="1425" b="0">
                          <ns1:solidFill>
                            <ns1:srgbClr val="1F2A37"/>
                          </ns1:solidFill>
                          <ns1:latin typeface="Arial"/>
                          <ns1:ea typeface="Arial"/>
                          <ns1:cs typeface="Arial"/>
                        </ns1:rPr>
                        <ns1:t>0.196</ns1:t>
                      </ns1:r>
                    </ns1:p>
                  </ns1:txBody>
                  <ns1:tcPr marL="91440" marR="91440" marT="45720" marB="45720">
                    <ns1:solidFill>
                      <ns1:srgbClr val="EEF3F8"/>
                    </ns1:solidFill>
                  </ns1:tcPr>
                </ns1:tc>
                <ns1:tc>
                  <ns1:txBody>
                    <ns1:bodyPr/>
                    <ns1:lstStyle/>
                    <ns1:p>
                      <ns1:r>
                        <ns1:rPr sz="1425" b="0">
                          <ns1:solidFill>
                            <ns1:srgbClr val="1F2A37"/>
                          </ns1:solidFill>
                          <ns1:latin typeface="Arial"/>
                          <ns1:ea typeface="Arial"/>
                          <ns1:cs typeface="Arial"/>
                        </ns1:rPr>
                        <ns1:t>Paper 0.190</ns1:t>
                      </ns1:r>
                    </ns1:p>
                  </ns1:txBody>
                  <ns1:tcPr marL="91440" marR="91440" marT="45720" marB="45720">
                    <ns1:solidFill>
                      <ns1:srgbClr val="EEF3F8"/>
                    </ns1:solidFill>
                  </ns1:tcPr>
                </ns1:tc>
              </ns1:tr>
              <ns1:tr h="556260">
                <ns1:tc>
                  <ns1:txBody>
                    <ns1:bodyPr/>
                    <ns1:lstStyle/>
                    <ns1:p>
                      <ns1:r>
                        <ns1:rPr sz="1425" b="0">
                          <ns1:solidFill>
                            <ns1:srgbClr val="1F2A37"/>
                          </ns1:solidFill>
                          <ns1:latin typeface="Arial"/>
                          <ns1:ea typeface="Arial"/>
                          <ns1:cs typeface="Arial"/>
                        </ns1:rPr>
                        <ns1:t>FF-5 test Sharpe</ns1:t>
                      </ns1:r>
                    </ns1:p>
                  </ns1:txBody>
                  <ns1:tcPr marL="91440" marR="91440" marT="45720" marB="45720">
                    <ns1:solidFill>
                      <ns1:srgbClr val="FFFFFF"/>
                    </ns1:solidFill>
                  </ns1:tcPr>
                </ns1:tc>
                <ns1:tc>
                  <ns1:txBody>
                    <ns1:bodyPr/>
                    <ns1:lstStyle/>
                    <ns1:p>
                      <ns1:r>
                        <ns1:rPr sz="1425" b="0">
                          <ns1:solidFill>
                            <ns1:srgbClr val="1F2A37"/>
                          </ns1:solidFill>
                          <ns1:latin typeface="Arial"/>
                          <ns1:ea typeface="Arial"/>
                          <ns1:cs typeface="Arial"/>
                        </ns1:rPr>
                        <ns1:t>0.223</ns1:t>
                      </ns1:r>
                    </ns1:p>
                  </ns1:txBody>
                  <ns1:tcPr marL="91440" marR="91440" marT="45720" marB="45720">
                    <ns1:solidFill>
                      <ns1:srgbClr val="FFFFFF"/>
                    </ns1:solidFill>
                  </ns1:tcPr>
                </ns1:tc>
                <ns1:tc>
                  <ns1:txBody>
                    <ns1:bodyPr/>
                    <ns1:lstStyle/>
                    <ns1:p>
                      <ns1:r>
                        <ns1:rPr sz="1425" b="0">
                          <ns1:solidFill>
                            <ns1:srgbClr val="1F2A37"/>
                          </ns1:solidFill>
                          <ns1:latin typeface="Arial"/>
                          <ns1:ea typeface="Arial"/>
                          <ns1:cs typeface="Arial"/>
                        </ns1:rPr>
                        <ns1:t>Paper 0.220</ns1:t>
                      </ns1:r>
                    </ns1:p>
                  </ns1:txBody>
                  <ns1:tcPr marL="91440" marR="91440" marT="45720" marB="45720">
                    <ns1:solidFill>
                      <ns1:srgbClr val="FFFFFF"/>
                    </ns1:solidFill>
                  </ns1:tcPr>
                </ns1:tc>
              </ns1:tr>
              <ns1:tr h="556260">
                <ns1:tc>
                  <ns1:txBody>
                    <ns1:bodyPr/>
                    <ns1:lstStyle/>
                    <ns1:p>
                      <ns1:r>
                        <ns1:rPr sz="1425" b="0">
                          <ns1:solidFill>
                            <ns1:srgbClr val="1F2A37"/>
                          </ns1:solidFill>
                          <ns1:latin typeface="Arial"/>
                          <ns1:ea typeface="Arial"/>
                          <ns1:cs typeface="Arial"/>
                        </ns1:rPr>
                        <ns1:t>GAN test correlation</ns1:t>
                      </ns1:r>
                    </ns1:p>
                  </ns1:txBody>
                  <ns1:tcPr marL="91440" marR="91440" marT="45720" marB="45720">
                    <ns1:solidFill>
                      <ns1:srgbClr val="EEF3F8"/>
                    </ns1:solidFill>
                  </ns1:tcPr>
                </ns1:tc>
                <ns1:tc>
                  <ns1:txBody>
                    <ns1:bodyPr/>
                    <ns1:lstStyle/>
                    <ns1:p>
                      <ns1:r>
                        <ns1:rPr sz="1425" b="0">
                          <ns1:solidFill>
                            <ns1:srgbClr val="1F2A37"/>
                          </ns1:solidFill>
                          <ns1:latin typeface="Arial"/>
                          <ns1:ea typeface="Arial"/>
                          <ns1:cs typeface="Arial"/>
                        </ns1:rPr>
                        <ns1:t>0.800</ns1:t>
                      </ns1:r>
                    </ns1:p>
                  </ns1:txBody>
                  <ns1:tcPr marL="91440" marR="91440" marT="45720" marB="45720">
                    <ns1:solidFill>
                      <ns1:srgbClr val="EEF3F8"/>
                    </ns1:solidFill>
                  </ns1:tcPr>
                </ns1:tc>
                <ns1:tc>
                  <ns1:txBody>
                    <ns1:bodyPr/>
                    <ns1:lstStyle/>
                    <ns1:p>
                      <ns1:r>
                        <ns1:rPr sz="1425" b="0">
                          <ns1:solidFill>
                            <ns1:srgbClr val="1F2A37"/>
                          </ns1:solidFill>
                          <ns1:latin typeface="Arial"/>
                          <ns1:ea typeface="Arial"/>
                          <ns1:cs typeface="Arial"/>
                        </ns1:rPr>
                        <ns1:t>Authors’ monthly GAN</ns1:t>
                      </ns1:r>
                    </ns1:p>
                  </ns1:txBody>
                  <ns1:tcPr marL="91440" marR="91440" marT="45720" marB="45720">
                    <ns1:solidFill>
                      <ns1:srgbClr val="EEF3F8"/>
                    </ns1:solidFill>
                  </ns1:tcPr>
                </ns1:tc>
              </ns1:tr>
              <ns1:tr h="556260">
                <ns1:tc>
                  <ns1:txBody>
                    <ns1:bodyPr/>
                    <ns1:lstStyle/>
                    <ns1:p>
                      <ns1:r>
                        <ns1:rPr sz="1425" b="0">
                          <ns1:solidFill>
                            <ns1:srgbClr val="1F2A37"/>
                          </ns1:solidFill>
                          <ns1:latin typeface="Arial"/>
                          <ns1:ea typeface="Arial"/>
                          <ns1:cs typeface="Arial"/>
                        </ns1:rPr>
                        <ns1:t>Leading characteristics</ns1:t>
                      </ns1:r>
                    </ns1:p>
                  </ns1:txBody>
                  <ns1:tcPr marL="91440" marR="91440" marT="45720" marB="45720">
                    <ns1:solidFill>
                      <ns1:srgbClr val="FFFFFF"/>
                    </ns1:solidFill>
                  </ns1:tcPr>
                </ns1:tc>
                <ns1:tc>
                  <ns1:txBody>
                    <ns1:bodyPr/>
                    <ns1:lstStyle/>
                    <ns1:p>
                      <ns1:r>
                        <ns1:rPr sz="1425" b="0">
                          <ns1:solidFill>
                            <ns1:srgbClr val="1F2A37"/>
                          </ns1:solidFill>
                          <ns1:latin typeface="Arial"/>
                          <ns1:ea typeface="Arial"/>
                          <ns1:cs typeface="Arial"/>
                        </ns1:rPr>
                        <ns1:t>ST_REV, SUV, r12_2</ns1:t>
                      </ns1:r>
                    </ns1:p>
                  </ns1:txBody>
                  <ns1:tcPr marL="91440" marR="91440" marT="45720" marB="45720">
                    <ns1:solidFill>
                      <ns1:srgbClr val="FFFFFF"/>
                    </ns1:solidFill>
                  </ns1:tcPr>
                </ns1:tc>
                <ns1:tc>
                  <ns1:txBody>
                    <ns1:bodyPr/>
                    <ns1:lstStyle/>
                    <ns1:p>
                      <ns1:r>
                        <ns1:rPr sz="1425" b="0">
                          <ns1:solidFill>
                            <ns1:srgbClr val="1F2A37"/>
                          </ns1:solidFill>
                          <ns1:latin typeface="Arial"/>
                          <ns1:ea typeface="Arial"/>
                          <ns1:cs typeface="Arial"/>
                        </ns1:rPr>
                        <ns1:t>Same top three</ns1:t>
                      </ns1:r>
                    </ns1:p>
                  </ns1:txBody>
                  <ns1:tcPr marL="91440" marR="91440" marT="45720" marB="45720">
                    <ns1:solidFill>
                      <ns1:srgbClr val="FFFFFF"/>
                    </ns1:solidFill>
                  </ns1:tcPr>
                </ns1:tc>
              </ns1:tr>
            </ns1:tbl>
          </ns1:graphicData>
        </ns1:graphic>
      </ns0:graphicFrame>
      <ns0:sp>
        <ns0:nvSpPr>
          <ns0:cNvPr id="10" name="">
            <ns1:extLst>
              <ns1:ext uri="{FF2B5EF4-FFF2-40B4-BE49-F238E27FC236}">
                <ns2:creationId id="{5A5B4478-583B-4CCC-B7F8-06102F755121}"/>
              </ns1:ext>
            </ns1:extLst>
          </ns0:cNvPr>
          <ns0:cNvSpPr>
            <ns1:spLocks noGrp="1"/>
          </ns0:cNvSpPr>
          <ns0:nvPr/>
        </ns0:nvSpPr>
        <ns0:spPr>
          <ns1:xfrm>
            <ns1:off x="419100" y="4257675"/>
            <ns1:ext cx="8286750" cy="457200"/>
          </ns1:xfrm>
          <ns1:prstGeom prst="rect">
            <ns1:avLst/>
          </ns1:prstGeom>
          <ns1:noFill/>
          <ns1:ln w="0">
            <ns1:noFill/>
          </ns1:ln>
        </ns0:spPr>
        <ns0:txBody>
          <ns1:bodyPr>
            <ns1:noAutofit/>
          </ns1:bodyPr>
          <ns1:lstStyle/>
          <ns1:p>
            <ns1:pPr marL="152400" indent="-88900">
              <ns1:spcAft>
                <ns1:spcPts val="200"/>
              </ns1:spcAft>
              <ns1:buChar char="•"/>
              <ns1:defRPr sz="1275" b="1">
                <ns1:solidFill>
                  <ns1:srgbClr val="003262"/>
                </ns1:solidFill>
                <ns1:latin typeface="Arial"/>
                <ns1:ea typeface="Arial"/>
                <ns1:cs typeface="Arial"/>
              </ns1:defRPr>
            </ns1:pPr>
            <ns1:r>
              <ns1:rPr sz="1275" b="1">
                <ns1:solidFill>
                  <ns1:srgbClr val="003262"/>
                </ns1:solidFill>
                <ns1:latin typeface="Arial"/>
                <ns1:ea typeface="Arial"/>
                <ns1:cs typeface="Arial"/>
              </ns1:rPr>
              <ns1:t>Factor Sharpe, return correlation and leading characteristics show economic similarity.</ns1:t>
            </ns1:r>
          </ns1:p>
          <ns1:p>
            <ns1:pPr marL="152400" indent="-88900">
              <ns1:spcAft>
                <ns1:spcPts val="200"/>
              </ns1:spcAft>
              <ns1:buChar char="•"/>
              <ns1:defRPr sz="1275" b="1">
                <ns1:solidFill>
                  <ns1:srgbClr val="003262"/>
                </ns1:solidFill>
                <ns1:latin typeface="Arial"/>
                <ns1:ea typeface="Arial"/>
                <ns1:cs typeface="Arial"/>
              </ns1:defRPr>
            </ns1:pPr>
            <ns1:r>
              <ns1:rPr sz="1275" b="1">
                <ns1:solidFill>
                  <ns1:srgbClr val="003262"/>
                </ns1:solidFill>
                <ns1:latin typeface="Arial"/>
                <ns1:ea typeface="Arial"/>
                <ns1:cs typeface="Arial"/>
              </ns1:rPr>
              <ns1:t>Implementation differences can still affect the replication gap.</ns1:t>
            </ns1:r>
          </ns1:p>
        </ns0:txBody>
      </ns0:sp>
    </ns0:spTree>
    <ns0:extLst>
      <ns0:ext uri="{BB962C8B-B14F-4D97-AF65-F5344CB8AC3E}">
        <ns3:creationId val="548532089"/>
      </ns0:ext>
    </ns0:extLst>
  </ns0:cSld>
</ns0:sld>
</file>

<file path=ppt/slides/slide7.xml><?xml version="1.0" encoding="utf-8"?>
<ns0:sld xmlns:ns0="http://schemas.openxmlformats.org/presentationml/2006/main" xmlns:ns1="http://schemas.openxmlformats.org/drawingml/2006/main" xmlns:ns2="http://schemas.microsoft.com/office/drawing/2014/main" xmlns:ns3="http://schemas.openxmlformats.org/drawingml/2006/chart" xmlns:ns4="http://schemas.openxmlformats.org/officeDocument/2006/relationships" xmlns:ns5="http://schemas.microsoft.com/office/powerpoint/2010/main">
  <ns0:cSld>
    <ns0:bg>
      <ns0:bgPr>
        <ns1:solidFill>
          <ns1:srgbClr val="FFFFFF"/>
        </ns1:solidFill>
      </ns0:bgPr>
    </ns0:bg>
    <ns0:spTree>
      <ns0:nvGrpSpPr>
        <ns0:cNvPr id="1" name=""/>
        <ns0:cNvGrpSpPr/>
        <ns0:nvPr/>
      </ns0:nvGrpSpPr>
      <ns0:grpSpPr>
        <ns1:xfrm/>
      </ns0:grpSpPr>
      <ns0:sp>
        <ns0:nvSpPr>
          <ns0:cNvPr id="8" name="">
            <ns1:extLst>
              <ns1:ext uri="{FF2B5EF4-FFF2-40B4-BE49-F238E27FC236}">
                <ns2:creationId id="{0700D548-CD4D-413E-AD30-5A44507AFBDE}"/>
              </ns1:ext>
            </ns1:extLst>
          </ns0:cNvPr>
          <ns0:cNvSpPr>
            <ns1:spLocks noGrp="1"/>
          </ns0:cNvSpPr>
          <ns0:nvPr/>
        </ns0:nvSpPr>
        <ns0:spPr>
          <ns1:xfrm>
            <ns1:off x="0" y="0"/>
            <ns1:ext cx="66675" cy="2381250"/>
          </ns1:xfrm>
          <ns1:prstGeom prst="rect">
            <ns1:avLst/>
          </ns1:prstGeom>
          <ns1:solidFill>
            <ns1:srgbClr val="FDB515"/>
          </ns1:solidFill>
          <ns1:ln w="0">
            <ns1:noFill/>
          </ns1:ln>
        </ns0:spPr>
      </ns0:sp>
      <ns0:sp>
        <ns0:nvSpPr>
          <ns0:cNvPr id="2" name="">
            <ns1:extLst>
              <ns1:ext uri="{FF2B5EF4-FFF2-40B4-BE49-F238E27FC236}">
                <ns2:creationId id="{B936E9CD-0600-4E31-A07F-ADDD8F6A5857}"/>
              </ns1:ext>
            </ns1:extLst>
          </ns0:cNvPr>
          <ns0:cNvSpPr>
            <ns1:spLocks noGrp="1"/>
          </ns0:cNvSpPr>
          <ns0:nvPr/>
        </ns0:nvSpPr>
        <ns0:spPr>
          <ns1:xfrm>
            <ns1:off x="0" y="2381250"/>
            <ns1:ext cx="66675" cy="2762250"/>
          </ns1:xfrm>
          <ns1:prstGeom prst="rect">
            <ns1:avLst/>
          </ns1:prstGeom>
          <ns1:solidFill>
            <ns1:srgbClr val="003262"/>
          </ns1:solidFill>
          <ns1:ln w="0">
            <ns1:noFill/>
          </ns1:ln>
        </ns0:spPr>
      </ns0:sp>
      <ns0:sp>
        <ns0:nvSpPr>
          <ns0:cNvPr id="3" name="">
            <ns1:extLst>
              <ns1:ext uri="{FF2B5EF4-FFF2-40B4-BE49-F238E27FC236}">
                <ns2:creationId id="{E8300B09-DD34-41F4-8BA7-2536FAF5AF80}"/>
              </ns1:ext>
            </ns1:extLst>
          </ns0:cNvPr>
          <ns0:cNvSpPr>
            <ns1:spLocks noGrp="1"/>
          </ns0:cNvSpPr>
          <ns0:nvPr/>
        </ns0:nvSpPr>
        <ns0:spPr>
          <ns1:xfrm>
            <ns1:off x="342900" y="238125"/>
            <ns1:ext cx="8458200" cy="514350"/>
          </ns1:xfrm>
          <ns1:prstGeom prst="rect">
            <ns1:avLst/>
          </ns1:prstGeom>
          <ns1:noFill/>
          <ns1:ln w="0">
            <ns1:noFill/>
          </ns1:ln>
        </ns0:spPr>
        <ns0:txBody>
          <ns1:bodyPr>
            <ns1:noAutofit/>
          </ns1:bodyPr>
          <ns1:lstStyle/>
          <ns1:p>
            <ns1:pPr>
              <ns1:buNone/>
              <ns1:defRPr sz="2175" b="1">
                <ns1:solidFill>
                  <ns1:srgbClr val="003262"/>
                </ns1:solidFill>
                <ns1:latin typeface="Arial"/>
                <ns1:ea typeface="Arial"/>
                <ns1:cs typeface="Arial"/>
              </ns1:defRPr>
            </ns1:pPr>
            <ns1:r>
              <ns1:rPr sz="2175" b="1">
                <ns1:solidFill>
                  <ns1:srgbClr val="003262"/>
                </ns1:solidFill>
                <ns1:latin typeface="Arial"/>
                <ns1:ea typeface="Arial"/>
                <ns1:cs typeface="Arial"/>
              </ns1:rPr>
              <ns1:t>Transformer: train, validation and test results</ns1:t>
            </ns1:r>
          </ns1:p>
        </ns0:txBody>
      </ns0:sp>
      <ns0:sp>
        <ns0:nvSpPr>
          <ns0:cNvPr id="4" name="">
            <ns1:extLst>
              <ns1:ext uri="{FF2B5EF4-FFF2-40B4-BE49-F238E27FC236}">
                <ns2:creationId id="{2D271C58-2903-4859-91E8-D524505C822E}"/>
              </ns1:ext>
            </ns1:extLst>
          </ns0:cNvPr>
          <ns0:cNvSpPr>
            <ns1:spLocks noGrp="1"/>
          </ns0:cNvSpPr>
          <ns0:nvPr/>
        </ns0:nvSpPr>
        <ns0:spPr>
          <ns1:xfrm>
            <ns1:off x="342900" y="4781550"/>
            <ns1:ext cx="7810500" cy="228600"/>
          </ns1:xfrm>
          <ns1:prstGeom prst="rect">
            <ns1:avLst/>
          </ns1:prstGeom>
          <ns1:noFill/>
          <ns1:ln w="0">
            <ns1:noFill/>
          </ns1:ln>
        </ns0:spPr>
        <ns0:txBody>
          <ns1:bodyPr>
            <ns1:noAutofit/>
          </ns1:bodyPr>
          <ns1:lstStyle/>
          <ns1:p>
            <ns1:pPr>
              <ns1:buNone/>
              <ns1:defRPr sz="900" b="0">
                <ns1:solidFill>
                  <ns1:srgbClr val="5B6770"/>
                </ns1:solidFill>
                <ns1:latin typeface="Arial"/>
                <ns1:ea typeface="Arial"/>
                <ns1:cs typeface="Arial"/>
              </ns1:defRPr>
            </ns1:pPr>
            <ns1:r>
              <ns1:rPr sz="900" b="0">
                <ns1:solidFill>
                  <ns1:srgbClr val="5B6770"/>
                </ns1:solidFill>
                <ns1:latin typeface="Arial"/>
                <ns1:ea typeface="Arial"/>
                <ns1:cs typeface="Arial"/>
              </ns1:rPr>
              <ns1:t>Part 3. Transformer</ns1:t>
            </ns1:r>
          </ns1:p>
        </ns0:txBody>
      </ns0:sp>
      <ns0:sp>
        <ns0:nvSpPr>
          <ns0:cNvPr id="5" name="">
            <ns1:extLst>
              <ns1:ext uri="{FF2B5EF4-FFF2-40B4-BE49-F238E27FC236}">
                <ns2:creationId id="{218538B8-CE65-40DB-9125-1A3ECA8F009A}"/>
              </ns1:ext>
            </ns1:extLst>
          </ns0:cNvPr>
          <ns0:cNvSpPr>
            <ns1:spLocks noGrp="1"/>
          </ns0:cNvSpPr>
          <ns0:nvPr/>
        </ns0:nvSpPr>
        <ns0:spPr>
          <ns1:xfrm>
            <ns1:off x="8458200" y="4781550"/>
            <ns1:ext cx="457200" cy="228600"/>
          </ns1:xfrm>
          <ns1:prstGeom prst="rect">
            <ns1:avLst/>
          </ns1:prstGeom>
          <ns1:noFill/>
          <ns1:ln w="0">
            <ns1:noFill/>
          </ns1:ln>
        </ns0:spPr>
        <ns0:txBody>
          <ns1:bodyPr>
            <ns1:noAutofit/>
          </ns1:bodyPr>
          <ns1:lstStyle/>
          <ns1:p>
            <ns1:pPr>
              <ns1:buNone/>
              <ns1:defRPr sz="900" b="0">
                <ns1:solidFill>
                  <ns1:srgbClr val="5B6770"/>
                </ns1:solidFill>
                <ns1:latin typeface="Arial"/>
                <ns1:ea typeface="Arial"/>
                <ns1:cs typeface="Arial"/>
              </ns1:defRPr>
            </ns1:pPr>
            <ns1:r>
              <ns1:rPr sz="900" b="0">
                <ns1:solidFill>
                  <ns1:srgbClr val="5B6770"/>
                </ns1:solidFill>
                <ns1:latin typeface="Arial"/>
                <ns1:ea typeface="Arial"/>
                <ns1:cs typeface="Arial"/>
              </ns1:rPr>
              <ns1:t>7</ns1:t>
            </ns1:r>
          </ns1:p>
        </ns0:txBody>
      </ns0:sp>
      <ns0:graphicFrame>
        <ns0:nvGraphicFramePr>
          <ns0:cNvPr id="17" name="Chart"/>
          <ns0:cNvGraphicFramePr/>
          <ns0:nvPr/>
        </ns0:nvGraphicFramePr>
        <ns0:xfrm>
          <ns1:off x="419100" y="933450"/>
          <ns1:ext cx="8305800" cy="3095625"/>
        </ns0:xfrm>
        <ns1:graphic>
          <ns1:graphicData uri="http://schemas.openxmlformats.org/drawingml/2006/chart">
            <ns3:chart ns4:id="Rcce8f694c8fa4fab"/>
          </ns1:graphicData>
        </ns1:graphic>
      </ns0:graphicFrame>
      <ns0:sp>
        <ns0:nvSpPr>
          <ns0:cNvPr id="10" name="">
            <ns1:extLst>
              <ns1:ext uri="{FF2B5EF4-FFF2-40B4-BE49-F238E27FC236}">
                <ns2:creationId id="{1457C092-7A5A-4724-BCC1-140AAFECED82}"/>
              </ns1:ext>
            </ns1:extLst>
          </ns0:cNvPr>
          <ns0:cNvSpPr>
            <ns1:spLocks noGrp="1"/>
          </ns0:cNvSpPr>
          <ns0:nvPr/>
        </ns0:nvSpPr>
        <ns0:spPr>
          <ns1:xfrm>
            <ns1:off x="419100" y="4257675"/>
            <ns1:ext cx="8286750" cy="457200"/>
          </ns1:xfrm>
          <ns1:prstGeom prst="rect">
            <ns1:avLst/>
          </ns1:prstGeom>
          <ns1:noFill/>
          <ns1:ln w="0">
            <ns1:noFill/>
          </ns1:ln>
        </ns0:spPr>
        <ns0:txBody>
          <ns1:bodyPr>
            <ns1:noAutofit/>
          </ns1:bodyPr>
          <ns1:lstStyle/>
          <ns1:p>
            <ns1:pPr marL="152400" indent="-88900">
              <ns1:spcAft>
                <ns1:spcPts val="200"/>
              </ns1:spcAft>
              <ns1:buChar char="•"/>
              <ns1:defRPr sz="1275" b="1">
                <ns1:solidFill>
                  <ns1:srgbClr val="003262"/>
                </ns1:solidFill>
                <ns1:latin typeface="Arial"/>
                <ns1:ea typeface="Arial"/>
                <ns1:cs typeface="Arial"/>
              </ns1:defRPr>
            </ns1:pPr>
            <ns1:r>
              <ns1:rPr sz="1275" b="1">
                <ns1:solidFill>
                  <ns1:srgbClr val="003262"/>
                </ns1:solidFill>
                <ns1:latin typeface="Arial"/>
                <ns1:ea typeface="Arial"/>
                <ns1:cs typeface="Arial"/>
              </ns1:rPr>
              <ns1:t>Extension LSTM leads Transformer: test monthly Sharpe is 0.459 versus 0.304.</ns1:t>
            </ns1:r>
          </ns1:p>
          <ns1:p>
            <ns1:pPr marL="152400" indent="-88900">
              <ns1:spcAft>
                <ns1:spcPts val="200"/>
              </ns1:spcAft>
              <ns1:buChar char="•"/>
              <ns1:defRPr sz="1275" b="1">
                <ns1:solidFill>
                  <ns1:srgbClr val="003262"/>
                </ns1:solidFill>
                <ns1:latin typeface="Arial"/>
                <ns1:ea typeface="Arial"/>
                <ns1:cs typeface="Arial"/>
              </ns1:defRPr>
            </ns1:pPr>
            <ns1:r>
              <ns1:rPr sz="1275" b="1">
                <ns1:solidFill>
                  <ns1:srgbClr val="003262"/>
                </ns1:solidFill>
                <ns1:latin typeface="Arial"/>
                <ns1:ea typeface="Arial"/>
                <ns1:cs typeface="Arial"/>
              </ns1:rPr>
              <ns1:t>This comparison holds under our reduced budget, not the full author schedule.</ns1:t>
            </ns1:r>
          </ns1:p>
        </ns0:txBody>
      </ns0:sp>
    </ns0:spTree>
    <ns0:extLst>
      <ns0:ext uri="{BB962C8B-B14F-4D97-AF65-F5344CB8AC3E}">
        <ns5:creationId val="2037954249"/>
      </ns0:ext>
    </ns0:extLst>
  </ns0:cSld>
</ns0:sld>
</file>

<file path=ppt/slides/slide8.xml><?xml version="1.0" encoding="utf-8"?>
<ns0:sld xmlns:ns0="http://schemas.openxmlformats.org/presentationml/2006/main" xmlns:ns1="http://schemas.openxmlformats.org/drawingml/2006/main" xmlns:ns2="http://schemas.microsoft.com/office/drawing/2014/main" xmlns:ns3="http://schemas.openxmlformats.org/officeDocument/2006/relationships" xmlns:ns4="http://schemas.microsoft.com/office/powerpoint/2010/main">
  <ns0:cSld>
    <ns0:bg>
      <ns0:bgPr>
        <ns1:solidFill>
          <ns1:srgbClr val="FFFFFF"/>
        </ns1:solidFill>
      </ns0:bgPr>
    </ns0:bg>
    <ns0:spTree>
      <ns0:nvGrpSpPr>
        <ns0:cNvPr id="1" name=""/>
        <ns0:cNvGrpSpPr/>
        <ns0:nvPr/>
      </ns0:nvGrpSpPr>
      <ns0:grpSpPr>
        <ns1:xfrm/>
      </ns0:grpSpPr>
      <ns0:sp>
        <ns0:nvSpPr>
          <ns0:cNvPr id="13" name="">
            <ns1:extLst>
              <ns1:ext uri="{FF2B5EF4-FFF2-40B4-BE49-F238E27FC236}">
                <ns2:creationId id="{9866F3AD-AB2C-46C9-A764-C82928CDD4CD}"/>
              </ns1:ext>
            </ns1:extLst>
          </ns0:cNvPr>
          <ns0:cNvSpPr>
            <ns1:spLocks noGrp="1"/>
          </ns0:cNvSpPr>
          <ns0:nvPr/>
        </ns0:nvSpPr>
        <ns0:spPr>
          <ns1:xfrm>
            <ns1:off x="0" y="0"/>
            <ns1:ext cx="66675" cy="2381250"/>
          </ns1:xfrm>
          <ns1:prstGeom prst="rect">
            <ns1:avLst/>
          </ns1:prstGeom>
          <ns1:solidFill>
            <ns1:srgbClr val="FDB515"/>
          </ns1:solidFill>
          <ns1:ln w="0">
            <ns1:noFill/>
          </ns1:ln>
        </ns0:spPr>
      </ns0:sp>
      <ns0:sp>
        <ns0:nvSpPr>
          <ns0:cNvPr id="2" name="">
            <ns1:extLst>
              <ns1:ext uri="{FF2B5EF4-FFF2-40B4-BE49-F238E27FC236}">
                <ns2:creationId id="{C05C9FE0-4892-415D-BDDA-B96FA8872057}"/>
              </ns1:ext>
            </ns1:extLst>
          </ns0:cNvPr>
          <ns0:cNvSpPr>
            <ns1:spLocks noGrp="1"/>
          </ns0:cNvSpPr>
          <ns0:nvPr/>
        </ns0:nvSpPr>
        <ns0:spPr>
          <ns1:xfrm>
            <ns1:off x="0" y="2381250"/>
            <ns1:ext cx="66675" cy="2762250"/>
          </ns1:xfrm>
          <ns1:prstGeom prst="rect">
            <ns1:avLst/>
          </ns1:prstGeom>
          <ns1:solidFill>
            <ns1:srgbClr val="003262"/>
          </ns1:solidFill>
          <ns1:ln w="0">
            <ns1:noFill/>
          </ns1:ln>
        </ns0:spPr>
      </ns0:sp>
      <ns0:sp>
        <ns0:nvSpPr>
          <ns0:cNvPr id="3" name="">
            <ns1:extLst>
              <ns1:ext uri="{FF2B5EF4-FFF2-40B4-BE49-F238E27FC236}">
                <ns2:creationId id="{D2D8B698-64C8-4609-9EBC-EBD493936500}"/>
              </ns1:ext>
            </ns1:extLst>
          </ns0:cNvPr>
          <ns0:cNvSpPr>
            <ns1:spLocks noGrp="1"/>
          </ns0:cNvSpPr>
          <ns0:nvPr/>
        </ns0:nvSpPr>
        <ns0:spPr>
          <ns1:xfrm>
            <ns1:off x="342900" y="238125"/>
            <ns1:ext cx="8458200" cy="514350"/>
          </ns1:xfrm>
          <ns1:prstGeom prst="rect">
            <ns1:avLst/>
          </ns1:prstGeom>
          <ns1:noFill/>
          <ns1:ln w="0">
            <ns1:noFill/>
          </ns1:ln>
        </ns0:spPr>
        <ns0:txBody>
          <ns1:bodyPr>
            <ns1:noAutofit/>
          </ns1:bodyPr>
          <ns1:lstStyle/>
          <ns1:p>
            <ns1:pPr>
              <ns1:buNone/>
              <ns1:defRPr sz="2175" b="1">
                <ns1:solidFill>
                  <ns1:srgbClr val="003262"/>
                </ns1:solidFill>
                <ns1:latin typeface="Arial"/>
                <ns1:ea typeface="Arial"/>
                <ns1:cs typeface="Arial"/>
              </ns1:defRPr>
            </ns1:pPr>
            <ns1:r>
              <ns1:rPr sz="2175" b="1">
                <ns1:solidFill>
                  <ns1:srgbClr val="003262"/>
                </ns1:solidFill>
                <ns1:latin typeface="Arial"/>
                <ns1:ea typeface="Arial"/>
                <ns1:cs typeface="Arial"/>
              </ns1:rPr>
              <ns1:t>Rolling: 36- and 60-month Sharpe</ns1:t>
            </ns1:r>
          </ns1:p>
        </ns0:txBody>
      </ns0:sp>
      <ns0:sp>
        <ns0:nvSpPr>
          <ns0:cNvPr id="4" name="">
            <ns1:extLst>
              <ns1:ext uri="{FF2B5EF4-FFF2-40B4-BE49-F238E27FC236}">
                <ns2:creationId id="{29C225ED-7FEF-4671-B713-F8C687A03758}"/>
              </ns1:ext>
            </ns1:extLst>
          </ns0:cNvPr>
          <ns0:cNvSpPr>
            <ns1:spLocks noGrp="1"/>
          </ns0:cNvSpPr>
          <ns0:nvPr/>
        </ns0:nvSpPr>
        <ns0:spPr>
          <ns1:xfrm>
            <ns1:off x="342900" y="4781550"/>
            <ns1:ext cx="7810500" cy="228600"/>
          </ns1:xfrm>
          <ns1:prstGeom prst="rect">
            <ns1:avLst/>
          </ns1:prstGeom>
          <ns1:noFill/>
          <ns1:ln w="0">
            <ns1:noFill/>
          </ns1:ln>
        </ns0:spPr>
        <ns0:txBody>
          <ns1:bodyPr>
            <ns1:noAutofit/>
          </ns1:bodyPr>
          <ns1:lstStyle/>
          <ns1:p>
            <ns1:pPr>
              <ns1:buNone/>
              <ns1:defRPr sz="900" b="0">
                <ns1:solidFill>
                  <ns1:srgbClr val="5B6770"/>
                </ns1:solidFill>
                <ns1:latin typeface="Arial"/>
                <ns1:ea typeface="Arial"/>
                <ns1:cs typeface="Arial"/>
              </ns1:defRPr>
            </ns1:pPr>
            <ns1:r>
              <ns1:rPr sz="900" b="0">
                <ns1:solidFill>
                  <ns1:srgbClr val="5B6770"/>
                </ns1:solidFill>
                <ns1:latin typeface="Arial"/>
                <ns1:ea typeface="Arial"/>
                <ns1:cs typeface="Arial"/>
              </ns1:rPr>
              <ns1:t>Part 4. Rolling windows</ns1:t>
            </ns1:r>
          </ns1:p>
        </ns0:txBody>
      </ns0:sp>
      <ns0:sp>
        <ns0:nvSpPr>
          <ns0:cNvPr id="5" name="">
            <ns1:extLst>
              <ns1:ext uri="{FF2B5EF4-FFF2-40B4-BE49-F238E27FC236}">
                <ns2:creationId id="{33563EF8-0359-4721-8AFE-4463B97AA990}"/>
              </ns1:ext>
            </ns1:extLst>
          </ns0:cNvPr>
          <ns0:cNvSpPr>
            <ns1:spLocks noGrp="1"/>
          </ns0:cNvSpPr>
          <ns0:nvPr/>
        </ns0:nvSpPr>
        <ns0:spPr>
          <ns1:xfrm>
            <ns1:off x="8458200" y="4781550"/>
            <ns1:ext cx="457200" cy="228600"/>
          </ns1:xfrm>
          <ns1:prstGeom prst="rect">
            <ns1:avLst/>
          </ns1:prstGeom>
          <ns1:noFill/>
          <ns1:ln w="0">
            <ns1:noFill/>
          </ns1:ln>
        </ns0:spPr>
        <ns0:txBody>
          <ns1:bodyPr>
            <ns1:noAutofit/>
          </ns1:bodyPr>
          <ns1:lstStyle/>
          <ns1:p>
            <ns1:pPr>
              <ns1:buNone/>
              <ns1:defRPr sz="900" b="0">
                <ns1:solidFill>
                  <ns1:srgbClr val="5B6770"/>
                </ns1:solidFill>
                <ns1:latin typeface="Arial"/>
                <ns1:ea typeface="Arial"/>
                <ns1:cs typeface="Arial"/>
              </ns1:defRPr>
            </ns1:pPr>
            <ns1:r>
              <ns1:rPr sz="900" b="0">
                <ns1:solidFill>
                  <ns1:srgbClr val="5B6770"/>
                </ns1:solidFill>
                <ns1:latin typeface="Arial"/>
                <ns1:ea typeface="Arial"/>
                <ns1:cs typeface="Arial"/>
              </ns1:rPr>
              <ns1:t>8</ns1:t>
            </ns1:r>
          </ns1:p>
        </ns0:txBody>
      </ns0:sp>
      <ns0:pic>
        <ns0:nvPicPr>
          <ns0:cNvPr id="23" name=""/>
          <ns0:cNvPicPr>
            <ns1:picLocks noChangeAspect="1"/>
          </ns0:cNvPicPr>
          <ns0:nvPr/>
        </ns0:nvPicPr>
        <ns0:blipFill>
          <ns1:blip ns3:embed="R7b542a8bbd7148b1"/>
          <ns1:stretch/>
        </ns0:blipFill>
        <ns0:spPr>
          <ns1:xfrm>
            <ns1:off x="1909763" y="857250"/>
            <ns1:ext cx="5324475" cy="3276600"/>
          </ns1:xfrm>
          <ns1:prstGeom prst="rect">
            <ns1:avLst/>
          </ns1:prstGeom>
        </ns0:spPr>
      </ns0:pic>
      <ns0:sp>
        <ns0:nvSpPr>
          <ns0:cNvPr id="16" name="">
            <ns1:extLst>
              <ns1:ext uri="{FF2B5EF4-FFF2-40B4-BE49-F238E27FC236}">
                <ns2:creationId id="{1A2FFD10-B8A2-4896-827A-7D5EE12E3A21}"/>
              </ns1:ext>
            </ns1:extLst>
          </ns0:cNvPr>
          <ns0:cNvSpPr>
            <ns1:spLocks noGrp="1"/>
          </ns0:cNvSpPr>
          <ns0:nvPr/>
        </ns0:nvSpPr>
        <ns0:spPr>
          <ns1:xfrm>
            <ns1:off x="419100" y="4257675"/>
            <ns1:ext cx="8286750" cy="457200"/>
          </ns1:xfrm>
          <ns1:prstGeom prst="rect">
            <ns1:avLst/>
          </ns1:prstGeom>
          <ns1:noFill/>
          <ns1:ln w="0">
            <ns1:noFill/>
          </ns1:ln>
        </ns0:spPr>
        <ns0:txBody>
          <ns1:bodyPr>
            <ns1:noAutofit/>
          </ns1:bodyPr>
          <ns1:lstStyle/>
          <ns1:p>
            <ns1:pPr marL="152400" indent="-88900">
              <ns1:spcAft>
                <ns1:spcPts val="200"/>
              </ns1:spcAft>
              <ns1:buChar char="•"/>
              <ns1:defRPr sz="1275" b="1">
                <ns1:solidFill>
                  <ns1:srgbClr val="003262"/>
                </ns1:solidFill>
                <ns1:latin typeface="Arial"/>
                <ns1:ea typeface="Arial"/>
                <ns1:cs typeface="Arial"/>
              </ns1:defRPr>
            </ns1:pPr>
            <ns1:r>
              <ns1:rPr sz="1275" b="1">
                <ns1:solidFill>
                  <ns1:srgbClr val="003262"/>
                </ns1:solidFill>
                <ns1:latin typeface="Arial"/>
                <ns1:ea typeface="Arial"/>
                <ns1:cs typeface="Arial"/>
              </ns1:rPr>
              <ns1:t>Curves show annualized Sharpe over the previous 36 or 60 months.</ns1:t>
            </ns1:r>
          </ns1:p>
          <ns1:p>
            <ns1:pPr marL="152400" indent="-88900">
              <ns1:spcAft>
                <ns1:spcPts val="200"/>
              </ns1:spcAft>
              <ns1:buChar char="•"/>
              <ns1:defRPr sz="1275" b="1">
                <ns1:solidFill>
                  <ns1:srgbClr val="003262"/>
                </ns1:solidFill>
                <ns1:latin typeface="Arial"/>
                <ns1:ea typeface="Arial"/>
                <ns1:cs typeface="Arial"/>
              </ns1:defRPr>
            </ns1:pPr>
            <ns1:r>
              <ns1:rPr sz="1275" b="1">
                <ns1:solidFill>
                  <ns1:srgbClr val="003262"/>
                </ns1:solidFill>
                <ns1:latin typeface="Arial"/>
                <ns1:ea typeface="Arial"/>
                <ns1:cs typeface="Arial"/>
              </ns1:rPr>
              <ns1:t>Longer windows smooth fluctuations. These fixed models are not retrained.</ns1:t>
            </ns1:r>
          </ns1:p>
        </ns0:txBody>
      </ns0:sp>
    </ns0:spTree>
    <ns0:extLst>
      <ns0:ext uri="{BB962C8B-B14F-4D97-AF65-F5344CB8AC3E}">
        <ns4:creationId val="1467767590"/>
      </ns0:ext>
    </ns0:extLst>
  </ns0:cSld>
</ns0:sld>
</file>

<file path=ppt/slides/slide9.xml><?xml version="1.0" encoding="utf-8"?>
<ns0:sld xmlns:ns0="http://schemas.openxmlformats.org/presentationml/2006/main" xmlns:ns1="http://schemas.openxmlformats.org/drawingml/2006/main" xmlns:ns2="http://schemas.microsoft.com/office/drawing/2014/main" xmlns:ns3="http://schemas.openxmlformats.org/officeDocument/2006/relationships" xmlns:ns4="http://schemas.microsoft.com/office/powerpoint/2010/main">
  <ns0:cSld>
    <ns0:bg>
      <ns0:bgPr>
        <ns1:solidFill>
          <ns1:srgbClr val="FFFFFF"/>
        </ns1:solidFill>
      </ns0:bgPr>
    </ns0:bg>
    <ns0:spTree>
      <ns0:nvGrpSpPr>
        <ns0:cNvPr id="1" name=""/>
        <ns0:cNvGrpSpPr/>
        <ns0:nvPr/>
      </ns0:nvGrpSpPr>
      <ns0:grpSpPr>
        <ns1:xfrm/>
      </ns0:grpSpPr>
      <ns0:sp>
        <ns0:nvSpPr>
          <ns0:cNvPr id="13" name="">
            <ns1:extLst>
              <ns1:ext uri="{FF2B5EF4-FFF2-40B4-BE49-F238E27FC236}">
                <ns2:creationId id="{9866F3AD-AB2C-46C9-A764-C82928CDD4CD}"/>
              </ns1:ext>
            </ns1:extLst>
          </ns0:cNvPr>
          <ns0:cNvSpPr>
            <ns1:spLocks noGrp="1"/>
          </ns0:cNvSpPr>
          <ns0:nvPr/>
        </ns0:nvSpPr>
        <ns0:spPr>
          <ns1:xfrm>
            <ns1:off x="0" y="0"/>
            <ns1:ext cx="66675" cy="2381250"/>
          </ns1:xfrm>
          <ns1:prstGeom prst="rect">
            <ns1:avLst/>
          </ns1:prstGeom>
          <ns1:solidFill>
            <ns1:srgbClr val="FDB515"/>
          </ns1:solidFill>
          <ns1:ln w="0">
            <ns1:noFill/>
          </ns1:ln>
        </ns0:spPr>
      </ns0:sp>
      <ns0:sp>
        <ns0:nvSpPr>
          <ns0:cNvPr id="2" name="">
            <ns1:extLst>
              <ns1:ext uri="{FF2B5EF4-FFF2-40B4-BE49-F238E27FC236}">
                <ns2:creationId id="{C05C9FE0-4892-415D-BDDA-B96FA8872057}"/>
              </ns1:ext>
            </ns1:extLst>
          </ns0:cNvPr>
          <ns0:cNvSpPr>
            <ns1:spLocks noGrp="1"/>
          </ns0:cNvSpPr>
          <ns0:nvPr/>
        </ns0:nvSpPr>
        <ns0:spPr>
          <ns1:xfrm>
            <ns1:off x="0" y="2381250"/>
            <ns1:ext cx="66675" cy="2762250"/>
          </ns1:xfrm>
          <ns1:prstGeom prst="rect">
            <ns1:avLst/>
          </ns1:prstGeom>
          <ns1:solidFill>
            <ns1:srgbClr val="003262"/>
          </ns1:solidFill>
          <ns1:ln w="0">
            <ns1:noFill/>
          </ns1:ln>
        </ns0:spPr>
      </ns0:sp>
      <ns0:sp>
        <ns0:nvSpPr>
          <ns0:cNvPr id="3" name="">
            <ns1:extLst>
              <ns1:ext uri="{FF2B5EF4-FFF2-40B4-BE49-F238E27FC236}">
                <ns2:creationId id="{D2D8B698-64C8-4609-9EBC-EBD493936500}"/>
              </ns1:ext>
            </ns1:extLst>
          </ns0:cNvPr>
          <ns0:cNvSpPr>
            <ns1:spLocks noGrp="1"/>
          </ns0:cNvSpPr>
          <ns0:nvPr/>
        </ns0:nvSpPr>
        <ns0:spPr>
          <ns1:xfrm>
            <ns1:off x="342900" y="238125"/>
            <ns1:ext cx="8458200" cy="514350"/>
          </ns1:xfrm>
          <ns1:prstGeom prst="rect">
            <ns1:avLst/>
          </ns1:prstGeom>
          <ns1:noFill/>
          <ns1:ln w="0">
            <ns1:noFill/>
          </ns1:ln>
        </ns0:spPr>
        <ns0:txBody>
          <ns1:bodyPr>
            <ns1:noAutofit/>
          </ns1:bodyPr>
          <ns1:lstStyle/>
          <ns1:p>
            <ns1:pPr>
              <ns1:buNone/>
              <ns1:defRPr sz="2175" b="1">
                <ns1:solidFill>
                  <ns1:srgbClr val="003262"/>
                </ns1:solidFill>
                <ns1:latin typeface="Arial"/>
                <ns1:ea typeface="Arial"/>
                <ns1:cs typeface="Arial"/>
              </ns1:defRPr>
            </ns1:pPr>
            <ns1:r>
              <ns1:rPr sz="2175" b="1">
                <ns1:solidFill>
                  <ns1:srgbClr val="003262"/>
                </ns1:solidFill>
                <ns1:latin typeface="Arial"/>
                <ns1:ea typeface="Arial"/>
                <ns1:cs typeface="Arial"/>
              </ns1:rPr>
              <ns1:t>Rolling: paired Sharpe differences</ns1:t>
            </ns1:r>
          </ns1:p>
        </ns0:txBody>
      </ns0:sp>
      <ns0:sp>
        <ns0:nvSpPr>
          <ns0:cNvPr id="4" name="">
            <ns1:extLst>
              <ns1:ext uri="{FF2B5EF4-FFF2-40B4-BE49-F238E27FC236}">
                <ns2:creationId id="{29C225ED-7FEF-4671-B713-F8C687A03758}"/>
              </ns1:ext>
            </ns1:extLst>
          </ns0:cNvPr>
          <ns0:cNvSpPr>
            <ns1:spLocks noGrp="1"/>
          </ns0:cNvSpPr>
          <ns0:nvPr/>
        </ns0:nvSpPr>
        <ns0:spPr>
          <ns1:xfrm>
            <ns1:off x="342900" y="4781550"/>
            <ns1:ext cx="7810500" cy="228600"/>
          </ns1:xfrm>
          <ns1:prstGeom prst="rect">
            <ns1:avLst/>
          </ns1:prstGeom>
          <ns1:noFill/>
          <ns1:ln w="0">
            <ns1:noFill/>
          </ns1:ln>
        </ns0:spPr>
        <ns0:txBody>
          <ns1:bodyPr>
            <ns1:noAutofit/>
          </ns1:bodyPr>
          <ns1:lstStyle/>
          <ns1:p>
            <ns1:pPr>
              <ns1:buNone/>
              <ns1:defRPr sz="900" b="0">
                <ns1:solidFill>
                  <ns1:srgbClr val="5B6770"/>
                </ns1:solidFill>
                <ns1:latin typeface="Arial"/>
                <ns1:ea typeface="Arial"/>
                <ns1:cs typeface="Arial"/>
              </ns1:defRPr>
            </ns1:pPr>
            <ns1:r>
              <ns1:rPr sz="900" b="0">
                <ns1:solidFill>
                  <ns1:srgbClr val="5B6770"/>
                </ns1:solidFill>
                <ns1:latin typeface="Arial"/>
                <ns1:ea typeface="Arial"/>
                <ns1:cs typeface="Arial"/>
              </ns1:rPr>
              <ns1:t>Part 4. Rolling windows</ns1:t>
            </ns1:r>
          </ns1:p>
        </ns0:txBody>
      </ns0:sp>
      <ns0:sp>
        <ns0:nvSpPr>
          <ns0:cNvPr id="5" name="">
            <ns1:extLst>
              <ns1:ext uri="{FF2B5EF4-FFF2-40B4-BE49-F238E27FC236}">
                <ns2:creationId id="{33563EF8-0359-4721-8AFE-4463B97AA990}"/>
              </ns1:ext>
            </ns1:extLst>
          </ns0:cNvPr>
          <ns0:cNvSpPr>
            <ns1:spLocks noGrp="1"/>
          </ns0:cNvSpPr>
          <ns0:nvPr/>
        </ns0:nvSpPr>
        <ns0:spPr>
          <ns1:xfrm>
            <ns1:off x="8458200" y="4781550"/>
            <ns1:ext cx="457200" cy="228600"/>
          </ns1:xfrm>
          <ns1:prstGeom prst="rect">
            <ns1:avLst/>
          </ns1:prstGeom>
          <ns1:noFill/>
          <ns1:ln w="0">
            <ns1:noFill/>
          </ns1:ln>
        </ns0:spPr>
        <ns0:txBody>
          <ns1:bodyPr>
            <ns1:noAutofit/>
          </ns1:bodyPr>
          <ns1:lstStyle/>
          <ns1:p>
            <ns1:pPr>
              <ns1:buNone/>
              <ns1:defRPr sz="900" b="0">
                <ns1:solidFill>
                  <ns1:srgbClr val="5B6770"/>
                </ns1:solidFill>
                <ns1:latin typeface="Arial"/>
                <ns1:ea typeface="Arial"/>
                <ns1:cs typeface="Arial"/>
              </ns1:defRPr>
            </ns1:pPr>
            <ns1:r>
              <ns1:rPr sz="900" b="0">
                <ns1:solidFill>
                  <ns1:srgbClr val="5B6770"/>
                </ns1:solidFill>
                <ns1:latin typeface="Arial"/>
                <ns1:ea typeface="Arial"/>
                <ns1:cs typeface="Arial"/>
              </ns1:rPr>
              <ns1:t>9</ns1:t>
            </ns1:r>
          </ns1:p>
        </ns0:txBody>
      </ns0:sp>
      <ns0:pic>
        <ns0:nvPicPr>
          <ns0:cNvPr id="25" name=""/>
          <ns0:cNvPicPr>
            <ns1:picLocks noChangeAspect="1"/>
          </ns0:cNvPicPr>
          <ns0:nvPr/>
        </ns0:nvPicPr>
        <ns0:blipFill>
          <ns1:blip ns3:embed="Rb1a7100c465340be"/>
          <ns1:stretch/>
        </ns0:blipFill>
        <ns0:spPr>
          <ns1:xfrm>
            <ns1:off x="1235652" y="742950"/>
            <ns1:ext cx="4424795" cy="3476625"/>
          </ns1:xfrm>
          <ns1:prstGeom prst="rect">
            <ns1:avLst/>
          </ns1:prstGeom>
        </ns0:spPr>
      </ns0:pic>
      <ns0:sp>
        <ns0:nvSpPr>
          <ns0:cNvPr id="15" name="">
            <ns1:extLst>
              <ns1:ext uri="{FF2B5EF4-FFF2-40B4-BE49-F238E27FC236}">
                <ns2:creationId id="{DCFFA772-2692-4148-BCFF-354C15928372}"/>
              </ns1:ext>
            </ns1:extLst>
          </ns0:cNvPr>
          <ns0:cNvSpPr>
            <ns1:spLocks noGrp="1"/>
          </ns0:cNvSpPr>
          <ns0:nvPr/>
        </ns0:nvSpPr>
        <ns0:spPr>
          <ns1:xfrm>
            <ns1:off x="6800850" y="1066800"/>
            <ns1:ext cx="2133600" cy="619125"/>
          </ns1:xfrm>
          <ns1:prstGeom prst="rect">
            <ns1:avLst/>
          </ns1:prstGeom>
          <ns1:noFill/>
          <ns1:ln w="0">
            <ns1:noFill/>
          </ns1:ln>
        </ns0:spPr>
        <ns0:txBody>
          <ns1:bodyPr>
            <ns1:noAutofit/>
          </ns1:bodyPr>
          <ns1:lstStyle/>
          <ns1:p>
            <ns1:pPr>
              <ns1:buNone/>
              <ns1:defRPr sz="1650" b="1">
                <ns1:solidFill>
                  <ns1:srgbClr val="003262"/>
                </ns1:solidFill>
                <ns1:latin typeface="Arial"/>
                <ns1:ea typeface="Arial"/>
                <ns1:cs typeface="Arial"/>
              </ns1:defRPr>
            </ns1:pPr>
            <ns1:r>
              <ns1:rPr sz="1650" b="1">
                <ns1:solidFill>
                  <ns1:srgbClr val="003262"/>
                </ns1:solidFill>
                <ns1:latin typeface="Arial"/>
                <ns1:ea typeface="Arial"/>
                <ns1:cs typeface="Arial"/>
              </ns1:rPr>
              <ns1:t>36- and 60-month windows</ns1:t>
            </ns1:r>
          </ns1:p>
        </ns0:txBody>
      </ns0:sp>
      <ns0:sp>
        <ns0:nvSpPr>
          <ns0:cNvPr id="16" name="">
            <ns1:extLst>
              <ns1:ext uri="{FF2B5EF4-FFF2-40B4-BE49-F238E27FC236}">
                <ns2:creationId id="{5219C44E-FA2B-45E2-A4B3-E22300D07256}"/>
              </ns1:ext>
            </ns1:extLst>
          </ns0:cNvPr>
          <ns0:cNvSpPr>
            <ns1:spLocks noGrp="1"/>
          </ns0:cNvSpPr>
          <ns0:nvPr/>
        </ns0:nvSpPr>
        <ns0:spPr>
          <ns1:xfrm>
            <ns1:off x="6800850" y="1924050"/>
            <ns1:ext cx="2133600" cy="1057275"/>
          </ns1:xfrm>
          <ns1:prstGeom prst="rect">
            <ns1:avLst/>
          </ns1:prstGeom>
          <ns1:noFill/>
          <ns1:ln w="0">
            <ns1:noFill/>
          </ns1:ln>
        </ns0:spPr>
        <ns0:txBody>
          <ns1:bodyPr>
            <ns1:noAutofit/>
          </ns1:bodyPr>
          <ns1:lstStyle/>
          <ns1:p>
            <ns1:pPr>
              <ns1:buNone/>
              <ns1:defRPr sz="1500" b="0">
                <ns1:solidFill>
                  <ns1:srgbClr val="003262"/>
                </ns1:solidFill>
                <ns1:latin typeface="Arial"/>
                <ns1:ea typeface="Arial"/>
                <ns1:cs typeface="Arial"/>
              </ns1:defRPr>
            </ns1:pPr>
            <ns1:r>
              <ns1:rPr sz="1500" b="0">
                <ns1:solidFill>
                  <ns1:srgbClr val="003262"/>
                </ns1:solidFill>
                <ns1:latin typeface="Arial"/>
                <ns1:ea typeface="Arial"/>
                <ns1:cs typeface="Arial"/>
              </ns1:rPr>
              <ns1:t>Line: observed annualized Sharpe gap.</ns1:t>
            </ns1:r>
          </ns1:p>
          <ns1:p>
            <ns1:pPr>
              <ns1:buNone/>
              <ns1:defRPr sz="1500" b="0">
                <ns1:solidFill>
                  <ns1:srgbClr val="003262"/>
                </ns1:solidFill>
                <ns1:latin typeface="Arial"/>
                <ns1:ea typeface="Arial"/>
                <ns1:cs typeface="Arial"/>
              </ns1:defRPr>
            </ns1:pPr>
            <ns1:r>
              <ns1:rPr sz="1500" b="0">
                <ns1:solidFill>
                  <ns1:srgbClr val="003262"/>
                </ns1:solidFill>
                <ns1:latin typeface="Arial"/>
                <ns1:ea typeface="Arial"/>
                <ns1:cs typeface="Arial"/>
              </ns1:rPr>
              <ns1:t>Band: pointwise 95% basic interval.</ns1:t>
            </ns1:r>
          </ns1:p>
        </ns0:txBody>
      </ns0:sp>
      <ns0:sp>
        <ns0:nvSpPr>
          <ns0:cNvPr id="18" name="">
            <ns1:extLst>
              <ns1:ext uri="{FF2B5EF4-FFF2-40B4-BE49-F238E27FC236}">
                <ns2:creationId id="{4ECA9557-D389-4EB7-BB58-A17C9511530B}"/>
              </ns1:ext>
            </ns1:extLst>
          </ns0:cNvPr>
          <ns0:cNvSpPr>
            <ns1:spLocks noGrp="1"/>
          </ns0:cNvSpPr>
          <ns0:nvPr/>
        </ns0:nvSpPr>
        <ns0:spPr>
          <ns1:xfrm>
            <ns1:off x="419100" y="4257675"/>
            <ns1:ext cx="8286750" cy="457200"/>
          </ns1:xfrm>
          <ns1:prstGeom prst="rect">
            <ns1:avLst/>
          </ns1:prstGeom>
          <ns1:noFill/>
          <ns1:ln w="0">
            <ns1:noFill/>
          </ns1:ln>
        </ns0:spPr>
        <ns0:txBody>
          <ns1:bodyPr>
            <ns1:noAutofit/>
          </ns1:bodyPr>
          <ns1:lstStyle/>
          <ns1:p>
            <ns1:pPr marL="152400" indent="-88900">
              <ns1:spcAft>
                <ns1:spcPts val="200"/>
              </ns1:spcAft>
              <ns1:buChar char="•"/>
              <ns1:defRPr sz="1275" b="1">
                <ns1:solidFill>
                  <ns1:srgbClr val="003262"/>
                </ns1:solidFill>
                <ns1:latin typeface="Arial"/>
                <ns1:ea typeface="Arial"/>
                <ns1:cs typeface="Arial"/>
              </ns1:defRPr>
            </ns1:pPr>
            <ns1:r>
              <ns1:rPr sz="1275" b="1">
                <ns1:solidFill>
                  <ns1:srgbClr val="003262"/>
                </ns1:solidFill>
                <ns1:latin typeface="Arial"/>
                <ns1:ea typeface="Arial"/>
                <ns1:cs typeface="Arial"/>
              </ns1:rPr>
              <ns1:t>Line: observed paired Sharpe gap. Shading: pointwise 95% basic interval.</ns1:t>
            </ns1:r>
          </ns1:p>
          <ns1:p>
            <ns1:pPr marL="152400" indent="-88900">
              <ns1:spcAft>
                <ns1:spcPts val="200"/>
              </ns1:spcAft>
              <ns1:buChar char="•"/>
              <ns1:defRPr sz="1275" b="1">
                <ns1:solidFill>
                  <ns1:srgbClr val="003262"/>
                </ns1:solidFill>
                <ns1:latin typeface="Arial"/>
                <ns1:ea typeface="Arial"/>
                <ns1:cs typeface="Arial"/>
              </ns1:defRPr>
            </ns1:pPr>
            <ns1:r>
              <ns1:rPr sz="1275" b="1">
                <ns1:solidFill>
                  <ns1:srgbClr val="003262"/>
                </ns1:solidFill>
                <ns1:latin typeface="Arial"/>
                <ns1:ea typeface="Arial"/>
                <ns1:cs typeface="Arial"/>
              </ns1:rPr>
              <ns1:t>A band crossing zero leaves that window’s ranking unresolved.</ns1:t>
            </ns1:r>
          </ns1:p>
        </ns0:txBody>
      </ns0:sp>
    </ns0:spTree>
    <ns0:extLst>
      <ns0:ext uri="{BB962C8B-B14F-4D97-AF65-F5344CB8AC3E}">
        <ns4:creationId val="1467767590"/>
      </ns0:ext>
    </ns0:extLst>
  </ns0:cSld>
</ns0:sld>
</file>

<file path=ppt/slides/slide10.xml><?xml version="1.0" encoding="utf-8"?>
<ns0:sld xmlns:ns0="http://schemas.openxmlformats.org/presentationml/2006/main" xmlns:ns1="http://schemas.openxmlformats.org/drawingml/2006/main" xmlns:ns2="http://schemas.microsoft.com/office/drawing/2014/main" xmlns:ns3="http://schemas.microsoft.com/office/powerpoint/2010/main">
  <ns0:cSld>
    <ns0:bg>
      <ns0:bgPr>
        <ns1:solidFill>
          <ns1:srgbClr val="FFFFFF"/>
        </ns1:solidFill>
      </ns0:bgPr>
    </ns0:bg>
    <ns0:spTree>
      <ns0:nvGrpSpPr>
        <ns0:cNvPr id="1" name=""/>
        <ns0:cNvGrpSpPr/>
        <ns0:nvPr/>
      </ns0:nvGrpSpPr>
      <ns0:grpSpPr>
        <ns1:xfrm/>
      </ns0:grpSpPr>
      <ns0:sp>
        <ns0:nvSpPr>
          <ns0:cNvPr id="9" name="">
            <ns1:extLst>
              <ns1:ext uri="{FF2B5EF4-FFF2-40B4-BE49-F238E27FC236}">
                <ns2:creationId id="{CB5E5558-6D3D-4419-AB34-A274CB1C6EDC}"/>
              </ns1:ext>
            </ns1:extLst>
          </ns0:cNvPr>
          <ns0:cNvSpPr>
            <ns1:spLocks noGrp="1"/>
          </ns0:cNvSpPr>
          <ns0:nvPr/>
        </ns0:nvSpPr>
        <ns0:spPr>
          <ns1:xfrm>
            <ns1:off x="0" y="0"/>
            <ns1:ext cx="66675" cy="2381250"/>
          </ns1:xfrm>
          <ns1:prstGeom prst="rect">
            <ns1:avLst/>
          </ns1:prstGeom>
          <ns1:solidFill>
            <ns1:srgbClr val="FDB515"/>
          </ns1:solidFill>
          <ns1:ln w="0">
            <ns1:noFill/>
          </ns1:ln>
        </ns0:spPr>
      </ns0:sp>
      <ns0:sp>
        <ns0:nvSpPr>
          <ns0:cNvPr id="2" name="">
            <ns1:extLst>
              <ns1:ext uri="{FF2B5EF4-FFF2-40B4-BE49-F238E27FC236}">
                <ns2:creationId id="{9C322014-C91C-46FD-AE54-1880BE263DDD}"/>
              </ns1:ext>
            </ns1:extLst>
          </ns0:cNvPr>
          <ns0:cNvSpPr>
            <ns1:spLocks noGrp="1"/>
          </ns0:cNvSpPr>
          <ns0:nvPr/>
        </ns0:nvSpPr>
        <ns0:spPr>
          <ns1:xfrm>
            <ns1:off x="0" y="2381250"/>
            <ns1:ext cx="66675" cy="2762250"/>
          </ns1:xfrm>
          <ns1:prstGeom prst="rect">
            <ns1:avLst/>
          </ns1:prstGeom>
          <ns1:solidFill>
            <ns1:srgbClr val="003262"/>
          </ns1:solidFill>
          <ns1:ln w="0">
            <ns1:noFill/>
          </ns1:ln>
        </ns0:spPr>
      </ns0:sp>
      <ns0:sp>
        <ns0:nvSpPr>
          <ns0:cNvPr id="3" name="">
            <ns1:extLst>
              <ns1:ext uri="{FF2B5EF4-FFF2-40B4-BE49-F238E27FC236}">
                <ns2:creationId id="{8EF230A8-3FFC-4E6D-8351-21107C8D574C}"/>
              </ns1:ext>
            </ns1:extLst>
          </ns0:cNvPr>
          <ns0:cNvSpPr>
            <ns1:spLocks noGrp="1"/>
          </ns0:cNvSpPr>
          <ns0:nvPr/>
        </ns0:nvSpPr>
        <ns0:spPr>
          <ns1:xfrm>
            <ns1:off x="342900" y="238125"/>
            <ns1:ext cx="8458200" cy="514350"/>
          </ns1:xfrm>
          <ns1:prstGeom prst="rect">
            <ns1:avLst/>
          </ns1:prstGeom>
          <ns1:noFill/>
          <ns1:ln w="0">
            <ns1:noFill/>
          </ns1:ln>
        </ns0:spPr>
        <ns0:txBody>
          <ns1:bodyPr>
            <ns1:noAutofit/>
          </ns1:bodyPr>
          <ns1:lstStyle/>
          <ns1:p>
            <ns1:pPr>
              <ns1:buNone/>
              <ns1:defRPr sz="2175" b="1">
                <ns1:solidFill>
                  <ns1:srgbClr val="003262"/>
                </ns1:solidFill>
                <ns1:latin typeface="Arial"/>
                <ns1:ea typeface="Arial"/>
                <ns1:cs typeface="Arial"/>
              </ns1:defRPr>
            </ns1:pPr>
            <ns1:r>
              <ns1:rPr sz="2175" b="1">
                <ns1:solidFill>
                  <ns1:srgbClr val="003262"/>
                </ns1:solidFill>
                <ns1:latin typeface="Arial"/>
                <ns1:ea typeface="Arial"/>
                <ns1:cs typeface="Arial"/>
              </ns1:rPr>
              <ns1:t>Regimes: definitions and sample sizes</ns1:t>
            </ns1:r>
          </ns1:p>
        </ns0:txBody>
      </ns0:sp>
      <ns0:sp>
        <ns0:nvSpPr>
          <ns0:cNvPr id="4" name="">
            <ns1:extLst>
              <ns1:ext uri="{FF2B5EF4-FFF2-40B4-BE49-F238E27FC236}">
                <ns2:creationId id="{DFCBBE1D-8D0C-4815-9EC8-A51897F62AFC}"/>
              </ns1:ext>
            </ns1:extLst>
          </ns0:cNvPr>
          <ns0:cNvSpPr>
            <ns1:spLocks noGrp="1"/>
          </ns0:cNvSpPr>
          <ns0:nvPr/>
        </ns0:nvSpPr>
        <ns0:spPr>
          <ns1:xfrm>
            <ns1:off x="342900" y="4781550"/>
            <ns1:ext cx="7810500" cy="228600"/>
          </ns1:xfrm>
          <ns1:prstGeom prst="rect">
            <ns1:avLst/>
          </ns1:prstGeom>
          <ns1:noFill/>
          <ns1:ln w="0">
            <ns1:noFill/>
          </ns1:ln>
        </ns0:spPr>
        <ns0:txBody>
          <ns1:bodyPr>
            <ns1:noAutofit/>
          </ns1:bodyPr>
          <ns1:lstStyle/>
          <ns1:p>
            <ns1:pPr>
              <ns1:buNone/>
              <ns1:defRPr sz="900" b="0">
                <ns1:solidFill>
                  <ns1:srgbClr val="5B6770"/>
                </ns1:solidFill>
                <ns1:latin typeface="Arial"/>
                <ns1:ea typeface="Arial"/>
                <ns1:cs typeface="Arial"/>
              </ns1:defRPr>
            </ns1:pPr>
            <ns1:r>
              <ns1:rPr sz="900" b="0">
                <ns1:solidFill>
                  <ns1:srgbClr val="5B6770"/>
                </ns1:solidFill>
                <ns1:latin typeface="Arial"/>
                <ns1:ea typeface="Arial"/>
                <ns1:cs typeface="Arial"/>
              </ns1:rPr>
              <ns1:t>Part 5. Regime change</ns1:t>
            </ns1:r>
          </ns1:p>
        </ns0:txBody>
      </ns0:sp>
      <ns0:sp>
        <ns0:nvSpPr>
          <ns0:cNvPr id="5" name="">
            <ns1:extLst>
              <ns1:ext uri="{FF2B5EF4-FFF2-40B4-BE49-F238E27FC236}">
                <ns2:creationId id="{A33275F8-AEDE-492C-A99A-DDDA6FC4BD37}"/>
              </ns1:ext>
            </ns1:extLst>
          </ns0:cNvPr>
          <ns0:cNvSpPr>
            <ns1:spLocks noGrp="1"/>
          </ns0:cNvSpPr>
          <ns0:nvPr/>
        </ns0:nvSpPr>
        <ns0:spPr>
          <ns1:xfrm>
            <ns1:off x="8458200" y="4781550"/>
            <ns1:ext cx="457200" cy="228600"/>
          </ns1:xfrm>
          <ns1:prstGeom prst="rect">
            <ns1:avLst/>
          </ns1:prstGeom>
          <ns1:noFill/>
          <ns1:ln w="0">
            <ns1:noFill/>
          </ns1:ln>
        </ns0:spPr>
        <ns0:txBody>
          <ns1:bodyPr>
            <ns1:noAutofit/>
          </ns1:bodyPr>
          <ns1:lstStyle/>
          <ns1:p>
            <ns1:pPr>
              <ns1:buNone/>
              <ns1:defRPr sz="900" b="0">
                <ns1:solidFill>
                  <ns1:srgbClr val="5B6770"/>
                </ns1:solidFill>
                <ns1:latin typeface="Arial"/>
                <ns1:ea typeface="Arial"/>
                <ns1:cs typeface="Arial"/>
              </ns1:defRPr>
            </ns1:pPr>
            <ns1:r>
              <ns1:rPr sz="900" b="0">
                <ns1:solidFill>
                  <ns1:srgbClr val="5B6770"/>
                </ns1:solidFill>
                <ns1:latin typeface="Arial"/>
                <ns1:ea typeface="Arial"/>
                <ns1:cs typeface="Arial"/>
              </ns1:rPr>
              <ns1:t>10</ns1:t>
            </ns1:r>
          </ns1:p>
        </ns0:txBody>
      </ns0:sp>
      <ns0:graphicFrame>
        <ns0:nvGraphicFramePr>
          <ns0:cNvPr id="18" name=""/>
          <ns0:cNvGraphicFramePr/>
          <ns0:nvPr/>
        </ns0:nvGraphicFramePr>
        <ns0:xfrm>
          <ns1:off x="400050" y="1019175"/>
          <ns1:ext cx="8343900" cy="1714500"/>
        </ns0:xfrm>
        <ns1:graphic>
          <ns1:graphicData uri="http://schemas.openxmlformats.org/drawingml/2006/table">
            <ns1:tbl>
              <ns1:tblPr/>
              <ns1:tblGrid>
                <ns1:gridCol w="2095500"/>
                <ns1:gridCol w="3124200"/>
                <ns1:gridCol w="3124200"/>
              </ns1:tblGrid>
              <ns1:tr h="571500">
                <ns1:tc>
                  <ns1:txBody>
                    <ns1:bodyPr/>
                    <ns1:lstStyle/>
                    <ns1:p>
                      <ns1:r>
                        <ns1:rPr sz="1425" b="1">
                          <ns1:solidFill>
                            <ns1:srgbClr val="FFFFFF"/>
                          </ns1:solidFill>
                          <ns1:latin typeface="Arial"/>
                          <ns1:ea typeface="Arial"/>
                          <ns1:cs typeface="Arial"/>
                        </ns1:rPr>
                        <ns1:t>Regime family</ns1:t>
                      </ns1:r>
                    </ns1:p>
                  </ns1:txBody>
                  <ns1:tcPr marL="91440" marR="91440" marT="45720" marB="45720">
                    <ns1:solidFill>
                      <ns1:srgbClr val="003262"/>
                    </ns1:solidFill>
                  </ns1:tcPr>
                </ns1:tc>
                <ns1:tc>
                  <ns1:txBody>
                    <ns1:bodyPr/>
                    <ns1:lstStyle/>
                    <ns1:p>
                      <ns1:r>
                        <ns1:rPr sz="1425" b="1">
                          <ns1:solidFill>
                            <ns1:srgbClr val="FFFFFF"/>
                          </ns1:solidFill>
                          <ns1:latin typeface="Arial"/>
                          <ns1:ea typeface="Arial"/>
                          <ns1:cs typeface="Arial"/>
                        </ns1:rPr>
                        <ns1:t>Definition</ns1:t>
                      </ns1:r>
                    </ns1:p>
                  </ns1:txBody>
                  <ns1:tcPr marL="91440" marR="91440" marT="45720" marB="45720">
                    <ns1:solidFill>
                      <ns1:srgbClr val="003262"/>
                    </ns1:solidFill>
                  </ns1:tcPr>
                </ns1:tc>
                <ns1:tc>
                  <ns1:txBody>
                    <ns1:bodyPr/>
                    <ns1:lstStyle/>
                    <ns1:p>
                      <ns1:r>
                        <ns1:rPr sz="1425" b="1">
                          <ns1:solidFill>
                            <ns1:srgbClr val="FFFFFF"/>
                          </ns1:solidFill>
                          <ns1:latin typeface="Arial"/>
                          <ns1:ea typeface="Arial"/>
                          <ns1:cs typeface="Arial"/>
                        </ns1:rPr>
                        <ns1:t>Test months</ns1:t>
                      </ns1:r>
                    </ns1:p>
                  </ns1:txBody>
                  <ns1:tcPr marL="91440" marR="91440" marT="45720" marB="45720">
                    <ns1:solidFill>
                      <ns1:srgbClr val="003262"/>
                    </ns1:solidFill>
                  </ns1:tcPr>
                </ns1:tc>
              </ns1:tr>
              <ns1:tr h="571500">
                <ns1:tc>
                  <ns1:txBody>
                    <ns1:bodyPr/>
                    <ns1:lstStyle/>
                    <ns1:p>
                      <ns1:r>
                        <ns1:rPr sz="1500" b="0">
                          <ns1:solidFill>
                            <ns1:srgbClr val="1F2A37"/>
                          </ns1:solidFill>
                          <ns1:latin typeface="Arial"/>
                          <ns1:ea typeface="Arial"/>
                          <ns1:cs typeface="Arial"/>
                        </ns1:rPr>
                        <ns1:t>Business cycle</ns1:t>
                      </ns1:r>
                    </ns1:p>
                  </ns1:txBody>
                  <ns1:tcPr marL="91440" marR="91440" marT="45720" marB="45720">
                    <ns1:solidFill>
                      <ns1:srgbClr val="EEF3F8"/>
                    </ns1:solidFill>
                  </ns1:tcPr>
                </ns1:tc>
                <ns1:tc>
                  <ns1:txBody>
                    <ns1:bodyPr/>
                    <ns1:lstStyle/>
                    <ns1:p>
                      <ns1:r>
                        <ns1:rPr sz="1500" b="0">
                          <ns1:solidFill>
                            <ns1:srgbClr val="1F2A37"/>
                          </ns1:solidFill>
                          <ns1:latin typeface="Arial"/>
                          <ns1:ea typeface="Arial"/>
                          <ns1:cs typeface="Arial"/>
                        </ns1:rPr>
                        <ns1:t>NBER expansion / recession</ns1:t>
                      </ns1:r>
                    </ns1:p>
                  </ns1:txBody>
                  <ns1:tcPr marL="91440" marR="91440" marT="45720" marB="45720">
                    <ns1:solidFill>
                      <ns1:srgbClr val="EEF3F8"/>
                    </ns1:solidFill>
                  </ns1:tcPr>
                </ns1:tc>
                <ns1:tc>
                  <ns1:txBody>
                    <ns1:bodyPr/>
                    <ns1:lstStyle/>
                    <ns1:p>
                      <ns1:r>
                        <ns1:rPr sz="1500" b="0">
                          <ns1:solidFill>
                            <ns1:srgbClr val="1F2A37"/>
                          </ns1:solidFill>
                          <ns1:latin typeface="Arial"/>
                          <ns1:ea typeface="Arial"/>
                          <ns1:cs typeface="Arial"/>
                        </ns1:rPr>
                        <ns1:t>274 / 26</ns1:t>
                      </ns1:r>
                    </ns1:p>
                  </ns1:txBody>
                  <ns1:tcPr marL="91440" marR="91440" marT="45720" marB="45720">
                    <ns1:solidFill>
                      <ns1:srgbClr val="EEF3F8"/>
                    </ns1:solidFill>
                  </ns1:tcPr>
                </ns1:tc>
              </ns1:tr>
              <ns1:tr h="571500">
                <ns1:tc>
                  <ns1:txBody>
                    <ns1:bodyPr/>
                    <ns1:lstStyle/>
                    <ns1:p>
                      <ns1:r>
                        <ns1:rPr sz="1500" b="0">
                          <ns1:solidFill>
                            <ns1:srgbClr val="1F2A37"/>
                          </ns1:solidFill>
                          <ns1:latin typeface="Arial"/>
                          <ns1:ea typeface="Arial"/>
                          <ns1:cs typeface="Arial"/>
                        </ns1:rPr>
                        <ns1:t>Market volatility</ns1:t>
                      </ns1:r>
                    </ns1:p>
                  </ns1:txBody>
                  <ns1:tcPr marL="91440" marR="91440" marT="45720" marB="45720">
                    <ns1:solidFill>
                      <ns1:srgbClr val="FFFFFF"/>
                    </ns1:solidFill>
                  </ns1:tcPr>
                </ns1:tc>
                <ns1:tc>
                  <ns1:txBody>
                    <ns1:bodyPr/>
                    <ns1:lstStyle/>
                    <ns1:p>
                      <ns1:r>
                        <ns1:rPr sz="1500" b="0">
                          <ns1:solidFill>
                            <ns1:srgbClr val="1F2A37"/>
                          </ns1:solidFill>
                          <ns1:latin typeface="Arial"/>
                          <ns1:ea typeface="Arial"/>
                          <ns1:cs typeface="Arial"/>
                        </ns1:rPr>
                        <ns1:t>High / low previous-12-month volatility</ns1:t>
                      </ns1:r>
                    </ns1:p>
                  </ns1:txBody>
                  <ns1:tcPr marL="91440" marR="91440" marT="45720" marB="45720">
                    <ns1:solidFill>
                      <ns1:srgbClr val="FFFFFF"/>
                    </ns1:solidFill>
                  </ns1:tcPr>
                </ns1:tc>
                <ns1:tc>
                  <ns1:txBody>
                    <ns1:bodyPr/>
                    <ns1:lstStyle/>
                    <ns1:p>
                      <ns1:r>
                        <ns1:rPr sz="1500" b="0">
                          <ns1:solidFill>
                            <ns1:srgbClr val="1F2A37"/>
                          </ns1:solidFill>
                          <ns1:latin typeface="Arial"/>
                          <ns1:ea typeface="Arial"/>
                          <ns1:cs typeface="Arial"/>
                        </ns1:rPr>
                        <ns1:t>123 / 177</ns1:t>
                      </ns1:r>
                    </ns1:p>
                  </ns1:txBody>
                  <ns1:tcPr marL="91440" marR="91440" marT="45720" marB="45720">
                    <ns1:solidFill>
                      <ns1:srgbClr val="FFFFFF"/>
                    </ns1:solidFill>
                  </ns1:tcPr>
                </ns1:tc>
              </ns1:tr>
            </ns1:tbl>
          </ns1:graphicData>
        </ns1:graphic>
      </ns0:graphicFrame>
      <ns0:sp>
        <ns0:nvSpPr>
          <ns0:cNvPr id="7" name="">
            <ns1:extLst>
              <ns1:ext uri="{FF2B5EF4-FFF2-40B4-BE49-F238E27FC236}">
                <ns2:creationId id="{A32CA22B-6AFC-459D-9663-7BE494B42B45}"/>
              </ns1:ext>
            </ns1:extLst>
          </ns0:cNvPr>
          <ns0:cNvSpPr>
            <ns1:spLocks noGrp="1"/>
          </ns0:cNvSpPr>
          <ns0:nvPr/>
        </ns0:nvSpPr>
        <ns0:spPr>
          <ns1:xfrm>
            <ns1:off x="419100" y="3000375"/>
            <ns1:ext cx="8286750" cy="647700"/>
          </ns1:xfrm>
          <ns1:prstGeom prst="rect">
            <ns1:avLst/>
          </ns1:prstGeom>
          <ns1:noFill/>
          <ns1:ln w="0">
            <ns1:noFill/>
          </ns1:ln>
        </ns0:spPr>
        <ns0:txBody>
          <ns1:bodyPr>
            <ns1:noAutofit/>
          </ns1:bodyPr>
          <ns1:lstStyle/>
          <ns1:p>
            <ns1:pPr>
              <ns1:buNone/>
              <ns1:defRPr sz="1725" b="0">
                <ns1:solidFill>
                  <ns1:srgbClr val="1F2A37"/>
                </ns1:solidFill>
                <ns1:latin typeface="Arial"/>
                <ns1:ea typeface="Arial"/>
                <ns1:cs typeface="Arial"/>
              </ns1:defRPr>
            </ns1:pPr>
            <ns1:r>
              <ns1:rPr sz="1725" b="0">
                <ns1:solidFill>
                  <ns1:srgbClr val="1F2A37"/>
                </ns1:solidFill>
                <ns1:latin typeface="Arial"/>
                <ns1:ea typeface="Arial"/>
                <ns1:cs typeface="Arial"/>
              </ns1:rPr>
              <ns1:t>The volatility cutoff comes from the training sample. Recession dates are retrospective.</ns1:t>
            </ns1:r>
          </ns1:p>
        </ns0:txBody>
      </ns0:sp>
      <ns0:sp>
        <ns0:nvSpPr>
          <ns0:cNvPr id="11" name="">
            <ns1:extLst>
              <ns1:ext uri="{FF2B5EF4-FFF2-40B4-BE49-F238E27FC236}">
                <ns2:creationId id="{67DFFB2F-0349-4CAC-9C97-E7D1A1FED030}"/>
              </ns1:ext>
            </ns1:extLst>
          </ns0:cNvPr>
          <ns0:cNvSpPr>
            <ns1:spLocks noGrp="1"/>
          </ns0:cNvSpPr>
          <ns0:nvPr/>
        </ns0:nvSpPr>
        <ns0:spPr>
          <ns1:xfrm>
            <ns1:off x="419100" y="4257675"/>
            <ns1:ext cx="8286750" cy="457200"/>
          </ns1:xfrm>
          <ns1:prstGeom prst="rect">
            <ns1:avLst/>
          </ns1:prstGeom>
          <ns1:noFill/>
          <ns1:ln w="0">
            <ns1:noFill/>
          </ns1:ln>
        </ns0:spPr>
        <ns0:txBody>
          <ns1:bodyPr>
            <ns1:noAutofit/>
          </ns1:bodyPr>
          <ns1:lstStyle/>
          <ns1:p>
            <ns1:pPr marL="152400" indent="-88900">
              <ns1:spcAft>
                <ns1:spcPts val="200"/>
              </ns1:spcAft>
              <ns1:buChar char="•"/>
              <ns1:defRPr sz="1275" b="1">
                <ns1:solidFill>
                  <ns1:srgbClr val="003262"/>
                </ns1:solidFill>
                <ns1:latin typeface="Arial"/>
                <ns1:ea typeface="Arial"/>
                <ns1:cs typeface="Arial"/>
              </ns1:defRPr>
            </ns1:pPr>
            <ns1:r>
              <ns1:rPr sz="1275" b="1">
                <ns1:solidFill>
                  <ns1:srgbClr val="003262"/>
                </ns1:solidFill>
                <ns1:latin typeface="Arial"/>
                <ns1:ea typeface="Arial"/>
                <ns1:cs typeface="Arial"/>
              </ns1:rPr>
              <ns1:t>Business-cycle and volatility regimes classify different economic conditions.</ns1:t>
            </ns1:r>
          </ns1:p>
          <ns1:p>
            <ns1:pPr marL="152400" indent="-88900">
              <ns1:spcAft>
                <ns1:spcPts val="200"/>
              </ns1:spcAft>
              <ns1:buChar char="•"/>
              <ns1:defRPr sz="1275" b="1">
                <ns1:solidFill>
                  <ns1:srgbClr val="003262"/>
                </ns1:solidFill>
                <ns1:latin typeface="Arial"/>
                <ns1:ea typeface="Arial"/>
                <ns1:cs typeface="Arial"/>
              </ns1:defRPr>
            </ns1:pPr>
            <ns1:r>
              <ns1:rPr sz="1275" b="1">
                <ns1:solidFill>
                  <ns1:srgbClr val="003262"/>
                </ns1:solidFill>
                <ns1:latin typeface="Arial"/>
                <ns1:ea typeface="Arial"/>
                <ns1:cs typeface="Arial"/>
              </ns1:rPr>
              <ns1:t>Only 26 recession months limit precision. NBER labels are retrospective.</ns1:t>
            </ns1:r>
          </ns1:p>
        </ns0:txBody>
      </ns0:sp>
    </ns0:spTree>
    <ns0:extLst>
      <ns0:ext uri="{BB962C8B-B14F-4D97-AF65-F5344CB8AC3E}">
        <ns3:creationId val="258924723"/>
      </ns0:ext>
    </ns0:extLst>
  </ns0:cSld>
</ns0:sld>
</file>

<file path=ppt/slides/slide11.xml><?xml version="1.0" encoding="utf-8"?>
<ns0:sld xmlns:ns0="http://schemas.openxmlformats.org/presentationml/2006/main" xmlns:ns1="http://schemas.openxmlformats.org/drawingml/2006/main" xmlns:ns2="http://schemas.microsoft.com/office/drawing/2014/main" xmlns:ns3="http://schemas.openxmlformats.org/officeDocument/2006/relationships" xmlns:ns4="http://schemas.microsoft.com/office/powerpoint/2010/main">
  <ns0:cSld>
    <ns0:bg>
      <ns0:bgPr>
        <ns1:solidFill>
          <ns1:srgbClr val="FFFFFF"/>
        </ns1:solidFill>
      </ns0:bgPr>
    </ns0:bg>
    <ns0:spTree>
      <ns0:nvGrpSpPr>
        <ns0:cNvPr id="1" name=""/>
        <ns0:cNvGrpSpPr/>
        <ns0:nvPr/>
      </ns0:nvGrpSpPr>
      <ns0:grpSpPr>
        <ns1:xfrm/>
      </ns0:grpSpPr>
      <ns0:sp>
        <ns0:nvSpPr>
          <ns0:cNvPr id="8" name="">
            <ns1:extLst>
              <ns1:ext uri="{FF2B5EF4-FFF2-40B4-BE49-F238E27FC236}">
                <ns2:creationId id="{0FE07DDD-E7B8-4EA3-9649-23508D781D75}"/>
              </ns1:ext>
            </ns1:extLst>
          </ns0:cNvPr>
          <ns0:cNvSpPr>
            <ns1:spLocks noGrp="1"/>
          </ns0:cNvSpPr>
          <ns0:nvPr/>
        </ns0:nvSpPr>
        <ns0:spPr>
          <ns1:xfrm>
            <ns1:off x="0" y="0"/>
            <ns1:ext cx="66675" cy="2381250"/>
          </ns1:xfrm>
          <ns1:prstGeom prst="rect">
            <ns1:avLst/>
          </ns1:prstGeom>
          <ns1:solidFill>
            <ns1:srgbClr val="FDB515"/>
          </ns1:solidFill>
          <ns1:ln w="0">
            <ns1:noFill/>
          </ns1:ln>
        </ns0:spPr>
      </ns0:sp>
      <ns0:sp>
        <ns0:nvSpPr>
          <ns0:cNvPr id="2" name="">
            <ns1:extLst>
              <ns1:ext uri="{FF2B5EF4-FFF2-40B4-BE49-F238E27FC236}">
                <ns2:creationId id="{0FAEA006-A383-4DD8-9A61-17200858636C}"/>
              </ns1:ext>
            </ns1:extLst>
          </ns0:cNvPr>
          <ns0:cNvSpPr>
            <ns1:spLocks noGrp="1"/>
          </ns0:cNvSpPr>
          <ns0:nvPr/>
        </ns0:nvSpPr>
        <ns0:spPr>
          <ns1:xfrm>
            <ns1:off x="0" y="2381250"/>
            <ns1:ext cx="66675" cy="2762250"/>
          </ns1:xfrm>
          <ns1:prstGeom prst="rect">
            <ns1:avLst/>
          </ns1:prstGeom>
          <ns1:solidFill>
            <ns1:srgbClr val="003262"/>
          </ns1:solidFill>
          <ns1:ln w="0">
            <ns1:noFill/>
          </ns1:ln>
        </ns0:spPr>
      </ns0:sp>
      <ns0:sp>
        <ns0:nvSpPr>
          <ns0:cNvPr id="3" name="">
            <ns1:extLst>
              <ns1:ext uri="{FF2B5EF4-FFF2-40B4-BE49-F238E27FC236}">
                <ns2:creationId id="{5164E306-5B97-4FC3-80A1-2ECF8446746A}"/>
              </ns1:ext>
            </ns1:extLst>
          </ns0:cNvPr>
          <ns0:cNvSpPr>
            <ns1:spLocks noGrp="1"/>
          </ns0:cNvSpPr>
          <ns0:nvPr/>
        </ns0:nvSpPr>
        <ns0:spPr>
          <ns1:xfrm>
            <ns1:off x="342900" y="238125"/>
            <ns1:ext cx="8458200" cy="514350"/>
          </ns1:xfrm>
          <ns1:prstGeom prst="rect">
            <ns1:avLst/>
          </ns1:prstGeom>
          <ns1:noFill/>
          <ns1:ln w="0">
            <ns1:noFill/>
          </ns1:ln>
        </ns0:spPr>
        <ns0:txBody>
          <ns1:bodyPr>
            <ns1:noAutofit/>
          </ns1:bodyPr>
          <ns1:lstStyle/>
          <ns1:p>
            <ns1:pPr>
              <ns1:buNone/>
              <ns1:defRPr sz="2175" b="1">
                <ns1:solidFill>
                  <ns1:srgbClr val="003262"/>
                </ns1:solidFill>
                <ns1:latin typeface="Arial"/>
                <ns1:ea typeface="Arial"/>
                <ns1:cs typeface="Arial"/>
              </ns1:defRPr>
            </ns1:pPr>
            <ns1:r>
              <ns1:rPr sz="2175" b="1">
                <ns1:solidFill>
                  <ns1:srgbClr val="003262"/>
                </ns1:solidFill>
                <ns1:latin typeface="Arial"/>
                <ns1:ea typeface="Arial"/>
                <ns1:cs typeface="Arial"/>
              </ns1:rPr>
              <ns1:t>Regimes: comparison among our models</ns1:t>
            </ns1:r>
          </ns1:p>
        </ns0:txBody>
      </ns0:sp>
      <ns0:sp>
        <ns0:nvSpPr>
          <ns0:cNvPr id="4" name="">
            <ns1:extLst>
              <ns1:ext uri="{FF2B5EF4-FFF2-40B4-BE49-F238E27FC236}">
                <ns2:creationId id="{EDEF3DD9-A8F5-4FC0-B80F-F53973C90AC7}"/>
              </ns1:ext>
            </ns1:extLst>
          </ns0:cNvPr>
          <ns0:cNvSpPr>
            <ns1:spLocks noGrp="1"/>
          </ns0:cNvSpPr>
          <ns0:nvPr/>
        </ns0:nvSpPr>
        <ns0:spPr>
          <ns1:xfrm>
            <ns1:off x="342900" y="4781550"/>
            <ns1:ext cx="7810500" cy="228600"/>
          </ns1:xfrm>
          <ns1:prstGeom prst="rect">
            <ns1:avLst/>
          </ns1:prstGeom>
          <ns1:noFill/>
          <ns1:ln w="0">
            <ns1:noFill/>
          </ns1:ln>
        </ns0:spPr>
        <ns0:txBody>
          <ns1:bodyPr>
            <ns1:noAutofit/>
          </ns1:bodyPr>
          <ns1:lstStyle/>
          <ns1:p>
            <ns1:pPr>
              <ns1:buNone/>
              <ns1:defRPr sz="900" b="0">
                <ns1:solidFill>
                  <ns1:srgbClr val="5B6770"/>
                </ns1:solidFill>
                <ns1:latin typeface="Arial"/>
                <ns1:ea typeface="Arial"/>
                <ns1:cs typeface="Arial"/>
              </ns1:defRPr>
            </ns1:pPr>
            <ns1:r>
              <ns1:rPr sz="900" b="0">
                <ns1:solidFill>
                  <ns1:srgbClr val="5B6770"/>
                </ns1:solidFill>
                <ns1:latin typeface="Arial"/>
                <ns1:ea typeface="Arial"/>
                <ns1:cs typeface="Arial"/>
              </ns1:rPr>
              <ns1:t>Part 5. Regime change</ns1:t>
            </ns1:r>
          </ns1:p>
        </ns0:txBody>
      </ns0:sp>
      <ns0:sp>
        <ns0:nvSpPr>
          <ns0:cNvPr id="5" name="">
            <ns1:extLst>
              <ns1:ext uri="{FF2B5EF4-FFF2-40B4-BE49-F238E27FC236}">
                <ns2:creationId id="{C2C842B4-2656-4E27-8170-29C06494A6C7}"/>
              </ns1:ext>
            </ns1:extLst>
          </ns0:cNvPr>
          <ns0:cNvSpPr>
            <ns1:spLocks noGrp="1"/>
          </ns0:cNvSpPr>
          <ns0:nvPr/>
        </ns0:nvSpPr>
        <ns0:spPr>
          <ns1:xfrm>
            <ns1:off x="8458200" y="4781550"/>
            <ns1:ext cx="457200" cy="228600"/>
          </ns1:xfrm>
          <ns1:prstGeom prst="rect">
            <ns1:avLst/>
          </ns1:prstGeom>
          <ns1:noFill/>
          <ns1:ln w="0">
            <ns1:noFill/>
          </ns1:ln>
        </ns0:spPr>
        <ns0:txBody>
          <ns1:bodyPr>
            <ns1:noAutofit/>
          </ns1:bodyPr>
          <ns1:lstStyle/>
          <ns1:p>
            <ns1:pPr>
              <ns1:buNone/>
              <ns1:defRPr sz="900" b="0">
                <ns1:solidFill>
                  <ns1:srgbClr val="5B6770"/>
                </ns1:solidFill>
                <ns1:latin typeface="Arial"/>
                <ns1:ea typeface="Arial"/>
                <ns1:cs typeface="Arial"/>
              </ns1:defRPr>
            </ns1:pPr>
            <ns1:r>
              <ns1:rPr sz="900" b="0">
                <ns1:solidFill>
                  <ns1:srgbClr val="5B6770"/>
                </ns1:solidFill>
                <ns1:latin typeface="Arial"/>
                <ns1:ea typeface="Arial"/>
                <ns1:cs typeface="Arial"/>
              </ns1:rPr>
              <ns1:t>11</ns1:t>
            </ns1:r>
          </ns1:p>
        </ns0:txBody>
      </ns0:sp>
      <ns0:pic>
        <ns0:nvPicPr>
          <ns0:cNvPr id="17" name=""/>
          <ns0:cNvPicPr>
            <ns1:picLocks noChangeAspect="1"/>
          </ns0:cNvPicPr>
          <ns0:nvPr/>
        </ns0:nvPicPr>
        <ns0:blipFill>
          <ns1:blip ns3:embed="R30535fc693ba4ca7"/>
          <ns1:stretch/>
        </ns0:blipFill>
        <ns0:spPr>
          <ns1:xfrm>
            <ns1:off x="266700" y="948418"/>
            <ns1:ext cx="8610600" cy="3075214"/>
          </ns1:xfrm>
          <ns1:prstGeom prst="rect">
            <ns1:avLst/>
          </ns1:prstGeom>
        </ns0:spPr>
      </ns0:pic>
      <ns0:sp>
        <ns0:nvSpPr>
          <ns0:cNvPr id="10" name="">
            <ns1:extLst>
              <ns1:ext uri="{FF2B5EF4-FFF2-40B4-BE49-F238E27FC236}">
                <ns2:creationId id="{4D964932-39C0-43C7-BB9E-8705DF4DD341}"/>
              </ns1:ext>
            </ns1:extLst>
          </ns0:cNvPr>
          <ns0:cNvSpPr>
            <ns1:spLocks noGrp="1"/>
          </ns0:cNvSpPr>
          <ns0:nvPr/>
        </ns0:nvSpPr>
        <ns0:spPr>
          <ns1:xfrm>
            <ns1:off x="419100" y="4257675"/>
            <ns1:ext cx="8286750" cy="457200"/>
          </ns1:xfrm>
          <ns1:prstGeom prst="rect">
            <ns1:avLst/>
          </ns1:prstGeom>
          <ns1:noFill/>
          <ns1:ln w="0">
            <ns1:noFill/>
          </ns1:ln>
        </ns0:spPr>
        <ns0:txBody>
          <ns1:bodyPr>
            <ns1:noAutofit/>
          </ns1:bodyPr>
          <ns1:lstStyle/>
          <ns1:p>
            <ns1:pPr marL="152400" indent="-88900">
              <ns1:spcAft>
                <ns1:spcPts val="200"/>
              </ns1:spcAft>
              <ns1:buChar char="•"/>
              <ns1:defRPr sz="1275" b="1">
                <ns1:solidFill>
                  <ns1:srgbClr val="003262"/>
                </ns1:solidFill>
                <ns1:latin typeface="Arial"/>
                <ns1:ea typeface="Arial"/>
                <ns1:cs typeface="Arial"/>
              </ns1:defRPr>
            </ns1:pPr>
            <ns1:r>
              <ns1:rPr sz="1275" b="1">
                <ns1:solidFill>
                  <ns1:srgbClr val="003262"/>
                </ns1:solidFill>
                <ns1:latin typeface="Arial"/>
                <ns1:ea typeface="Arial"/>
                <ns1:cs typeface="Arial"/>
              </ns1:rPr>
              <ns1:t>Bars show monthly Sharpe using only months in each regime.</ns1:t>
            </ns1:r>
          </ns1:p>
          <ns1:p>
            <ns1:pPr marL="152400" indent="-88900">
              <ns1:spcAft>
                <ns1:spcPts val="200"/>
              </ns1:spcAft>
              <ns1:buChar char="•"/>
              <ns1:defRPr sz="1275" b="1">
                <ns1:solidFill>
                  <ns1:srgbClr val="003262"/>
                </ns1:solidFill>
                <ns1:latin typeface="Arial"/>
                <ns1:ea typeface="Arial"/>
                <ns1:cs typeface="Arial"/>
              </ns1:defRPr>
            </ns1:pPr>
            <ns1:r>
              <ns1:rPr sz="1275" b="1">
                <ns1:solidFill>
                  <ns1:srgbClr val="003262"/>
                </ns1:solidFill>
                <ns1:latin typeface="Arial"/>
                <ns1:ea typeface="Arial"/>
                <ns1:cs typeface="Arial"/>
              </ns1:rPr>
              <ns1:t>Feedforward leads recession Sharpe at 0.570, while Transformer has -0.071.</ns1:t>
            </ns1:r>
          </ns1:p>
        </ns0:txBody>
      </ns0:sp>
    </ns0:spTree>
    <ns0:extLst>
      <ns0:ext uri="{BB962C8B-B14F-4D97-AF65-F5344CB8AC3E}">
        <ns4:creationId val="2076814023"/>
      </ns0:ext>
    </ns0:extLst>
  </ns0:cSld>
</ns0:sld>
</file>

<file path=ppt/slides/slide12.xml><?xml version="1.0" encoding="utf-8"?>
<ns0:sld xmlns:ns0="http://schemas.openxmlformats.org/presentationml/2006/main" xmlns:ns1="http://schemas.openxmlformats.org/drawingml/2006/main" xmlns:ns2="http://schemas.microsoft.com/office/drawing/2014/main" xmlns:ns3="http://schemas.openxmlformats.org/officeDocument/2006/relationships" xmlns:ns4="http://schemas.microsoft.com/office/powerpoint/2010/main">
  <ns0:cSld>
    <ns0:bg>
      <ns0:bgPr>
        <ns1:solidFill>
          <ns1:srgbClr val="FFFFFF"/>
        </ns1:solidFill>
      </ns0:bgPr>
    </ns0:bg>
    <ns0:spTree>
      <ns0:nvGrpSpPr>
        <ns0:cNvPr id="1" name=""/>
        <ns0:cNvGrpSpPr/>
        <ns0:nvPr/>
      </ns0:nvGrpSpPr>
      <ns0:grpSpPr>
        <ns1:xfrm/>
      </ns0:grpSpPr>
      <ns0:sp>
        <ns0:nvSpPr>
          <ns0:cNvPr id="13" name="">
            <ns1:extLst>
              <ns1:ext uri="{FF2B5EF4-FFF2-40B4-BE49-F238E27FC236}">
                <ns2:creationId id="{9866F3AD-AB2C-46C9-A764-C82928CDD4CD}"/>
              </ns1:ext>
            </ns1:extLst>
          </ns0:cNvPr>
          <ns0:cNvSpPr>
            <ns1:spLocks noGrp="1"/>
          </ns0:cNvSpPr>
          <ns0:nvPr/>
        </ns0:nvSpPr>
        <ns0:spPr>
          <ns1:xfrm>
            <ns1:off x="0" y="0"/>
            <ns1:ext cx="66675" cy="2381250"/>
          </ns1:xfrm>
          <ns1:prstGeom prst="rect">
            <ns1:avLst/>
          </ns1:prstGeom>
          <ns1:solidFill>
            <ns1:srgbClr val="FDB515"/>
          </ns1:solidFill>
          <ns1:ln w="0">
            <ns1:noFill/>
          </ns1:ln>
        </ns0:spPr>
      </ns0:sp>
      <ns0:sp>
        <ns0:nvSpPr>
          <ns0:cNvPr id="2" name="">
            <ns1:extLst>
              <ns1:ext uri="{FF2B5EF4-FFF2-40B4-BE49-F238E27FC236}">
                <ns2:creationId id="{C05C9FE0-4892-415D-BDDA-B96FA8872057}"/>
              </ns1:ext>
            </ns1:extLst>
          </ns0:cNvPr>
          <ns0:cNvSpPr>
            <ns1:spLocks noGrp="1"/>
          </ns0:cNvSpPr>
          <ns0:nvPr/>
        </ns0:nvSpPr>
        <ns0:spPr>
          <ns1:xfrm>
            <ns1:off x="0" y="2381250"/>
            <ns1:ext cx="66675" cy="2762250"/>
          </ns1:xfrm>
          <ns1:prstGeom prst="rect">
            <ns1:avLst/>
          </ns1:prstGeom>
          <ns1:solidFill>
            <ns1:srgbClr val="003262"/>
          </ns1:solidFill>
          <ns1:ln w="0">
            <ns1:noFill/>
          </ns1:ln>
        </ns0:spPr>
      </ns0:sp>
      <ns0:sp>
        <ns0:nvSpPr>
          <ns0:cNvPr id="3" name="">
            <ns1:extLst>
              <ns1:ext uri="{FF2B5EF4-FFF2-40B4-BE49-F238E27FC236}">
                <ns2:creationId id="{D2D8B698-64C8-4609-9EBC-EBD493936500}"/>
              </ns1:ext>
            </ns1:extLst>
          </ns0:cNvPr>
          <ns0:cNvSpPr>
            <ns1:spLocks noGrp="1"/>
          </ns0:cNvSpPr>
          <ns0:nvPr/>
        </ns0:nvSpPr>
        <ns0:spPr>
          <ns1:xfrm>
            <ns1:off x="342900" y="238125"/>
            <ns1:ext cx="8458200" cy="514350"/>
          </ns1:xfrm>
          <ns1:prstGeom prst="rect">
            <ns1:avLst/>
          </ns1:prstGeom>
          <ns1:noFill/>
          <ns1:ln w="0">
            <ns1:noFill/>
          </ns1:ln>
        </ns0:spPr>
        <ns0:txBody>
          <ns1:bodyPr>
            <ns1:noAutofit/>
          </ns1:bodyPr>
          <ns1:lstStyle/>
          <ns1:p>
            <ns1:pPr>
              <ns1:buNone/>
              <ns1:defRPr sz="2175" b="1">
                <ns1:solidFill>
                  <ns1:srgbClr val="003262"/>
                </ns1:solidFill>
                <ns1:latin typeface="Arial"/>
                <ns1:ea typeface="Arial"/>
                <ns1:cs typeface="Arial"/>
              </ns1:defRPr>
            </ns1:pPr>
            <ns1:r>
              <ns1:rPr sz="2175" b="1">
                <ns1:solidFill>
                  <ns1:srgbClr val="003262"/>
                </ns1:solidFill>
                <ns1:latin typeface="Arial"/>
                <ns1:ea typeface="Arial"/>
                <ns1:cs typeface="Arial"/>
              </ns1:rPr>
              <ns1:t>Uncertainty: paper and replication</ns1:t>
            </ns1:r>
          </ns1:p>
        </ns0:txBody>
      </ns0:sp>
      <ns0:sp>
        <ns0:nvSpPr>
          <ns0:cNvPr id="4" name="">
            <ns1:extLst>
              <ns1:ext uri="{FF2B5EF4-FFF2-40B4-BE49-F238E27FC236}">
                <ns2:creationId id="{29C225ED-7FEF-4671-B713-F8C687A03758}"/>
              </ns1:ext>
            </ns1:extLst>
          </ns0:cNvPr>
          <ns0:cNvSpPr>
            <ns1:spLocks noGrp="1"/>
          </ns0:cNvSpPr>
          <ns0:nvPr/>
        </ns0:nvSpPr>
        <ns0:spPr>
          <ns1:xfrm>
            <ns1:off x="342900" y="4781550"/>
            <ns1:ext cx="7810500" cy="228600"/>
          </ns1:xfrm>
          <ns1:prstGeom prst="rect">
            <ns1:avLst/>
          </ns1:prstGeom>
          <ns1:noFill/>
          <ns1:ln w="0">
            <ns1:noFill/>
          </ns1:ln>
        </ns0:spPr>
        <ns0:txBody>
          <ns1:bodyPr>
            <ns1:noAutofit/>
          </ns1:bodyPr>
          <ns1:lstStyle/>
          <ns1:p>
            <ns1:pPr>
              <ns1:buNone/>
              <ns1:defRPr sz="900" b="0">
                <ns1:solidFill>
                  <ns1:srgbClr val="5B6770"/>
                </ns1:solidFill>
                <ns1:latin typeface="Arial"/>
                <ns1:ea typeface="Arial"/>
                <ns1:cs typeface="Arial"/>
              </ns1:defRPr>
            </ns1:pPr>
            <ns1:r>
              <ns1:rPr sz="900" b="0">
                <ns1:solidFill>
                  <ns1:srgbClr val="5B6770"/>
                </ns1:solidFill>
                <ns1:latin typeface="Arial"/>
                <ns1:ea typeface="Arial"/>
                <ns1:cs typeface="Arial"/>
              </ns1:rPr>
              <ns1:t>Part 6. Uncertainty</ns1:t>
            </ns1:r>
          </ns1:p>
        </ns0:txBody>
      </ns0:sp>
      <ns0:sp>
        <ns0:nvSpPr>
          <ns0:cNvPr id="5" name="">
            <ns1:extLst>
              <ns1:ext uri="{FF2B5EF4-FFF2-40B4-BE49-F238E27FC236}">
                <ns2:creationId id="{33563EF8-0359-4721-8AFE-4463B97AA990}"/>
              </ns1:ext>
            </ns1:extLst>
          </ns0:cNvPr>
          <ns0:cNvSpPr>
            <ns1:spLocks noGrp="1"/>
          </ns0:cNvSpPr>
          <ns0:nvPr/>
        </ns0:nvSpPr>
        <ns0:spPr>
          <ns1:xfrm>
            <ns1:off x="8458200" y="4781550"/>
            <ns1:ext cx="457200" cy="228600"/>
          </ns1:xfrm>
          <ns1:prstGeom prst="rect">
            <ns1:avLst/>
          </ns1:prstGeom>
          <ns1:noFill/>
          <ns1:ln w="0">
            <ns1:noFill/>
          </ns1:ln>
        </ns0:spPr>
        <ns0:txBody>
          <ns1:bodyPr>
            <ns1:noAutofit/>
          </ns1:bodyPr>
          <ns1:lstStyle/>
          <ns1:p>
            <ns1:pPr>
              <ns1:buNone/>
              <ns1:defRPr sz="900" b="0">
                <ns1:solidFill>
                  <ns1:srgbClr val="5B6770"/>
                </ns1:solidFill>
                <ns1:latin typeface="Arial"/>
                <ns1:ea typeface="Arial"/>
                <ns1:cs typeface="Arial"/>
              </ns1:defRPr>
            </ns1:pPr>
            <ns1:r>
              <ns1:rPr sz="900" b="0">
                <ns1:solidFill>
                  <ns1:srgbClr val="5B6770"/>
                </ns1:solidFill>
                <ns1:latin typeface="Arial"/>
                <ns1:ea typeface="Arial"/>
                <ns1:cs typeface="Arial"/>
              </ns1:rPr>
              <ns1:t>12</ns1:t>
            </ns1:r>
          </ns1:p>
        </ns0:txBody>
      </ns0:sp>
      <ns0:pic>
        <ns0:nvPicPr>
          <ns0:cNvPr id="22" name=""/>
          <ns0:cNvPicPr>
            <ns1:picLocks noChangeAspect="1"/>
          </ns0:cNvPicPr>
          <ns0:nvPr/>
        </ns0:nvPicPr>
        <ns0:blipFill>
          <ns1:blip ns3:embed="R36ca01ff37a2478f"/>
          <ns1:srcRect l="0" t="0" r="0" b="58000"/>
          <ns1:stretch>
            <ns1:fillRect l="0" t="0" r="0" b="0"/>
          </ns1:stretch>
        </ns0:blipFill>
        <ns0:spPr>
          <ns1:xfrm>
            <ns1:off x="1362075" y="876300"/>
            <ns1:ext cx="6419850" cy="3276600"/>
          </ns1:xfrm>
          <ns1:prstGeom prst="rect">
            <ns1:avLst/>
          </ns1:prstGeom>
        </ns0:spPr>
      </ns0:pic>
      <ns0:sp>
        <ns0:nvSpPr>
          <ns0:cNvPr id="15" name="">
            <ns1:extLst>
              <ns1:ext uri="{FF2B5EF4-FFF2-40B4-BE49-F238E27FC236}">
                <ns2:creationId id="{F7646310-0595-49C3-839B-7D2226430A99}"/>
              </ns1:ext>
            </ns1:extLst>
          </ns0:cNvPr>
          <ns0:cNvSpPr>
            <ns1:spLocks noGrp="1"/>
          </ns0:cNvSpPr>
          <ns0:nvPr/>
        </ns0:nvSpPr>
        <ns0:spPr>
          <ns1:xfrm>
            <ns1:off x="419100" y="4257675"/>
            <ns1:ext cx="8286750" cy="457200"/>
          </ns1:xfrm>
          <ns1:prstGeom prst="rect">
            <ns1:avLst/>
          </ns1:prstGeom>
          <ns1:noFill/>
          <ns1:ln w="0">
            <ns1:noFill/>
          </ns1:ln>
        </ns0:spPr>
        <ns0:txBody>
          <ns1:bodyPr>
            <ns1:noAutofit/>
          </ns1:bodyPr>
          <ns1:lstStyle/>
          <ns1:p>
            <ns1:pPr marL="152400" indent="-88900">
              <ns1:spcAft>
                <ns1:spcPts val="200"/>
              </ns1:spcAft>
              <ns1:buChar char="•"/>
              <ns1:defRPr sz="1275" b="1">
                <ns1:solidFill>
                  <ns1:srgbClr val="003262"/>
                </ns1:solidFill>
                <ns1:latin typeface="Arial"/>
                <ns1:ea typeface="Arial"/>
                <ns1:cs typeface="Arial"/>
              </ns1:defRPr>
            </ns1:pPr>
            <ns1:r>
              <ns1:rPr sz="1275" b="1">
                <ns1:solidFill>
                  <ns1:srgbClr val="003262"/>
                </ns1:solidFill>
                <ns1:latin typeface="Arial"/>
                <ns1:ea typeface="Arial"/>
                <ns1:cs typeface="Arial"/>
              </ns1:rPr>
              <ns1:t>Lines show annualized rolling Sharpe for the paper and replicated GAN.</ns1:t>
            </ns1:r>
          </ns1:p>
          <ns1:p>
            <ns1:pPr marL="152400" indent="-88900">
              <ns1:spcAft>
                <ns1:spcPts val="200"/>
              </ns1:spcAft>
              <ns1:buChar char="•"/>
              <ns1:defRPr sz="1275" b="1">
                <ns1:solidFill>
                  <ns1:srgbClr val="003262"/>
                </ns1:solidFill>
                <ns1:latin typeface="Arial"/>
                <ns1:ea typeface="Arial"/>
                <ns1:cs typeface="Arial"/>
              </ns1:defRPr>
            </ns1:pPr>
            <ns1:r>
              <ns1:rPr sz="1275" b="1">
                <ns1:solidFill>
                  <ns1:srgbClr val="003262"/>
                </ns1:solidFill>
                <ns1:latin typeface="Arial"/>
                <ns1:ea typeface="Arial"/>
                <ns1:cs typeface="Arial"/>
              </ns1:rPr>
              <ns1:t>Some bands cross zero, leaving positive Sharpe unresolved in those windows.</ns1:t>
            </ns1:r>
          </ns1:p>
        </ns0:txBody>
      </ns0:sp>
    </ns0:spTree>
    <ns0:extLst>
      <ns0:ext uri="{BB962C8B-B14F-4D97-AF65-F5344CB8AC3E}">
        <ns4:creationId val="1467767590"/>
      </ns0:ext>
    </ns0:extLst>
  </ns0:cSld>
</ns0:sld>
</file>

<file path=ppt/slides/slide13.xml><?xml version="1.0" encoding="utf-8"?>
<ns0:sld xmlns:ns0="http://schemas.openxmlformats.org/presentationml/2006/main" xmlns:ns1="http://schemas.openxmlformats.org/drawingml/2006/main" xmlns:ns2="http://schemas.microsoft.com/office/drawing/2014/main" xmlns:ns3="http://schemas.openxmlformats.org/officeDocument/2006/relationships" xmlns:ns4="http://schemas.microsoft.com/office/powerpoint/2010/main">
  <ns0:cSld>
    <ns0:bg>
      <ns0:bgPr>
        <ns1:solidFill>
          <ns1:srgbClr val="FFFFFF"/>
        </ns1:solidFill>
      </ns0:bgPr>
    </ns0:bg>
    <ns0:spTree>
      <ns0:nvGrpSpPr>
        <ns0:cNvPr id="1" name=""/>
        <ns0:cNvGrpSpPr/>
        <ns0:nvPr/>
      </ns0:nvGrpSpPr>
      <ns0:grpSpPr>
        <ns1:xfrm/>
      </ns0:grpSpPr>
      <ns0:sp>
        <ns0:nvSpPr>
          <ns0:cNvPr id="13" name="">
            <ns1:extLst>
              <ns1:ext uri="{FF2B5EF4-FFF2-40B4-BE49-F238E27FC236}">
                <ns2:creationId id="{9866F3AD-AB2C-46C9-A764-C82928CDD4CD}"/>
              </ns1:ext>
            </ns1:extLst>
          </ns0:cNvPr>
          <ns0:cNvSpPr>
            <ns1:spLocks noGrp="1"/>
          </ns0:cNvSpPr>
          <ns0:nvPr/>
        </ns0:nvSpPr>
        <ns0:spPr>
          <ns1:xfrm>
            <ns1:off x="0" y="0"/>
            <ns1:ext cx="66675" cy="2381250"/>
          </ns1:xfrm>
          <ns1:prstGeom prst="rect">
            <ns1:avLst/>
          </ns1:prstGeom>
          <ns1:solidFill>
            <ns1:srgbClr val="FDB515"/>
          </ns1:solidFill>
          <ns1:ln w="0">
            <ns1:noFill/>
          </ns1:ln>
        </ns0:spPr>
      </ns0:sp>
      <ns0:sp>
        <ns0:nvSpPr>
          <ns0:cNvPr id="2" name="">
            <ns1:extLst>
              <ns1:ext uri="{FF2B5EF4-FFF2-40B4-BE49-F238E27FC236}">
                <ns2:creationId id="{C05C9FE0-4892-415D-BDDA-B96FA8872057}"/>
              </ns1:ext>
            </ns1:extLst>
          </ns0:cNvPr>
          <ns0:cNvSpPr>
            <ns1:spLocks noGrp="1"/>
          </ns0:cNvSpPr>
          <ns0:nvPr/>
        </ns0:nvSpPr>
        <ns0:spPr>
          <ns1:xfrm>
            <ns1:off x="0" y="2381250"/>
            <ns1:ext cx="66675" cy="2762250"/>
          </ns1:xfrm>
          <ns1:prstGeom prst="rect">
            <ns1:avLst/>
          </ns1:prstGeom>
          <ns1:solidFill>
            <ns1:srgbClr val="003262"/>
          </ns1:solidFill>
          <ns1:ln w="0">
            <ns1:noFill/>
          </ns1:ln>
        </ns0:spPr>
      </ns0:sp>
      <ns0:sp>
        <ns0:nvSpPr>
          <ns0:cNvPr id="3" name="">
            <ns1:extLst>
              <ns1:ext uri="{FF2B5EF4-FFF2-40B4-BE49-F238E27FC236}">
                <ns2:creationId id="{D2D8B698-64C8-4609-9EBC-EBD493936500}"/>
              </ns1:ext>
            </ns1:extLst>
          </ns0:cNvPr>
          <ns0:cNvSpPr>
            <ns1:spLocks noGrp="1"/>
          </ns0:cNvSpPr>
          <ns0:nvPr/>
        </ns0:nvSpPr>
        <ns0:spPr>
          <ns1:xfrm>
            <ns1:off x="342900" y="238125"/>
            <ns1:ext cx="8458200" cy="514350"/>
          </ns1:xfrm>
          <ns1:prstGeom prst="rect">
            <ns1:avLst/>
          </ns1:prstGeom>
          <ns1:noFill/>
          <ns1:ln w="0">
            <ns1:noFill/>
          </ns1:ln>
        </ns0:spPr>
        <ns0:txBody>
          <ns1:bodyPr>
            <ns1:noAutofit/>
          </ns1:bodyPr>
          <ns1:lstStyle/>
          <ns1:p>
            <ns1:pPr>
              <ns1:buNone/>
              <ns1:defRPr sz="2175" b="1">
                <ns1:solidFill>
                  <ns1:srgbClr val="003262"/>
                </ns1:solidFill>
                <ns1:latin typeface="Arial"/>
                <ns1:ea typeface="Arial"/>
                <ns1:cs typeface="Arial"/>
              </ns1:defRPr>
            </ns1:pPr>
            <ns1:r>
              <ns1:rPr sz="2175" b="1">
                <ns1:solidFill>
                  <ns1:srgbClr val="003262"/>
                </ns1:solidFill>
                <ns1:latin typeface="Arial"/>
                <ns1:ea typeface="Arial"/>
                <ns1:cs typeface="Arial"/>
              </ns1:rPr>
              <ns1:t>Uncertainty: extension models</ns1:t>
            </ns1:r>
          </ns1:p>
        </ns0:txBody>
      </ns0:sp>
      <ns0:sp>
        <ns0:nvSpPr>
          <ns0:cNvPr id="4" name="">
            <ns1:extLst>
              <ns1:ext uri="{FF2B5EF4-FFF2-40B4-BE49-F238E27FC236}">
                <ns2:creationId id="{29C225ED-7FEF-4671-B713-F8C687A03758}"/>
              </ns1:ext>
            </ns1:extLst>
          </ns0:cNvPr>
          <ns0:cNvSpPr>
            <ns1:spLocks noGrp="1"/>
          </ns0:cNvSpPr>
          <ns0:nvPr/>
        </ns0:nvSpPr>
        <ns0:spPr>
          <ns1:xfrm>
            <ns1:off x="342900" y="4781550"/>
            <ns1:ext cx="7810500" cy="228600"/>
          </ns1:xfrm>
          <ns1:prstGeom prst="rect">
            <ns1:avLst/>
          </ns1:prstGeom>
          <ns1:noFill/>
          <ns1:ln w="0">
            <ns1:noFill/>
          </ns1:ln>
        </ns0:spPr>
        <ns0:txBody>
          <ns1:bodyPr>
            <ns1:noAutofit/>
          </ns1:bodyPr>
          <ns1:lstStyle/>
          <ns1:p>
            <ns1:pPr>
              <ns1:buNone/>
              <ns1:defRPr sz="900" b="0">
                <ns1:solidFill>
                  <ns1:srgbClr val="5B6770"/>
                </ns1:solidFill>
                <ns1:latin typeface="Arial"/>
                <ns1:ea typeface="Arial"/>
                <ns1:cs typeface="Arial"/>
              </ns1:defRPr>
            </ns1:pPr>
            <ns1:r>
              <ns1:rPr sz="900" b="0">
                <ns1:solidFill>
                  <ns1:srgbClr val="5B6770"/>
                </ns1:solidFill>
                <ns1:latin typeface="Arial"/>
                <ns1:ea typeface="Arial"/>
                <ns1:cs typeface="Arial"/>
              </ns1:rPr>
              <ns1:t>Part 6. Uncertainty</ns1:t>
            </ns1:r>
          </ns1:p>
        </ns0:txBody>
      </ns0:sp>
      <ns0:sp>
        <ns0:nvSpPr>
          <ns0:cNvPr id="5" name="">
            <ns1:extLst>
              <ns1:ext uri="{FF2B5EF4-FFF2-40B4-BE49-F238E27FC236}">
                <ns2:creationId id="{33563EF8-0359-4721-8AFE-4463B97AA990}"/>
              </ns1:ext>
            </ns1:extLst>
          </ns0:cNvPr>
          <ns0:cNvSpPr>
            <ns1:spLocks noGrp="1"/>
          </ns0:cNvSpPr>
          <ns0:nvPr/>
        </ns0:nvSpPr>
        <ns0:spPr>
          <ns1:xfrm>
            <ns1:off x="8458200" y="4781550"/>
            <ns1:ext cx="457200" cy="228600"/>
          </ns1:xfrm>
          <ns1:prstGeom prst="rect">
            <ns1:avLst/>
          </ns1:prstGeom>
          <ns1:noFill/>
          <ns1:ln w="0">
            <ns1:noFill/>
          </ns1:ln>
        </ns0:spPr>
        <ns0:txBody>
          <ns1:bodyPr>
            <ns1:noAutofit/>
          </ns1:bodyPr>
          <ns1:lstStyle/>
          <ns1:p>
            <ns1:pPr>
              <ns1:buNone/>
              <ns1:defRPr sz="900" b="0">
                <ns1:solidFill>
                  <ns1:srgbClr val="5B6770"/>
                </ns1:solidFill>
                <ns1:latin typeface="Arial"/>
                <ns1:ea typeface="Arial"/>
                <ns1:cs typeface="Arial"/>
              </ns1:defRPr>
            </ns1:pPr>
            <ns1:r>
              <ns1:rPr sz="900" b="0">
                <ns1:solidFill>
                  <ns1:srgbClr val="5B6770"/>
                </ns1:solidFill>
                <ns1:latin typeface="Arial"/>
                <ns1:ea typeface="Arial"/>
                <ns1:cs typeface="Arial"/>
              </ns1:rPr>
              <ns1:t>13</ns1:t>
            </ns1:r>
          </ns1:p>
        </ns0:txBody>
      </ns0:sp>
      <ns0:pic>
        <ns0:nvPicPr>
          <ns0:cNvPr id="22" name=""/>
          <ns0:cNvPicPr>
            <ns1:picLocks noChangeAspect="1"/>
          </ns0:cNvPicPr>
          <ns0:nvPr/>
        </ns0:nvPicPr>
        <ns0:blipFill>
          <ns1:blip ns3:embed="Re74c03f198d243f1"/>
          <ns1:srcRect l="0" t="42000" r="0" b="0"/>
          <ns1:stretch>
            <ns1:fillRect l="0" t="0" r="0" b="0"/>
          </ns1:stretch>
        </ns0:blipFill>
        <ns0:spPr>
          <ns1:xfrm>
            <ns1:off x="2247900" y="876300"/>
            <ns1:ext cx="4648200" cy="3276600"/>
          </ns1:xfrm>
          <ns1:prstGeom prst="rect">
            <ns1:avLst/>
          </ns1:prstGeom>
        </ns0:spPr>
      </ns0:pic>
      <ns0:sp>
        <ns0:nvSpPr>
          <ns0:cNvPr id="15" name="">
            <ns1:extLst>
              <ns1:ext uri="{FF2B5EF4-FFF2-40B4-BE49-F238E27FC236}">
                <ns2:creationId id="{0FBC485B-A00E-4236-88B4-959EACA5A5C9}"/>
              </ns1:ext>
            </ns1:extLst>
          </ns0:cNvPr>
          <ns0:cNvSpPr>
            <ns1:spLocks noGrp="1"/>
          </ns0:cNvSpPr>
          <ns0:nvPr/>
        </ns0:nvSpPr>
        <ns0:spPr>
          <ns1:xfrm>
            <ns1:off x="419100" y="4257675"/>
            <ns1:ext cx="8286750" cy="457200"/>
          </ns1:xfrm>
          <ns1:prstGeom prst="rect">
            <ns1:avLst/>
          </ns1:prstGeom>
          <ns1:noFill/>
          <ns1:ln w="0">
            <ns1:noFill/>
          </ns1:ln>
        </ns0:spPr>
        <ns0:txBody>
          <ns1:bodyPr>
            <ns1:noAutofit/>
          </ns1:bodyPr>
          <ns1:lstStyle/>
          <ns1:p>
            <ns1:pPr marL="152400" indent="-88900">
              <ns1:spcAft>
                <ns1:spcPts val="200"/>
              </ns1:spcAft>
              <ns1:buChar char="•"/>
              <ns1:defRPr sz="1275" b="1">
                <ns1:solidFill>
                  <ns1:srgbClr val="003262"/>
                </ns1:solidFill>
                <ns1:latin typeface="Arial"/>
                <ns1:ea typeface="Arial"/>
                <ns1:cs typeface="Arial"/>
              </ns1:defRPr>
            </ns1:pPr>
            <ns1:r>
              <ns1:rPr sz="1275" b="1">
                <ns1:solidFill>
                  <ns1:srgbClr val="003262"/>
                </ns1:solidFill>
                <ns1:latin typeface="Arial"/>
                <ns1:ea typeface="Arial"/>
                <ns1:cs typeface="Arial"/>
              </ns1:rPr>
              <ns1:t>Separate confidence bands show sampling uncertainty for each extension model.</ns1:t>
            </ns1:r>
          </ns1:p>
          <ns1:p>
            <ns1:pPr marL="152400" indent="-88900">
              <ns1:spcAft>
                <ns1:spcPts val="200"/>
              </ns1:spcAft>
              <ns1:buChar char="•"/>
              <ns1:defRPr sz="1275" b="1">
                <ns1:solidFill>
                  <ns1:srgbClr val="003262"/>
                </ns1:solidFill>
                <ns1:latin typeface="Arial"/>
                <ns1:ea typeface="Arial"/>
                <ns1:cs typeface="Arial"/>
              </ns1:defRPr>
            </ns1:pPr>
            <ns1:r>
              <ns1:rPr sz="1275" b="1">
                <ns1:solidFill>
                  <ns1:srgbClr val="003262"/>
                </ns1:solidFill>
                <ns1:latin typeface="Arial"/>
                <ns1:ea typeface="Arial"/>
                <ns1:cs typeface="Arial"/>
              </ns1:rPr>
              <ns1:t>Several bands cross zero. Use the paired comparison on </ns1:t>
            </ns1:r>
            <ns1:r>
              <ns1:rPr sz="1275" b="1">
                <ns1:solidFill>
                  <ns1:srgbClr val="003262"/>
                </ns1:solidFill>
                <ns1:latin typeface="Arial"/>
                <ns1:ea typeface="Arial"/>
                <ns1:cs typeface="Arial"/>
              </ns1:rPr>
              <ns1:t>slide 14</ns1:t>
            </ns1:r>
            <ns1:r>
              <ns1:rPr sz="1275" b="1">
                <ns1:solidFill>
                  <ns1:srgbClr val="003262"/>
                </ns1:solidFill>
                <ns1:latin typeface="Arial"/>
                <ns1:ea typeface="Arial"/>
                <ns1:cs typeface="Arial"/>
              </ns1:rPr>
              <ns1:t> to assess model gaps.</ns1:t>
            </ns1:r>
          </ns1:p>
        </ns0:txBody>
      </ns0:sp>
    </ns0:spTree>
    <ns0:extLst>
      <ns0:ext uri="{BB962C8B-B14F-4D97-AF65-F5344CB8AC3E}">
        <ns4:creationId val="1467767590"/>
      </ns0:ext>
    </ns0:extLst>
  </ns0:cSld>
</ns0:sld>
</file>

<file path=ppt/slides/slide14.xml><?xml version="1.0" encoding="utf-8"?>
<ns0:sld xmlns:ns0="http://schemas.openxmlformats.org/presentationml/2006/main" xmlns:ns1="http://schemas.openxmlformats.org/drawingml/2006/main" xmlns:ns2="http://schemas.microsoft.com/office/drawing/2014/main" xmlns:ns3="http://schemas.microsoft.com/office/powerpoint/2010/main">
  <ns0:cSld>
    <ns0:bg>
      <ns0:bgPr>
        <ns1:solidFill>
          <ns1:srgbClr val="FFFFFF"/>
        </ns1:solidFill>
      </ns0:bgPr>
    </ns0:bg>
    <ns0:spTree>
      <ns0:nvGrpSpPr>
        <ns0:cNvPr id="1" name=""/>
        <ns0:cNvGrpSpPr/>
        <ns0:nvPr/>
      </ns0:nvGrpSpPr>
      <ns0:grpSpPr>
        <ns1:xfrm/>
      </ns0:grpSpPr>
      <ns0:sp>
        <ns0:nvSpPr>
          <ns0:cNvPr id="9" name="">
            <ns1:extLst>
              <ns1:ext uri="{FF2B5EF4-FFF2-40B4-BE49-F238E27FC236}">
                <ns2:creationId id="{1ECBEAE4-DF3D-49AC-AC77-3827D0C8A476}"/>
              </ns1:ext>
            </ns1:extLst>
          </ns0:cNvPr>
          <ns0:cNvSpPr>
            <ns1:spLocks noGrp="1"/>
          </ns0:cNvSpPr>
          <ns0:nvPr/>
        </ns0:nvSpPr>
        <ns0:spPr>
          <ns1:xfrm>
            <ns1:off x="0" y="0"/>
            <ns1:ext cx="66675" cy="2381250"/>
          </ns1:xfrm>
          <ns1:prstGeom prst="rect">
            <ns1:avLst/>
          </ns1:prstGeom>
          <ns1:solidFill>
            <ns1:srgbClr val="FDB515"/>
          </ns1:solidFill>
          <ns1:ln w="0">
            <ns1:noFill/>
          </ns1:ln>
        </ns0:spPr>
      </ns0:sp>
      <ns0:sp>
        <ns0:nvSpPr>
          <ns0:cNvPr id="2" name="">
            <ns1:extLst>
              <ns1:ext uri="{FF2B5EF4-FFF2-40B4-BE49-F238E27FC236}">
                <ns2:creationId id="{00711BCB-0BD7-4367-BC9A-E3DEAC4DC03C}"/>
              </ns1:ext>
            </ns1:extLst>
          </ns0:cNvPr>
          <ns0:cNvSpPr>
            <ns1:spLocks noGrp="1"/>
          </ns0:cNvSpPr>
          <ns0:nvPr/>
        </ns0:nvSpPr>
        <ns0:spPr>
          <ns1:xfrm>
            <ns1:off x="0" y="2381250"/>
            <ns1:ext cx="66675" cy="2762250"/>
          </ns1:xfrm>
          <ns1:prstGeom prst="rect">
            <ns1:avLst/>
          </ns1:prstGeom>
          <ns1:solidFill>
            <ns1:srgbClr val="003262"/>
          </ns1:solidFill>
          <ns1:ln w="0">
            <ns1:noFill/>
          </ns1:ln>
        </ns0:spPr>
      </ns0:sp>
      <ns0:sp>
        <ns0:nvSpPr>
          <ns0:cNvPr id="3" name="">
            <ns1:extLst>
              <ns1:ext uri="{FF2B5EF4-FFF2-40B4-BE49-F238E27FC236}">
                <ns2:creationId id="{58518004-C98E-4EF1-B645-A32BD34E91F5}"/>
              </ns1:ext>
            </ns1:extLst>
          </ns0:cNvPr>
          <ns0:cNvSpPr>
            <ns1:spLocks noGrp="1"/>
          </ns0:cNvSpPr>
          <ns0:nvPr/>
        </ns0:nvSpPr>
        <ns0:spPr>
          <ns1:xfrm>
            <ns1:off x="342900" y="238125"/>
            <ns1:ext cx="8458200" cy="514350"/>
          </ns1:xfrm>
          <ns1:prstGeom prst="rect">
            <ns1:avLst/>
          </ns1:prstGeom>
          <ns1:noFill/>
          <ns1:ln w="0">
            <ns1:noFill/>
          </ns1:ln>
        </ns0:spPr>
        <ns0:txBody>
          <ns1:bodyPr>
            <ns1:noAutofit/>
          </ns1:bodyPr>
          <ns1:lstStyle/>
          <ns1:p>
            <ns1:pPr>
              <ns1:buNone/>
              <ns1:defRPr sz="2175" b="1">
                <ns1:solidFill>
                  <ns1:srgbClr val="003262"/>
                </ns1:solidFill>
                <ns1:latin typeface="Arial"/>
                <ns1:ea typeface="Arial"/>
                <ns1:cs typeface="Arial"/>
              </ns1:defRPr>
            </ns1:pPr>
            <ns1:r>
              <ns1:rPr sz="2175" b="1">
                <ns1:solidFill>
                  <ns1:srgbClr val="003262"/>
                </ns1:solidFill>
                <ns1:latin typeface="Arial"/>
                <ns1:ea typeface="Arial"/>
                <ns1:cs typeface="Arial"/>
              </ns1:rPr>
              <ns1:t>Uncertainty: paired Sharpe differences</ns1:t>
            </ns1:r>
          </ns1:p>
        </ns0:txBody>
      </ns0:sp>
      <ns0:sp>
        <ns0:nvSpPr>
          <ns0:cNvPr id="4" name="">
            <ns1:extLst>
              <ns1:ext uri="{FF2B5EF4-FFF2-40B4-BE49-F238E27FC236}">
                <ns2:creationId id="{C13BD07D-E50E-4FED-84C3-175A0A2A1A67}"/>
              </ns1:ext>
            </ns1:extLst>
          </ns0:cNvPr>
          <ns0:cNvSpPr>
            <ns1:spLocks noGrp="1"/>
          </ns0:cNvSpPr>
          <ns0:nvPr/>
        </ns0:nvSpPr>
        <ns0:spPr>
          <ns1:xfrm>
            <ns1:off x="342900" y="4781550"/>
            <ns1:ext cx="7810500" cy="228600"/>
          </ns1:xfrm>
          <ns1:prstGeom prst="rect">
            <ns1:avLst/>
          </ns1:prstGeom>
          <ns1:noFill/>
          <ns1:ln w="0">
            <ns1:noFill/>
          </ns1:ln>
        </ns0:spPr>
        <ns0:txBody>
          <ns1:bodyPr>
            <ns1:noAutofit/>
          </ns1:bodyPr>
          <ns1:lstStyle/>
          <ns1:p>
            <ns1:pPr>
              <ns1:buNone/>
              <ns1:defRPr sz="900" b="0">
                <ns1:solidFill>
                  <ns1:srgbClr val="5B6770"/>
                </ns1:solidFill>
                <ns1:latin typeface="Arial"/>
                <ns1:ea typeface="Arial"/>
                <ns1:cs typeface="Arial"/>
              </ns1:defRPr>
            </ns1:pPr>
            <ns1:r>
              <ns1:rPr sz="900" b="0">
                <ns1:solidFill>
                  <ns1:srgbClr val="5B6770"/>
                </ns1:solidFill>
                <ns1:latin typeface="Arial"/>
                <ns1:ea typeface="Arial"/>
                <ns1:cs typeface="Arial"/>
              </ns1:rPr>
              <ns1:t>Part 6. Uncertainty</ns1:t>
            </ns1:r>
          </ns1:p>
        </ns0:txBody>
      </ns0:sp>
      <ns0:sp>
        <ns0:nvSpPr>
          <ns0:cNvPr id="5" name="">
            <ns1:extLst>
              <ns1:ext uri="{FF2B5EF4-FFF2-40B4-BE49-F238E27FC236}">
                <ns2:creationId id="{FA565141-3A51-404A-9DA1-2E8A04D56C2D}"/>
              </ns1:ext>
            </ns1:extLst>
          </ns0:cNvPr>
          <ns0:cNvSpPr>
            <ns1:spLocks noGrp="1"/>
          </ns0:cNvSpPr>
          <ns0:nvPr/>
        </ns0:nvSpPr>
        <ns0:spPr>
          <ns1:xfrm>
            <ns1:off x="8458200" y="4781550"/>
            <ns1:ext cx="457200" cy="228600"/>
          </ns1:xfrm>
          <ns1:prstGeom prst="rect">
            <ns1:avLst/>
          </ns1:prstGeom>
          <ns1:noFill/>
          <ns1:ln w="0">
            <ns1:noFill/>
          </ns1:ln>
        </ns0:spPr>
        <ns0:txBody>
          <ns1:bodyPr>
            <ns1:noAutofit/>
          </ns1:bodyPr>
          <ns1:lstStyle/>
          <ns1:p>
            <ns1:pPr>
              <ns1:buNone/>
              <ns1:defRPr sz="900" b="0">
                <ns1:solidFill>
                  <ns1:srgbClr val="5B6770"/>
                </ns1:solidFill>
                <ns1:latin typeface="Arial"/>
                <ns1:ea typeface="Arial"/>
                <ns1:cs typeface="Arial"/>
              </ns1:defRPr>
            </ns1:pPr>
            <ns1:r>
              <ns1:rPr sz="900" b="0">
                <ns1:solidFill>
                  <ns1:srgbClr val="5B6770"/>
                </ns1:solidFill>
                <ns1:latin typeface="Arial"/>
                <ns1:ea typeface="Arial"/>
                <ns1:cs typeface="Arial"/>
              </ns1:rPr>
              <ns1:t>14</ns1:t>
            </ns1:r>
          </ns1:p>
        </ns0:txBody>
      </ns0:sp>
      <ns0:graphicFrame>
        <ns0:nvGraphicFramePr>
          <ns0:cNvPr id="18" name=""/>
          <ns0:cNvGraphicFramePr/>
          <ns0:nvPr/>
        </ns0:nvGraphicFramePr>
        <ns0:xfrm>
          <ns1:off x="400050" y="1019175"/>
          <ns1:ext cx="8343900" cy="2571750"/>
        </ns0:xfrm>
        <ns1:graphic>
          <ns1:graphicData uri="http://schemas.openxmlformats.org/drawingml/2006/table">
            <ns1:tbl>
              <ns1:tblPr/>
              <ns1:tblGrid>
                <ns1:gridCol w="2857500"/>
                <ns1:gridCol w="1828800"/>
                <ns1:gridCol w="1828800"/>
                <ns1:gridCol w="1828800"/>
              </ns1:tblGrid>
              <ns1:tr h="642938">
                <ns1:tc>
                  <ns1:txBody>
                    <ns1:bodyPr/>
                    <ns1:lstStyle/>
                    <ns1:p>
                      <ns1:r>
                        <ns1:rPr sz="1425" b="1">
                          <ns1:solidFill>
                            <ns1:srgbClr val="FFFFFF"/>
                          </ns1:solidFill>
                          <ns1:latin typeface="Arial"/>
                          <ns1:ea typeface="Arial"/>
                          <ns1:cs typeface="Arial"/>
                        </ns1:rPr>
                        <ns1:t>A minus B</ns1:t>
                      </ns1:r>
                    </ns1:p>
                  </ns1:txBody>
                  <ns1:tcPr marL="91440" marR="91440" marT="45720" marB="45720">
                    <ns1:solidFill>
                      <ns1:srgbClr val="003262"/>
                    </ns1:solidFill>
                  </ns1:tcPr>
                </ns1:tc>
                <ns1:tc>
                  <ns1:txBody>
                    <ns1:bodyPr/>
                    <ns1:lstStyle/>
                    <ns1:p>
                      <ns1:r>
                        <ns1:rPr sz="1425" b="1">
                          <ns1:solidFill>
                            <ns1:srgbClr val="FFFFFF"/>
                          </ns1:solidFill>
                          <ns1:latin typeface="Arial"/>
                          <ns1:ea typeface="Arial"/>
                          <ns1:cs typeface="Arial"/>
                        </ns1:rPr>
                        <ns1:t>Difference</ns1:t>
                      </ns1:r>
                    </ns1:p>
                  </ns1:txBody>
                  <ns1:tcPr marL="91440" marR="91440" marT="45720" marB="45720">
                    <ns1:solidFill>
                      <ns1:srgbClr val="003262"/>
                    </ns1:solidFill>
                  </ns1:tcPr>
                </ns1:tc>
                <ns1:tc>
                  <ns1:txBody>
                    <ns1:bodyPr/>
                    <ns1:lstStyle/>
                    <ns1:p>
                      <ns1:r>
                        <ns1:rPr sz="1425" b="1">
                          <ns1:solidFill>
                            <ns1:srgbClr val="FFFFFF"/>
                          </ns1:solidFill>
                          <ns1:latin typeface="Arial"/>
                          <ns1:ea typeface="Arial"/>
                          <ns1:cs typeface="Arial"/>
                        </ns1:rPr>
                        <ns1:t>95% basic</ns1:t>
                      </ns1:r>
                    </ns1:p>
                  </ns1:txBody>
                  <ns1:tcPr marL="91440" marR="91440" marT="45720" marB="45720">
                    <ns1:solidFill>
                      <ns1:srgbClr val="003262"/>
                    </ns1:solidFill>
                  </ns1:tcPr>
                </ns1:tc>
                <ns1:tc>
                  <ns1:txBody>
                    <ns1:bodyPr/>
                    <ns1:lstStyle/>
                    <ns1:p>
                      <ns1:r>
                        <ns1:rPr sz="1425" b="1">
                          <ns1:solidFill>
                            <ns1:srgbClr val="FFFFFF"/>
                          </ns1:solidFill>
                          <ns1:latin typeface="Arial"/>
                          <ns1:ea typeface="Arial"/>
                          <ns1:cs typeface="Arial"/>
                        </ns1:rPr>
                        <ns1:t>95% simultaneous</ns1:t>
                      </ns1:r>
                    </ns1:p>
                  </ns1:txBody>
                  <ns1:tcPr marL="91440" marR="91440" marT="45720" marB="45720">
                    <ns1:solidFill>
                      <ns1:srgbClr val="003262"/>
                    </ns1:solidFill>
                  </ns1:tcPr>
                </ns1:tc>
              </ns1:tr>
              <ns1:tr h="642938">
                <ns1:tc>
                  <ns1:txBody>
                    <ns1:bodyPr/>
                    <ns1:lstStyle/>
                    <ns1:p>
                      <ns1:r>
                        <ns1:rPr sz="1500" b="0">
                          <ns1:solidFill>
                            <ns1:srgbClr val="1F2A37"/>
                          </ns1:solidFill>
                          <ns1:latin typeface="Arial"/>
                          <ns1:ea typeface="Arial"/>
                          <ns1:cs typeface="Arial"/>
                        </ns1:rPr>
                        <ns1:t>Paper GAN minus</ns1:t>
                      </ns1:r>
                    </ns1:p>
                    <ns1:p>
                      <ns1:r>
                        <ns1:rPr sz="1500" b="0">
                          <ns1:solidFill>
                            <ns1:srgbClr val="1F2A37"/>
                          </ns1:solidFill>
                          <ns1:latin typeface="Arial"/>
                          <ns1:ea typeface="Arial"/>
                          <ns1:cs typeface="Arial"/>
                        </ns1:rPr>
                        <ns1:t>Replicated GAN</ns1:t>
                      </ns1:r>
                    </ns1:p>
                  </ns1:txBody>
                  <ns1:tcPr marL="91440" marR="91440" marT="45720" marB="45720">
                    <ns1:solidFill>
                      <ns1:srgbClr val="EEF3F8"/>
                    </ns1:solidFill>
                  </ns1:tcPr>
                </ns1:tc>
                <ns1:tc>
                  <ns1:txBody>
                    <ns1:bodyPr/>
                    <ns1:lstStyle/>
                    <ns1:p>
                      <ns1:r>
                        <ns1:rPr sz="1500" b="0">
                          <ns1:solidFill>
                            <ns1:srgbClr val="1F2A37"/>
                          </ns1:solidFill>
                          <ns1:latin typeface="Arial"/>
                          <ns1:ea typeface="Arial"/>
                          <ns1:cs typeface="Arial"/>
                        </ns1:rPr>
                        <ns1:t>0.138</ns1:t>
                      </ns1:r>
                    </ns1:p>
                  </ns1:txBody>
                  <ns1:tcPr marL="91440" marR="91440" marT="45720" marB="45720">
                    <ns1:solidFill>
                      <ns1:srgbClr val="EEF3F8"/>
                    </ns1:solidFill>
                  </ns1:tcPr>
                </ns1:tc>
                <ns1:tc>
                  <ns1:txBody>
                    <ns1:bodyPr/>
                    <ns1:lstStyle/>
                    <ns1:p>
                      <ns1:r>
                        <ns1:rPr sz="1500" b="0">
                          <ns1:solidFill>
                            <ns1:srgbClr val="1F2A37"/>
                          </ns1:solidFill>
                          <ns1:latin typeface="Arial"/>
                          <ns1:ea typeface="Arial"/>
                          <ns1:cs typeface="Arial"/>
                        </ns1:rPr>
                        <ns1:t>[-0.037, 0.256]</ns1:t>
                      </ns1:r>
                    </ns1:p>
                  </ns1:txBody>
                  <ns1:tcPr marL="91440" marR="91440" marT="45720" marB="45720">
                    <ns1:solidFill>
                      <ns1:srgbClr val="EEF3F8"/>
                    </ns1:solidFill>
                  </ns1:tcPr>
                </ns1:tc>
                <ns1:tc>
                  <ns1:txBody>
                    <ns1:bodyPr/>
                    <ns1:lstStyle/>
                    <ns1:p>
                      <ns1:r>
                        <ns1:rPr sz="1500" b="0">
                          <ns1:solidFill>
                            <ns1:srgbClr val="1F2A37"/>
                          </ns1:solidFill>
                          <ns1:latin typeface="Arial"/>
                          <ns1:ea typeface="Arial"/>
                          <ns1:cs typeface="Arial"/>
                        </ns1:rPr>
                        <ns1:t>[-0.148, 0.425]</ns1:t>
                      </ns1:r>
                    </ns1:p>
                  </ns1:txBody>
                  <ns1:tcPr marL="91440" marR="91440" marT="45720" marB="45720">
                    <ns1:solidFill>
                      <ns1:srgbClr val="EEF3F8"/>
                    </ns1:solidFill>
                  </ns1:tcPr>
                </ns1:tc>
              </ns1:tr>
              <ns1:tr h="642938">
                <ns1:tc>
                  <ns1:txBody>
                    <ns1:bodyPr/>
                    <ns1:lstStyle/>
                    <ns1:p>
                      <ns1:r>
                        <ns1:rPr sz="1500" b="0">
                          <ns1:solidFill>
                            <ns1:srgbClr val="1F2A37"/>
                          </ns1:solidFill>
                          <ns1:latin typeface="Arial"/>
                          <ns1:ea typeface="Arial"/>
                          <ns1:cs typeface="Arial"/>
                        </ns1:rPr>
                        <ns1:t>Extension LSTM minus</ns1:t>
                      </ns1:r>
                    </ns1:p>
                    <ns1:p>
                      <ns1:r>
                        <ns1:rPr sz="1500" b="0">
                          <ns1:solidFill>
                            <ns1:srgbClr val="1F2A37"/>
                          </ns1:solidFill>
                          <ns1:latin typeface="Arial"/>
                          <ns1:ea typeface="Arial"/>
                          <ns1:cs typeface="Arial"/>
                        </ns1:rPr>
                        <ns1:t>Transformer</ns1:t>
                      </ns1:r>
                    </ns1:p>
                  </ns1:txBody>
                  <ns1:tcPr marL="91440" marR="91440" marT="45720" marB="45720">
                    <ns1:solidFill>
                      <ns1:srgbClr val="FFFFFF"/>
                    </ns1:solidFill>
                  </ns1:tcPr>
                </ns1:tc>
                <ns1:tc>
                  <ns1:txBody>
                    <ns1:bodyPr/>
                    <ns1:lstStyle/>
                    <ns1:p>
                      <ns1:r>
                        <ns1:rPr sz="1500" b="0">
                          <ns1:solidFill>
                            <ns1:srgbClr val="1F2A37"/>
                          </ns1:solidFill>
                          <ns1:latin typeface="Arial"/>
                          <ns1:ea typeface="Arial"/>
                          <ns1:cs typeface="Arial"/>
                        </ns1:rPr>
                        <ns1:t>0.155</ns1:t>
                      </ns1:r>
                    </ns1:p>
                  </ns1:txBody>
                  <ns1:tcPr marL="91440" marR="91440" marT="45720" marB="45720">
                    <ns1:solidFill>
                      <ns1:srgbClr val="FFFFFF"/>
                    </ns1:solidFill>
                  </ns1:tcPr>
                </ns1:tc>
                <ns1:tc>
                  <ns1:txBody>
                    <ns1:bodyPr/>
                    <ns1:lstStyle/>
                    <ns1:p>
                      <ns1:r>
                        <ns1:rPr sz="1500" b="0">
                          <ns1:solidFill>
                            <ns1:srgbClr val="1F2A37"/>
                          </ns1:solidFill>
                          <ns1:latin typeface="Arial"/>
                          <ns1:ea typeface="Arial"/>
                          <ns1:cs typeface="Arial"/>
                        </ns1:rPr>
                        <ns1:t>[-0.049, 0.365]</ns1:t>
                      </ns1:r>
                    </ns1:p>
                  </ns1:txBody>
                  <ns1:tcPr marL="91440" marR="91440" marT="45720" marB="45720">
                    <ns1:solidFill>
                      <ns1:srgbClr val="FFFFFF"/>
                    </ns1:solidFill>
                  </ns1:tcPr>
                </ns1:tc>
                <ns1:tc>
                  <ns1:txBody>
                    <ns1:bodyPr/>
                    <ns1:lstStyle/>
                    <ns1:p>
                      <ns1:r>
                        <ns1:rPr sz="1500" b="0">
                          <ns1:solidFill>
                            <ns1:srgbClr val="1F2A37"/>
                          </ns1:solidFill>
                          <ns1:latin typeface="Arial"/>
                          <ns1:ea typeface="Arial"/>
                          <ns1:cs typeface="Arial"/>
                        </ns1:rPr>
                        <ns1:t>[-0.132, 0.441]</ns1:t>
                      </ns1:r>
                    </ns1:p>
                  </ns1:txBody>
                  <ns1:tcPr marL="91440" marR="91440" marT="45720" marB="45720">
                    <ns1:solidFill>
                      <ns1:srgbClr val="FFFFFF"/>
                    </ns1:solidFill>
                  </ns1:tcPr>
                </ns1:tc>
              </ns1:tr>
              <ns1:tr h="642938">
                <ns1:tc>
                  <ns1:txBody>
                    <ns1:bodyPr/>
                    <ns1:lstStyle/>
                    <ns1:p>
                      <ns1:r>
                        <ns1:rPr sz="1500" b="0">
                          <ns1:solidFill>
                            <ns1:srgbClr val="1F2A37"/>
                          </ns1:solidFill>
                          <ns1:latin typeface="Arial"/>
                          <ns1:ea typeface="Arial"/>
                          <ns1:cs typeface="Arial"/>
                        </ns1:rPr>
                        <ns1:t>Extension LSTM minus</ns1:t>
                      </ns1:r>
                    </ns1:p>
                    <ns1:p>
                      <ns1:r>
                        <ns1:rPr sz="1500" b="0">
                          <ns1:solidFill>
                            <ns1:srgbClr val="1F2A37"/>
                          </ns1:solidFill>
                          <ns1:latin typeface="Arial"/>
                          <ns1:ea typeface="Arial"/>
                          <ns1:cs typeface="Arial"/>
                        </ns1:rPr>
                        <ns1:t>Equal-weight blend</ns1:t>
                      </ns1:r>
                    </ns1:p>
                  </ns1:txBody>
                  <ns1:tcPr marL="91440" marR="91440" marT="45720" marB="45720">
                    <ns1:solidFill>
                      <ns1:srgbClr val="EEF3F8"/>
                    </ns1:solidFill>
                  </ns1:tcPr>
                </ns1:tc>
                <ns1:tc>
                  <ns1:txBody>
                    <ns1:bodyPr/>
                    <ns1:lstStyle/>
                    <ns1:p>
                      <ns1:r>
                        <ns1:rPr sz="1500" b="0">
                          <ns1:solidFill>
                            <ns1:srgbClr val="1F2A37"/>
                          </ns1:solidFill>
                          <ns1:latin typeface="Arial"/>
                          <ns1:ea typeface="Arial"/>
                          <ns1:cs typeface="Arial"/>
                        </ns1:rPr>
                        <ns1:t>-0.004</ns1:t>
                      </ns1:r>
                    </ns1:p>
                  </ns1:txBody>
                  <ns1:tcPr marL="91440" marR="91440" marT="45720" marB="45720">
                    <ns1:solidFill>
                      <ns1:srgbClr val="EEF3F8"/>
                    </ns1:solidFill>
                  </ns1:tcPr>
                </ns1:tc>
                <ns1:tc>
                  <ns1:txBody>
                    <ns1:bodyPr/>
                    <ns1:lstStyle/>
                    <ns1:p>
                      <ns1:r>
                        <ns1:rPr sz="1500" b="0">
                          <ns1:solidFill>
                            <ns1:srgbClr val="1F2A37"/>
                          </ns1:solidFill>
                          <ns1:latin typeface="Arial"/>
                          <ns1:ea typeface="Arial"/>
                          <ns1:cs typeface="Arial"/>
                        </ns1:rPr>
                        <ns1:t>[-0.132, 0.119]</ns1:t>
                      </ns1:r>
                    </ns1:p>
                  </ns1:txBody>
                  <ns1:tcPr marL="91440" marR="91440" marT="45720" marB="45720">
                    <ns1:solidFill>
                      <ns1:srgbClr val="EEF3F8"/>
                    </ns1:solidFill>
                  </ns1:tcPr>
                </ns1:tc>
                <ns1:tc>
                  <ns1:txBody>
                    <ns1:bodyPr/>
                    <ns1:lstStyle/>
                    <ns1:p>
                      <ns1:r>
                        <ns1:rPr sz="1500" b="0">
                          <ns1:solidFill>
                            <ns1:srgbClr val="1F2A37"/>
                          </ns1:solidFill>
                          <ns1:latin typeface="Arial"/>
                          <ns1:ea typeface="Arial"/>
                          <ns1:cs typeface="Arial"/>
                        </ns1:rPr>
                        <ns1:t>[-0.290, 0.283]</ns1:t>
                      </ns1:r>
                    </ns1:p>
                  </ns1:txBody>
                  <ns1:tcPr marL="91440" marR="91440" marT="45720" marB="45720">
                    <ns1:solidFill>
                      <ns1:srgbClr val="EEF3F8"/>
                    </ns1:solidFill>
                  </ns1:tcPr>
                </ns1:tc>
              </ns1:tr>
            </ns1:tbl>
          </ns1:graphicData>
        </ns1:graphic>
      </ns0:graphicFrame>
      <ns0:sp>
        <ns0:nvSpPr>
          <ns0:cNvPr id="7" name="">
            <ns1:extLst>
              <ns1:ext uri="{FF2B5EF4-FFF2-40B4-BE49-F238E27FC236}">
                <ns2:creationId id="{48BC5BE1-AD53-4907-9DA1-64D2556CB971}"/>
              </ns1:ext>
            </ns1:extLst>
          </ns0:cNvPr>
          <ns0:cNvSpPr>
            <ns1:spLocks noGrp="1"/>
          </ns0:cNvSpPr>
          <ns0:nvPr/>
        </ns0:nvSpPr>
        <ns0:spPr>
          <ns1:xfrm>
            <ns1:off x="419100" y="3771900"/>
            <ns1:ext cx="8286750" cy="409575"/>
          </ns1:xfrm>
          <ns1:prstGeom prst="rect">
            <ns1:avLst/>
          </ns1:prstGeom>
          <ns1:noFill/>
          <ns1:ln w="0">
            <ns1:noFill/>
          </ns1:ln>
        </ns0:spPr>
        <ns0:txBody>
          <ns1:bodyPr>
            <ns1:noAutofit/>
          </ns1:bodyPr>
          <ns1:lstStyle/>
          <ns1:p>
            <ns1:pPr>
              <ns1:buNone/>
              <ns1:defRPr sz="1650" b="0">
                <ns1:solidFill>
                  <ns1:srgbClr val="1F2A37"/>
                </ns1:solidFill>
                <ns1:latin typeface="Arial"/>
                <ns1:ea typeface="Arial"/>
                <ns1:cs typeface="Arial"/>
              </ns1:defRPr>
            </ns1:pPr>
            <ns1:r>
              <ns1:rPr sz="1650" b="0">
                <ns1:solidFill>
                  <ns1:srgbClr val="1F2A37"/>
                </ns1:solidFill>
                <ns1:latin typeface="Arial"/>
                <ns1:ea typeface="Arial"/>
                <ns1:cs typeface="Arial"/>
              </ns1:rPr>
              <ns1:t>A positive point estimate can coexist with an interval containing zero.</ns1:t>
            </ns1:r>
          </ns1:p>
        </ns0:txBody>
      </ns0:sp>
      <ns0:sp>
        <ns0:nvSpPr>
          <ns0:cNvPr id="11" name="">
            <ns1:extLst>
              <ns1:ext uri="{FF2B5EF4-FFF2-40B4-BE49-F238E27FC236}">
                <ns2:creationId id="{EA262447-3DE7-4812-84A4-4CCC90AB7963}"/>
              </ns1:ext>
            </ns1:extLst>
          </ns0:cNvPr>
          <ns0:cNvSpPr>
            <ns1:spLocks noGrp="1"/>
          </ns0:cNvSpPr>
          <ns0:nvPr/>
        </ns0:nvSpPr>
        <ns0:spPr>
          <ns1:xfrm>
            <ns1:off x="419100" y="4257675"/>
            <ns1:ext cx="8286750" cy="457200"/>
          </ns1:xfrm>
          <ns1:prstGeom prst="rect">
            <ns1:avLst/>
          </ns1:prstGeom>
          <ns1:noFill/>
          <ns1:ln w="0">
            <ns1:noFill/>
          </ns1:ln>
        </ns0:spPr>
        <ns0:txBody>
          <ns1:bodyPr>
            <ns1:noAutofit/>
          </ns1:bodyPr>
          <ns1:lstStyle/>
          <ns1:p>
            <ns1:pPr marL="152400" indent="-88900">
              <ns1:spcAft>
                <ns1:spcPts val="200"/>
              </ns1:spcAft>
              <ns1:buChar char="•"/>
              <ns1:defRPr sz="1275" b="1">
                <ns1:solidFill>
                  <ns1:srgbClr val="003262"/>
                </ns1:solidFill>
                <ns1:latin typeface="Arial"/>
                <ns1:ea typeface="Arial"/>
                <ns1:cs typeface="Arial"/>
              </ns1:defRPr>
            </ns1:pPr>
            <ns1:r>
              <ns1:rPr sz="1275" b="1">
                <ns1:solidFill>
                  <ns1:srgbClr val="003262"/>
                </ns1:solidFill>
                <ns1:latin typeface="Arial"/>
                <ns1:ea typeface="Arial"/>
                <ns1:cs typeface="Arial"/>
              </ns1:rPr>
              <ns1:t>LSTM exceeds Transformer by 0.155 monthly Sharpe, but both intervals include zero.</ns1:t>
            </ns1:r>
          </ns1:p>
          <ns1:p>
            <ns1:pPr marL="152400" indent="-88900">
              <ns1:spcAft>
                <ns1:spcPts val="200"/>
              </ns1:spcAft>
              <ns1:buChar char="•"/>
              <ns1:defRPr sz="1275" b="1">
                <ns1:solidFill>
                  <ns1:srgbClr val="003262"/>
                </ns1:solidFill>
                <ns1:latin typeface="Arial"/>
                <ns1:ea typeface="Arial"/>
                <ns1:cs typeface="Arial"/>
              </ns1:defRPr>
            </ns1:pPr>
            <ns1:r>
              <ns1:rPr sz="1275" b="1">
                <ns1:solidFill>
                  <ns1:srgbClr val="003262"/>
                </ns1:solidFill>
                <ns1:latin typeface="Arial"/>
                <ns1:ea typeface="Arial"/>
                <ns1:cs typeface="Arial"/>
              </ns1:rPr>
              <ns1:t>The observed advantage remains statistically unresolved. This does not prove equality.</ns1:t>
            </ns1:r>
          </ns1:p>
        </ns0:txBody>
      </ns0:sp>
    </ns0:spTree>
    <ns0:extLst>
      <ns0:ext uri="{BB962C8B-B14F-4D97-AF65-F5344CB8AC3E}">
        <ns3:creationId val="1660969340"/>
      </ns0:ext>
    </ns0:extLst>
  </ns0:cSld>
</ns0:sld>
</file>

<file path=ppt/slides/slide15.xml><?xml version="1.0" encoding="utf-8"?>
<ns0:sld xmlns:ns0="http://schemas.openxmlformats.org/presentationml/2006/main" xmlns:ns1="http://schemas.openxmlformats.org/drawingml/2006/main" xmlns:ns2="http://schemas.microsoft.com/office/drawing/2014/main" xmlns:ns3="http://schemas.openxmlformats.org/officeDocument/2006/relationships" xmlns:ns4="http://schemas.microsoft.com/office/powerpoint/2010/main">
  <ns0:cSld>
    <ns0:bg>
      <ns0:bgPr>
        <ns1:solidFill>
          <ns1:srgbClr val="FFFFFF"/>
        </ns1:solidFill>
      </ns0:bgPr>
    </ns0:bg>
    <ns0:spTree>
      <ns0:nvGrpSpPr>
        <ns0:cNvPr id="1" name=""/>
        <ns0:cNvGrpSpPr/>
        <ns0:nvPr/>
      </ns0:nvGrpSpPr>
      <ns0:grpSpPr>
        <ns1:xfrm/>
      </ns0:grpSpPr>
      <ns0:sp>
        <ns0:nvSpPr>
          <ns0:cNvPr id="13" name="">
            <ns1:extLst>
              <ns1:ext uri="{FF2B5EF4-FFF2-40B4-BE49-F238E27FC236}">
                <ns2:creationId id="{9866F3AD-AB2C-46C9-A764-C82928CDD4CD}"/>
              </ns1:ext>
            </ns1:extLst>
          </ns0:cNvPr>
          <ns0:cNvSpPr>
            <ns1:spLocks noGrp="1"/>
          </ns0:cNvSpPr>
          <ns0:nvPr/>
        </ns0:nvSpPr>
        <ns0:spPr>
          <ns1:xfrm>
            <ns1:off x="0" y="0"/>
            <ns1:ext cx="66675" cy="2381250"/>
          </ns1:xfrm>
          <ns1:prstGeom prst="rect">
            <ns1:avLst/>
          </ns1:prstGeom>
          <ns1:solidFill>
            <ns1:srgbClr val="FDB515"/>
          </ns1:solidFill>
          <ns1:ln w="0">
            <ns1:noFill/>
          </ns1:ln>
        </ns0:spPr>
      </ns0:sp>
      <ns0:sp>
        <ns0:nvSpPr>
          <ns0:cNvPr id="2" name="">
            <ns1:extLst>
              <ns1:ext uri="{FF2B5EF4-FFF2-40B4-BE49-F238E27FC236}">
                <ns2:creationId id="{C05C9FE0-4892-415D-BDDA-B96FA8872057}"/>
              </ns1:ext>
            </ns1:extLst>
          </ns0:cNvPr>
          <ns0:cNvSpPr>
            <ns1:spLocks noGrp="1"/>
          </ns0:cNvSpPr>
          <ns0:nvPr/>
        </ns0:nvSpPr>
        <ns0:spPr>
          <ns1:xfrm>
            <ns1:off x="0" y="2381250"/>
            <ns1:ext cx="66675" cy="2762250"/>
          </ns1:xfrm>
          <ns1:prstGeom prst="rect">
            <ns1:avLst/>
          </ns1:prstGeom>
          <ns1:solidFill>
            <ns1:srgbClr val="003262"/>
          </ns1:solidFill>
          <ns1:ln w="0">
            <ns1:noFill/>
          </ns1:ln>
        </ns0:spPr>
      </ns0:sp>
      <ns0:sp>
        <ns0:nvSpPr>
          <ns0:cNvPr id="3" name="">
            <ns1:extLst>
              <ns1:ext uri="{FF2B5EF4-FFF2-40B4-BE49-F238E27FC236}">
                <ns2:creationId id="{D2D8B698-64C8-4609-9EBC-EBD493936500}"/>
              </ns1:ext>
            </ns1:extLst>
          </ns0:cNvPr>
          <ns0:cNvSpPr>
            <ns1:spLocks noGrp="1"/>
          </ns0:cNvSpPr>
          <ns0:nvPr/>
        </ns0:nvSpPr>
        <ns0:spPr>
          <ns1:xfrm>
            <ns1:off x="342900" y="238125"/>
            <ns1:ext cx="8458200" cy="514350"/>
          </ns1:xfrm>
          <ns1:prstGeom prst="rect">
            <ns1:avLst/>
          </ns1:prstGeom>
          <ns1:noFill/>
          <ns1:ln w="0">
            <ns1:noFill/>
          </ns1:ln>
        </ns0:spPr>
        <ns0:txBody>
          <ns1:bodyPr>
            <ns1:noAutofit/>
          </ns1:bodyPr>
          <ns1:lstStyle/>
          <ns1:p>
            <ns1:pPr>
              <ns1:buNone/>
              <ns1:defRPr sz="2175" b="1">
                <ns1:solidFill>
                  <ns1:srgbClr val="003262"/>
                </ns1:solidFill>
                <ns1:latin typeface="Arial"/>
                <ns1:ea typeface="Arial"/>
                <ns1:cs typeface="Arial"/>
              </ns1:defRPr>
            </ns1:pPr>
            <ns1:r>
              <ns1:rPr sz="2175" b="1">
                <ns1:solidFill>
                  <ns1:srgbClr val="003262"/>
                </ns1:solidFill>
                <ns1:latin typeface="Arial"/>
                <ns1:ea typeface="Arial"/>
                <ns1:cs typeface="Arial"/>
              </ns1:rPr>
              <ns1:t>Uncertainty: bootstrap Sharpe differences</ns1:t>
            </ns1:r>
          </ns1:p>
        </ns0:txBody>
      </ns0:sp>
      <ns0:sp>
        <ns0:nvSpPr>
          <ns0:cNvPr id="4" name="">
            <ns1:extLst>
              <ns1:ext uri="{FF2B5EF4-FFF2-40B4-BE49-F238E27FC236}">
                <ns2:creationId id="{29C225ED-7FEF-4671-B713-F8C687A03758}"/>
              </ns1:ext>
            </ns1:extLst>
          </ns0:cNvPr>
          <ns0:cNvSpPr>
            <ns1:spLocks noGrp="1"/>
          </ns0:cNvSpPr>
          <ns0:nvPr/>
        </ns0:nvSpPr>
        <ns0:spPr>
          <ns1:xfrm>
            <ns1:off x="342900" y="4781550"/>
            <ns1:ext cx="7810500" cy="228600"/>
          </ns1:xfrm>
          <ns1:prstGeom prst="rect">
            <ns1:avLst/>
          </ns1:prstGeom>
          <ns1:noFill/>
          <ns1:ln w="0">
            <ns1:noFill/>
          </ns1:ln>
        </ns0:spPr>
        <ns0:txBody>
          <ns1:bodyPr>
            <ns1:noAutofit/>
          </ns1:bodyPr>
          <ns1:lstStyle/>
          <ns1:p>
            <ns1:pPr>
              <ns1:buNone/>
              <ns1:defRPr sz="900" b="0">
                <ns1:solidFill>
                  <ns1:srgbClr val="5B6770"/>
                </ns1:solidFill>
                <ns1:latin typeface="Arial"/>
                <ns1:ea typeface="Arial"/>
                <ns1:cs typeface="Arial"/>
              </ns1:defRPr>
            </ns1:pPr>
            <ns1:r>
              <ns1:rPr sz="900" b="0">
                <ns1:solidFill>
                  <ns1:srgbClr val="5B6770"/>
                </ns1:solidFill>
                <ns1:latin typeface="Arial"/>
                <ns1:ea typeface="Arial"/>
                <ns1:cs typeface="Arial"/>
              </ns1:rPr>
              <ns1:t>Part 6. Uncertainty</ns1:t>
            </ns1:r>
          </ns1:p>
        </ns0:txBody>
      </ns0:sp>
      <ns0:sp>
        <ns0:nvSpPr>
          <ns0:cNvPr id="5" name="">
            <ns1:extLst>
              <ns1:ext uri="{FF2B5EF4-FFF2-40B4-BE49-F238E27FC236}">
                <ns2:creationId id="{33563EF8-0359-4721-8AFE-4463B97AA990}"/>
              </ns1:ext>
            </ns1:extLst>
          </ns0:cNvPr>
          <ns0:cNvSpPr>
            <ns1:spLocks noGrp="1"/>
          </ns0:cNvSpPr>
          <ns0:nvPr/>
        </ns0:nvSpPr>
        <ns0:spPr>
          <ns1:xfrm>
            <ns1:off x="8458200" y="4781550"/>
            <ns1:ext cx="457200" cy="228600"/>
          </ns1:xfrm>
          <ns1:prstGeom prst="rect">
            <ns1:avLst/>
          </ns1:prstGeom>
          <ns1:noFill/>
          <ns1:ln w="0">
            <ns1:noFill/>
          </ns1:ln>
        </ns0:spPr>
        <ns0:txBody>
          <ns1:bodyPr>
            <ns1:noAutofit/>
          </ns1:bodyPr>
          <ns1:lstStyle/>
          <ns1:p>
            <ns1:pPr>
              <ns1:buNone/>
              <ns1:defRPr sz="900" b="0">
                <ns1:solidFill>
                  <ns1:srgbClr val="5B6770"/>
                </ns1:solidFill>
                <ns1:latin typeface="Arial"/>
                <ns1:ea typeface="Arial"/>
                <ns1:cs typeface="Arial"/>
              </ns1:defRPr>
            </ns1:pPr>
            <ns1:r>
              <ns1:rPr sz="900" b="0">
                <ns1:solidFill>
                  <ns1:srgbClr val="5B6770"/>
                </ns1:solidFill>
                <ns1:latin typeface="Arial"/>
                <ns1:ea typeface="Arial"/>
                <ns1:cs typeface="Arial"/>
              </ns1:rPr>
              <ns1:t>15</ns1:t>
            </ns1:r>
          </ns1:p>
        </ns0:txBody>
      </ns0:sp>
      <ns0:pic>
        <ns0:nvPicPr>
          <ns0:cNvPr id="22" name=""/>
          <ns0:cNvPicPr>
            <ns1:picLocks noChangeAspect="1"/>
          </ns0:cNvPicPr>
          <ns0:nvPr/>
        </ns0:nvPicPr>
        <ns0:blipFill>
          <ns1:blip ns3:embed="R06de82607f8a4ec3"/>
          <ns1:stretch/>
        </ns0:blipFill>
        <ns0:spPr>
          <ns1:xfrm>
            <ns1:off x="266700" y="1064236"/>
            <ns1:ext cx="8572500" cy="2967404"/>
          </ns1:xfrm>
          <ns1:prstGeom prst="rect">
            <ns1:avLst/>
          </ns1:prstGeom>
        </ns0:spPr>
      </ns0:pic>
      <ns0:sp>
        <ns0:nvSpPr>
          <ns0:cNvPr id="15" name="">
            <ns1:extLst>
              <ns1:ext uri="{FF2B5EF4-FFF2-40B4-BE49-F238E27FC236}">
                <ns2:creationId id="{8E58E06B-A0C8-45DF-AB36-510E7D55B625}"/>
              </ns1:ext>
            </ns1:extLst>
          </ns0:cNvPr>
          <ns0:cNvSpPr>
            <ns1:spLocks noGrp="1"/>
          </ns0:cNvSpPr>
          <ns0:nvPr/>
        </ns0:nvSpPr>
        <ns0:spPr>
          <ns1:xfrm>
            <ns1:off x="419100" y="4257675"/>
            <ns1:ext cx="8286750" cy="457200"/>
          </ns1:xfrm>
          <ns1:prstGeom prst="rect">
            <ns1:avLst/>
          </ns1:prstGeom>
          <ns1:noFill/>
          <ns1:ln w="0">
            <ns1:noFill/>
          </ns1:ln>
        </ns0:spPr>
        <ns0:txBody>
          <ns1:bodyPr>
            <ns1:noAutofit/>
          </ns1:bodyPr>
          <ns1:lstStyle/>
          <ns1:p>
            <ns1:pPr marL="152400" indent="-88900">
              <ns1:spcAft>
                <ns1:spcPts val="200"/>
              </ns1:spcAft>
              <ns1:buChar char="•"/>
              <ns1:defRPr sz="1275" b="1">
                <ns1:solidFill>
                  <ns1:srgbClr val="003262"/>
                </ns1:solidFill>
                <ns1:latin typeface="Arial"/>
                <ns1:ea typeface="Arial"/>
                <ns1:cs typeface="Arial"/>
              </ns1:defRPr>
            </ns1:pPr>
            <ns1:r>
              <ns1:rPr sz="1275" b="1">
                <ns1:solidFill>
                  <ns1:srgbClr val="003262"/>
                </ns1:solidFill>
                <ns1:latin typeface="Arial"/>
                <ns1:ea typeface="Arial"/>
                <ns1:cs typeface="Arial"/>
              </ns1:rPr>
              <ns1:t>Bars count 10,000 draws. Gold marks the observed gap, black marks zero.</ns1:t>
            </ns1:r>
          </ns1:p>
          <ns1:p>
            <ns1:pPr marL="152400" indent="-88900">
              <ns1:spcAft>
                <ns1:spcPts val="200"/>
              </ns1:spcAft>
              <ns1:buChar char="•"/>
              <ns1:defRPr sz="1275" b="1">
                <ns1:solidFill>
                  <ns1:srgbClr val="003262"/>
                </ns1:solidFill>
                <ns1:latin typeface="Arial"/>
                <ns1:ea typeface="Arial"/>
                <ns1:cs typeface="Arial"/>
              </ns1:defRPr>
            </ns1:pPr>
            <ns1:r>
              <ns1:rPr sz="1275" b="1">
                <ns1:solidFill>
                  <ns1:srgbClr val="003262"/>
                </ns1:solidFill>
                <ns1:latin typeface="Arial"/>
                <ns1:ea typeface="Arial"/>
                <ns1:cs typeface="Arial"/>
              </ns1:rPr>
              <ns1:t>Both paired 95% basic intervals include zero, despite different point estimates.</ns1:t>
            </ns1:r>
          </ns1:p>
        </ns0:txBody>
      </ns0:sp>
    </ns0:spTree>
    <ns0:extLst>
      <ns0:ext uri="{BB962C8B-B14F-4D97-AF65-F5344CB8AC3E}">
        <ns4:creationId val="1467767590"/>
      </ns0:ext>
    </ns0:extLst>
  </ns0:cSld>
</ns0:sld>
</file>

<file path=ppt/slides/slide16.xml><?xml version="1.0" encoding="utf-8"?>
<ns0:sld xmlns:ns0="http://schemas.openxmlformats.org/presentationml/2006/main" xmlns:ns1="http://schemas.openxmlformats.org/drawingml/2006/main" xmlns:ns2="http://schemas.microsoft.com/office/drawing/2014/main" xmlns:ns3="http://schemas.microsoft.com/office/powerpoint/2010/main">
  <ns0:cSld>
    <ns0:bg>
      <ns0:bgPr>
        <ns1:solidFill>
          <ns1:srgbClr val="FFFFFF"/>
        </ns1:solidFill>
      </ns0:bgPr>
    </ns0:bg>
    <ns0:spTree>
      <ns0:nvGrpSpPr>
        <ns0:cNvPr id="1" name=""/>
        <ns0:cNvGrpSpPr/>
        <ns0:nvPr/>
      </ns0:nvGrpSpPr>
      <ns0:grpSpPr>
        <ns1:xfrm/>
      </ns0:grpSpPr>
      <ns0:sp>
        <ns0:nvSpPr>
          <ns0:cNvPr id="9" name="">
            <ns1:extLst>
              <ns1:ext uri="{FF2B5EF4-FFF2-40B4-BE49-F238E27FC236}">
                <ns2:creationId id="{8B94D9E8-B03D-45E3-9690-E6ABF21524F7}"/>
              </ns1:ext>
            </ns1:extLst>
          </ns0:cNvPr>
          <ns0:cNvSpPr>
            <ns1:spLocks noGrp="1"/>
          </ns0:cNvSpPr>
          <ns0:nvPr/>
        </ns0:nvSpPr>
        <ns0:spPr>
          <ns1:xfrm>
            <ns1:off x="0" y="0"/>
            <ns1:ext cx="66675" cy="2381250"/>
          </ns1:xfrm>
          <ns1:prstGeom prst="rect">
            <ns1:avLst/>
          </ns1:prstGeom>
          <ns1:solidFill>
            <ns1:srgbClr val="FDB515"/>
          </ns1:solidFill>
          <ns1:ln w="0">
            <ns1:noFill/>
          </ns1:ln>
        </ns0:spPr>
      </ns0:sp>
      <ns0:sp>
        <ns0:nvSpPr>
          <ns0:cNvPr id="2" name="">
            <ns1:extLst>
              <ns1:ext uri="{FF2B5EF4-FFF2-40B4-BE49-F238E27FC236}">
                <ns2:creationId id="{A94A16DC-AFFE-4E3E-8F3B-D514FB7BE675}"/>
              </ns1:ext>
            </ns1:extLst>
          </ns0:cNvPr>
          <ns0:cNvSpPr>
            <ns1:spLocks noGrp="1"/>
          </ns0:cNvSpPr>
          <ns0:nvPr/>
        </ns0:nvSpPr>
        <ns0:spPr>
          <ns1:xfrm>
            <ns1:off x="0" y="2381250"/>
            <ns1:ext cx="66675" cy="2762250"/>
          </ns1:xfrm>
          <ns1:prstGeom prst="rect">
            <ns1:avLst/>
          </ns1:prstGeom>
          <ns1:solidFill>
            <ns1:srgbClr val="003262"/>
          </ns1:solidFill>
          <ns1:ln w="0">
            <ns1:noFill/>
          </ns1:ln>
        </ns0:spPr>
      </ns0:sp>
      <ns0:sp>
        <ns0:nvSpPr>
          <ns0:cNvPr id="3" name="">
            <ns1:extLst>
              <ns1:ext uri="{FF2B5EF4-FFF2-40B4-BE49-F238E27FC236}">
                <ns2:creationId id="{945F4658-1DED-492A-8404-CB19961A18E0}"/>
              </ns1:ext>
            </ns1:extLst>
          </ns0:cNvPr>
          <ns0:cNvSpPr>
            <ns1:spLocks noGrp="1"/>
          </ns0:cNvSpPr>
          <ns0:nvPr/>
        </ns0:nvSpPr>
        <ns0:spPr>
          <ns1:xfrm>
            <ns1:off x="342900" y="238125"/>
            <ns1:ext cx="8458200" cy="514350"/>
          </ns1:xfrm>
          <ns1:prstGeom prst="rect">
            <ns1:avLst/>
          </ns1:prstGeom>
          <ns1:noFill/>
          <ns1:ln w="0">
            <ns1:noFill/>
          </ns1:ln>
        </ns0:spPr>
        <ns0:txBody>
          <ns1:bodyPr>
            <ns1:noAutofit/>
          </ns1:bodyPr>
          <ns1:lstStyle/>
          <ns1:p>
            <ns1:pPr>
              <ns1:buNone/>
              <ns1:defRPr sz="2175" b="1">
                <ns1:solidFill>
                  <ns1:srgbClr val="003262"/>
                </ns1:solidFill>
                <ns1:latin typeface="Arial"/>
                <ns1:ea typeface="Arial"/>
                <ns1:cs typeface="Arial"/>
              </ns1:defRPr>
            </ns1:pPr>
            <ns1:r>
              <ns1:rPr sz="2175" b="1">
                <ns1:solidFill>
                  <ns1:srgbClr val="003262"/>
                </ns1:solidFill>
                <ns1:latin typeface="Arial"/>
                <ns1:ea typeface="Arial"/>
                <ns1:cs typeface="Arial"/>
              </ns1:rPr>
              <ns1:t>Combination: equal-weight architecture portfolio</ns1:t>
            </ns1:r>
          </ns1:p>
        </ns0:txBody>
      </ns0:sp>
      <ns0:sp>
        <ns0:nvSpPr>
          <ns0:cNvPr id="4" name="">
            <ns1:extLst>
              <ns1:ext uri="{FF2B5EF4-FFF2-40B4-BE49-F238E27FC236}">
                <ns2:creationId id="{557FCD5B-A371-45DD-A32A-F8921A1B0406}"/>
              </ns1:ext>
            </ns1:extLst>
          </ns0:cNvPr>
          <ns0:cNvSpPr>
            <ns1:spLocks noGrp="1"/>
          </ns0:cNvSpPr>
          <ns0:nvPr/>
        </ns0:nvSpPr>
        <ns0:spPr>
          <ns1:xfrm>
            <ns1:off x="342900" y="4781550"/>
            <ns1:ext cx="7810500" cy="228600"/>
          </ns1:xfrm>
          <ns1:prstGeom prst="rect">
            <ns1:avLst/>
          </ns1:prstGeom>
          <ns1:noFill/>
          <ns1:ln w="0">
            <ns1:noFill/>
          </ns1:ln>
        </ns0:spPr>
        <ns0:txBody>
          <ns1:bodyPr>
            <ns1:noAutofit/>
          </ns1:bodyPr>
          <ns1:lstStyle/>
          <ns1:p>
            <ns1:pPr>
              <ns1:buNone/>
              <ns1:defRPr sz="900" b="0">
                <ns1:solidFill>
                  <ns1:srgbClr val="5B6770"/>
                </ns1:solidFill>
                <ns1:latin typeface="Arial"/>
                <ns1:ea typeface="Arial"/>
                <ns1:cs typeface="Arial"/>
              </ns1:defRPr>
            </ns1:pPr>
            <ns1:r>
              <ns1:rPr sz="900" b="0">
                <ns1:solidFill>
                  <ns1:srgbClr val="5B6770"/>
                </ns1:solidFill>
                <ns1:latin typeface="Arial"/>
                <ns1:ea typeface="Arial"/>
                <ns1:cs typeface="Arial"/>
              </ns1:rPr>
              <ns1:t>Part 7. Combination</ns1:t>
            </ns1:r>
          </ns1:p>
        </ns0:txBody>
      </ns0:sp>
      <ns0:sp>
        <ns0:nvSpPr>
          <ns0:cNvPr id="5" name="">
            <ns1:extLst>
              <ns1:ext uri="{FF2B5EF4-FFF2-40B4-BE49-F238E27FC236}">
                <ns2:creationId id="{5587A2AA-703A-4DD7-ADD9-77E7EFBB5C6E}"/>
              </ns1:ext>
            </ns1:extLst>
          </ns0:cNvPr>
          <ns0:cNvSpPr>
            <ns1:spLocks noGrp="1"/>
          </ns0:cNvSpPr>
          <ns0:nvPr/>
        </ns0:nvSpPr>
        <ns0:spPr>
          <ns1:xfrm>
            <ns1:off x="8458200" y="4781550"/>
            <ns1:ext cx="457200" cy="228600"/>
          </ns1:xfrm>
          <ns1:prstGeom prst="rect">
            <ns1:avLst/>
          </ns1:prstGeom>
          <ns1:noFill/>
          <ns1:ln w="0">
            <ns1:noFill/>
          </ns1:ln>
        </ns0:spPr>
        <ns0:txBody>
          <ns1:bodyPr>
            <ns1:noAutofit/>
          </ns1:bodyPr>
          <ns1:lstStyle/>
          <ns1:p>
            <ns1:pPr>
              <ns1:buNone/>
              <ns1:defRPr sz="900" b="0">
                <ns1:solidFill>
                  <ns1:srgbClr val="5B6770"/>
                </ns1:solidFill>
                <ns1:latin typeface="Arial"/>
                <ns1:ea typeface="Arial"/>
                <ns1:cs typeface="Arial"/>
              </ns1:defRPr>
            </ns1:pPr>
            <ns1:r>
              <ns1:rPr sz="900" b="0">
                <ns1:solidFill>
                  <ns1:srgbClr val="5B6770"/>
                </ns1:solidFill>
                <ns1:latin typeface="Arial"/>
                <ns1:ea typeface="Arial"/>
                <ns1:cs typeface="Arial"/>
              </ns1:rPr>
              <ns1:t>16</ns1:t>
            </ns1:r>
          </ns1:p>
        </ns0:txBody>
      </ns0:sp>
      <ns0:graphicFrame>
        <ns0:nvGraphicFramePr>
          <ns0:cNvPr id="18" name=""/>
          <ns0:cNvGraphicFramePr/>
          <ns0:nvPr/>
        </ns0:nvGraphicFramePr>
        <ns0:xfrm>
          <ns1:off x="400050" y="1019175"/>
          <ns1:ext cx="8343900" cy="2286000"/>
        </ns0:xfrm>
        <ns1:graphic>
          <ns1:graphicData uri="http://schemas.openxmlformats.org/drawingml/2006/table">
            <ns1:tbl>
              <ns1:tblPr/>
              <ns1:tblGrid>
                <ns1:gridCol w="2857500"/>
                <ns1:gridCol w="1828800"/>
                <ns1:gridCol w="1828800"/>
                <ns1:gridCol w="1828800"/>
              </ns1:tblGrid>
              <ns1:tr h="571500">
                <ns1:tc>
                  <ns1:txBody>
                    <ns1:bodyPr/>
                    <ns1:lstStyle/>
                    <ns1:p>
                      <ns1:r>
                        <ns1:rPr sz="1650" b="1">
                          <ns1:solidFill>
                            <ns1:srgbClr val="FFFFFF"/>
                          </ns1:solidFill>
                          <ns1:latin typeface="Arial"/>
                          <ns1:ea typeface="Arial"/>
                          <ns1:cs typeface="Arial"/>
                        </ns1:rPr>
                        <ns1:t>Portfolio</ns1:t>
                      </ns1:r>
                    </ns1:p>
                  </ns1:txBody>
                  <ns1:tcPr marL="91440" marR="91440" marT="45720" marB="45720">
                    <ns1:solidFill>
                      <ns1:srgbClr val="003262"/>
                    </ns1:solidFill>
                  </ns1:tcPr>
                </ns1:tc>
                <ns1:tc>
                  <ns1:txBody>
                    <ns1:bodyPr/>
                    <ns1:lstStyle/>
                    <ns1:p>
                      <ns1:r>
                        <ns1:rPr sz="1650" b="1">
                          <ns1:solidFill>
                            <ns1:srgbClr val="FFFFFF"/>
                          </ns1:solidFill>
                          <ns1:latin typeface="Arial"/>
                          <ns1:ea typeface="Arial"/>
                          <ns1:cs typeface="Arial"/>
                        </ns1:rPr>
                        <ns1:t>Train</ns1:t>
                      </ns1:r>
                    </ns1:p>
                  </ns1:txBody>
                  <ns1:tcPr marL="91440" marR="91440" marT="45720" marB="45720">
                    <ns1:solidFill>
                      <ns1:srgbClr val="003262"/>
                    </ns1:solidFill>
                  </ns1:tcPr>
                </ns1:tc>
                <ns1:tc>
                  <ns1:txBody>
                    <ns1:bodyPr/>
                    <ns1:lstStyle/>
                    <ns1:p>
                      <ns1:r>
                        <ns1:rPr sz="1650" b="1">
                          <ns1:solidFill>
                            <ns1:srgbClr val="FFFFFF"/>
                          </ns1:solidFill>
                          <ns1:latin typeface="Arial"/>
                          <ns1:ea typeface="Arial"/>
                          <ns1:cs typeface="Arial"/>
                        </ns1:rPr>
                        <ns1:t>Validation</ns1:t>
                      </ns1:r>
                    </ns1:p>
                  </ns1:txBody>
                  <ns1:tcPr marL="91440" marR="91440" marT="45720" marB="45720">
                    <ns1:solidFill>
                      <ns1:srgbClr val="003262"/>
                    </ns1:solidFill>
                  </ns1:tcPr>
                </ns1:tc>
                <ns1:tc>
                  <ns1:txBody>
                    <ns1:bodyPr/>
                    <ns1:lstStyle/>
                    <ns1:p>
                      <ns1:r>
                        <ns1:rPr sz="1650" b="1">
                          <ns1:solidFill>
                            <ns1:srgbClr val="FFFFFF"/>
                          </ns1:solidFill>
                          <ns1:latin typeface="Arial"/>
                          <ns1:ea typeface="Arial"/>
                          <ns1:cs typeface="Arial"/>
                        </ns1:rPr>
                        <ns1:t>Test</ns1:t>
                      </ns1:r>
                    </ns1:p>
                  </ns1:txBody>
                  <ns1:tcPr marL="91440" marR="91440" marT="45720" marB="45720">
                    <ns1:solidFill>
                      <ns1:srgbClr val="003262"/>
                    </ns1:solidFill>
                  </ns1:tcPr>
                </ns1:tc>
              </ns1:tr>
              <ns1:tr h="571500">
                <ns1:tc>
                  <ns1:txBody>
                    <ns1:bodyPr/>
                    <ns1:lstStyle/>
                    <ns1:p>
                      <ns1:r>
                        <ns1:rPr sz="1725" b="0">
                          <ns1:solidFill>
                            <ns1:srgbClr val="1F2A37"/>
                          </ns1:solidFill>
                          <ns1:latin typeface="Arial"/>
                          <ns1:ea typeface="Arial"/>
                          <ns1:cs typeface="Arial"/>
                        </ns1:rPr>
                        <ns1:t>LSTM</ns1:t>
                      </ns1:r>
                    </ns1:p>
                  </ns1:txBody>
                  <ns1:tcPr marL="91440" marR="91440" marT="45720" marB="45720">
                    <ns1:solidFill>
                      <ns1:srgbClr val="EEF3F8"/>
                    </ns1:solidFill>
                  </ns1:tcPr>
                </ns1:tc>
                <ns1:tc>
                  <ns1:txBody>
                    <ns1:bodyPr/>
                    <ns1:lstStyle/>
                    <ns1:p>
                      <ns1:r>
                        <ns1:rPr sz="1725" b="0">
                          <ns1:solidFill>
                            <ns1:srgbClr val="1F2A37"/>
                          </ns1:solidFill>
                          <ns1:latin typeface="Arial"/>
                          <ns1:ea typeface="Arial"/>
                          <ns1:cs typeface="Arial"/>
                        </ns1:rPr>
                        <ns1:t>1.308</ns1:t>
                      </ns1:r>
                    </ns1:p>
                  </ns1:txBody>
                  <ns1:tcPr marL="91440" marR="91440" marT="45720" marB="45720">
                    <ns1:solidFill>
                      <ns1:srgbClr val="EEF3F8"/>
                    </ns1:solidFill>
                  </ns1:tcPr>
                </ns1:tc>
                <ns1:tc>
                  <ns1:txBody>
                    <ns1:bodyPr/>
                    <ns1:lstStyle/>
                    <ns1:p>
                      <ns1:r>
                        <ns1:rPr sz="1725" b="0">
                          <ns1:solidFill>
                            <ns1:srgbClr val="1F2A37"/>
                          </ns1:solidFill>
                          <ns1:latin typeface="Arial"/>
                          <ns1:ea typeface="Arial"/>
                          <ns1:cs typeface="Arial"/>
                        </ns1:rPr>
                        <ns1:t>0.750</ns1:t>
                      </ns1:r>
                    </ns1:p>
                  </ns1:txBody>
                  <ns1:tcPr marL="91440" marR="91440" marT="45720" marB="45720">
                    <ns1:solidFill>
                      <ns1:srgbClr val="EEF3F8"/>
                    </ns1:solidFill>
                  </ns1:tcPr>
                </ns1:tc>
                <ns1:tc>
                  <ns1:txBody>
                    <ns1:bodyPr/>
                    <ns1:lstStyle/>
                    <ns1:p>
                      <ns1:r>
                        <ns1:rPr sz="1725" b="0">
                          <ns1:solidFill>
                            <ns1:srgbClr val="1F2A37"/>
                          </ns1:solidFill>
                          <ns1:latin typeface="Arial"/>
                          <ns1:ea typeface="Arial"/>
                          <ns1:cs typeface="Arial"/>
                        </ns1:rPr>
                        <ns1:t>0.459</ns1:t>
                      </ns1:r>
                    </ns1:p>
                  </ns1:txBody>
                  <ns1:tcPr marL="91440" marR="91440" marT="45720" marB="45720">
                    <ns1:solidFill>
                      <ns1:srgbClr val="EEF3F8"/>
                    </ns1:solidFill>
                  </ns1:tcPr>
                </ns1:tc>
              </ns1:tr>
              <ns1:tr h="571500">
                <ns1:tc>
                  <ns1:txBody>
                    <ns1:bodyPr/>
                    <ns1:lstStyle/>
                    <ns1:p>
                      <ns1:r>
                        <ns1:rPr sz="1725" b="0">
                          <ns1:solidFill>
                            <ns1:srgbClr val="1F2A37"/>
                          </ns1:solidFill>
                          <ns1:latin typeface="Arial"/>
                          <ns1:ea typeface="Arial"/>
                          <ns1:cs typeface="Arial"/>
                        </ns1:rPr>
                        <ns1:t>Transformer</ns1:t>
                      </ns1:r>
                    </ns1:p>
                  </ns1:txBody>
                  <ns1:tcPr marL="91440" marR="91440" marT="45720" marB="45720">
                    <ns1:solidFill>
                      <ns1:srgbClr val="FFFFFF"/>
                    </ns1:solidFill>
                  </ns1:tcPr>
                </ns1:tc>
                <ns1:tc>
                  <ns1:txBody>
                    <ns1:bodyPr/>
                    <ns1:lstStyle/>
                    <ns1:p>
                      <ns1:r>
                        <ns1:rPr sz="1725" b="0">
                          <ns1:solidFill>
                            <ns1:srgbClr val="1F2A37"/>
                          </ns1:solidFill>
                          <ns1:latin typeface="Arial"/>
                          <ns1:ea typeface="Arial"/>
                          <ns1:cs typeface="Arial"/>
                        </ns1:rPr>
                        <ns1:t>1.049</ns1:t>
                      </ns1:r>
                    </ns1:p>
                  </ns1:txBody>
                  <ns1:tcPr marL="91440" marR="91440" marT="45720" marB="45720">
                    <ns1:solidFill>
                      <ns1:srgbClr val="FFFFFF"/>
                    </ns1:solidFill>
                  </ns1:tcPr>
                </ns1:tc>
                <ns1:tc>
                  <ns1:txBody>
                    <ns1:bodyPr/>
                    <ns1:lstStyle/>
                    <ns1:p>
                      <ns1:r>
                        <ns1:rPr sz="1725" b="0">
                          <ns1:solidFill>
                            <ns1:srgbClr val="1F2A37"/>
                          </ns1:solidFill>
                          <ns1:latin typeface="Arial"/>
                          <ns1:ea typeface="Arial"/>
                          <ns1:cs typeface="Arial"/>
                        </ns1:rPr>
                        <ns1:t>0.589</ns1:t>
                      </ns1:r>
                    </ns1:p>
                  </ns1:txBody>
                  <ns1:tcPr marL="91440" marR="91440" marT="45720" marB="45720">
                    <ns1:solidFill>
                      <ns1:srgbClr val="FFFFFF"/>
                    </ns1:solidFill>
                  </ns1:tcPr>
                </ns1:tc>
                <ns1:tc>
                  <ns1:txBody>
                    <ns1:bodyPr/>
                    <ns1:lstStyle/>
                    <ns1:p>
                      <ns1:r>
                        <ns1:rPr sz="1725" b="0">
                          <ns1:solidFill>
                            <ns1:srgbClr val="1F2A37"/>
                          </ns1:solidFill>
                          <ns1:latin typeface="Arial"/>
                          <ns1:ea typeface="Arial"/>
                          <ns1:cs typeface="Arial"/>
                        </ns1:rPr>
                        <ns1:t>0.304</ns1:t>
                      </ns1:r>
                    </ns1:p>
                  </ns1:txBody>
                  <ns1:tcPr marL="91440" marR="91440" marT="45720" marB="45720">
                    <ns1:solidFill>
                      <ns1:srgbClr val="FFFFFF"/>
                    </ns1:solidFill>
                  </ns1:tcPr>
                </ns1:tc>
              </ns1:tr>
              <ns1:tr h="571500">
                <ns1:tc>
                  <ns1:txBody>
                    <ns1:bodyPr/>
                    <ns1:lstStyle/>
                    <ns1:p>
                      <ns1:r>
                        <ns1:rPr sz="1725" b="0">
                          <ns1:solidFill>
                            <ns1:srgbClr val="1F2A37"/>
                          </ns1:solidFill>
                          <ns1:latin typeface="Arial"/>
                          <ns1:ea typeface="Arial"/>
                          <ns1:cs typeface="Arial"/>
                        </ns1:rPr>
                        <ns1:t>50/50 blend</ns1:t>
                      </ns1:r>
                    </ns1:p>
                  </ns1:txBody>
                  <ns1:tcPr marL="91440" marR="91440" marT="45720" marB="45720">
                    <ns1:solidFill>
                      <ns1:srgbClr val="EEF3F8"/>
                    </ns1:solidFill>
                  </ns1:tcPr>
                </ns1:tc>
                <ns1:tc>
                  <ns1:txBody>
                    <ns1:bodyPr/>
                    <ns1:lstStyle/>
                    <ns1:p>
                      <ns1:r>
                        <ns1:rPr sz="1725" b="0">
                          <ns1:solidFill>
                            <ns1:srgbClr val="1F2A37"/>
                          </ns1:solidFill>
                          <ns1:latin typeface="Arial"/>
                          <ns1:ea typeface="Arial"/>
                          <ns1:cs typeface="Arial"/>
                        </ns1:rPr>
                        <ns1:t>1.414</ns1:t>
                      </ns1:r>
                    </ns1:p>
                  </ns1:txBody>
                  <ns1:tcPr marL="91440" marR="91440" marT="45720" marB="45720">
                    <ns1:solidFill>
                      <ns1:srgbClr val="EEF3F8"/>
                    </ns1:solidFill>
                  </ns1:tcPr>
                </ns1:tc>
                <ns1:tc>
                  <ns1:txBody>
                    <ns1:bodyPr/>
                    <ns1:lstStyle/>
                    <ns1:p>
                      <ns1:r>
                        <ns1:rPr sz="1725" b="0">
                          <ns1:solidFill>
                            <ns1:srgbClr val="1F2A37"/>
                          </ns1:solidFill>
                          <ns1:latin typeface="Arial"/>
                          <ns1:ea typeface="Arial"/>
                          <ns1:cs typeface="Arial"/>
                        </ns1:rPr>
                        <ns1:t>0.915</ns1:t>
                      </ns1:r>
                    </ns1:p>
                  </ns1:txBody>
                  <ns1:tcPr marL="91440" marR="91440" marT="45720" marB="45720">
                    <ns1:solidFill>
                      <ns1:srgbClr val="EEF3F8"/>
                    </ns1:solidFill>
                  </ns1:tcPr>
                </ns1:tc>
                <ns1:tc>
                  <ns1:txBody>
                    <ns1:bodyPr/>
                    <ns1:lstStyle/>
                    <ns1:p>
                      <ns1:r>
                        <ns1:rPr sz="1725" b="0">
                          <ns1:solidFill>
                            <ns1:srgbClr val="1F2A37"/>
                          </ns1:solidFill>
                          <ns1:latin typeface="Arial"/>
                          <ns1:ea typeface="Arial"/>
                          <ns1:cs typeface="Arial"/>
                        </ns1:rPr>
                        <ns1:t>0.463</ns1:t>
                      </ns1:r>
                    </ns1:p>
                  </ns1:txBody>
                  <ns1:tcPr marL="91440" marR="91440" marT="45720" marB="45720">
                    <ns1:solidFill>
                      <ns1:srgbClr val="EEF3F8"/>
                    </ns1:solidFill>
                  </ns1:tcPr>
                </ns1:tc>
              </ns1:tr>
            </ns1:tbl>
          </ns1:graphicData>
        </ns1:graphic>
      </ns0:graphicFrame>
      <ns0:sp>
        <ns0:nvSpPr>
          <ns0:cNvPr id="7" name="">
            <ns1:extLst>
              <ns1:ext uri="{FF2B5EF4-FFF2-40B4-BE49-F238E27FC236}">
                <ns2:creationId id="{0FC919DC-B92E-4C58-9020-10967D75D7E8}"/>
              </ns1:ext>
            </ns1:extLst>
          </ns0:cNvPr>
          <ns0:cNvSpPr>
            <ns1:spLocks noGrp="1"/>
          </ns0:cNvSpPr>
          <ns0:nvPr/>
        </ns0:nvSpPr>
        <ns0:spPr>
          <ns1:xfrm>
            <ns1:off x="419100" y="3533775"/>
            <ns1:ext cx="8286750" cy="428625"/>
          </ns1:xfrm>
          <ns1:prstGeom prst="rect">
            <ns1:avLst/>
          </ns1:prstGeom>
          <ns1:noFill/>
          <ns1:ln w="0">
            <ns1:noFill/>
          </ns1:ln>
        </ns0:spPr>
        <ns0:txBody>
          <ns1:bodyPr>
            <ns1:noAutofit/>
          </ns1:bodyPr>
          <ns1:lstStyle/>
          <ns1:p>
            <ns1:pPr>
              <ns1:buNone/>
              <ns1:defRPr sz="1575" b="0">
                <ns1:solidFill>
                  <ns1:srgbClr val="1F2A37"/>
                </ns1:solidFill>
                <ns1:latin typeface="Arial"/>
                <ns1:ea typeface="Arial"/>
                <ns1:cs typeface="Arial"/>
              </ns1:defRPr>
            </ns1:pPr>
            <ns1:r>
              <ns1:rPr sz="1575" b="0">
                <ns1:solidFill>
                  <ns1:srgbClr val="1F2A37"/>
                </ns1:solidFill>
                <ns1:latin typeface="Arial"/>
                <ns1:ea typeface="Arial"/>
                <ns1:cs typeface="Arial"/>
              </ns1:rPr>
              <ns1:t>Test correlation between architectures is 0.292. Averaging lowers volatility.</ns1:t>
            </ns1:r>
          </ns1:p>
        </ns0:txBody>
      </ns0:sp>
      <ns0:sp>
        <ns0:nvSpPr>
          <ns0:cNvPr id="11" name="">
            <ns1:extLst>
              <ns1:ext uri="{FF2B5EF4-FFF2-40B4-BE49-F238E27FC236}">
                <ns2:creationId id="{6AE06712-C6F0-4F33-8187-BFF53F903AB8}"/>
              </ns1:ext>
            </ns1:extLst>
          </ns0:cNvPr>
          <ns0:cNvSpPr>
            <ns1:spLocks noGrp="1"/>
          </ns0:cNvSpPr>
          <ns0:nvPr/>
        </ns0:nvSpPr>
        <ns0:spPr>
          <ns1:xfrm>
            <ns1:off x="419100" y="4257675"/>
            <ns1:ext cx="8286750" cy="457200"/>
          </ns1:xfrm>
          <ns1:prstGeom prst="rect">
            <ns1:avLst/>
          </ns1:prstGeom>
          <ns1:noFill/>
          <ns1:ln w="0">
            <ns1:noFill/>
          </ns1:ln>
        </ns0:spPr>
        <ns0:txBody>
          <ns1:bodyPr>
            <ns1:noAutofit/>
          </ns1:bodyPr>
          <ns1:lstStyle/>
          <ns1:p>
            <ns1:pPr marL="152400" indent="-88900">
              <ns1:spcAft>
                <ns1:spcPts val="200"/>
              </ns1:spcAft>
              <ns1:buChar char="•"/>
              <ns1:defRPr sz="1275" b="1">
                <ns1:solidFill>
                  <ns1:srgbClr val="003262"/>
                </ns1:solidFill>
                <ns1:latin typeface="Arial"/>
                <ns1:ea typeface="Arial"/>
                <ns1:cs typeface="Arial"/>
              </ns1:defRPr>
            </ns1:pPr>
            <ns1:r>
              <ns1:rPr sz="1275" b="1">
                <ns1:solidFill>
                  <ns1:srgbClr val="003262"/>
                </ns1:solidFill>
                <ns1:latin typeface="Arial"/>
                <ns1:ea typeface="Arial"/>
                <ns1:cs typeface="Arial"/>
              </ns1:rPr>
              <ns1:t>Averaging saved LSTM and Transformer returns lowers volatility.</ns1:t>
            </ns1:r>
          </ns1:p>
          <ns1:p>
            <ns1:pPr marL="152400" indent="-88900">
              <ns1:spcAft>
                <ns1:spcPts val="200"/>
              </ns1:spcAft>
              <ns1:buChar char="•"/>
              <ns1:defRPr sz="1275" b="1">
                <ns1:solidFill>
                  <ns1:srgbClr val="003262"/>
                </ns1:solidFill>
                <ns1:latin typeface="Arial"/>
                <ns1:ea typeface="Arial"/>
                <ns1:cs typeface="Arial"/>
              </ns1:defRPr>
            </ns1:pPr>
            <ns1:r>
              <ns1:rPr sz="1275" b="1">
                <ns1:solidFill>
                  <ns1:srgbClr val="003262"/>
                </ns1:solidFill>
                <ns1:latin typeface="Arial"/>
                <ns1:ea typeface="Arial"/>
                <ns1:cs typeface="Arial"/>
              </ns1:rPr>
              <ns1:t>Test Sharpe rises only from 0.459 to 0.463. The combination is exploratory.</ns1:t>
            </ns1:r>
          </ns1:p>
        </ns0:txBody>
      </ns0:sp>
    </ns0:spTree>
    <ns0:extLst>
      <ns0:ext uri="{BB962C8B-B14F-4D97-AF65-F5344CB8AC3E}">
        <ns3:creationId val="462819897"/>
      </ns0:ext>
    </ns0:extLst>
  </ns0:cSld>
</ns0:sld>
</file>

<file path=ppt/slides/slide17.xml><?xml version="1.0" encoding="utf-8"?>
<ns0:sld xmlns:ns0="http://schemas.openxmlformats.org/presentationml/2006/main" xmlns:ns1="http://schemas.openxmlformats.org/drawingml/2006/main" xmlns:ns2="http://schemas.microsoft.com/office/drawing/2014/main" xmlns:ns3="http://schemas.openxmlformats.org/drawingml/2006/chart" xmlns:ns4="http://schemas.openxmlformats.org/officeDocument/2006/relationships" xmlns:ns5="http://schemas.microsoft.com/office/powerpoint/2010/main">
  <ns0:cSld>
    <ns0:bg>
      <ns0:bgPr>
        <ns1:solidFill>
          <ns1:srgbClr val="FFFFFF"/>
        </ns1:solidFill>
      </ns0:bgPr>
    </ns0:bg>
    <ns0:spTree>
      <ns0:nvGrpSpPr>
        <ns0:cNvPr id="1" name=""/>
        <ns0:cNvGrpSpPr/>
        <ns0:nvPr/>
      </ns0:nvGrpSpPr>
      <ns0:grpSpPr>
        <ns1:xfrm/>
      </ns0:grpSpPr>
      <ns0:sp>
        <ns0:nvSpPr>
          <ns0:cNvPr id="8" name="">
            <ns1:extLst>
              <ns1:ext uri="{FF2B5EF4-FFF2-40B4-BE49-F238E27FC236}">
                <ns2:creationId id="{FB5238D6-5086-432D-98AA-7DDBE213212F}"/>
              </ns1:ext>
            </ns1:extLst>
          </ns0:cNvPr>
          <ns0:cNvSpPr>
            <ns1:spLocks noGrp="1"/>
          </ns0:cNvSpPr>
          <ns0:nvPr/>
        </ns0:nvSpPr>
        <ns0:spPr>
          <ns1:xfrm>
            <ns1:off x="0" y="0"/>
            <ns1:ext cx="66675" cy="2381250"/>
          </ns1:xfrm>
          <ns1:prstGeom prst="rect">
            <ns1:avLst/>
          </ns1:prstGeom>
          <ns1:solidFill>
            <ns1:srgbClr val="FDB515"/>
          </ns1:solidFill>
          <ns1:ln w="0">
            <ns1:noFill/>
          </ns1:ln>
        </ns0:spPr>
      </ns0:sp>
      <ns0:sp>
        <ns0:nvSpPr>
          <ns0:cNvPr id="2" name="">
            <ns1:extLst>
              <ns1:ext uri="{FF2B5EF4-FFF2-40B4-BE49-F238E27FC236}">
                <ns2:creationId id="{389AB788-A3CB-4EEF-AC86-E36CEFE24C24}"/>
              </ns1:ext>
            </ns1:extLst>
          </ns0:cNvPr>
          <ns0:cNvSpPr>
            <ns1:spLocks noGrp="1"/>
          </ns0:cNvSpPr>
          <ns0:nvPr/>
        </ns0:nvSpPr>
        <ns0:spPr>
          <ns1:xfrm>
            <ns1:off x="0" y="2381250"/>
            <ns1:ext cx="66675" cy="2762250"/>
          </ns1:xfrm>
          <ns1:prstGeom prst="rect">
            <ns1:avLst/>
          </ns1:prstGeom>
          <ns1:solidFill>
            <ns1:srgbClr val="003262"/>
          </ns1:solidFill>
          <ns1:ln w="0">
            <ns1:noFill/>
          </ns1:ln>
        </ns0:spPr>
      </ns0:sp>
      <ns0:sp>
        <ns0:nvSpPr>
          <ns0:cNvPr id="3" name="">
            <ns1:extLst>
              <ns1:ext uri="{FF2B5EF4-FFF2-40B4-BE49-F238E27FC236}">
                <ns2:creationId id="{F7BD27E0-1B6C-4952-9327-18EC64F6A789}"/>
              </ns1:ext>
            </ns1:extLst>
          </ns0:cNvPr>
          <ns0:cNvSpPr>
            <ns1:spLocks noGrp="1"/>
          </ns0:cNvSpPr>
          <ns0:nvPr/>
        </ns0:nvSpPr>
        <ns0:spPr>
          <ns1:xfrm>
            <ns1:off x="342900" y="238125"/>
            <ns1:ext cx="8458200" cy="514350"/>
          </ns1:xfrm>
          <ns1:prstGeom prst="rect">
            <ns1:avLst/>
          </ns1:prstGeom>
          <ns1:noFill/>
          <ns1:ln w="0">
            <ns1:noFill/>
          </ns1:ln>
        </ns0:spPr>
        <ns0:txBody>
          <ns1:bodyPr>
            <ns1:noAutofit/>
          </ns1:bodyPr>
          <ns1:lstStyle/>
          <ns1:p>
            <ns1:pPr>
              <ns1:buNone/>
              <ns1:defRPr sz="2175" b="1">
                <ns1:solidFill>
                  <ns1:srgbClr val="003262"/>
                </ns1:solidFill>
                <ns1:latin typeface="Arial"/>
                <ns1:ea typeface="Arial"/>
                <ns1:cs typeface="Arial"/>
              </ns1:defRPr>
            </ns1:pPr>
            <ns1:r>
              <ns1:rPr sz="2175" b="1">
                <ns1:solidFill>
                  <ns1:srgbClr val="003262"/>
                </ns1:solidFill>
                <ns1:latin typeface="Arial"/>
                <ns1:ea typeface="Arial"/>
                <ns1:cs typeface="Arial"/>
              </ns1:rPr>
              <ns1:t>Combination: 36-month rolling results by regime</ns1:t>
            </ns1:r>
          </ns1:p>
        </ns0:txBody>
      </ns0:sp>
      <ns0:sp>
        <ns0:nvSpPr>
          <ns0:cNvPr id="4" name="">
            <ns1:extLst>
              <ns1:ext uri="{FF2B5EF4-FFF2-40B4-BE49-F238E27FC236}">
                <ns2:creationId id="{A86CDF18-B593-4A19-B134-0A48AEC1C485}"/>
              </ns1:ext>
            </ns1:extLst>
          </ns0:cNvPr>
          <ns0:cNvSpPr>
            <ns1:spLocks noGrp="1"/>
          </ns0:cNvSpPr>
          <ns0:nvPr/>
        </ns0:nvSpPr>
        <ns0:spPr>
          <ns1:xfrm>
            <ns1:off x="342900" y="4781550"/>
            <ns1:ext cx="7810500" cy="228600"/>
          </ns1:xfrm>
          <ns1:prstGeom prst="rect">
            <ns1:avLst/>
          </ns1:prstGeom>
          <ns1:noFill/>
          <ns1:ln w="0">
            <ns1:noFill/>
          </ns1:ln>
        </ns0:spPr>
        <ns0:txBody>
          <ns1:bodyPr>
            <ns1:noAutofit/>
          </ns1:bodyPr>
          <ns1:lstStyle/>
          <ns1:p>
            <ns1:pPr>
              <ns1:buNone/>
              <ns1:defRPr sz="900" b="0">
                <ns1:solidFill>
                  <ns1:srgbClr val="5B6770"/>
                </ns1:solidFill>
                <ns1:latin typeface="Arial"/>
                <ns1:ea typeface="Arial"/>
                <ns1:cs typeface="Arial"/>
              </ns1:defRPr>
            </ns1:pPr>
            <ns1:r>
              <ns1:rPr sz="900" b="0">
                <ns1:solidFill>
                  <ns1:srgbClr val="5B6770"/>
                </ns1:solidFill>
                <ns1:latin typeface="Arial"/>
                <ns1:ea typeface="Arial"/>
                <ns1:cs typeface="Arial"/>
              </ns1:rPr>
              <ns1:t>Part 7. Combination</ns1:t>
            </ns1:r>
          </ns1:p>
        </ns0:txBody>
      </ns0:sp>
      <ns0:sp>
        <ns0:nvSpPr>
          <ns0:cNvPr id="5" name="">
            <ns1:extLst>
              <ns1:ext uri="{FF2B5EF4-FFF2-40B4-BE49-F238E27FC236}">
                <ns2:creationId id="{ADD87B3E-7529-4B7C-8BF9-638E6E3CCCEB}"/>
              </ns1:ext>
            </ns1:extLst>
          </ns0:cNvPr>
          <ns0:cNvSpPr>
            <ns1:spLocks noGrp="1"/>
          </ns0:cNvSpPr>
          <ns0:nvPr/>
        </ns0:nvSpPr>
        <ns0:spPr>
          <ns1:xfrm>
            <ns1:off x="8458200" y="4781550"/>
            <ns1:ext cx="457200" cy="228600"/>
          </ns1:xfrm>
          <ns1:prstGeom prst="rect">
            <ns1:avLst/>
          </ns1:prstGeom>
          <ns1:noFill/>
          <ns1:ln w="0">
            <ns1:noFill/>
          </ns1:ln>
        </ns0:spPr>
        <ns0:txBody>
          <ns1:bodyPr>
            <ns1:noAutofit/>
          </ns1:bodyPr>
          <ns1:lstStyle/>
          <ns1:p>
            <ns1:pPr>
              <ns1:buNone/>
              <ns1:defRPr sz="900" b="0">
                <ns1:solidFill>
                  <ns1:srgbClr val="5B6770"/>
                </ns1:solidFill>
                <ns1:latin typeface="Arial"/>
                <ns1:ea typeface="Arial"/>
                <ns1:cs typeface="Arial"/>
              </ns1:defRPr>
            </ns1:pPr>
            <ns1:r>
              <ns1:rPr sz="900" b="0">
                <ns1:solidFill>
                  <ns1:srgbClr val="5B6770"/>
                </ns1:solidFill>
                <ns1:latin typeface="Arial"/>
                <ns1:ea typeface="Arial"/>
                <ns1:cs typeface="Arial"/>
              </ns1:rPr>
              <ns1:t>17</ns1:t>
            </ns1:r>
          </ns1:p>
        </ns0:txBody>
      </ns0:sp>
      <ns0:graphicFrame>
        <ns0:nvGraphicFramePr>
          <ns0:cNvPr id="17" name="Chart"/>
          <ns0:cNvGraphicFramePr/>
          <ns0:nvPr/>
        </ns0:nvGraphicFramePr>
        <ns0:xfrm>
          <ns1:off x="419100" y="933450"/>
          <ns1:ext cx="8305800" cy="3095625"/>
        </ns0:xfrm>
        <ns1:graphic>
          <ns1:graphicData uri="http://schemas.openxmlformats.org/drawingml/2006/chart">
            <ns3:chart ns4:id="R9db3c727d11d4d6d"/>
          </ns1:graphicData>
        </ns1:graphic>
      </ns0:graphicFrame>
      <ns0:sp>
        <ns0:nvSpPr>
          <ns0:cNvPr id="10" name="">
            <ns1:extLst>
              <ns1:ext uri="{FF2B5EF4-FFF2-40B4-BE49-F238E27FC236}">
                <ns2:creationId id="{9CFBEFB9-C88F-4B25-A7F3-956D70A9703E}"/>
              </ns1:ext>
            </ns1:extLst>
          </ns0:cNvPr>
          <ns0:cNvSpPr>
            <ns1:spLocks noGrp="1"/>
          </ns0:cNvSpPr>
          <ns0:nvPr/>
        </ns0:nvSpPr>
        <ns0:spPr>
          <ns1:xfrm>
            <ns1:off x="419100" y="4257675"/>
            <ns1:ext cx="8286750" cy="457200"/>
          </ns1:xfrm>
          <ns1:prstGeom prst="rect">
            <ns1:avLst/>
          </ns1:prstGeom>
          <ns1:noFill/>
          <ns1:ln w="0">
            <ns1:noFill/>
          </ns1:ln>
        </ns0:spPr>
        <ns0:txBody>
          <ns1:bodyPr>
            <ns1:noAutofit/>
          </ns1:bodyPr>
          <ns1:lstStyle/>
          <ns1:p>
            <ns1:pPr marL="152400" indent="-88900">
              <ns1:spcAft>
                <ns1:spcPts val="200"/>
              </ns1:spcAft>
              <ns1:buChar char="•"/>
              <ns1:defRPr sz="1275" b="1">
                <ns1:solidFill>
                  <ns1:srgbClr val="003262"/>
                </ns1:solidFill>
                <ns1:latin typeface="Arial"/>
                <ns1:ea typeface="Arial"/>
                <ns1:cs typeface="Arial"/>
              </ns1:defRPr>
            </ns1:pPr>
            <ns1:r>
              <ns1:rPr sz="1275" b="1">
                <ns1:solidFill>
                  <ns1:srgbClr val="003262"/>
                </ns1:solidFill>
                <ns1:latin typeface="Arial"/>
                <ns1:ea typeface="Arial"/>
                <ns1:cs typeface="Arial"/>
              </ns1:rPr>
              <ns1:t>Bars group rolling windows by the economic regime at their endpoint.</ns1:t>
            </ns1:r>
          </ns1:p>
          <ns1:p>
            <ns1:pPr marL="152400" indent="-88900">
              <ns1:spcAft>
                <ns1:spcPts val="200"/>
              </ns1:spcAft>
              <ns1:buChar char="•"/>
              <ns1:defRPr sz="1275" b="1">
                <ns1:solidFill>
                  <ns1:srgbClr val="003262"/>
                </ns1:solidFill>
                <ns1:latin typeface="Arial"/>
                <ns1:ea typeface="Arial"/>
                <ns1:cs typeface="Arial"/>
              </ns1:defRPr>
            </ns1:pPr>
            <ns1:r>
              <ns1:rPr sz="1275" b="1">
                <ns1:solidFill>
                  <ns1:srgbClr val="003262"/>
                </ns1:solidFill>
                <ns1:latin typeface="Arial"/>
                <ns1:ea typeface="Arial"/>
                <ns1:cs typeface="Arial"/>
              </ns1:rPr>
              <ns1:t>A recession-ending window includes expansion months, unlike conditional regime Sharpe.</ns1:t>
            </ns1:r>
          </ns1:p>
        </ns0:txBody>
      </ns0:sp>
    </ns0:spTree>
    <ns0:extLst>
      <ns0:ext uri="{BB962C8B-B14F-4D97-AF65-F5344CB8AC3E}">
        <ns5:creationId val="1477924077"/>
      </ns0:ext>
    </ns0:extLst>
  </ns0:cSld>
</ns0:sld>
</file>

<file path=ppt/slides/slide18.xml><?xml version="1.0" encoding="utf-8"?>
<ns0:sld xmlns:ns0="http://schemas.openxmlformats.org/presentationml/2006/main" xmlns:ns1="http://schemas.openxmlformats.org/drawingml/2006/main" xmlns:ns2="http://schemas.microsoft.com/office/drawing/2014/main" xmlns:ns3="http://schemas.microsoft.com/office/powerpoint/2010/main">
  <ns0:cSld>
    <ns0:bg>
      <ns0:bgPr>
        <ns1:solidFill>
          <ns1:srgbClr val="FFFFFF"/>
        </ns1:solidFill>
      </ns0:bgPr>
    </ns0:bg>
    <ns0:spTree>
      <ns0:nvGrpSpPr>
        <ns0:cNvPr id="1" name=""/>
        <ns0:cNvGrpSpPr/>
        <ns0:nvPr/>
      </ns0:nvGrpSpPr>
      <ns0:grpSpPr>
        <ns1:xfrm/>
      </ns0:grpSpPr>
      <ns0:sp>
        <ns0:nvSpPr>
          <ns0:cNvPr id="8" name="">
            <ns1:extLst>
              <ns1:ext uri="{FF2B5EF4-FFF2-40B4-BE49-F238E27FC236}">
                <ns2:creationId id="{D6BA5D51-E367-4934-9161-1A9AA29B882B}"/>
              </ns1:ext>
            </ns1:extLst>
          </ns0:cNvPr>
          <ns0:cNvSpPr>
            <ns1:spLocks noGrp="1"/>
          </ns0:cNvSpPr>
          <ns0:nvPr/>
        </ns0:nvSpPr>
        <ns0:spPr>
          <ns1:xfrm>
            <ns1:off x="0" y="0"/>
            <ns1:ext cx="66675" cy="2381250"/>
          </ns1:xfrm>
          <ns1:prstGeom prst="rect">
            <ns1:avLst/>
          </ns1:prstGeom>
          <ns1:solidFill>
            <ns1:srgbClr val="FDB515"/>
          </ns1:solidFill>
          <ns1:ln w="0">
            <ns1:noFill/>
          </ns1:ln>
        </ns0:spPr>
      </ns0:sp>
      <ns0:sp>
        <ns0:nvSpPr>
          <ns0:cNvPr id="2" name="">
            <ns1:extLst>
              <ns1:ext uri="{FF2B5EF4-FFF2-40B4-BE49-F238E27FC236}">
                <ns2:creationId id="{1BF77CDE-17F8-443C-A072-4E45D948A7CF}"/>
              </ns1:ext>
            </ns1:extLst>
          </ns0:cNvPr>
          <ns0:cNvSpPr>
            <ns1:spLocks noGrp="1"/>
          </ns0:cNvSpPr>
          <ns0:nvPr/>
        </ns0:nvSpPr>
        <ns0:spPr>
          <ns1:xfrm>
            <ns1:off x="0" y="2381250"/>
            <ns1:ext cx="66675" cy="2762250"/>
          </ns1:xfrm>
          <ns1:prstGeom prst="rect">
            <ns1:avLst/>
          </ns1:prstGeom>
          <ns1:solidFill>
            <ns1:srgbClr val="003262"/>
          </ns1:solidFill>
          <ns1:ln w="0">
            <ns1:noFill/>
          </ns1:ln>
        </ns0:spPr>
      </ns0:sp>
      <ns0:sp>
        <ns0:nvSpPr>
          <ns0:cNvPr id="3" name="">
            <ns1:extLst>
              <ns1:ext uri="{FF2B5EF4-FFF2-40B4-BE49-F238E27FC236}">
                <ns2:creationId id="{0AC6496D-D32A-43E8-A621-7E656AA7F7BD}"/>
              </ns1:ext>
            </ns1:extLst>
          </ns0:cNvPr>
          <ns0:cNvSpPr>
            <ns1:spLocks noGrp="1"/>
          </ns0:cNvSpPr>
          <ns0:nvPr/>
        </ns0:nvSpPr>
        <ns0:spPr>
          <ns1:xfrm>
            <ns1:off x="342900" y="238125"/>
            <ns1:ext cx="8458200" cy="514350"/>
          </ns1:xfrm>
          <ns1:prstGeom prst="rect">
            <ns1:avLst/>
          </ns1:prstGeom>
          <ns1:noFill/>
          <ns1:ln w="0">
            <ns1:noFill/>
          </ns1:ln>
        </ns0:spPr>
        <ns0:txBody>
          <ns1:bodyPr>
            <ns1:noAutofit/>
          </ns1:bodyPr>
          <ns1:lstStyle/>
          <ns1:p>
            <ns1:pPr>
              <ns1:buNone/>
              <ns1:defRPr sz="2175" b="1">
                <ns1:solidFill>
                  <ns1:srgbClr val="003262"/>
                </ns1:solidFill>
                <ns1:latin typeface="Arial"/>
                <ns1:ea typeface="Arial"/>
                <ns1:cs typeface="Arial"/>
              </ns1:defRPr>
            </ns1:pPr>
            <ns1:r>
              <ns1:rPr sz="2175" b="1">
                <ns1:solidFill>
                  <ns1:srgbClr val="003262"/>
                </ns1:solidFill>
                <ns1:latin typeface="Arial"/>
                <ns1:ea typeface="Arial"/>
                <ns1:cs typeface="Arial"/>
              </ns1:rPr>
              <ns1:t>Combination: overall, rolling and recession results</ns1:t>
            </ns1:r>
          </ns1:p>
        </ns0:txBody>
      </ns0:sp>
      <ns0:sp>
        <ns0:nvSpPr>
          <ns0:cNvPr id="4" name="">
            <ns1:extLst>
              <ns1:ext uri="{FF2B5EF4-FFF2-40B4-BE49-F238E27FC236}">
                <ns2:creationId id="{E2DB1C94-88D7-4A6C-AC02-94343312E215}"/>
              </ns1:ext>
            </ns1:extLst>
          </ns0:cNvPr>
          <ns0:cNvSpPr>
            <ns1:spLocks noGrp="1"/>
          </ns0:cNvSpPr>
          <ns0:nvPr/>
        </ns0:nvSpPr>
        <ns0:spPr>
          <ns1:xfrm>
            <ns1:off x="342900" y="4781550"/>
            <ns1:ext cx="7810500" cy="228600"/>
          </ns1:xfrm>
          <ns1:prstGeom prst="rect">
            <ns1:avLst/>
          </ns1:prstGeom>
          <ns1:noFill/>
          <ns1:ln w="0">
            <ns1:noFill/>
          </ns1:ln>
        </ns0:spPr>
        <ns0:txBody>
          <ns1:bodyPr>
            <ns1:noAutofit/>
          </ns1:bodyPr>
          <ns1:lstStyle/>
          <ns1:p>
            <ns1:pPr>
              <ns1:buNone/>
              <ns1:defRPr sz="900" b="0">
                <ns1:solidFill>
                  <ns1:srgbClr val="5B6770"/>
                </ns1:solidFill>
                <ns1:latin typeface="Arial"/>
                <ns1:ea typeface="Arial"/>
                <ns1:cs typeface="Arial"/>
              </ns1:defRPr>
            </ns1:pPr>
            <ns1:r>
              <ns1:rPr sz="900" b="0">
                <ns1:solidFill>
                  <ns1:srgbClr val="5B6770"/>
                </ns1:solidFill>
                <ns1:latin typeface="Arial"/>
                <ns1:ea typeface="Arial"/>
                <ns1:cs typeface="Arial"/>
              </ns1:rPr>
              <ns1:t>Part 7. Combination</ns1:t>
            </ns1:r>
          </ns1:p>
        </ns0:txBody>
      </ns0:sp>
      <ns0:sp>
        <ns0:nvSpPr>
          <ns0:cNvPr id="5" name="">
            <ns1:extLst>
              <ns1:ext uri="{FF2B5EF4-FFF2-40B4-BE49-F238E27FC236}">
                <ns2:creationId id="{20C572EC-5677-4400-B899-B8F048EE0119}"/>
              </ns1:ext>
            </ns1:extLst>
          </ns0:cNvPr>
          <ns0:cNvSpPr>
            <ns1:spLocks noGrp="1"/>
          </ns0:cNvSpPr>
          <ns0:nvPr/>
        </ns0:nvSpPr>
        <ns0:spPr>
          <ns1:xfrm>
            <ns1:off x="8458200" y="4781550"/>
            <ns1:ext cx="457200" cy="228600"/>
          </ns1:xfrm>
          <ns1:prstGeom prst="rect">
            <ns1:avLst/>
          </ns1:prstGeom>
          <ns1:noFill/>
          <ns1:ln w="0">
            <ns1:noFill/>
          </ns1:ln>
        </ns0:spPr>
        <ns0:txBody>
          <ns1:bodyPr>
            <ns1:noAutofit/>
          </ns1:bodyPr>
          <ns1:lstStyle/>
          <ns1:p>
            <ns1:pPr>
              <ns1:buNone/>
              <ns1:defRPr sz="900" b="0">
                <ns1:solidFill>
                  <ns1:srgbClr val="5B6770"/>
                </ns1:solidFill>
                <ns1:latin typeface="Arial"/>
                <ns1:ea typeface="Arial"/>
                <ns1:cs typeface="Arial"/>
              </ns1:defRPr>
            </ns1:pPr>
            <ns1:r>
              <ns1:rPr sz="900" b="0">
                <ns1:solidFill>
                  <ns1:srgbClr val="5B6770"/>
                </ns1:solidFill>
                <ns1:latin typeface="Arial"/>
                <ns1:ea typeface="Arial"/>
                <ns1:cs typeface="Arial"/>
              </ns1:rPr>
              <ns1:t>18</ns1:t>
            </ns1:r>
          </ns1:p>
        </ns0:txBody>
      </ns0:sp>
      <ns0:graphicFrame>
        <ns0:nvGraphicFramePr>
          <ns0:cNvPr id="17" name=""/>
          <ns0:cNvGraphicFramePr/>
          <ns0:nvPr/>
        </ns0:nvGraphicFramePr>
        <ns0:xfrm>
          <ns1:off x="400050" y="1019175"/>
          <ns1:ext cx="8343900" cy="2857500"/>
        </ns0:xfrm>
        <ns1:graphic>
          <ns1:graphicData uri="http://schemas.openxmlformats.org/drawingml/2006/table">
            <ns1:tbl>
              <ns1:tblPr/>
              <ns1:tblGrid>
                <ns1:gridCol w="2571750"/>
                <ns1:gridCol w="1924050"/>
                <ns1:gridCol w="1924050"/>
                <ns1:gridCol w="1924050"/>
              </ns1:tblGrid>
              <ns1:tr h="357188">
                <ns1:tc>
                  <ns1:txBody>
                    <ns1:bodyPr/>
                    <ns1:lstStyle/>
                    <ns1:p>
                      <ns1:r>
                        <ns1:rPr sz="1275" b="1">
                          <ns1:solidFill>
                            <ns1:srgbClr val="FFFFFF"/>
                          </ns1:solidFill>
                          <ns1:latin typeface="Arial"/>
                          <ns1:ea typeface="Arial"/>
                          <ns1:cs typeface="Arial"/>
                        </ns1:rPr>
                        <ns1:t>Local portfolio</ns1:t>
                      </ns1:r>
                    </ns1:p>
                  </ns1:txBody>
                  <ns1:tcPr marL="91440" marR="91440" marT="45720" marB="45720">
                    <ns1:solidFill>
                      <ns1:srgbClr val="003262"/>
                    </ns1:solidFill>
                  </ns1:tcPr>
                </ns1:tc>
                <ns1:tc>
                  <ns1:txBody>
                    <ns1:bodyPr/>
                    <ns1:lstStyle/>
                    <ns1:p>
                      <ns1:r>
                        <ns1:rPr sz="1275" b="1">
                          <ns1:solidFill>
                            <ns1:srgbClr val="FFFFFF"/>
                          </ns1:solidFill>
                          <ns1:latin typeface="Arial"/>
                          <ns1:ea typeface="Arial"/>
                          <ns1:cs typeface="Arial"/>
                        </ns1:rPr>
                        <ns1:t>Test Sharpe</ns1:t>
                      </ns1:r>
                    </ns1:p>
                    <ns1:p>
                      <ns1:r>
                        <ns1:rPr sz="1275" b="1">
                          <ns1:solidFill>
                            <ns1:srgbClr val="FFFFFF"/>
                          </ns1:solidFill>
                          <ns1:latin typeface="Arial"/>
                          <ns1:ea typeface="Arial"/>
                          <ns1:cs typeface="Arial"/>
                        </ns1:rPr>
                        <ns1:t>monthly</ns1:t>
                      </ns1:r>
                    </ns1:p>
                  </ns1:txBody>
                  <ns1:tcPr marL="91440" marR="91440" marT="45720" marB="45720">
                    <ns1:solidFill>
                      <ns1:srgbClr val="003262"/>
                    </ns1:solidFill>
                  </ns1:tcPr>
                </ns1:tc>
                <ns1:tc>
                  <ns1:txBody>
                    <ns1:bodyPr/>
                    <ns1:lstStyle/>
                    <ns1:p>
                      <ns1:r>
                        <ns1:rPr sz="1275" b="1">
                          <ns1:solidFill>
                            <ns1:srgbClr val="FFFFFF"/>
                          </ns1:solidFill>
                          <ns1:latin typeface="Arial"/>
                          <ns1:ea typeface="Arial"/>
                          <ns1:cs typeface="Arial"/>
                        </ns1:rPr>
                        <ns1:t>36-month mean</ns1:t>
                      </ns1:r>
                    </ns1:p>
                    <ns1:p>
                      <ns1:r>
                        <ns1:rPr sz="1275" b="1">
                          <ns1:solidFill>
                            <ns1:srgbClr val="FFFFFF"/>
                          </ns1:solidFill>
                          <ns1:latin typeface="Arial"/>
                          <ns1:ea typeface="Arial"/>
                          <ns1:cs typeface="Arial"/>
                        </ns1:rPr>
                        <ns1:t>annualized</ns1:t>
                      </ns1:r>
                    </ns1:p>
                  </ns1:txBody>
                  <ns1:tcPr marL="91440" marR="91440" marT="45720" marB="45720">
                    <ns1:solidFill>
                      <ns1:srgbClr val="003262"/>
                    </ns1:solidFill>
                  </ns1:tcPr>
                </ns1:tc>
                <ns1:tc>
                  <ns1:txBody>
                    <ns1:bodyPr/>
                    <ns1:lstStyle/>
                    <ns1:p>
                      <ns1:r>
                        <ns1:rPr sz="1275" b="1">
                          <ns1:solidFill>
                            <ns1:srgbClr val="FFFFFF"/>
                          </ns1:solidFill>
                          <ns1:latin typeface="Arial"/>
                          <ns1:ea typeface="Arial"/>
                          <ns1:cs typeface="Arial"/>
                        </ns1:rPr>
                        <ns1:t>Recession Sharpe</ns1:t>
                      </ns1:r>
                    </ns1:p>
                    <ns1:p>
                      <ns1:r>
                        <ns1:rPr sz="1275" b="1">
                          <ns1:solidFill>
                            <ns1:srgbClr val="FFFFFF"/>
                          </ns1:solidFill>
                          <ns1:latin typeface="Arial"/>
                          <ns1:ea typeface="Arial"/>
                          <ns1:cs typeface="Arial"/>
                        </ns1:rPr>
                        <ns1:t>monthly</ns1:t>
                      </ns1:r>
                    </ns1:p>
                  </ns1:txBody>
                  <ns1:tcPr marL="91440" marR="91440" marT="45720" marB="45720">
                    <ns1:solidFill>
                      <ns1:srgbClr val="003262"/>
                    </ns1:solidFill>
                  </ns1:tcPr>
                </ns1:tc>
              </ns1:tr>
              <ns1:tr h="357188">
                <ns1:tc>
                  <ns1:txBody>
                    <ns1:bodyPr/>
                    <ns1:lstStyle/>
                    <ns1:p>
                      <ns1:r>
                        <ns1:rPr sz="1350" b="0">
                          <ns1:solidFill>
                            <ns1:srgbClr val="1F2A37"/>
                          </ns1:solidFill>
                          <ns1:latin typeface="Arial"/>
                          <ns1:ea typeface="Arial"/>
                          <ns1:cs typeface="Arial"/>
                        </ns1:rPr>
                        <ns1:t>Replicated GAN</ns1:t>
                      </ns1:r>
                    </ns1:p>
                  </ns1:txBody>
                  <ns1:tcPr marL="91440" marR="91440" marT="45720" marB="45720">
                    <ns1:solidFill>
                      <ns1:srgbClr val="EEF3F8"/>
                    </ns1:solidFill>
                  </ns1:tcPr>
                </ns1:tc>
                <ns1:tc>
                  <ns1:txBody>
                    <ns1:bodyPr/>
                    <ns1:lstStyle/>
                    <ns1:p>
                      <ns1:r>
                        <ns1:rPr sz="1350" b="0">
                          <ns1:solidFill>
                            <ns1:srgbClr val="1F2A37"/>
                          </ns1:solidFill>
                          <ns1:latin typeface="Arial"/>
                          <ns1:ea typeface="Arial"/>
                          <ns1:cs typeface="Arial"/>
                        </ns1:rPr>
                        <ns1:t>0.612</ns1:t>
                      </ns1:r>
                    </ns1:p>
                  </ns1:txBody>
                  <ns1:tcPr marL="91440" marR="91440" marT="45720" marB="45720">
                    <ns1:solidFill>
                      <ns1:srgbClr val="EEF3F8"/>
                    </ns1:solidFill>
                  </ns1:tcPr>
                </ns1:tc>
                <ns1:tc>
                  <ns1:txBody>
                    <ns1:bodyPr/>
                    <ns1:lstStyle/>
                    <ns1:p>
                      <ns1:r>
                        <ns1:rPr sz="1350" b="0">
                          <ns1:solidFill>
                            <ns1:srgbClr val="1F2A37"/>
                          </ns1:solidFill>
                          <ns1:latin typeface="Arial"/>
                          <ns1:ea typeface="Arial"/>
                          <ns1:cs typeface="Arial"/>
                        </ns1:rPr>
                        <ns1:t>2.890</ns1:t>
                      </ns1:r>
                    </ns1:p>
                  </ns1:txBody>
                  <ns1:tcPr marL="91440" marR="91440" marT="45720" marB="45720">
                    <ns1:solidFill>
                      <ns1:srgbClr val="EEF3F8"/>
                    </ns1:solidFill>
                  </ns1:tcPr>
                </ns1:tc>
                <ns1:tc>
                  <ns1:txBody>
                    <ns1:bodyPr/>
                    <ns1:lstStyle/>
                    <ns1:p>
                      <ns1:r>
                        <ns1:rPr sz="1350" b="0">
                          <ns1:solidFill>
                            <ns1:srgbClr val="1F2A37"/>
                          </ns1:solidFill>
                          <ns1:latin typeface="Arial"/>
                          <ns1:ea typeface="Arial"/>
                          <ns1:cs typeface="Arial"/>
                        </ns1:rPr>
                        <ns1:t>0.455</ns1:t>
                      </ns1:r>
                    </ns1:p>
                  </ns1:txBody>
                  <ns1:tcPr marL="91440" marR="91440" marT="45720" marB="45720">
                    <ns1:solidFill>
                      <ns1:srgbClr val="EEF3F8"/>
                    </ns1:solidFill>
                  </ns1:tcPr>
                </ns1:tc>
              </ns1:tr>
              <ns1:tr h="357188">
                <ns1:tc>
                  <ns1:txBody>
                    <ns1:bodyPr/>
                    <ns1:lstStyle/>
                    <ns1:p>
                      <ns1:r>
                        <ns1:rPr sz="1350" b="0">
                          <ns1:solidFill>
                            <ns1:srgbClr val="1F2A37"/>
                          </ns1:solidFill>
                          <ns1:latin typeface="Arial"/>
                          <ns1:ea typeface="Arial"/>
                          <ns1:cs typeface="Arial"/>
                        </ns1:rPr>
                        <ns1:t>Feedforward</ns1:t>
                      </ns1:r>
                    </ns1:p>
                  </ns1:txBody>
                  <ns1:tcPr marL="91440" marR="91440" marT="45720" marB="45720">
                    <ns1:solidFill>
                      <ns1:srgbClr val="FFFFFF"/>
                    </ns1:solidFill>
                  </ns1:tcPr>
                </ns1:tc>
                <ns1:tc>
                  <ns1:txBody>
                    <ns1:bodyPr/>
                    <ns1:lstStyle/>
                    <ns1:p>
                      <ns1:r>
                        <ns1:rPr sz="1350" b="0">
                          <ns1:solidFill>
                            <ns1:srgbClr val="1F2A37"/>
                          </ns1:solidFill>
                          <ns1:latin typeface="Arial"/>
                          <ns1:ea typeface="Arial"/>
                          <ns1:cs typeface="Arial"/>
                        </ns1:rPr>
                        <ns1:t>0.570</ns1:t>
                      </ns1:r>
                    </ns1:p>
                  </ns1:txBody>
                  <ns1:tcPr marL="91440" marR="91440" marT="45720" marB="45720">
                    <ns1:solidFill>
                      <ns1:srgbClr val="FFFFFF"/>
                    </ns1:solidFill>
                  </ns1:tcPr>
                </ns1:tc>
                <ns1:tc>
                  <ns1:txBody>
                    <ns1:bodyPr/>
                    <ns1:lstStyle/>
                    <ns1:p>
                      <ns1:r>
                        <ns1:rPr sz="1350" b="0">
                          <ns1:solidFill>
                            <ns1:srgbClr val="1F2A37"/>
                          </ns1:solidFill>
                          <ns1:latin typeface="Arial"/>
                          <ns1:ea typeface="Arial"/>
                          <ns1:cs typeface="Arial"/>
                        </ns1:rPr>
                        <ns1:t>2.620</ns1:t>
                      </ns1:r>
                    </ns1:p>
                  </ns1:txBody>
                  <ns1:tcPr marL="91440" marR="91440" marT="45720" marB="45720">
                    <ns1:solidFill>
                      <ns1:srgbClr val="FFFFFF"/>
                    </ns1:solidFill>
                  </ns1:tcPr>
                </ns1:tc>
                <ns1:tc>
                  <ns1:txBody>
                    <ns1:bodyPr/>
                    <ns1:lstStyle/>
                    <ns1:p>
                      <ns1:r>
                        <ns1:rPr sz="1350" b="0">
                          <ns1:solidFill>
                            <ns1:srgbClr val="1F2A37"/>
                          </ns1:solidFill>
                          <ns1:latin typeface="Arial"/>
                          <ns1:ea typeface="Arial"/>
                          <ns1:cs typeface="Arial"/>
                        </ns1:rPr>
                        <ns1:t>0.570</ns1:t>
                      </ns1:r>
                    </ns1:p>
                  </ns1:txBody>
                  <ns1:tcPr marL="91440" marR="91440" marT="45720" marB="45720">
                    <ns1:solidFill>
                      <ns1:srgbClr val="FFFFFF"/>
                    </ns1:solidFill>
                  </ns1:tcPr>
                </ns1:tc>
              </ns1:tr>
              <ns1:tr h="357188">
                <ns1:tc>
                  <ns1:txBody>
                    <ns1:bodyPr/>
                    <ns1:lstStyle/>
                    <ns1:p>
                      <ns1:r>
                        <ns1:rPr sz="1350" b="0">
                          <ns1:solidFill>
                            <ns1:srgbClr val="1F2A37"/>
                          </ns1:solidFill>
                          <ns1:latin typeface="Arial"/>
                          <ns1:ea typeface="Arial"/>
                          <ns1:cs typeface="Arial"/>
                        </ns1:rPr>
                        <ns1:t>Equal-weight blend</ns1:t>
                      </ns1:r>
                    </ns1:p>
                  </ns1:txBody>
                  <ns1:tcPr marL="91440" marR="91440" marT="45720" marB="45720">
                    <ns1:solidFill>
                      <ns1:srgbClr val="EEF3F8"/>
                    </ns1:solidFill>
                  </ns1:tcPr>
                </ns1:tc>
                <ns1:tc>
                  <ns1:txBody>
                    <ns1:bodyPr/>
                    <ns1:lstStyle/>
                    <ns1:p>
                      <ns1:r>
                        <ns1:rPr sz="1350" b="0">
                          <ns1:solidFill>
                            <ns1:srgbClr val="1F2A37"/>
                          </ns1:solidFill>
                          <ns1:latin typeface="Arial"/>
                          <ns1:ea typeface="Arial"/>
                          <ns1:cs typeface="Arial"/>
                        </ns1:rPr>
                        <ns1:t>0.463</ns1:t>
                      </ns1:r>
                    </ns1:p>
                  </ns1:txBody>
                  <ns1:tcPr marL="91440" marR="91440" marT="45720" marB="45720">
                    <ns1:solidFill>
                      <ns1:srgbClr val="EEF3F8"/>
                    </ns1:solidFill>
                  </ns1:tcPr>
                </ns1:tc>
                <ns1:tc>
                  <ns1:txBody>
                    <ns1:bodyPr/>
                    <ns1:lstStyle/>
                    <ns1:p>
                      <ns1:r>
                        <ns1:rPr sz="1350" b="0">
                          <ns1:solidFill>
                            <ns1:srgbClr val="1F2A37"/>
                          </ns1:solidFill>
                          <ns1:latin typeface="Arial"/>
                          <ns1:ea typeface="Arial"/>
                          <ns1:cs typeface="Arial"/>
                        </ns1:rPr>
                        <ns1:t>2.166</ns1:t>
                      </ns1:r>
                    </ns1:p>
                  </ns1:txBody>
                  <ns1:tcPr marL="91440" marR="91440" marT="45720" marB="45720">
                    <ns1:solidFill>
                      <ns1:srgbClr val="EEF3F8"/>
                    </ns1:solidFill>
                  </ns1:tcPr>
                </ns1:tc>
                <ns1:tc>
                  <ns1:txBody>
                    <ns1:bodyPr/>
                    <ns1:lstStyle/>
                    <ns1:p>
                      <ns1:r>
                        <ns1:rPr sz="1350" b="0">
                          <ns1:solidFill>
                            <ns1:srgbClr val="1F2A37"/>
                          </ns1:solidFill>
                          <ns1:latin typeface="Arial"/>
                          <ns1:ea typeface="Arial"/>
                          <ns1:cs typeface="Arial"/>
                        </ns1:rPr>
                        <ns1:t>0.076</ns1:t>
                      </ns1:r>
                    </ns1:p>
                  </ns1:txBody>
                  <ns1:tcPr marL="91440" marR="91440" marT="45720" marB="45720">
                    <ns1:solidFill>
                      <ns1:srgbClr val="EEF3F8"/>
                    </ns1:solidFill>
                  </ns1:tcPr>
                </ns1:tc>
              </ns1:tr>
              <ns1:tr h="357188">
                <ns1:tc>
                  <ns1:txBody>
                    <ns1:bodyPr/>
                    <ns1:lstStyle/>
                    <ns1:p>
                      <ns1:r>
                        <ns1:rPr sz="1350" b="0">
                          <ns1:solidFill>
                            <ns1:srgbClr val="1F2A37"/>
                          </ns1:solidFill>
                          <ns1:latin typeface="Arial"/>
                          <ns1:ea typeface="Arial"/>
                          <ns1:cs typeface="Arial"/>
                        </ns1:rPr>
                        <ns1:t>Extension LSTM</ns1:t>
                      </ns1:r>
                    </ns1:p>
                  </ns1:txBody>
                  <ns1:tcPr marL="91440" marR="91440" marT="45720" marB="45720">
                    <ns1:solidFill>
                      <ns1:srgbClr val="FFFFFF"/>
                    </ns1:solidFill>
                  </ns1:tcPr>
                </ns1:tc>
                <ns1:tc>
                  <ns1:txBody>
                    <ns1:bodyPr/>
                    <ns1:lstStyle/>
                    <ns1:p>
                      <ns1:r>
                        <ns1:rPr sz="1350" b="0">
                          <ns1:solidFill>
                            <ns1:srgbClr val="1F2A37"/>
                          </ns1:solidFill>
                          <ns1:latin typeface="Arial"/>
                          <ns1:ea typeface="Arial"/>
                          <ns1:cs typeface="Arial"/>
                        </ns1:rPr>
                        <ns1:t>0.459</ns1:t>
                      </ns1:r>
                    </ns1:p>
                  </ns1:txBody>
                  <ns1:tcPr marL="91440" marR="91440" marT="45720" marB="45720">
                    <ns1:solidFill>
                      <ns1:srgbClr val="FFFFFF"/>
                    </ns1:solidFill>
                  </ns1:tcPr>
                </ns1:tc>
                <ns1:tc>
                  <ns1:txBody>
                    <ns1:bodyPr/>
                    <ns1:lstStyle/>
                    <ns1:p>
                      <ns1:r>
                        <ns1:rPr sz="1350" b="0">
                          <ns1:solidFill>
                            <ns1:srgbClr val="1F2A37"/>
                          </ns1:solidFill>
                          <ns1:latin typeface="Arial"/>
                          <ns1:ea typeface="Arial"/>
                          <ns1:cs typeface="Arial"/>
                        </ns1:rPr>
                        <ns1:t>1.992</ns1:t>
                      </ns1:r>
                    </ns1:p>
                  </ns1:txBody>
                  <ns1:tcPr marL="91440" marR="91440" marT="45720" marB="45720">
                    <ns1:solidFill>
                      <ns1:srgbClr val="FFFFFF"/>
                    </ns1:solidFill>
                  </ns1:tcPr>
                </ns1:tc>
                <ns1:tc>
                  <ns1:txBody>
                    <ns1:bodyPr/>
                    <ns1:lstStyle/>
                    <ns1:p>
                      <ns1:r>
                        <ns1:rPr sz="1350" b="0">
                          <ns1:solidFill>
                            <ns1:srgbClr val="1F2A37"/>
                          </ns1:solidFill>
                          <ns1:latin typeface="Arial"/>
                          <ns1:ea typeface="Arial"/>
                          <ns1:cs typeface="Arial"/>
                        </ns1:rPr>
                        <ns1:t>0.264</ns1:t>
                      </ns1:r>
                    </ns1:p>
                  </ns1:txBody>
                  <ns1:tcPr marL="91440" marR="91440" marT="45720" marB="45720">
                    <ns1:solidFill>
                      <ns1:srgbClr val="FFFFFF"/>
                    </ns1:solidFill>
                  </ns1:tcPr>
                </ns1:tc>
              </ns1:tr>
              <ns1:tr h="357188">
                <ns1:tc>
                  <ns1:txBody>
                    <ns1:bodyPr/>
                    <ns1:lstStyle/>
                    <ns1:p>
                      <ns1:r>
                        <ns1:rPr sz="1350" b="0">
                          <ns1:solidFill>
                            <ns1:srgbClr val="1F2A37"/>
                          </ns1:solidFill>
                          <ns1:latin typeface="Arial"/>
                          <ns1:ea typeface="Arial"/>
                          <ns1:cs typeface="Arial"/>
                        </ns1:rPr>
                        <ns1:t>Elastic Net</ns1:t>
                      </ns1:r>
                    </ns1:p>
                  </ns1:txBody>
                  <ns1:tcPr marL="91440" marR="91440" marT="45720" marB="45720">
                    <ns1:solidFill>
                      <ns1:srgbClr val="EEF3F8"/>
                    </ns1:solidFill>
                  </ns1:tcPr>
                </ns1:tc>
                <ns1:tc>
                  <ns1:txBody>
                    <ns1:bodyPr/>
                    <ns1:lstStyle/>
                    <ns1:p>
                      <ns1:r>
                        <ns1:rPr sz="1350" b="0">
                          <ns1:solidFill>
                            <ns1:srgbClr val="1F2A37"/>
                          </ns1:solidFill>
                          <ns1:latin typeface="Arial"/>
                          <ns1:ea typeface="Arial"/>
                          <ns1:cs typeface="Arial"/>
                        </ns1:rPr>
                        <ns1:t>0.412</ns1:t>
                      </ns1:r>
                    </ns1:p>
                  </ns1:txBody>
                  <ns1:tcPr marL="91440" marR="91440" marT="45720" marB="45720">
                    <ns1:solidFill>
                      <ns1:srgbClr val="EEF3F8"/>
                    </ns1:solidFill>
                  </ns1:tcPr>
                </ns1:tc>
                <ns1:tc>
                  <ns1:txBody>
                    <ns1:bodyPr/>
                    <ns1:lstStyle/>
                    <ns1:p>
                      <ns1:r>
                        <ns1:rPr sz="1350" b="0">
                          <ns1:solidFill>
                            <ns1:srgbClr val="1F2A37"/>
                          </ns1:solidFill>
                          <ns1:latin typeface="Arial"/>
                          <ns1:ea typeface="Arial"/>
                          <ns1:cs typeface="Arial"/>
                        </ns1:rPr>
                        <ns1:t>2.074</ns1:t>
                      </ns1:r>
                    </ns1:p>
                  </ns1:txBody>
                  <ns1:tcPr marL="91440" marR="91440" marT="45720" marB="45720">
                    <ns1:solidFill>
                      <ns1:srgbClr val="EEF3F8"/>
                    </ns1:solidFill>
                  </ns1:tcPr>
                </ns1:tc>
                <ns1:tc>
                  <ns1:txBody>
                    <ns1:bodyPr/>
                    <ns1:lstStyle/>
                    <ns1:p>
                      <ns1:r>
                        <ns1:rPr sz="1350" b="0">
                          <ns1:solidFill>
                            <ns1:srgbClr val="1F2A37"/>
                          </ns1:solidFill>
                          <ns1:latin typeface="Arial"/>
                          <ns1:ea typeface="Arial"/>
                          <ns1:cs typeface="Arial"/>
                        </ns1:rPr>
                        <ns1:t>0.254</ns1:t>
                      </ns1:r>
                    </ns1:p>
                  </ns1:txBody>
                  <ns1:tcPr marL="91440" marR="91440" marT="45720" marB="45720">
                    <ns1:solidFill>
                      <ns1:srgbClr val="EEF3F8"/>
                    </ns1:solidFill>
                  </ns1:tcPr>
                </ns1:tc>
              </ns1:tr>
              <ns1:tr h="357188">
                <ns1:tc>
                  <ns1:txBody>
                    <ns1:bodyPr/>
                    <ns1:lstStyle/>
                    <ns1:p>
                      <ns1:r>
                        <ns1:rPr sz="1350" b="0">
                          <ns1:solidFill>
                            <ns1:srgbClr val="1F2A37"/>
                          </ns1:solidFill>
                          <ns1:latin typeface="Arial"/>
                          <ns1:ea typeface="Arial"/>
                          <ns1:cs typeface="Arial"/>
                        </ns1:rPr>
                        <ns1:t>Linear</ns1:t>
                      </ns1:r>
                    </ns1:p>
                  </ns1:txBody>
                  <ns1:tcPr marL="91440" marR="91440" marT="45720" marB="45720">
                    <ns1:solidFill>
                      <ns1:srgbClr val="FFFFFF"/>
                    </ns1:solidFill>
                  </ns1:tcPr>
                </ns1:tc>
                <ns1:tc>
                  <ns1:txBody>
                    <ns1:bodyPr/>
                    <ns1:lstStyle/>
                    <ns1:p>
                      <ns1:r>
                        <ns1:rPr sz="1350" b="0">
                          <ns1:solidFill>
                            <ns1:srgbClr val="1F2A37"/>
                          </ns1:solidFill>
                          <ns1:latin typeface="Arial"/>
                          <ns1:ea typeface="Arial"/>
                          <ns1:cs typeface="Arial"/>
                        </ns1:rPr>
                        <ns1:t>0.406</ns1:t>
                      </ns1:r>
                    </ns1:p>
                  </ns1:txBody>
                  <ns1:tcPr marL="91440" marR="91440" marT="45720" marB="45720">
                    <ns1:solidFill>
                      <ns1:srgbClr val="FFFFFF"/>
                    </ns1:solidFill>
                  </ns1:tcPr>
                </ns1:tc>
                <ns1:tc>
                  <ns1:txBody>
                    <ns1:bodyPr/>
                    <ns1:lstStyle/>
                    <ns1:p>
                      <ns1:r>
                        <ns1:rPr sz="1350" b="0">
                          <ns1:solidFill>
                            <ns1:srgbClr val="1F2A37"/>
                          </ns1:solidFill>
                          <ns1:latin typeface="Arial"/>
                          <ns1:ea typeface="Arial"/>
                          <ns1:cs typeface="Arial"/>
                        </ns1:rPr>
                        <ns1:t>1.740</ns1:t>
                      </ns1:r>
                    </ns1:p>
                  </ns1:txBody>
                  <ns1:tcPr marL="91440" marR="91440" marT="45720" marB="45720">
                    <ns1:solidFill>
                      <ns1:srgbClr val="FFFFFF"/>
                    </ns1:solidFill>
                  </ns1:tcPr>
                </ns1:tc>
                <ns1:tc>
                  <ns1:txBody>
                    <ns1:bodyPr/>
                    <ns1:lstStyle/>
                    <ns1:p>
                      <ns1:r>
                        <ns1:rPr sz="1350" b="0">
                          <ns1:solidFill>
                            <ns1:srgbClr val="1F2A37"/>
                          </ns1:solidFill>
                          <ns1:latin typeface="Arial"/>
                          <ns1:ea typeface="Arial"/>
                          <ns1:cs typeface="Arial"/>
                        </ns1:rPr>
                        <ns1:t>0.404</ns1:t>
                      </ns1:r>
                    </ns1:p>
                  </ns1:txBody>
                  <ns1:tcPr marL="91440" marR="91440" marT="45720" marB="45720">
                    <ns1:solidFill>
                      <ns1:srgbClr val="FFFFFF"/>
                    </ns1:solidFill>
                  </ns1:tcPr>
                </ns1:tc>
              </ns1:tr>
              <ns1:tr h="357188">
                <ns1:tc>
                  <ns1:txBody>
                    <ns1:bodyPr/>
                    <ns1:lstStyle/>
                    <ns1:p>
                      <ns1:r>
                        <ns1:rPr sz="1350" b="0">
                          <ns1:solidFill>
                            <ns1:srgbClr val="1F2A37"/>
                          </ns1:solidFill>
                          <ns1:latin typeface="Arial"/>
                          <ns1:ea typeface="Arial"/>
                          <ns1:cs typeface="Arial"/>
                        </ns1:rPr>
                        <ns1:t>Transformer</ns1:t>
                      </ns1:r>
                    </ns1:p>
                  </ns1:txBody>
                  <ns1:tcPr marL="91440" marR="91440" marT="45720" marB="45720">
                    <ns1:solidFill>
                      <ns1:srgbClr val="EEF3F8"/>
                    </ns1:solidFill>
                  </ns1:tcPr>
                </ns1:tc>
                <ns1:tc>
                  <ns1:txBody>
                    <ns1:bodyPr/>
                    <ns1:lstStyle/>
                    <ns1:p>
                      <ns1:r>
                        <ns1:rPr sz="1350" b="0">
                          <ns1:solidFill>
                            <ns1:srgbClr val="1F2A37"/>
                          </ns1:solidFill>
                          <ns1:latin typeface="Arial"/>
                          <ns1:ea typeface="Arial"/>
                          <ns1:cs typeface="Arial"/>
                        </ns1:rPr>
                        <ns1:t>0.304</ns1:t>
                      </ns1:r>
                    </ns1:p>
                  </ns1:txBody>
                  <ns1:tcPr marL="91440" marR="91440" marT="45720" marB="45720">
                    <ns1:solidFill>
                      <ns1:srgbClr val="EEF3F8"/>
                    </ns1:solidFill>
                  </ns1:tcPr>
                </ns1:tc>
                <ns1:tc>
                  <ns1:txBody>
                    <ns1:bodyPr/>
                    <ns1:lstStyle/>
                    <ns1:p>
                      <ns1:r>
                        <ns1:rPr sz="1350" b="0">
                          <ns1:solidFill>
                            <ns1:srgbClr val="1F2A37"/>
                          </ns1:solidFill>
                          <ns1:latin typeface="Arial"/>
                          <ns1:ea typeface="Arial"/>
                          <ns1:cs typeface="Arial"/>
                        </ns1:rPr>
                        <ns1:t>1.467</ns1:t>
                      </ns1:r>
                    </ns1:p>
                  </ns1:txBody>
                  <ns1:tcPr marL="91440" marR="91440" marT="45720" marB="45720">
                    <ns1:solidFill>
                      <ns1:srgbClr val="EEF3F8"/>
                    </ns1:solidFill>
                  </ns1:tcPr>
                </ns1:tc>
                <ns1:tc>
                  <ns1:txBody>
                    <ns1:bodyPr/>
                    <ns1:lstStyle/>
                    <ns1:p>
                      <ns1:r>
                        <ns1:rPr sz="1350" b="0">
                          <ns1:solidFill>
                            <ns1:srgbClr val="1F2A37"/>
                          </ns1:solidFill>
                          <ns1:latin typeface="Arial"/>
                          <ns1:ea typeface="Arial"/>
                          <ns1:cs typeface="Arial"/>
                        </ns1:rPr>
                        <ns1:t>-0.071</ns1:t>
                      </ns1:r>
                    </ns1:p>
                  </ns1:txBody>
                  <ns1:tcPr marL="91440" marR="91440" marT="45720" marB="45720">
                    <ns1:solidFill>
                      <ns1:srgbClr val="EEF3F8"/>
                    </ns1:solidFill>
                  </ns1:tcPr>
                </ns1:tc>
              </ns1:tr>
            </ns1:tbl>
          </ns1:graphicData>
        </ns1:graphic>
      </ns0:graphicFrame>
      <ns0:sp>
        <ns0:nvSpPr>
          <ns0:cNvPr id="10" name="">
            <ns1:extLst>
              <ns1:ext uri="{FF2B5EF4-FFF2-40B4-BE49-F238E27FC236}">
                <ns2:creationId id="{2D71A795-EF2B-42B6-AADF-2D6FEAFA5BB0}"/>
              </ns1:ext>
            </ns1:extLst>
          </ns0:cNvPr>
          <ns0:cNvSpPr>
            <ns1:spLocks noGrp="1"/>
          </ns0:cNvSpPr>
          <ns0:nvPr/>
        </ns0:nvSpPr>
        <ns0:spPr>
          <ns1:xfrm>
            <ns1:off x="419100" y="4257675"/>
            <ns1:ext cx="8286750" cy="457200"/>
          </ns1:xfrm>
          <ns1:prstGeom prst="rect">
            <ns1:avLst/>
          </ns1:prstGeom>
          <ns1:noFill/>
          <ns1:ln w="0">
            <ns1:noFill/>
          </ns1:ln>
        </ns0:spPr>
        <ns0:txBody>
          <ns1:bodyPr>
            <ns1:noAutofit/>
          </ns1:bodyPr>
          <ns1:lstStyle/>
          <ns1:p>
            <ns1:pPr marL="152400" indent="-88900">
              <ns1:spcAft>
                <ns1:spcPts val="200"/>
              </ns1:spcAft>
              <ns1:buChar char="•"/>
              <ns1:defRPr sz="1275" b="1">
                <ns1:solidFill>
                  <ns1:srgbClr val="003262"/>
                </ns1:solidFill>
                <ns1:latin typeface="Arial"/>
                <ns1:ea typeface="Arial"/>
                <ns1:cs typeface="Arial"/>
              </ns1:defRPr>
            </ns1:pPr>
            <ns1:r>
              <ns1:rPr sz="1275" b="1">
                <ns1:solidFill>
                  <ns1:srgbClr val="003262"/>
                </ns1:solidFill>
                <ns1:latin typeface="Arial"/>
                <ns1:ea typeface="Arial"/>
                <ns1:cs typeface="Arial"/>
              </ns1:rPr>
              <ns1:t>Overall, rolling and recession columns answer different questions and use different units.</ns1:t>
            </ns1:r>
          </ns1:p>
          <ns1:p>
            <ns1:pPr marL="152400" indent="-88900">
              <ns1:spcAft>
                <ns1:spcPts val="200"/>
              </ns1:spcAft>
              <ns1:buChar char="•"/>
              <ns1:defRPr sz="1275" b="1">
                <ns1:solidFill>
                  <ns1:srgbClr val="003262"/>
                </ns1:solidFill>
                <ns1:latin typeface="Arial"/>
                <ns1:ea typeface="Arial"/>
                <ns1:cs typeface="Arial"/>
              </ns1:defRPr>
            </ns1:pPr>
            <ns1:r>
              <ns1:rPr sz="1275" b="1">
                <ns1:solidFill>
                  <ns1:srgbClr val="003262"/>
                </ns1:solidFill>
                <ns1:latin typeface="Arial"/>
                <ns1:ea typeface="Arial"/>
                <ns1:cs typeface="Arial"/>
              </ns1:rPr>
              <ns1:t>Replication leads local test Sharpe at 0.612. Feedforward leads recessions at 0.570.</ns1:t>
            </ns1:r>
          </ns1:p>
        </ns0:txBody>
      </ns0:sp>
    </ns0:spTree>
    <ns0:extLst>
      <ns0:ext uri="{BB962C8B-B14F-4D97-AF65-F5344CB8AC3E}">
        <ns3:creationId val="561633589"/>
      </ns0:ext>
    </ns0:extLst>
  </ns0:cSld>
</ns0:sld>
</file>

<file path=ppt/slides/slide19.xml><?xml version="1.0" encoding="utf-8"?>
<ns0:sld xmlns:ns0="http://schemas.openxmlformats.org/presentationml/2006/main" xmlns:ns1="http://schemas.openxmlformats.org/drawingml/2006/main" xmlns:ns2="http://schemas.microsoft.com/office/drawing/2014/main" xmlns:ns3="http://schemas.microsoft.com/office/powerpoint/2010/main">
  <ns0:cSld>
    <ns0:bg>
      <ns0:bgPr>
        <ns1:solidFill>
          <ns1:srgbClr val="FFFFFF"/>
        </ns1:solidFill>
      </ns0:bgPr>
    </ns0:bg>
    <ns0:spTree>
      <ns0:nvGrpSpPr>
        <ns0:cNvPr id="1" name=""/>
        <ns0:cNvGrpSpPr/>
        <ns0:nvPr/>
      </ns0:nvGrpSpPr>
      <ns0:grpSpPr>
        <ns1:xfrm/>
      </ns0:grpSpPr>
      <ns0:sp>
        <ns0:nvSpPr>
          <ns0:cNvPr id="13" name="">
            <ns1:extLst>
              <ns1:ext uri="{FF2B5EF4-FFF2-40B4-BE49-F238E27FC236}">
                <ns2:creationId id="{7901E8C3-1DCC-4E85-92A6-66CC0CBFEE7A}"/>
              </ns1:ext>
            </ns1:extLst>
          </ns0:cNvPr>
          <ns0:cNvSpPr>
            <ns1:spLocks noGrp="1"/>
          </ns0:cNvSpPr>
          <ns0:nvPr/>
        </ns0:nvSpPr>
        <ns0:spPr>
          <ns1:xfrm>
            <ns1:off x="0" y="0"/>
            <ns1:ext cx="66675" cy="2381250"/>
          </ns1:xfrm>
          <ns1:prstGeom prst="rect">
            <ns1:avLst/>
          </ns1:prstGeom>
          <ns1:solidFill>
            <ns1:srgbClr val="FDB515"/>
          </ns1:solidFill>
          <ns1:ln w="0">
            <ns1:noFill/>
          </ns1:ln>
        </ns0:spPr>
      </ns0:sp>
      <ns0:sp>
        <ns0:nvSpPr>
          <ns0:cNvPr id="2" name="">
            <ns1:extLst>
              <ns1:ext uri="{FF2B5EF4-FFF2-40B4-BE49-F238E27FC236}">
                <ns2:creationId id="{3974995C-121F-414F-B645-644EDF71B691}"/>
              </ns1:ext>
            </ns1:extLst>
          </ns0:cNvPr>
          <ns0:cNvSpPr>
            <ns1:spLocks noGrp="1"/>
          </ns0:cNvSpPr>
          <ns0:nvPr/>
        </ns0:nvSpPr>
        <ns0:spPr>
          <ns1:xfrm>
            <ns1:off x="0" y="2381250"/>
            <ns1:ext cx="66675" cy="2762250"/>
          </ns1:xfrm>
          <ns1:prstGeom prst="rect">
            <ns1:avLst/>
          </ns1:prstGeom>
          <ns1:solidFill>
            <ns1:srgbClr val="003262"/>
          </ns1:solidFill>
          <ns1:ln w="0">
            <ns1:noFill/>
          </ns1:ln>
        </ns0:spPr>
      </ns0:sp>
      <ns0:sp>
        <ns0:nvSpPr>
          <ns0:cNvPr id="3" name="">
            <ns1:extLst>
              <ns1:ext uri="{FF2B5EF4-FFF2-40B4-BE49-F238E27FC236}">
                <ns2:creationId id="{F6FF864F-D740-4428-953A-32F614C80A9D}"/>
              </ns1:ext>
            </ns1:extLst>
          </ns0:cNvPr>
          <ns0:cNvSpPr>
            <ns1:spLocks noGrp="1"/>
          </ns0:cNvSpPr>
          <ns0:nvPr/>
        </ns0:nvSpPr>
        <ns0:spPr>
          <ns1:xfrm>
            <ns1:off x="342900" y="238125"/>
            <ns1:ext cx="8458200" cy="514350"/>
          </ns1:xfrm>
          <ns1:prstGeom prst="rect">
            <ns1:avLst/>
          </ns1:prstGeom>
          <ns1:noFill/>
          <ns1:ln w="0">
            <ns1:noFill/>
          </ns1:ln>
        </ns0:spPr>
        <ns0:txBody>
          <ns1:bodyPr>
            <ns1:noAutofit/>
          </ns1:bodyPr>
          <ns1:lstStyle/>
          <ns1:p>
            <ns1:pPr>
              <ns1:buNone/>
              <ns1:defRPr sz="2175" b="1">
                <ns1:solidFill>
                  <ns1:srgbClr val="003262"/>
                </ns1:solidFill>
                <ns1:latin typeface="Arial"/>
                <ns1:ea typeface="Arial"/>
                <ns1:cs typeface="Arial"/>
              </ns1:defRPr>
            </ns1:pPr>
            <ns1:r>
              <ns1:rPr sz="2175" b="1">
                <ns1:solidFill>
                  <ns1:srgbClr val="003262"/>
                </ns1:solidFill>
                <ns1:latin typeface="Arial"/>
                <ns1:ea typeface="Arial"/>
                <ns1:cs typeface="Arial"/>
              </ns1:rPr>
              <ns1:t>Summary: findings and next steps</ns1:t>
            </ns1:r>
          </ns1:p>
        </ns0:txBody>
      </ns0:sp>
      <ns0:sp>
        <ns0:nvSpPr>
          <ns0:cNvPr id="4" name="">
            <ns1:extLst>
              <ns1:ext uri="{FF2B5EF4-FFF2-40B4-BE49-F238E27FC236}">
                <ns2:creationId id="{6DDDBBEA-F23A-4ADB-972A-F61DC40B7068}"/>
              </ns1:ext>
            </ns1:extLst>
          </ns0:cNvPr>
          <ns0:cNvSpPr>
            <ns1:spLocks noGrp="1"/>
          </ns0:cNvSpPr>
          <ns0:nvPr/>
        </ns0:nvSpPr>
        <ns0:spPr>
          <ns1:xfrm>
            <ns1:off x="342900" y="4781550"/>
            <ns1:ext cx="7810500" cy="228600"/>
          </ns1:xfrm>
          <ns1:prstGeom prst="rect">
            <ns1:avLst/>
          </ns1:prstGeom>
          <ns1:noFill/>
          <ns1:ln w="0">
            <ns1:noFill/>
          </ns1:ln>
        </ns0:spPr>
        <ns0:txBody>
          <ns1:bodyPr>
            <ns1:noAutofit/>
          </ns1:bodyPr>
          <ns1:lstStyle/>
          <ns1:p>
            <ns1:pPr>
              <ns1:buNone/>
              <ns1:defRPr sz="900" b="0">
                <ns1:solidFill>
                  <ns1:srgbClr val="5B6770"/>
                </ns1:solidFill>
                <ns1:latin typeface="Arial"/>
                <ns1:ea typeface="Arial"/>
                <ns1:cs typeface="Arial"/>
              </ns1:defRPr>
            </ns1:pPr>
            <ns1:r>
              <ns1:rPr sz="900" b="0">
                <ns1:solidFill>
                  <ns1:srgbClr val="5B6770"/>
                </ns1:solidFill>
                <ns1:latin typeface="Arial"/>
                <ns1:ea typeface="Arial"/>
                <ns1:cs typeface="Arial"/>
              </ns1:rPr>
              <ns1:t>Part 8. Summary</ns1:t>
            </ns1:r>
          </ns1:p>
        </ns0:txBody>
      </ns0:sp>
      <ns0:sp>
        <ns0:nvSpPr>
          <ns0:cNvPr id="5" name="">
            <ns1:extLst>
              <ns1:ext uri="{FF2B5EF4-FFF2-40B4-BE49-F238E27FC236}">
                <ns2:creationId id="{73145E81-73FE-42B4-8FA2-7F83EDB23820}"/>
              </ns1:ext>
            </ns1:extLst>
          </ns0:cNvPr>
          <ns0:cNvSpPr>
            <ns1:spLocks noGrp="1"/>
          </ns0:cNvSpPr>
          <ns0:nvPr/>
        </ns0:nvSpPr>
        <ns0:spPr>
          <ns1:xfrm>
            <ns1:off x="8458200" y="4781550"/>
            <ns1:ext cx="457200" cy="228600"/>
          </ns1:xfrm>
          <ns1:prstGeom prst="rect">
            <ns1:avLst/>
          </ns1:prstGeom>
          <ns1:noFill/>
          <ns1:ln w="0">
            <ns1:noFill/>
          </ns1:ln>
        </ns0:spPr>
        <ns0:txBody>
          <ns1:bodyPr>
            <ns1:noAutofit/>
          </ns1:bodyPr>
          <ns1:lstStyle/>
          <ns1:p>
            <ns1:pPr>
              <ns1:buNone/>
              <ns1:defRPr sz="900" b="0">
                <ns1:solidFill>
                  <ns1:srgbClr val="5B6770"/>
                </ns1:solidFill>
                <ns1:latin typeface="Arial"/>
                <ns1:ea typeface="Arial"/>
                <ns1:cs typeface="Arial"/>
              </ns1:defRPr>
            </ns1:pPr>
            <ns1:r>
              <ns1:rPr sz="900" b="0">
                <ns1:solidFill>
                  <ns1:srgbClr val="5B6770"/>
                </ns1:solidFill>
                <ns1:latin typeface="Arial"/>
                <ns1:ea typeface="Arial"/>
                <ns1:cs typeface="Arial"/>
              </ns1:rPr>
              <ns1:t>19</ns1:t>
            </ns1:r>
          </ns1:p>
        </ns0:txBody>
      </ns0:sp>
      <ns0:sp>
        <ns0:nvSpPr>
          <ns0:cNvPr id="6" name="">
            <ns1:extLst>
              <ns1:ext uri="{FF2B5EF4-FFF2-40B4-BE49-F238E27FC236}">
                <ns2:creationId id="{2BF1B0E0-CB9C-4205-84CE-FADFDA20B85D}"/>
              </ns1:ext>
            </ns1:extLst>
          </ns0:cNvPr>
          <ns0:cNvSpPr>
            <ns1:spLocks noGrp="1"/>
          </ns0:cNvSpPr>
          <ns0:nvPr/>
        </ns0:nvSpPr>
        <ns0:spPr>
          <ns1:xfrm>
            <ns1:off x="400050" y="1000125"/>
            <ns1:ext cx="8096250" cy="295275"/>
          </ns1:xfrm>
          <ns1:prstGeom prst="rect">
            <ns1:avLst/>
          </ns1:prstGeom>
          <ns1:noFill/>
          <ns1:ln w="0">
            <ns1:noFill/>
          </ns1:ln>
        </ns0:spPr>
        <ns0:txBody>
          <ns1:bodyPr>
            <ns1:noAutofit/>
          </ns1:bodyPr>
          <ns1:lstStyle/>
          <ns1:p>
            <ns1:pPr>
              <ns1:buNone/>
              <ns1:defRPr sz="1800" b="1">
                <ns1:solidFill>
                  <ns1:srgbClr val="003262"/>
                </ns1:solidFill>
                <ns1:latin typeface="Arial"/>
                <ns1:ea typeface="Arial"/>
                <ns1:cs typeface="Arial"/>
              </ns1:defRPr>
            </ns1:pPr>
            <ns1:r>
              <ns1:rPr sz="1800" b="1">
                <ns1:solidFill>
                  <ns1:srgbClr val="003262"/>
                </ns1:solidFill>
                <ns1:latin typeface="Arial"/>
                <ns1:ea typeface="Arial"/>
                <ns1:cs typeface="Arial"/>
              </ns1:rPr>
              <ns1:t>What we add</ns1:t>
            </ns1:r>
          </ns1:p>
        </ns0:txBody>
      </ns0:sp>
      <ns0:sp>
        <ns0:nvSpPr>
          <ns0:cNvPr id="7" name="">
            <ns1:extLst>
              <ns1:ext uri="{FF2B5EF4-FFF2-40B4-BE49-F238E27FC236}">
                <ns2:creationId id="{6A78B5E2-A11D-40F2-B58B-7C3EE8B62B11}"/>
              </ns1:ext>
            </ns1:extLst>
          </ns0:cNvPr>
          <ns0:cNvSpPr>
            <ns1:spLocks noGrp="1"/>
          </ns0:cNvSpPr>
          <ns0:nvPr/>
        </ns0:nvSpPr>
        <ns0:spPr>
          <ns1:xfrm>
            <ns1:off x="400050" y="1352550"/>
            <ns1:ext cx="8096250" cy="628650"/>
          </ns1:xfrm>
          <ns1:prstGeom prst="rect">
            <ns1:avLst/>
          </ns1:prstGeom>
          <ns1:noFill/>
          <ns1:ln w="0">
            <ns1:noFill/>
          </ns1:ln>
        </ns0:spPr>
        <ns0:txBody>
          <ns1:bodyPr>
            <ns1:noAutofit/>
          </ns1:bodyPr>
          <ns1:lstStyle/>
          <ns1:p>
            <ns1:pPr>
              <ns1:buNone/>
              <ns1:defRPr sz="1575" b="0">
                <ns1:solidFill>
                  <ns1:srgbClr val="1F2A37"/>
                </ns1:solidFill>
                <ns1:latin typeface="Arial"/>
                <ns1:ea typeface="Arial"/>
                <ns1:cs typeface="Arial"/>
              </ns1:defRPr>
            </ns1:pPr>
            <ns1:r>
              <ns1:rPr sz="1575" b="0">
                <ns1:solidFill>
                  <ns1:srgbClr val="1F2A37"/>
                </ns1:solidFill>
                <ns1:latin typeface="Arial"/>
                <ns1:ea typeface="Arial"/>
                <ns1:cs typeface="Arial"/>
              </ns1:rPr>
              <ns1:t>A common-budget encoder comparison, rolling and regime evaluation, a fixed combination, and paired uncertainty.</ns1:t>
            </ns1:r>
          </ns1:p>
        </ns0:txBody>
      </ns0:sp>
      <ns0:sp>
        <ns0:nvSpPr>
          <ns0:cNvPr id="8" name="">
            <ns1:extLst>
              <ns1:ext uri="{FF2B5EF4-FFF2-40B4-BE49-F238E27FC236}">
                <ns2:creationId id="{CDCA378D-6329-481B-A219-8273096AF7CE}"/>
              </ns1:ext>
            </ns1:extLst>
          </ns0:cNvPr>
          <ns0:cNvSpPr>
            <ns1:spLocks noGrp="1"/>
          </ns0:cNvSpPr>
          <ns0:nvPr/>
        </ns0:nvSpPr>
        <ns0:spPr>
          <ns1:xfrm>
            <ns1:off x="400050" y="2066925"/>
            <ns1:ext cx="8096250" cy="295275"/>
          </ns1:xfrm>
          <ns1:prstGeom prst="rect">
            <ns1:avLst/>
          </ns1:prstGeom>
          <ns1:noFill/>
          <ns1:ln w="0">
            <ns1:noFill/>
          </ns1:ln>
        </ns0:spPr>
        <ns0:txBody>
          <ns1:bodyPr>
            <ns1:noAutofit/>
          </ns1:bodyPr>
          <ns1:lstStyle/>
          <ns1:p>
            <ns1:pPr>
              <ns1:buNone/>
              <ns1:defRPr sz="1800" b="1">
                <ns1:solidFill>
                  <ns1:srgbClr val="003262"/>
                </ns1:solidFill>
                <ns1:latin typeface="Arial"/>
                <ns1:ea typeface="Arial"/>
                <ns1:cs typeface="Arial"/>
              </ns1:defRPr>
            </ns1:pPr>
            <ns1:r>
              <ns1:rPr sz="1800" b="1">
                <ns1:solidFill>
                  <ns1:srgbClr val="003262"/>
                </ns1:solidFill>
                <ns1:latin typeface="Arial"/>
                <ns1:ea typeface="Arial"/>
                <ns1:cs typeface="Arial"/>
              </ns1:rPr>
              <ns1:t>What the evidence supports</ns1:t>
            </ns1:r>
          </ns1:p>
        </ns0:txBody>
      </ns0:sp>
      <ns0:sp>
        <ns0:nvSpPr>
          <ns0:cNvPr id="9" name="">
            <ns1:extLst>
              <ns1:ext uri="{FF2B5EF4-FFF2-40B4-BE49-F238E27FC236}">
                <ns2:creationId id="{B114AB3E-811C-4B4C-9233-EB852CC9840B}"/>
              </ns1:ext>
            </ns1:extLst>
          </ns0:cNvPr>
          <ns0:cNvSpPr>
            <ns1:spLocks noGrp="1"/>
          </ns0:cNvSpPr>
          <ns0:nvPr/>
        </ns0:nvSpPr>
        <ns0:spPr>
          <ns1:xfrm>
            <ns1:off x="400050" y="2419350"/>
            <ns1:ext cx="8096250" cy="628650"/>
          </ns1:xfrm>
          <ns1:prstGeom prst="rect">
            <ns1:avLst/>
          </ns1:prstGeom>
          <ns1:noFill/>
          <ns1:ln w="0">
            <ns1:noFill/>
          </ns1:ln>
        </ns0:spPr>
        <ns0:txBody>
          <ns1:bodyPr>
            <ns1:noAutofit/>
          </ns1:bodyPr>
          <ns1:lstStyle/>
          <ns1:p>
            <ns1:pPr>
              <ns1:buNone/>
              <ns1:defRPr sz="1575" b="0">
                <ns1:solidFill>
                  <ns1:srgbClr val="1F2A37"/>
                </ns1:solidFill>
                <ns1:latin typeface="Arial"/>
                <ns1:ea typeface="Arial"/>
                <ns1:cs typeface="Arial"/>
              </ns1:defRPr>
            </ns1:pPr>
            <ns1:r>
              <ns1:rPr sz="1575" b="0">
                <ns1:solidFill>
                  <ns1:srgbClr val="1F2A37"/>
                </ns1:solidFill>
                <ns1:latin typeface="Arial"/>
                <ns1:ea typeface="Arial"/>
                <ns1:cs typeface="Arial"/>
              </ns1:rPr>
              <ns1:t>LSTM has higher observed test Sharpe. Bootstrap intervals leave its advantage over Transformer unresolved.</ns1:t>
            </ns1:r>
          </ns1:p>
        </ns0:txBody>
      </ns0:sp>
      <ns0:sp>
        <ns0:nvSpPr>
          <ns0:cNvPr id="10" name="">
            <ns1:extLst>
              <ns1:ext uri="{FF2B5EF4-FFF2-40B4-BE49-F238E27FC236}">
                <ns2:creationId id="{23138FAA-5FB2-4EA1-A541-B08A503D5A01}"/>
              </ns1:ext>
            </ns1:extLst>
          </ns0:cNvPr>
          <ns0:cNvSpPr>
            <ns1:spLocks noGrp="1"/>
          </ns0:cNvSpPr>
          <ns0:nvPr/>
        </ns0:nvSpPr>
        <ns0:spPr>
          <ns1:xfrm>
            <ns1:off x="400050" y="3133725"/>
            <ns1:ext cx="8096250" cy="295275"/>
          </ns1:xfrm>
          <ns1:prstGeom prst="rect">
            <ns1:avLst/>
          </ns1:prstGeom>
          <ns1:noFill/>
          <ns1:ln w="0">
            <ns1:noFill/>
          </ns1:ln>
        </ns0:spPr>
        <ns0:txBody>
          <ns1:bodyPr>
            <ns1:noAutofit/>
          </ns1:bodyPr>
          <ns1:lstStyle/>
          <ns1:p>
            <ns1:pPr>
              <ns1:buNone/>
              <ns1:defRPr sz="1800" b="1">
                <ns1:solidFill>
                  <ns1:srgbClr val="003262"/>
                </ns1:solidFill>
                <ns1:latin typeface="Arial"/>
                <ns1:ea typeface="Arial"/>
                <ns1:cs typeface="Arial"/>
              </ns1:defRPr>
            </ns1:pPr>
            <ns1:r>
              <ns1:rPr sz="1800" b="1">
                <ns1:solidFill>
                  <ns1:srgbClr val="003262"/>
                </ns1:solidFill>
                <ns1:latin typeface="Arial"/>
                <ns1:ea typeface="Arial"/>
                <ns1:cs typeface="Arial"/>
              </ns1:rPr>
              <ns1:t>What remains open</ns1:t>
            </ns1:r>
          </ns1:p>
        </ns0:txBody>
      </ns0:sp>
      <ns0:sp>
        <ns0:nvSpPr>
          <ns0:cNvPr id="11" name="">
            <ns1:extLst>
              <ns1:ext uri="{FF2B5EF4-FFF2-40B4-BE49-F238E27FC236}">
                <ns2:creationId id="{975CC6A3-F469-4177-8B8E-F3299805EBF6}"/>
              </ns1:ext>
            </ns1:extLst>
          </ns0:cNvPr>
          <ns0:cNvSpPr>
            <ns1:spLocks noGrp="1"/>
          </ns0:cNvSpPr>
          <ns0:nvPr/>
        </ns0:nvSpPr>
        <ns0:spPr>
          <ns1:xfrm>
            <ns1:off x="400050" y="3486150"/>
            <ns1:ext cx="8096250" cy="628650"/>
          </ns1:xfrm>
          <ns1:prstGeom prst="rect">
            <ns1:avLst/>
          </ns1:prstGeom>
          <ns1:noFill/>
          <ns1:ln w="0">
            <ns1:noFill/>
          </ns1:ln>
        </ns0:spPr>
        <ns0:txBody>
          <ns1:bodyPr>
            <ns1:noAutofit/>
          </ns1:bodyPr>
          <ns1:lstStyle/>
          <ns1:p>
            <ns1:pPr>
              <ns1:buNone/>
              <ns1:defRPr sz="1575" b="0">
                <ns1:solidFill>
                  <ns1:srgbClr val="1F2A37"/>
                </ns1:solidFill>
                <ns1:latin typeface="Arial"/>
                <ns1:ea typeface="Arial"/>
                <ns1:cs typeface="Arial"/>
              </ns1:defRPr>
            </ns1:pPr>
            <ns1:r>
              <ns1:rPr sz="1575" b="0">
                <ns1:solidFill>
                  <ns1:srgbClr val="1F2A37"/>
                </ns1:solidFill>
                <ns1:latin typeface="Arial"/>
                <ns1:ea typeface="Arial"/>
                <ns1:cs typeface="Arial"/>
              </ns1:rPr>
              <ns1:t>Full author-schedule GPU training, a new holdout, transaction costs and uncertainty across training runs.</ns1:t>
            </ns1:r>
          </ns1:p>
        </ns0:txBody>
      </ns0:sp>
      <ns0:sp>
        <ns0:nvSpPr>
          <ns0:cNvPr id="14" name="">
            <ns1:extLst>
              <ns1:ext uri="{FF2B5EF4-FFF2-40B4-BE49-F238E27FC236}">
                <ns2:creationId id="{5A98A400-C1B1-4D9D-993B-B07123F1EF67}"/>
              </ns1:ext>
            </ns1:extLst>
          </ns0:cNvPr>
          <ns0:cNvSpPr>
            <ns1:spLocks noGrp="1"/>
          </ns0:cNvSpPr>
          <ns0:nvPr/>
        </ns0:nvSpPr>
        <ns0:spPr>
          <ns1:xfrm>
            <ns1:off x="419100" y="4257675"/>
            <ns1:ext cx="8286750" cy="457200"/>
          </ns1:xfrm>
          <ns1:prstGeom prst="rect">
            <ns1:avLst/>
          </ns1:prstGeom>
          <ns1:noFill/>
          <ns1:ln w="0">
            <ns1:noFill/>
          </ns1:ln>
        </ns0:spPr>
        <ns0:txBody>
          <ns1:bodyPr>
            <ns1:noAutofit/>
          </ns1:bodyPr>
          <ns1:lstStyle/>
          <ns1:p>
            <ns1:pPr marL="152400" indent="-88900">
              <ns1:spcAft>
                <ns1:spcPts val="200"/>
              </ns1:spcAft>
              <ns1:buChar char="•"/>
              <ns1:defRPr sz="1275" b="1">
                <ns1:solidFill>
                  <ns1:srgbClr val="003262"/>
                </ns1:solidFill>
                <ns1:latin typeface="Arial"/>
                <ns1:ea typeface="Arial"/>
                <ns1:cs typeface="Arial"/>
              </ns1:defRPr>
            </ns1:pPr>
            <ns1:r>
              <ns1:rPr sz="1275" b="1">
                <ns1:solidFill>
                  <ns1:srgbClr val="003262"/>
                </ns1:solidFill>
                <ns1:latin typeface="Arial"/>
                <ns1:ea typeface="Arial"/>
                <ns1:cs typeface="Arial"/>
              </ns1:rPr>
              <ns1:t>Our contribution combines architecture, rolling, regime and uncertainty evaluation.</ns1:t>
            </ns1:r>
          </ns1:p>
          <ns1:p>
            <ns1:pPr marL="152400" indent="-88900">
              <ns1:spcAft>
                <ns1:spcPts val="200"/>
              </ns1:spcAft>
              <ns1:buChar char="•"/>
              <ns1:defRPr sz="1275" b="1">
                <ns1:solidFill>
                  <ns1:srgbClr val="003262"/>
                </ns1:solidFill>
                <ns1:latin typeface="Arial"/>
                <ns1:ea typeface="Arial"/>
                <ns1:cs typeface="Arial"/>
              </ns1:defRPr>
            </ns1:pPr>
            <ns1:r>
              <ns1:rPr sz="1275" b="1">
                <ns1:solidFill>
                  <ns1:srgbClr val="003262"/>
                </ns1:solidFill>
                <ns1:latin typeface="Arial"/>
                <ns1:ea typeface="Arial"/>
                <ns1:cs typeface="Arial"/>
              </ns1:rPr>
              <ns1:t>Higher point estimates still need uncertainty checks and a new holdout.</ns1:t>
            </ns1:r>
          </ns1:p>
        </ns0:txBody>
      </ns0:sp>
    </ns0:spTree>
    <ns0:extLst>
      <ns0:ext uri="{BB962C8B-B14F-4D97-AF65-F5344CB8AC3E}">
        <ns3:creationId val="111821271"/>
      </ns0:ext>
    </ns0:extLst>
  </ns0:cSld>
</ns0: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2026-10-07T00:37:17.8820000Z</dcterms:created>
  <dcterms:modified xsi:type="dcterms:W3CDTF">2026-10-07T00:37:17.8820000Z</dcterms:modified>
</coreProperties>
</file>