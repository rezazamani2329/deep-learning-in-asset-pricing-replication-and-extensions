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8746861c274531" /><Relationship Type="http://schemas.openxmlformats.org/officeDocument/2006/relationships/extended-properties" Target="/docProps/app.xml" Id="R7722444d4f694ac3" /><Relationship Type="http://schemas.openxmlformats.org/officeDocument/2006/relationships/officeDocument" Target="/ppt/presentation.xml" Id="R6008fa83e5244401" /></Relationships>
</file>

<file path=ppt/presentation.xml><?xml version="1.0" encoding="utf-8"?>
<p:presentation xmlns:p="http://schemas.openxmlformats.org/presentationml/2006/main">
  <p:sldMasterIdLst>
    <p:sldMasterId xmlns:r="http://schemas.openxmlformats.org/officeDocument/2006/relationships" id="2147483648" r:id="R6c29ef5908dc4555"/>
  </p:sldMasterIdLst>
  <p:notesMasterIdLst>
    <p:notesMasterId xmlns:r="http://schemas.openxmlformats.org/officeDocument/2006/relationships" r:id="R4f27e9833a994a0c"/>
  </p:notesMasterIdLst>
  <p:sldIdLst>
    <p:sldId xmlns:r="http://schemas.openxmlformats.org/officeDocument/2006/relationships" id="256" r:id="R84a4d3a32fb54dec"/>
    <p:sldId xmlns:r="http://schemas.openxmlformats.org/officeDocument/2006/relationships" id="257" r:id="R0fb816c6d8bd498e"/>
    <p:sldId xmlns:r="http://schemas.openxmlformats.org/officeDocument/2006/relationships" id="258" r:id="R89179bcd23084b8e"/>
    <p:sldId xmlns:r="http://schemas.openxmlformats.org/officeDocument/2006/relationships" id="259" r:id="R1d75ac22a8034971"/>
    <p:sldId xmlns:r="http://schemas.openxmlformats.org/officeDocument/2006/relationships" id="260" r:id="R3cd098ca9a3c4b16"/>
    <p:sldId xmlns:r="http://schemas.openxmlformats.org/officeDocument/2006/relationships" id="261" r:id="R857776e395a54979"/>
    <p:sldId xmlns:r="http://schemas.openxmlformats.org/officeDocument/2006/relationships" id="262" r:id="Rd3ed87b6f5ec4938"/>
    <p:sldId xmlns:r="http://schemas.openxmlformats.org/officeDocument/2006/relationships" id="263" r:id="Raf9216393b7c4da8"/>
    <p:sldId xmlns:r="http://schemas.openxmlformats.org/officeDocument/2006/relationships" id="264" r:id="Rf63cf16fd69b4437"/>
    <p:sldId xmlns:r="http://schemas.openxmlformats.org/officeDocument/2006/relationships" id="265" r:id="R457159cc91024596"/>
    <p:sldId xmlns:r="http://schemas.openxmlformats.org/officeDocument/2006/relationships" id="266" r:id="R03ee598d02f24443"/>
    <p:sldId xmlns:r="http://schemas.openxmlformats.org/officeDocument/2006/relationships" id="267" r:id="Rcfc1d0a1299740a7"/>
    <p:sldId xmlns:r="http://schemas.openxmlformats.org/officeDocument/2006/relationships" id="268" r:id="Ra4857458df1d46ac"/>
    <p:sldId xmlns:r="http://schemas.openxmlformats.org/officeDocument/2006/relationships" id="269" r:id="Rff7a3be69ffa4382"/>
    <p:sldId xmlns:r="http://schemas.openxmlformats.org/officeDocument/2006/relationships" id="270" r:id="Rd390227ee7504742"/>
    <p:sldId xmlns:r="http://schemas.openxmlformats.org/officeDocument/2006/relationships" id="271" r:id="R7a128dc41119440d"/>
    <p:sldId xmlns:r="http://schemas.openxmlformats.org/officeDocument/2006/relationships" id="272" r:id="Rb0d71323c2664f72"/>
    <p:sldId xmlns:r="http://schemas.openxmlformats.org/officeDocument/2006/relationships" id="273" r:id="Re0829d912ac2458f"/>
    <p:sldId xmlns:r="http://schemas.openxmlformats.org/officeDocument/2006/relationships" id="274" r:id="Rb10ea8cda6e94460"/>
    <p:sldId xmlns:r="http://schemas.openxmlformats.org/officeDocument/2006/relationships" id="275" r:id="R1f542b2786fc409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d69dd2bf344853" /><Relationship Type="http://schemas.openxmlformats.org/officeDocument/2006/relationships/slideMaster" Target="/ppt/slideMasters/slideMaster1.xml" Id="R6c29ef5908dc4555" /><Relationship Type="http://schemas.openxmlformats.org/officeDocument/2006/relationships/notesMaster" Target="/ppt/notesMasters/notesMaster1.xml" Id="R4f27e9833a994a0c" /><Relationship Type="http://schemas.openxmlformats.org/officeDocument/2006/relationships/presProps" Target="/ppt/presProps.xml" Id="Rb29c6d2463b54695" /><Relationship Type="http://schemas.openxmlformats.org/officeDocument/2006/relationships/tableStyles" Target="/ppt/tableStyles.xml" Id="R44796c1719734af6" /><Relationship Type="http://schemas.openxmlformats.org/officeDocument/2006/relationships/slide" Target="/ppt/slides/slide1.xml" Id="R84a4d3a32fb54dec" /><Relationship Type="http://schemas.openxmlformats.org/officeDocument/2006/relationships/slide" Target="/ppt/slides/slide2.xml" Id="R0fb816c6d8bd498e" /><Relationship Type="http://schemas.openxmlformats.org/officeDocument/2006/relationships/slide" Target="/ppt/slides/slide3.xml" Id="R89179bcd23084b8e" /><Relationship Type="http://schemas.openxmlformats.org/officeDocument/2006/relationships/slide" Target="/ppt/slides/slide4.xml" Id="R1d75ac22a8034971" /><Relationship Type="http://schemas.openxmlformats.org/officeDocument/2006/relationships/slide" Target="/ppt/slides/slide5.xml" Id="R3cd098ca9a3c4b16" /><Relationship Type="http://schemas.openxmlformats.org/officeDocument/2006/relationships/slide" Target="/ppt/slides/slide6.xml" Id="R857776e395a54979" /><Relationship Type="http://schemas.openxmlformats.org/officeDocument/2006/relationships/slide" Target="/ppt/slides/slide7.xml" Id="Rd3ed87b6f5ec4938" /><Relationship Type="http://schemas.openxmlformats.org/officeDocument/2006/relationships/slide" Target="/ppt/slides/slide8.xml" Id="Raf9216393b7c4da8" /><Relationship Type="http://schemas.openxmlformats.org/officeDocument/2006/relationships/slide" Target="/ppt/slides/slide9.xml" Id="Rf63cf16fd69b4437" /><Relationship Type="http://schemas.openxmlformats.org/officeDocument/2006/relationships/slide" Target="/ppt/slides/slide10.xml" Id="R457159cc91024596" /><Relationship Type="http://schemas.openxmlformats.org/officeDocument/2006/relationships/slide" Target="/ppt/slides/slide11.xml" Id="R03ee598d02f24443" /><Relationship Type="http://schemas.openxmlformats.org/officeDocument/2006/relationships/slide" Target="/ppt/slides/slide12.xml" Id="Rcfc1d0a1299740a7" /><Relationship Type="http://schemas.openxmlformats.org/officeDocument/2006/relationships/slide" Target="/ppt/slides/slide13.xml" Id="Ra4857458df1d46ac" /><Relationship Type="http://schemas.openxmlformats.org/officeDocument/2006/relationships/slide" Target="/ppt/slides/slide14.xml" Id="Rff7a3be69ffa4382" /><Relationship Type="http://schemas.openxmlformats.org/officeDocument/2006/relationships/slide" Target="/ppt/slides/slide15.xml" Id="Rd390227ee7504742" /><Relationship Type="http://schemas.openxmlformats.org/officeDocument/2006/relationships/slide" Target="/ppt/slides/slide16.xml" Id="R7a128dc41119440d" /><Relationship Type="http://schemas.openxmlformats.org/officeDocument/2006/relationships/slide" Target="/ppt/slides/slide17.xml" Id="Rb0d71323c2664f72" /><Relationship Type="http://schemas.openxmlformats.org/officeDocument/2006/relationships/slide" Target="/ppt/slides/slide18.xml" Id="Re0829d912ac2458f" /><Relationship Type="http://schemas.openxmlformats.org/officeDocument/2006/relationships/slide" Target="/ppt/slides/slide19.xml" Id="Rb10ea8cda6e94460" /><Relationship Type="http://schemas.openxmlformats.org/officeDocument/2006/relationships/slide" Target="/ppt/slides/slide20.xml" Id="R1f542b2786fc40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efb387d79442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267878e6894296" /><Relationship Type="http://schemas.openxmlformats.org/officeDocument/2006/relationships/notesMaster" Target="/ppt/notesMasters/notesMaster1.xml" Id="Rf18399af2a3145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e6b763cc90412f" /><Relationship Type="http://schemas.openxmlformats.org/officeDocument/2006/relationships/notesMaster" Target="/ppt/notesMasters/notesMaster1.xml" Id="R3c854eeb44644b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cd7f8f286a4416" /><Relationship Type="http://schemas.openxmlformats.org/officeDocument/2006/relationships/notesMaster" Target="/ppt/notesMasters/notesMaster1.xml" Id="R04b97b26250c41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8356b997fe49f0" /><Relationship Type="http://schemas.openxmlformats.org/officeDocument/2006/relationships/notesMaster" Target="/ppt/notesMasters/notesMaster1.xml" Id="R0ddeba6643114e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6227c758c545ac" /><Relationship Type="http://schemas.openxmlformats.org/officeDocument/2006/relationships/notesMaster" Target="/ppt/notesMasters/notesMaster1.xml" Id="R85b1615ae0ad46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41281de347445d" /><Relationship Type="http://schemas.openxmlformats.org/officeDocument/2006/relationships/notesMaster" Target="/ppt/notesMasters/notesMaster1.xml" Id="R89ebad74be2d40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4f67c25e7946a2" /><Relationship Type="http://schemas.openxmlformats.org/officeDocument/2006/relationships/notesMaster" Target="/ppt/notesMasters/notesMaster1.xml" Id="R4b389d65f86e46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ca99dfa78e4425" /><Relationship Type="http://schemas.openxmlformats.org/officeDocument/2006/relationships/notesMaster" Target="/ppt/notesMasters/notesMaster1.xml" Id="Rbe5287d63efc47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b20ba5aa864efb" /><Relationship Type="http://schemas.openxmlformats.org/officeDocument/2006/relationships/notesMaster" Target="/ppt/notesMasters/notesMaster1.xml" Id="Ra0c32e19292c4e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289818f56e4f28" /><Relationship Type="http://schemas.openxmlformats.org/officeDocument/2006/relationships/notesMaster" Target="/ppt/notesMasters/notesMaster1.xml" Id="R3f1bc99355374b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bc288174994314" /><Relationship Type="http://schemas.openxmlformats.org/officeDocument/2006/relationships/notesMaster" Target="/ppt/notesMasters/notesMaster1.xml" Id="Reb3a00bdc47640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928c33ee4441f8" /><Relationship Type="http://schemas.openxmlformats.org/officeDocument/2006/relationships/notesMaster" Target="/ppt/notesMasters/notesMaster1.xml" Id="R198d7782bf254a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c37842ee9b469b" /><Relationship Type="http://schemas.openxmlformats.org/officeDocument/2006/relationships/notesMaster" Target="/ppt/notesMasters/notesMaster1.xml" Id="Rc763033292c54b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cccf329cc44948" /><Relationship Type="http://schemas.openxmlformats.org/officeDocument/2006/relationships/notesMaster" Target="/ppt/notesMasters/notesMaster1.xml" Id="Rb97a3b6e538b4d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5ff3fb21cf41c0" /><Relationship Type="http://schemas.openxmlformats.org/officeDocument/2006/relationships/notesMaster" Target="/ppt/notesMasters/notesMaster1.xml" Id="Raf98b6aa2dcf4d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bec2b188af4320" /><Relationship Type="http://schemas.openxmlformats.org/officeDocument/2006/relationships/notesMaster" Target="/ppt/notesMasters/notesMaster1.xml" Id="R825595123de740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5fe87661351468c" /><Relationship Type="http://schemas.openxmlformats.org/officeDocument/2006/relationships/notesMaster" Target="/ppt/notesMasters/notesMaster1.xml" Id="R7528a5570c4c45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9251531a504a9c" /><Relationship Type="http://schemas.openxmlformats.org/officeDocument/2006/relationships/notesMaster" Target="/ppt/notesMasters/notesMaster1.xml" Id="R106e096d3c2040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92ac8ab1dd4bdb" /><Relationship Type="http://schemas.openxmlformats.org/officeDocument/2006/relationships/notesMaster" Target="/ppt/notesMasters/notesMaster1.xml" Id="Reba779e42ade406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03fd0cebad44cc" /><Relationship Type="http://schemas.openxmlformats.org/officeDocument/2006/relationships/notesMaster" Target="/ppt/notesMasters/notesMaster1.xml" Id="R19a355fafb2c4f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15 seconds.</a:t>
            </a:r>
          </a:p>
          <a:p xmlns:a="http://schemas.openxmlformats.org/drawingml/2006/main">
            <a:r>
              <a:t>Introduce the asset-pricing question and the team. This talk distinguishes the published paper, our historical replication and the matched extension experiment.</a:t>
            </a:r>
          </a:p>
          <a:p xmlns:a="http://schemas.openxmlformats.org/drawingml/2006/main">
            <a:r>
              <a:t/>
            </a:r>
          </a:p>
          <a:p xmlns:a="http://schemas.openxmlformats.org/drawingml/2006/main">
            <a:r>
              <a:t>Source notes preserved:</a:t>
            </a:r>
          </a:p>
          <a:p xmlns:a="http://schemas.openxmlformats.org/drawingml/2006/main">
            <a:r>
              <a:t>Asset Pricing with Deep Learning: Replication and Extensions. Eight sections: main paper, replication, Transformer, rolling windows, regime change, uncertainty, combination, summary. Source photograph and logo retained from the earlier presentation.</a:t>
            </a:r>
          </a:p>
          <a:p xmlns:a="http://schemas.openxmlformats.org/drawingml/2006/main">
            <a:r>
              <a:t/>
            </a:r>
          </a:p>
          <a:p xmlns:a="http://schemas.openxmlformats.org/drawingml/2006/main">
            <a:r>
              <a:t>Presenter points:</a:t>
            </a:r>
          </a:p>
          <a:p xmlns:a="http://schemas.openxmlformats.org/drawingml/2006/main">
            <a:r>
              <a:t>1. Research question: can model changes improve asset-pricing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25 seconds.</a:t>
            </a:r>
          </a:p>
          <a:p xmlns:a="http://schemas.openxmlformats.org/drawingml/2006/main">
            <a:r>
              <a:t>Give the eight-part roadmap. Four extensions cover Transformer, rolling performance, economic regimes and uncertainty. The final comparison combines these perspectives.</a:t>
            </a:r>
          </a:p>
          <a:p xmlns:a="http://schemas.openxmlformats.org/drawingml/2006/main">
            <a:r>
              <a:t/>
            </a:r>
          </a:p>
          <a:p xmlns:a="http://schemas.openxmlformats.org/drawingml/2006/main">
            <a:r>
              <a:t>Source notes preserved:</a:t>
            </a:r>
          </a:p>
          <a:p xmlns:a="http://schemas.openxmlformats.org/drawingml/2006/main">
            <a:r>
              <a:t>Four extension sections: Transformer, rolling windows, regime change, and uncertainty. The combination section compares results jointly before the summary.</a:t>
            </a:r>
          </a:p>
          <a:p xmlns:a="http://schemas.openxmlformats.org/drawingml/2006/main">
            <a:r>
              <a:t/>
            </a:r>
          </a:p>
          <a:p xmlns:a="http://schemas.openxmlformats.org/drawingml/2006/main">
            <a:r>
              <a:t>Presenter points:</a:t>
            </a:r>
          </a:p>
          <a:p xmlns:a="http://schemas.openxmlformats.org/drawingml/2006/main">
            <a:r>
              <a:t>1. Establish the published paper and replication benchmarks.</a:t>
            </a:r>
          </a:p>
          <a:p xmlns:a="http://schemas.openxmlformats.org/drawingml/2006/main">
            <a:r>
              <a:t>2. Evaluate four extensions, then compare combined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Explain that the pricing network learns a stochastic discount factor and the adversary searches for pricing errors. LSTM summarizes macroeconomic history. State the train, validation and test dates.</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Corrected the earlier slides: 46 firm characteristics, 64 hidden units, and 0.95 dropout retention (0.05 dropout probability).</a:t>
            </a:r>
          </a:p>
          <a:p xmlns:a="http://schemas.openxmlformats.org/drawingml/2006/main">
            <a:r>
              <a:t/>
            </a:r>
          </a:p>
          <a:p xmlns:a="http://schemas.openxmlformats.org/drawingml/2006/main">
            <a:r>
              <a:t>Presenter points:</a:t>
            </a:r>
          </a:p>
          <a:p xmlns:a="http://schemas.openxmlformats.org/drawingml/2006/main">
            <a:r>
              <a:t>1. The SDF network minimizes pricing errors, while an adversary exposes remaining errors.</a:t>
            </a:r>
          </a:p>
          <a:p xmlns:a="http://schemas.openxmlformats.org/drawingml/2006/main">
            <a:r>
              <a:t>2. Train 1967–86, validate 1987–91, and test 1992–2016.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State the published monthly test Sharpe of 0.750. Published results are the reference, with the model and data definitions shown here.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All numbers on this slide are monthly Table I Sharpe ratios. Annualized values multiply by square root of 12.</a:t>
            </a:r>
          </a:p>
          <a:p xmlns:a="http://schemas.openxmlformats.org/drawingml/2006/main">
            <a:r>
              <a:t/>
            </a:r>
          </a:p>
          <a:p xmlns:a="http://schemas.openxmlformats.org/drawingml/2006/main">
            <a:r>
              <a:t>Presenter points:</a:t>
            </a:r>
          </a:p>
          <a:p xmlns:a="http://schemas.openxmlformats.org/drawingml/2006/main">
            <a:r>
              <a:t>1. GAN has the highest published monthly Sharpe in every split.</a:t>
            </a:r>
          </a:p>
          <a:p xmlns:a="http://schemas.openxmlformats.org/drawingml/2006/main">
            <a:r>
              <a:t>2. Use these results as the reference benchmark for our replication and extensions.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Our replicated GAN reaches monthly test Sharpe 0.612. Distinguish this historical replication from the later extension implementation. The gap from 0.750 does not isolate one implementation choice.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Local values recomputed with population standard deviation for consistency. This changes the earlier presentation’s GAN test 0.611 to 0.612 after rounding. Source results/rolling_oos_reduced_schedule/tables/all_models_vs_paper_monthly_sharpe.csv.</a:t>
            </a:r>
          </a:p>
          <a:p xmlns:a="http://schemas.openxmlformats.org/drawingml/2006/main">
            <a:r>
              <a:t/>
            </a:r>
          </a:p>
          <a:p xmlns:a="http://schemas.openxmlformats.org/drawingml/2006/main">
            <a:r>
              <a:t>Presenter points:</a:t>
            </a:r>
          </a:p>
          <a:p xmlns:a="http://schemas.openxmlformats.org/drawingml/2006/main">
            <a:r>
              <a:t>1. Our GAN test Sharpe is 0.612, compared with the paper’s 0.750.</a:t>
            </a:r>
          </a:p>
          <a:p xmlns:a="http://schemas.openxmlformats.org/drawingml/2006/main">
            <a:r>
              <a:t>2. Similar rankings support replication, but do not imply exact numerical reproduction.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Summarize validation and common signals. Explain why reproduction checks matter before interpreting architectural extensions.</a:t>
            </a:r>
          </a:p>
          <a:p xmlns:a="http://schemas.openxmlformats.org/drawingml/2006/main">
            <a:r>
              <a:t/>
            </a:r>
          </a:p>
          <a:p xmlns:a="http://schemas.openxmlformats.org/drawingml/2006/main">
            <a:r>
              <a:t>Source notes preserved:</a:t>
            </a:r>
          </a:p>
          <a:p xmlns:a="http://schemas.openxmlformats.org/drawingml/2006/main">
            <a:r>
              <a:t>Sources: previous replication deck slides 11, 14, 15. results/tables/gan_official_sdf_comparison.csv. Fama–French benchmark values retain the earlier deck’s displayed convention.</a:t>
            </a:r>
          </a:p>
          <a:p xmlns:a="http://schemas.openxmlformats.org/drawingml/2006/main">
            <a:r>
              <a:t/>
            </a:r>
          </a:p>
          <a:p xmlns:a="http://schemas.openxmlformats.org/drawingml/2006/main">
            <a:r>
              <a:t>Presenter points:</a:t>
            </a:r>
          </a:p>
          <a:p xmlns:a="http://schemas.openxmlformats.org/drawingml/2006/main">
            <a:r>
              <a:t>1. Factor Sharpe, return correlation and leading characteristics show economic similarity.</a:t>
            </a:r>
          </a:p>
          <a:p xmlns:a="http://schemas.openxmlformats.org/drawingml/2006/main">
            <a:r>
              <a:t>2. Implementation differences can still affect the replication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Question: What changes when the macro LSTM becomes a Transformer?</a:t>
            </a:r>
          </a:p>
          <a:p xmlns:a="http://schemas.openxmlformats.org/drawingml/2006/main">
            <a:r>
              <a:t>Explain: The input is the same monthly vector of 178 macro series. A learned linear projection produces a 32-dimensional representation and sinusoidal positional information preserves sequence order. Causal self-attention allows a month to combine information from itself and earlier months, while a triangular mask blocks later observations. Multiple attention heads can learn different temporal relationships. Our implementation uses two attention layers and four heads. Output projections and tanh produce the required macro states. Two separately parameterized Transformer encoders replace the SDF macro LSTM and instrument macro LSTM, producing four and 32 states. The four pricing states join 46 firm characteristics in the pricing network. The 32 instrument states join those characteristics in the network producing eight bounded instruments. The adversarial pricing-moment objective and portfolio evaluation conventions stay common. Attention weights describe model weighting and do not prove causal economic mechanisms. The following slide tests whether this change improves observed Sharpe.</a:t>
            </a:r>
          </a:p>
          <a:p xmlns:a="http://schemas.openxmlformats.org/drawingml/2006/main">
            <a:r>
              <a:t>Source: src/models/transformer_gan_paper.py, CausalTransformerEncoder, GAN, SDFWeightNetwork and ConditionalInstrumentNetwork; notebooks/08_reduced_schedule_comparison.py.</a:t>
            </a:r>
          </a:p>
          <a:p xmlns:a="http://schemas.openxmlformats.org/drawingml/2006/main">
            <a:r>
              <a:t>Presenter points:</a:t>
            </a:r>
          </a:p>
          <a:p xmlns:a="http://schemas.openxmlformats.org/drawingml/2006/main">
            <a:r>
              <a:t>LSTM updates a recurrent memory. Attention directly weights available past months.</a:t>
            </a:r>
          </a:p>
          <a:p xmlns:a="http://schemas.openxmlformats.org/drawingml/2006/main">
            <a:r>
              <a:t>The extension changes macro encoding while retaining the asset-pricing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60 seconds.</a:t>
            </a:r>
          </a:p>
          <a:p xmlns:a="http://schemas.openxmlformats.org/drawingml/2006/main">
            <a:r>
              <a:t>Compare train, validation and test on the same schedule. Monthly test Sharpe is 0.459 for extension LSTM and 0.304 for Transformer. A newer architecture does not guarantee improvement.</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Source results/rolling_oos_reduced_schedule/tables/all_models_vs_paper_monthly_sharpe.csv. Original paper and Code 07 use different estimation procedures from the matched new pair.</a:t>
            </a:r>
          </a:p>
          <a:p xmlns:a="http://schemas.openxmlformats.org/drawingml/2006/main">
            <a:r>
              <a:t/>
            </a:r>
          </a:p>
          <a:p xmlns:a="http://schemas.openxmlformats.org/drawingml/2006/main">
            <a:r>
              <a:t>Presenter points:</a:t>
            </a:r>
          </a:p>
          <a:p xmlns:a="http://schemas.openxmlformats.org/drawingml/2006/main">
            <a:r>
              <a:t>1. Extension LSTM leads Transformer: test monthly Sharpe is 0.459 versus 0.304.</a:t>
            </a:r>
          </a:p>
          <a:p xmlns:a="http://schemas.openxmlformats.org/drawingml/2006/main">
            <a:r>
              <a:t>2. This comparison holds under our reduced budget, not the full author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 Source: results/readme/figures/rolling_sharpe.png from README. Both panels show annualized Sharpe for fixed saved portfolios, using complete 36- and 60-month rolling windows. Authors GAN corresponds to the original-paper portfolio, Code 07 GAN to our replicated GAN, New LSTM to extension LSTM, and 50/50 blend to the equal-weight LSTM–Transformer return combination. Explain how longer windows smooth fluctuations. These are evaluations of fixed models, with no rolling retraining. Overlapping windows do not provide independent evidence.</a:t>
            </a:r>
          </a:p>
          <a:p xmlns:a="http://schemas.openxmlformats.org/drawingml/2006/main">
            <a:r>
              <a:t/>
            </a:r>
          </a:p>
          <a:p xmlns:a="http://schemas.openxmlformats.org/drawingml/2006/main">
            <a:r>
              <a:t>Presenter points:</a:t>
            </a:r>
          </a:p>
          <a:p xmlns:a="http://schemas.openxmlformats.org/drawingml/2006/main">
            <a:r>
              <a:t>1. Curves show annualized Sharpe over the previous 36 or 60 months.</a:t>
            </a:r>
          </a:p>
          <a:p xmlns:a="http://schemas.openxmlformats.org/drawingml/2006/main">
            <a:r>
              <a:t>2. Longer windows smooth fluctuations. These fixed models are not retrained.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 Source: results/bootstrap_uncertainty/figures/rolling_difference_uncertainty.png. Annualized paired rolling differences, pointwise 95% basic intervals, six-month blocks and 2,000 paired draws. Top: LSTM minus Transformer. Middle: replication minus extension LSTM. Bottom: LSTM minus equal-weight combination. Overlapping windows are dependent. A band containing zero leaves that window unresolved.</a:t>
            </a:r>
          </a:p>
          <a:p xmlns:a="http://schemas.openxmlformats.org/drawingml/2006/main">
            <a:r>
              <a:t/>
            </a:r>
          </a:p>
          <a:p xmlns:a="http://schemas.openxmlformats.org/drawingml/2006/main">
            <a:r>
              <a:t>Presenter points:</a:t>
            </a:r>
          </a:p>
          <a:p xmlns:a="http://schemas.openxmlformats.org/drawingml/2006/main">
            <a:r>
              <a:t>1. Line: observed paired Sharpe gap. Shading: pointwise 95% basic interval.</a:t>
            </a:r>
          </a:p>
          <a:p xmlns:a="http://schemas.openxmlformats.org/drawingml/2006/main">
            <a:r>
              <a:t>2. A band crossing zero leaves that window’s ranking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Extension 3: define NBER expansion/recession and past-volatility regimes. The test includes only 26 recession months, so regime estimates have limited precision.</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results/regime_analysis/tables/monthly_regime_labels.csv. https://fred.stlouisfed.org/series/USREC. Fama–French market returns define lagged volatility with training median threshold 0.039783.</a:t>
            </a:r>
          </a:p>
          <a:p xmlns:a="http://schemas.openxmlformats.org/drawingml/2006/main">
            <a:r>
              <a:t/>
            </a:r>
          </a:p>
          <a:p xmlns:a="http://schemas.openxmlformats.org/drawingml/2006/main">
            <a:r>
              <a:t>Presenter points:</a:t>
            </a:r>
          </a:p>
          <a:p xmlns:a="http://schemas.openxmlformats.org/drawingml/2006/main">
            <a:r>
              <a:t>1. Business-cycle and volatility regimes classify different economic conditions.</a:t>
            </a:r>
          </a:p>
          <a:p xmlns:a="http://schemas.openxmlformats.org/drawingml/2006/main">
            <a:r>
              <a:t>2. Only 26 recession months limit precision. NBER labels are retrospective.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Use the Code 012 figure to compare all local portfolios by regime. Highlight the variation in rankings and treat the recession results as descriptive point estimates.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results/bootstrap_uncertainty/local_only/figures/local_regime_comparison.png. Interpret with the preceding method and results tables.</a:t>
            </a:r>
          </a:p>
          <a:p xmlns:a="http://schemas.openxmlformats.org/drawingml/2006/main">
            <a:r>
              <a:t/>
            </a:r>
          </a:p>
          <a:p xmlns:a="http://schemas.openxmlformats.org/drawingml/2006/main">
            <a:r>
              <a:t>Presenter points:</a:t>
            </a:r>
          </a:p>
          <a:p xmlns:a="http://schemas.openxmlformats.org/drawingml/2006/main">
            <a:r>
              <a:t>1. Bars show monthly Sharpe using only months in each regime.</a:t>
            </a:r>
          </a:p>
          <a:p xmlns:a="http://schemas.openxmlformats.org/drawingml/2006/main">
            <a:r>
              <a:t>2. Feedforward leads recession Sharpe at 0.570, while Transformer has -0.071.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 Source: results/bootstrap_uncertainty/figures/rolling_model_uncertainty.png, Code 012. Original-paper GAN and our replicated GAN, both window lengths. The original figure is split across slides 13 and 14 without omitting any model panel. Curves show annualized rolling model Sharpe, bands pointwise 95% basic intervals with six-month blocks. These are marginal model intervals. Their overlap does not establish uncertainty in paired differences. The paired-difference figure on slide 10 uses six-month blocks. Both analyses condition on saved models. Overlapping windows are not independent observations.</a:t>
            </a:r>
          </a:p>
          <a:p xmlns:a="http://schemas.openxmlformats.org/drawingml/2006/main">
            <a:r>
              <a:t/>
            </a:r>
          </a:p>
          <a:p xmlns:a="http://schemas.openxmlformats.org/drawingml/2006/main">
            <a:r>
              <a:t>Presenter points:</a:t>
            </a:r>
          </a:p>
          <a:p xmlns:a="http://schemas.openxmlformats.org/drawingml/2006/main">
            <a:r>
              <a:t>1. Lines show annualized rolling Sharpe for the paper and replicated GAN.</a:t>
            </a:r>
          </a:p>
          <a:p xmlns:a="http://schemas.openxmlformats.org/drawingml/2006/main">
            <a:r>
              <a:t>2. Some bands cross zero, leaving positive Sharpe unresolved in those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 Source: results/bootstrap_uncertainty/figures/rolling_model_uncertainty.png, Code 012. Extension LSTM, Transformer and equal-weight combination, both window lengths. The original figure is split across slides 13 and 14 without omitting any model panel. Curves show annualized rolling model Sharpe, bands pointwise 95% basic intervals with six-month blocks. These are marginal model intervals. Their overlap does not establish uncertainty in paired differences. The paired-difference figure on slide 10 uses six-month blocks. Both analyses condition on saved models. Overlapping windows are not independent observations.</a:t>
            </a:r>
          </a:p>
          <a:p xmlns:a="http://schemas.openxmlformats.org/drawingml/2006/main">
            <a:r>
              <a:t/>
            </a:r>
          </a:p>
          <a:p xmlns:a="http://schemas.openxmlformats.org/drawingml/2006/main">
            <a:r>
              <a:t>Presenter points:</a:t>
            </a:r>
          </a:p>
          <a:p xmlns:a="http://schemas.openxmlformats.org/drawingml/2006/main">
            <a:r>
              <a:t>1. Separate confidence bands show sampling uncertainty for each extension model.</a:t>
            </a:r>
          </a:p>
          <a:p xmlns:a="http://schemas.openxmlformats.org/drawingml/2006/main">
            <a:r>
              <a:t>2. Several bands cross zero. Use the paired comparison on slide 15 to assess model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The LSTM minus Transformer point gap is 0.155 monthly Sharpe. Its basic 95% interval includes zero. Simultaneous comparisons also leave that ranking unresolved. This does not prove equivalence.</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paired_sharpe_difference_intervals.csv. Difference is A minus B. Pointwise basic intervals and simultaneous intervals adjust for different families. Simultaneous family contains all ten pairs among the five portfolios.</a:t>
            </a:r>
          </a:p>
          <a:p xmlns:a="http://schemas.openxmlformats.org/drawingml/2006/main">
            <a:r>
              <a:t/>
            </a:r>
          </a:p>
          <a:p xmlns:a="http://schemas.openxmlformats.org/drawingml/2006/main">
            <a:r>
              <a:t>Presenter points:</a:t>
            </a:r>
          </a:p>
          <a:p xmlns:a="http://schemas.openxmlformats.org/drawingml/2006/main">
            <a:r>
              <a:t>1. LSTM exceeds Transformer by 0.155 monthly Sharpe, but both intervals include zero.</a:t>
            </a:r>
          </a:p>
          <a:p xmlns:a="http://schemas.openxmlformats.org/drawingml/2006/main">
            <a:r>
              <a:t>2. The observed advantage remains statistically unresolved. This does not prove equality.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30 seconds. Source: results/bootstrap_uncertainty/figures/bootstrap_difference_distributions.png, Code 012. These are 10,000 paired circular bootstrap draws using 12-month blocks over the full 300-month test sample. X axis is a monthly Sharpe difference and y axis counts bootstrap replicates. Dashed black indicates zero and gold the observed gap. The LSTM minus Transformer point gap is 0.155, with 95% basic interval [-0.049,0.365]. The LSTM minus combination gap is -0.004, interval [-0.132,0.119]. These distributions are conditional on saved models and are not posterior probabilities or null-test distributions. Both paired basic intervals include zero.</a:t>
            </a:r>
          </a:p>
          <a:p xmlns:a="http://schemas.openxmlformats.org/drawingml/2006/main">
            <a:r>
              <a:t/>
            </a:r>
          </a:p>
          <a:p xmlns:a="http://schemas.openxmlformats.org/drawingml/2006/main">
            <a:r>
              <a:t>Presenter points:</a:t>
            </a:r>
          </a:p>
          <a:p xmlns:a="http://schemas.openxmlformats.org/drawingml/2006/main">
            <a:r>
              <a:t>1. Bars count 10,000 draws. Gold marks the observed gap, black marks zero.</a:t>
            </a:r>
          </a:p>
          <a:p xmlns:a="http://schemas.openxmlformats.org/drawingml/2006/main">
            <a:r>
              <a:t>2. Both paired 95% basic intervals include zero, despite different point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The fixed 50/50 average combines saved LSTM and Transformer portfolio returns. Its test Sharpe is 0.463 versus LSTM 0.459. This exploratory combination was constructed after inspecting test outcomes.</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results/consolidated_comparison/tables/architecture_blend_split_comparison.csv. Blend returns equal 0.5*LSTM+0.5*Transformer, without additional gross renormalization. Added after prior test review. Weights are fixed and not optimized.</a:t>
            </a:r>
          </a:p>
          <a:p xmlns:a="http://schemas.openxmlformats.org/drawingml/2006/main">
            <a:r>
              <a:t/>
            </a:r>
          </a:p>
          <a:p xmlns:a="http://schemas.openxmlformats.org/drawingml/2006/main">
            <a:r>
              <a:t>Presenter points:</a:t>
            </a:r>
          </a:p>
          <a:p xmlns:a="http://schemas.openxmlformats.org/drawingml/2006/main">
            <a:r>
              <a:t>1. Averaging saved LSTM and Transformer returns lowers volatility.</a:t>
            </a:r>
          </a:p>
          <a:p xmlns:a="http://schemas.openxmlformats.org/drawingml/2006/main">
            <a:r>
              <a:t>2. Test Sharpe rises only from 0.459 to 0.463. The combination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Combine rolling evaluation with regimes labeled at the endpoint. A recession-ending 36-month window includes earlier expansion months. These annualized values answer a different question from conditional monthly regime Sharpe.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a:p xmlns:a="http://schemas.openxmlformats.org/drawingml/2006/main">
            <a:r>
              <a:t/>
            </a:r>
          </a:p>
          <a:p xmlns:a="http://schemas.openxmlformats.org/drawingml/2006/main">
            <a:r>
              <a:t>Presenter points:</a:t>
            </a:r>
          </a:p>
          <a:p xmlns:a="http://schemas.openxmlformats.org/drawingml/2006/main">
            <a:r>
              <a:t>1. Bars group rolling windows by the economic regime at their endpoint.</a:t>
            </a:r>
          </a:p>
          <a:p xmlns:a="http://schemas.openxmlformats.org/drawingml/2006/main">
            <a:r>
              <a:t>2. A recession-ending window includes expansion months, unlike conditional regime Sharpe.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Compare all seven local portfolios across overall, rolling and recession metrics. Read the column units explicitly. Historical replication models and the matched new architecture experiment have different implementations.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Additional sources: results/bootstrap_uncertainty/local_only/tables/overall_performance.csv, rolling_summary.csv, regime_comparison.csv, paired_intervals.csv. Monthly full-test and recession-only Sharpes differ from mean annualized rolling Sharpe. Local simultaneous intervals recalibrate all 21 local pairs. Regime entries are point estimates with no regime-specific confidence intervals. Recession contains only 26 months.</a:t>
            </a:r>
          </a:p>
          <a:p xmlns:a="http://schemas.openxmlformats.org/drawingml/2006/main">
            <a:r>
              <a:t/>
            </a:r>
          </a:p>
          <a:p xmlns:a="http://schemas.openxmlformats.org/drawingml/2006/main">
            <a:r>
              <a:t>Presenter points:</a:t>
            </a:r>
          </a:p>
          <a:p xmlns:a="http://schemas.openxmlformats.org/drawingml/2006/main">
            <a:r>
              <a:t>1. Overall, rolling and recession columns answer different questions and use different units.</a:t>
            </a:r>
          </a:p>
          <a:p xmlns:a="http://schemas.openxmlformats.org/drawingml/2006/main">
            <a:r>
              <a:t>2. Replication leads local test Sharpe at 0.612. Feedforward leads recessions at 0.570.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90 seconds.</a:t>
            </a:r>
          </a:p>
          <a:p xmlns:a="http://schemas.openxmlformats.org/drawingml/2006/main">
            <a:r>
              <a:t>Close with the contribution: matched architecture comparison plus rolling, regime and bootstrap evaluation, with an illustrative portfolio combination. LSTM leads the Transformer in point estimates, but intervals leave the gap unresolved. Full author-schedule GPU runs, a new holdout and trading costs remain future work.</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Code 012 does not establish equivalence from an interval containing zero. Fixed equal-weight combination was considered after test inspection. Recession labels are retrospective. No transaction costs, genuinely unseen holdout, retraining uncertainty, or real-time vintage correction is included.</a:t>
            </a:r>
          </a:p>
          <a:p xmlns:a="http://schemas.openxmlformats.org/drawingml/2006/main">
            <a:r>
              <a:t/>
            </a:r>
          </a:p>
          <a:p xmlns:a="http://schemas.openxmlformats.org/drawingml/2006/main">
            <a:r>
              <a:t>Presenter points:</a:t>
            </a:r>
          </a:p>
          <a:p xmlns:a="http://schemas.openxmlformats.org/drawingml/2006/main">
            <a:r>
              <a:t>1. Our contribution combines architecture, rolling, regime and uncertainty evaluation.</a:t>
            </a:r>
          </a:p>
          <a:p xmlns:a="http://schemas.openxmlformats.org/drawingml/2006/main">
            <a:r>
              <a:t>2. Higher point estimates still need uncertainty checks and a new holdout.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23f1ba016648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3386d9c6154049" /><Relationship Type="http://schemas.openxmlformats.org/officeDocument/2006/relationships/slideLayout" Target="/ppt/slideLayouts/slideLayout1.xml" Id="R36ea1a8b9c9144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ea1a8b9c9144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fff49935494a98" /><Relationship Type="http://schemas.openxmlformats.org/officeDocument/2006/relationships/image" Target="/ppt/media/image.png" Id="Rc96be2cc8a154ee9" /><Relationship Type="http://schemas.openxmlformats.org/officeDocument/2006/relationships/image" Target="/ppt/media/image2.png" Id="R3d831c53f863454c" /><Relationship Type="http://schemas.openxmlformats.org/officeDocument/2006/relationships/notesSlide" Target="/ppt/notesSlides/notesSlide1.xml" Id="Re6bc5182546b41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251c63cab84756" /><Relationship Type="http://schemas.openxmlformats.org/officeDocument/2006/relationships/notesSlide" Target="/ppt/notesSlides/notesSlide2.xml" Id="Ra41911192ded4d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10497f69b6400f" /><Relationship Type="http://schemas.openxmlformats.org/officeDocument/2006/relationships/notesSlide" Target="/ppt/notesSlides/notesSlide3.xml" Id="Re413a15c787c40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0dbefd946743f6" /><Relationship Type="http://schemas.openxmlformats.org/officeDocument/2006/relationships/notesSlide" Target="/ppt/notesSlides/notesSlide4.xml" Id="Red22b7d89a784a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7e6358cabe45d6" /><Relationship Type="http://schemas.openxmlformats.org/officeDocument/2006/relationships/chart" Target="/ppt/slides/charts/chart1.xml" Id="Rdb75dc3fe8184889" /><Relationship Type="http://schemas.openxmlformats.org/officeDocument/2006/relationships/notesSlide" Target="/ppt/notesSlides/notesSlide5.xml" Id="R8d0a69305b304a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1dcba3bec346e0" /><Relationship Type="http://schemas.openxmlformats.org/officeDocument/2006/relationships/notesSlide" Target="/ppt/notesSlides/notesSlide6.xml" Id="Ra3ef4543fb5343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f2d816974f4e34" /><Relationship Type="http://schemas.openxmlformats.org/officeDocument/2006/relationships/notesSlide" Target="/ppt/notesSlides/notesSlide7.xml" Id="Rf8c0cecbdd8440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6a50d191794c2a" /><Relationship Type="http://schemas.openxmlformats.org/officeDocument/2006/relationships/chart" Target="/ppt/slides/charts/chart2.xml" Id="R92575367d0f746da" /><Relationship Type="http://schemas.openxmlformats.org/officeDocument/2006/relationships/notesSlide" Target="/ppt/notesSlides/notesSlide8.xml" Id="R9a5d99eebf0240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3a58b209254447" /><Relationship Type="http://schemas.openxmlformats.org/officeDocument/2006/relationships/image" Target="/ppt/media/image3.png" Id="Rac9d03c30b034d6a" /><Relationship Type="http://schemas.openxmlformats.org/officeDocument/2006/relationships/notesSlide" Target="/ppt/notesSlides/notesSlide9.xml" Id="R8bad2863701e43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366fec54d646be" /><Relationship Type="http://schemas.openxmlformats.org/officeDocument/2006/relationships/image" Target="/ppt/media/image4.png" Id="R41995a4ed4fb466f" /><Relationship Type="http://schemas.openxmlformats.org/officeDocument/2006/relationships/notesSlide" Target="/ppt/notesSlides/notesSlide10.xml" Id="R8dc16a14efe74b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dadc3ddd50d4b44" /><Relationship Type="http://schemas.openxmlformats.org/officeDocument/2006/relationships/notesSlide" Target="/ppt/notesSlides/notesSlide11.xml" Id="R7e7ecfec16a74b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07db7bc4664123" /><Relationship Type="http://schemas.openxmlformats.org/officeDocument/2006/relationships/image" Target="/ppt/media/image5.png" Id="Ra2035fd16e0e4719" /><Relationship Type="http://schemas.openxmlformats.org/officeDocument/2006/relationships/notesSlide" Target="/ppt/notesSlides/notesSlide12.xml" Id="Rf459dca08cbb41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0ced34cb994f9e" /><Relationship Type="http://schemas.openxmlformats.org/officeDocument/2006/relationships/image" Target="/ppt/media/image6.png" Id="R606c9444e18c4065" /><Relationship Type="http://schemas.openxmlformats.org/officeDocument/2006/relationships/notesSlide" Target="/ppt/notesSlides/notesSlide13.xml" Id="R8365650bc7a347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23079eeab524a3c" /><Relationship Type="http://schemas.openxmlformats.org/officeDocument/2006/relationships/image" Target="/ppt/media/image7.png" Id="Rb7143f4b313544e8" /><Relationship Type="http://schemas.openxmlformats.org/officeDocument/2006/relationships/notesSlide" Target="/ppt/notesSlides/notesSlide14.xml" Id="R251a3ad9691341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03ce1f03143450b" /><Relationship Type="http://schemas.openxmlformats.org/officeDocument/2006/relationships/notesSlide" Target="/ppt/notesSlides/notesSlide15.xml" Id="Rd1b217d6bb184c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ea1b08d98fa4061" /><Relationship Type="http://schemas.openxmlformats.org/officeDocument/2006/relationships/image" Target="/ppt/media/image8.png" Id="R7f34ddf3c5f14a36" /><Relationship Type="http://schemas.openxmlformats.org/officeDocument/2006/relationships/notesSlide" Target="/ppt/notesSlides/notesSlide16.xml" Id="R54ced3d2d4d348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c9bbdae028c40dc" /><Relationship Type="http://schemas.openxmlformats.org/officeDocument/2006/relationships/notesSlide" Target="/ppt/notesSlides/notesSlide17.xml" Id="Re2efb3e7c76a4bd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aa9aba469d1401b" /><Relationship Type="http://schemas.openxmlformats.org/officeDocument/2006/relationships/chart" Target="/ppt/slides/charts/chart3.xml" Id="Recf05afca2aa4c30" /><Relationship Type="http://schemas.openxmlformats.org/officeDocument/2006/relationships/notesSlide" Target="/ppt/notesSlides/notesSlide18.xml" Id="R975e33c10a4341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c2f8692c29e4852" /><Relationship Type="http://schemas.openxmlformats.org/officeDocument/2006/relationships/notesSlide" Target="/ppt/notesSlides/notesSlide19.xml" Id="Recdbfc091ef147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c7a8a677f194de6" /><Relationship Type="http://schemas.openxmlformats.org/officeDocument/2006/relationships/notesSlide" Target="/ppt/notesSlides/notesSlide20.xml" Id="R6eef1714cd8144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paper</c:v>
          </c:tx>
          <c:spPr>
            <a:solidFill xmlns:a="http://schemas.openxmlformats.org/drawingml/2006/main">
              <a:srgbClr val="94A3B8"/>
            </a:solidFill>
          </c:spPr>
          <c:cat>
            <c:strRef>
              <c:f>'Chart Data'!$A$2:$A$5</c:f>
              <c:strCache>
                <c:ptCount val="4"/>
                <c:pt idx="0">
                  <c:v>LS</c:v>
                </c:pt>
                <c:pt idx="1">
                  <c:v>EN</c:v>
                </c:pt>
                <c:pt idx="2">
                  <c:v>FFN</c:v>
                </c:pt>
                <c:pt idx="3">
                  <c:v>GAN</c:v>
                </c:pt>
              </c:strCache>
            </c:strRef>
          </c:cat>
          <c:val>
            <c:numRef>
              <c:f>'Chart Data'!$B$2:$B$5</c:f>
              <c:numCache>
                <c:formatCode>0.000</c:formatCode>
                <c:ptCount val="4"/>
                <c:pt idx="0">
                  <c:v>0.42</c:v>
                </c:pt>
                <c:pt idx="1">
                  <c:v>0.5</c:v>
                </c:pt>
                <c:pt idx="2">
                  <c:v>0.44</c:v>
                </c:pt>
                <c:pt idx="3">
                  <c:v>0.75</c:v>
                </c:pt>
              </c:numCache>
            </c:numRef>
          </c:val>
        </c:ser>
        <c:ser>
          <c:idx val="1"/>
          <c:order val="1"/>
          <c:tx>
            <c:v>Code 07 replication</c:v>
          </c:tx>
          <c:spPr>
            <a:solidFill xmlns:a="http://schemas.openxmlformats.org/drawingml/2006/main">
              <a:srgbClr val="003262"/>
            </a:solidFill>
          </c:spPr>
          <c:cat>
            <c:strRef>
              <c:f>'Chart Data'!$C$2:$C$5</c:f>
              <c:strCache>
                <c:ptCount val="4"/>
                <c:pt idx="0">
                  <c:v>LS</c:v>
                </c:pt>
                <c:pt idx="1">
                  <c:v>EN</c:v>
                </c:pt>
                <c:pt idx="2">
                  <c:v>FFN</c:v>
                </c:pt>
                <c:pt idx="3">
                  <c:v>GAN</c:v>
                </c:pt>
              </c:strCache>
            </c:strRef>
          </c:cat>
          <c:val>
            <c:numRef>
              <c:f>'Chart Data'!$D$2:$D$5</c:f>
              <c:numCache>
                <c:formatCode>0.000</c:formatCode>
                <c:ptCount val="4"/>
                <c:pt idx="0">
                  <c:v>0.40639203</c:v>
                </c:pt>
                <c:pt idx="1">
                  <c:v>0.41150844</c:v>
                </c:pt>
                <c:pt idx="2">
                  <c:v>0.56952059</c:v>
                </c:pt>
                <c:pt idx="3">
                  <c:v>0.61188757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Data'!$A$2:$A$4</c:f>
              <c:strCache>
                <c:ptCount val="3"/>
                <c:pt idx="0">
                  <c:v>Train</c:v>
                </c:pt>
                <c:pt idx="1">
                  <c:v>Validation</c:v>
                </c:pt>
                <c:pt idx="2">
                  <c:v>Test</c:v>
                </c:pt>
              </c:strCache>
            </c:strRef>
          </c:cat>
          <c:val>
            <c:numRef>
              <c:f>'Chart Data'!$B$2:$B$4</c:f>
              <c:numCache>
                <c:formatCode>0.000</c:formatCode>
                <c:ptCount val="3"/>
                <c:pt idx="0">
                  <c:v>2.68</c:v>
                </c:pt>
                <c:pt idx="1">
                  <c:v>1.43</c:v>
                </c:pt>
                <c:pt idx="2">
                  <c:v>0.75</c:v>
                </c:pt>
              </c:numCache>
            </c:numRef>
          </c:val>
        </c:ser>
        <c:ser>
          <c:idx val="1"/>
          <c:order val="1"/>
          <c:tx>
            <c:v>Replicated GAN</c:v>
          </c:tx>
          <c:spPr>
            <a:solidFill xmlns:a="http://schemas.openxmlformats.org/drawingml/2006/main">
              <a:srgbClr val="003262"/>
            </a:solidFill>
          </c:spPr>
          <c:cat>
            <c:strRef>
              <c:f>'Chart Data'!$C$2:$C$4</c:f>
              <c:strCache>
                <c:ptCount val="3"/>
                <c:pt idx="0">
                  <c:v>Train</c:v>
                </c:pt>
                <c:pt idx="1">
                  <c:v>Validation</c:v>
                </c:pt>
                <c:pt idx="2">
                  <c:v>Test</c:v>
                </c:pt>
              </c:strCache>
            </c:strRef>
          </c:cat>
          <c:val>
            <c:numRef>
              <c:f>'Chart Data'!$D$2:$D$4</c:f>
              <c:numCache>
                <c:formatCode>0.000</c:formatCode>
                <c:ptCount val="3"/>
                <c:pt idx="0">
                  <c:v>2.22351534</c:v>
                </c:pt>
                <c:pt idx="1">
                  <c:v>1.18540902</c:v>
                </c:pt>
                <c:pt idx="2">
                  <c:v>0.61188757</c:v>
                </c:pt>
              </c:numCache>
            </c:numRef>
          </c:val>
        </c:ser>
        <c:ser>
          <c:idx val="2"/>
          <c:order val="2"/>
          <c:tx>
            <c:v>Extension LSTM</c:v>
          </c:tx>
          <c:spPr>
            <a:solidFill xmlns:a="http://schemas.openxmlformats.org/drawingml/2006/main">
              <a:srgbClr val="2563EB"/>
            </a:solidFill>
          </c:spPr>
          <c:cat>
            <c:strRef>
              <c:f>'Chart Data'!$E$2:$E$4</c:f>
              <c:strCache>
                <c:ptCount val="3"/>
                <c:pt idx="0">
                  <c:v>Train</c:v>
                </c:pt>
                <c:pt idx="1">
                  <c:v>Validation</c:v>
                </c:pt>
                <c:pt idx="2">
                  <c:v>Test</c:v>
                </c:pt>
              </c:strCache>
            </c:strRef>
          </c:cat>
          <c:val>
            <c:numRef>
              <c:f>'Chart Data'!$F$2:$F$4</c:f>
              <c:numCache>
                <c:formatCode>0.000</c:formatCode>
                <c:ptCount val="3"/>
                <c:pt idx="0">
                  <c:v>1.30755655</c:v>
                </c:pt>
                <c:pt idx="1">
                  <c:v>0.75013562</c:v>
                </c:pt>
                <c:pt idx="2">
                  <c:v>0.45929328</c:v>
                </c:pt>
              </c:numCache>
            </c:numRef>
          </c:val>
        </c:ser>
        <c:ser>
          <c:idx val="3"/>
          <c:order val="3"/>
          <c:tx>
            <c:v>Transformer</c:v>
          </c:tx>
          <c:spPr>
            <a:solidFill xmlns:a="http://schemas.openxmlformats.org/drawingml/2006/main">
              <a:srgbClr val="B7790B"/>
            </a:solidFill>
          </c:spPr>
          <c:cat>
            <c:strRef>
              <c:f>'Chart Data'!$G$2:$G$4</c:f>
              <c:strCache>
                <c:ptCount val="3"/>
                <c:pt idx="0">
                  <c:v>Train</c:v>
                </c:pt>
                <c:pt idx="1">
                  <c:v>Validation</c:v>
                </c:pt>
                <c:pt idx="2">
                  <c:v>Test</c:v>
                </c:pt>
              </c:strCache>
            </c:strRef>
          </c:cat>
          <c:val>
            <c:numRef>
              <c:f>'Chart Data'!$H$2:$H$4</c:f>
              <c:numCache>
                <c:formatCode>0.000</c:formatCode>
                <c:ptCount val="3"/>
                <c:pt idx="0">
                  <c:v>1.04903636</c:v>
                </c:pt>
                <c:pt idx="1">
                  <c:v>0.58874548</c:v>
                </c:pt>
                <c:pt idx="2">
                  <c:v>0.3044769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3.70641062</c:v>
                </c:pt>
                <c:pt idx="1">
                  <c:v>3.00443061</c:v>
                </c:pt>
                <c:pt idx="2">
                  <c:v>3.49685192</c:v>
                </c:pt>
                <c:pt idx="3">
                  <c:v>3.74875446</c:v>
                </c:pt>
              </c:numCache>
            </c:numRef>
          </c:val>
        </c:ser>
        <c:ser>
          <c:idx val="1"/>
          <c:order val="1"/>
          <c:tx>
            <c:v>Replicated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2.94245335</c:v>
                </c:pt>
                <c:pt idx="1">
                  <c:v>2.40358567</c:v>
                </c:pt>
                <c:pt idx="2">
                  <c:v>2.6865745</c:v>
                </c:pt>
                <c:pt idx="3">
                  <c:v>3.05007001</c:v>
                </c:pt>
              </c:numCache>
            </c:numRef>
          </c:val>
        </c:ser>
        <c:ser>
          <c:idx val="2"/>
          <c:order val="2"/>
          <c:tx>
            <c:v>Extension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2.05784917</c:v>
                </c:pt>
                <c:pt idx="1">
                  <c:v>1.38254624</c:v>
                </c:pt>
                <c:pt idx="2">
                  <c:v>1.64211907</c:v>
                </c:pt>
                <c:pt idx="3">
                  <c:v>2.26786637</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1.4734821</c:v>
                </c:pt>
                <c:pt idx="1">
                  <c:v>1.40927834</c:v>
                </c:pt>
                <c:pt idx="2">
                  <c:v>0.89283968</c:v>
                </c:pt>
                <c:pt idx="3">
                  <c:v>1.92122442</c:v>
                </c:pt>
              </c:numCache>
            </c:numRef>
          </c:val>
        </c:ser>
        <c:ser>
          <c:idx val="4"/>
          <c:order val="4"/>
          <c:tx>
            <c:v>Equal-weight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2.19054578</c:v>
                </c:pt>
                <c:pt idx="1">
                  <c:v>1.94098684</c:v>
                </c:pt>
                <c:pt idx="2">
                  <c:v>1.48894614</c:v>
                </c:pt>
                <c:pt idx="3">
                  <c:v>2.7013473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powerpoint/2010/main">
  <ns0:cSld>
    <ns0:bg>
      <ns0:bgPr>
        <ns1:solidFill>
          <ns1:srgbClr val="FFFFFF"/>
        </ns1:solidFill>
      </ns0:bgPr>
    </ns0:bg>
    <ns0:spTree>
      <ns0:nvGrpSpPr>
        <ns0:cNvPr id="1" name=""/>
        <ns0:cNvGrpSpPr/>
        <ns0:nvPr/>
      </ns0:nvGrpSpPr>
      <ns0:grpSpPr>
        <ns1:xfrm/>
      </ns0:grpSpPr>
      <ns0:pic>
        <ns0:nvPicPr>
          <ns0:cNvPr id="14" name=""/>
          <ns0:cNvPicPr>
            <ns1:picLocks noChangeAspect="1"/>
          </ns0:cNvPicPr>
          <ns0:nvPr/>
        </ns0:nvPicPr>
        <ns0:blipFill>
          <ns1:blip ns2:embed="Rc96be2cc8a154ee9"/>
          <ns1:srcRect l="0" t="22546" r="0" b="22546"/>
          <ns1:stretch>
            <ns1:fillRect l="0" t="0" r="0" b="0"/>
          </ns1:stretch>
        </ns0:blipFill>
        <ns0:spPr>
          <ns1:xfrm>
            <ns1:off x="0" y="0"/>
            <ns1:ext cx="9144000" cy="3238500"/>
          </ns1:xfrm>
          <ns1:prstGeom prst="rect">
            <ns1:avLst/>
          </ns1:prstGeom>
        </ns0:spPr>
      </ns0:pic>
      <ns0:sp>
        <ns0:nvSpPr>
          <ns0:cNvPr id="2" name="">
            <ns1:extLst>
              <ns1:ext uri="{FF2B5EF4-FFF2-40B4-BE49-F238E27FC236}">
                <ns3:creationId id="{DE7B2E12-71FE-425D-AA0C-3E48724DFAC5}"/>
              </ns1:ext>
            </ns1:extLst>
          </ns0:cNvPr>
          <ns0:cNvSpPr>
            <ns1:spLocks noGrp="1"/>
          </ns0:cNvSpPr>
          <ns0:nvPr/>
        </ns0:nvSpPr>
        <ns0:spPr>
          <ns1:xfrm>
            <ns1:off x="342900" y="2343150"/>
            <ns1:ext cx="8420100" cy="552450"/>
          </ns1:xfrm>
          <ns1:prstGeom prst="rect">
            <ns1:avLst/>
          </ns1:prstGeom>
          <ns1:noFill/>
          <ns1:ln w="0">
            <ns1:noFill/>
          </ns1:ln>
        </ns0:spPr>
        <ns0:txBody>
          <ns1:bodyPr>
            <ns1:noAutofit/>
          </ns1:bodyPr>
          <ns1:lstStyle/>
          <ns1:p>
            <ns1:pPr>
              <ns1:buNone/>
              <ns1:defRPr sz="3000" b="1">
                <ns1:solidFill>
                  <ns1:srgbClr val="FFFFFF"/>
                </ns1:solidFill>
                <ns1:latin typeface="Arial"/>
                <ns1:ea typeface="Arial"/>
                <ns1:cs typeface="Arial"/>
              </ns1:defRPr>
            </ns1:pPr>
            <ns1:r>
              <ns1:rPr sz="3000" b="1">
                <ns1:solidFill>
                  <ns1:srgbClr val="FFFFFF"/>
                </ns1:solidFill>
                <ns1:latin typeface="Arial"/>
                <ns1:ea typeface="Arial"/>
                <ns1:cs typeface="Arial"/>
              </ns1:rPr>
              <ns1:t>Deep Learning in Asset Pricing</ns1:t>
            </ns1:r>
          </ns1:p>
        </ns0:txBody>
      </ns0:sp>
      <ns0:sp>
        <ns0:nvSpPr>
          <ns0:cNvPr id="3" name="">
            <ns1:extLst>
              <ns1:ext uri="{FF2B5EF4-FFF2-40B4-BE49-F238E27FC236}">
                <ns3:creationId id="{DF695EB0-547D-4965-94D1-D835C4659154}"/>
              </ns1:ext>
            </ns1:extLst>
          </ns0:cNvPr>
          <ns0:cNvSpPr>
            <ns1:spLocks noGrp="1"/>
          </ns0:cNvSpPr>
          <ns0:nvPr/>
        </ns0:nvSpPr>
        <ns0:spPr>
          <ns1:xfrm>
            <ns1:off x="361950" y="3476625"/>
            <ns1:ext cx="7810500" cy="342900"/>
          </ns1:xfrm>
          <ns1:prstGeom prst="rect">
            <ns1:avLst/>
          </ns1:prstGeom>
          <ns1:noFill/>
          <ns1:ln w="0">
            <ns1:noFill/>
          </ns1:ln>
        </ns0:spPr>
        <ns0:txBody>
          <ns1:bodyPr>
            <ns1:noAutofit/>
          </ns1:bodyPr>
          <ns1:lstStyle/>
          <ns1:p>
            <ns1:pPr>
              <ns1:buNone/>
              <ns1:defRPr sz="2025" b="1">
                <ns1:solidFill>
                  <ns1:srgbClr val="003262"/>
                </ns1:solidFill>
                <ns1:latin typeface="Arial"/>
                <ns1:ea typeface="Arial"/>
                <ns1:cs typeface="Arial"/>
              </ns1:defRPr>
            </ns1:pPr>
            <ns1:r>
              <ns1:rPr sz="2025" b="1">
                <ns1:solidFill>
                  <ns1:srgbClr val="003262"/>
                </ns1:solidFill>
                <ns1:latin typeface="Arial"/>
                <ns1:ea typeface="Arial"/>
                <ns1:cs typeface="Arial"/>
              </ns1:rPr>
              <ns1:t>Replication and Model Comparisons</ns1:t>
            </ns1:r>
          </ns1:p>
        </ns0:txBody>
      </ns0:sp>
      <ns0:sp>
        <ns0:nvSpPr>
          <ns0:cNvPr id="4" name="">
            <ns1:extLst>
              <ns1:ext uri="{FF2B5EF4-FFF2-40B4-BE49-F238E27FC236}">
                <ns3:creationId id="{5481CBCE-E7D6-4BC4-800A-9A7C0A831F5E}"/>
              </ns1:ext>
            </ns1:extLst>
          </ns0:cNvPr>
          <ns0:cNvSpPr>
            <ns1:spLocks noGrp="1"/>
          </ns0:cNvSpPr>
          <ns0:nvPr/>
        </ns0:nvSpPr>
        <ns0:spPr>
          <ns1:xfrm>
            <ns1:off x="361950" y="3886200"/>
            <ns1:ext cx="8191500" cy="342900"/>
          </ns1:xfrm>
          <ns1:prstGeom prst="rect">
            <ns1:avLst/>
          </ns1:prstGeom>
          <ns1:noFill/>
          <ns1:ln w="0">
            <ns1:noFill/>
          </ns1:ln>
        </ns0:spPr>
        <ns0:txBody>
          <ns1:bodyPr>
            <ns1:noAutofit/>
          </ns1:bodyPr>
          <ns1:lstStyle/>
          <ns1:p>
            <ns1:pPr>
              <ns1:buNone/>
              <ns1:defRPr sz="1500" b="0">
                <ns1:solidFill>
                  <ns1:srgbClr val="1F2A37"/>
                </ns1:solidFill>
                <ns1:latin typeface="Arial"/>
                <ns1:ea typeface="Arial"/>
                <ns1:cs typeface="Arial"/>
              </ns1:defRPr>
            </ns1:pPr>
            <ns1:r>
              <ns1:rPr sz="1500" b="0">
                <ns1:solidFill>
                  <ns1:srgbClr val="1F2A37"/>
                </ns1:solidFill>
                <ns1:latin typeface="Arial"/>
                <ns1:ea typeface="Arial"/>
                <ns1:cs typeface="Arial"/>
              </ns1:rPr>
              <ns1:t>Transformer, rolling windows, regimes and portfolio combinations</ns1:t>
            </ns1:r>
          </ns1:p>
        </ns0:txBody>
      </ns0:sp>
      <ns0:sp>
        <ns0:nvSpPr>
          <ns0:cNvPr id="5" name="">
            <ns1:extLst>
              <ns1:ext uri="{FF2B5EF4-FFF2-40B4-BE49-F238E27FC236}">
                <ns3:creationId id="{A4983446-7EC0-4107-BF9F-D59958BEF0F6}"/>
              </ns1:ext>
            </ns1:extLst>
          </ns0:cNvPr>
          <ns0:cNvSpPr>
            <ns1:spLocks noGrp="1"/>
          </ns0:cNvSpPr>
          <ns0:nvPr/>
        </ns0:nvSpPr>
        <ns0:spPr>
          <ns1:xfrm>
            <ns1:off x="361950" y="4257675"/>
            <ns1:ext cx="6762750" cy="228600"/>
          </ns1:xfrm>
          <ns1:prstGeom prst="rect">
            <ns1:avLst/>
          </ns1:prstGeom>
          <ns1:noFill/>
          <ns1:ln w="0">
            <ns1:noFill/>
          </ns1:ln>
        </ns0:spPr>
        <ns0:txBody>
          <ns1:bodyPr>
            <ns1:noAutofit/>
          </ns1:bodyPr>
          <ns1:lstStyle/>
          <ns1:p>
            <ns1:pPr>
              <ns1:buNone/>
              <ns1:defRPr sz="1350" b="0">
                <ns1:solidFill>
                  <ns1:srgbClr val="1F2A37"/>
                </ns1:solidFill>
                <ns1:latin typeface="Arial"/>
                <ns1:ea typeface="Arial"/>
                <ns1:cs typeface="Arial"/>
              </ns1:defRPr>
            </ns1:pPr>
            <ns1:r>
              <ns1:rPr sz="1350" b="0">
                <ns1:solidFill>
                  <ns1:srgbClr val="1F2A37"/>
                </ns1:solidFill>
                <ns1:latin typeface="Arial"/>
                <ns1:ea typeface="Arial"/>
                <ns1:cs typeface="Arial"/>
              </ns1:rPr>
              <ns1:t>Reza Zamani, Hrafnhildur Lif Jonsdottir</ns1:t>
            </ns1:r>
          </ns1:p>
        </ns0:txBody>
      </ns0:sp>
      <ns0:sp>
        <ns0:nvSpPr>
          <ns0:cNvPr id="6" name="">
            <ns1:extLst>
              <ns1:ext uri="{FF2B5EF4-FFF2-40B4-BE49-F238E27FC236}">
                <ns3:creationId id="{6558B462-85ED-457A-8617-624E02B58E9C}"/>
              </ns1:ext>
            </ns1:extLst>
          </ns0:cNvPr>
          <ns0:cNvSpPr>
            <ns1:spLocks noGrp="1"/>
          </ns0:cNvSpPr>
          <ns0:nvPr/>
        </ns0:nvSpPr>
        <ns0:spPr>
          <ns1:xfrm>
            <ns1:off x="361950" y="4495800"/>
            <ns1:ext cx="6762750" cy="228600"/>
          </ns1:xfrm>
          <ns1:prstGeom prst="rect">
            <ns1:avLst/>
          </ns1:prstGeom>
          <ns1:noFill/>
          <ns1:ln w="0">
            <ns1:noFill/>
          </ns1:ln>
        </ns0:spPr>
        <ns0:txBody>
          <ns1:bodyPr>
            <ns1:noAutofit/>
          </ns1:bodyPr>
          <ns1:lstStyle/>
          <ns1:p>
            <ns1:pPr>
              <ns1:buNone/>
              <ns1:defRPr sz="1350" b="0">
                <ns1:solidFill>
                  <ns1:srgbClr val="1F2A37"/>
                </ns1:solidFill>
                <ns1:latin typeface="Arial"/>
                <ns1:ea typeface="Arial"/>
                <ns1:cs typeface="Arial"/>
              </ns1:defRPr>
            </ns1:pPr>
            <ns1:r>
              <ns1:rPr sz="1350" b="0">
                <ns1:solidFill>
                  <ns1:srgbClr val="1F2A37"/>
                </ns1:solidFill>
                <ns1:latin typeface="Arial"/>
                <ns1:ea typeface="Arial"/>
                <ns1:cs typeface="Arial"/>
              </ns1:rPr>
              <ns1:t>Paraj Goyal and Elouan Bahri</ns1:t>
            </ns1:r>
          </ns1:p>
        </ns0:txBody>
      </ns0:sp>
      <ns0:sp>
        <ns0:nvSpPr>
          <ns0:cNvPr id="7" name="">
            <ns1:extLst>
              <ns1:ext uri="{FF2B5EF4-FFF2-40B4-BE49-F238E27FC236}">
                <ns3:creationId id="{7AF936C5-CA29-4C4B-B20A-86125B385748}"/>
              </ns1:ext>
            </ns1:extLst>
          </ns0:cNvPr>
          <ns0:cNvSpPr>
            <ns1:spLocks noGrp="1"/>
          </ns0:cNvSpPr>
          <ns0:nvPr/>
        </ns0:nvSpPr>
        <ns0:spPr>
          <ns1:xfrm>
            <ns1:off x="361950" y="4743450"/>
            <ns1:ext cx="6762750" cy="219075"/>
          </ns1:xfrm>
          <ns1:prstGeom prst="rect">
            <ns1:avLst/>
          </ns1:prstGeom>
          <ns1:noFill/>
          <ns1:ln w="0">
            <ns1:noFill/>
          </ns1:ln>
        </ns0:spPr>
        <ns0:txBody>
          <ns1:bodyPr>
            <ns1:noAutofit/>
          </ns1:bodyPr>
          <ns1:lstStyle/>
          <ns1:p>
            <ns1:pPr>
              <ns1:buNone/>
              <ns1:defRPr sz="1275" b="0">
                <ns1:solidFill>
                  <ns1:srgbClr val="5B6770"/>
                </ns1:solidFill>
                <ns1:latin typeface="Arial"/>
                <ns1:ea typeface="Arial"/>
                <ns1:cs typeface="Arial"/>
              </ns1:defRPr>
            </ns1:pPr>
            <ns1:r>
              <ns1:rPr sz="1275" b="0">
                <ns1:solidFill>
                  <ns1:srgbClr val="5B6770"/>
                </ns1:solidFill>
                <ns1:latin typeface="Arial"/>
                <ns1:ea typeface="Arial"/>
                <ns1:cs typeface="Arial"/>
              </ns1:rPr>
              <ns1:t>Professor: Ali Kakhbod</ns1:t>
            </ns1:r>
          </ns1:p>
        </ns0:txBody>
      </ns0:sp>
      <ns0:sp>
        <ns0:nvSpPr>
          <ns0:cNvPr id="8" name="">
            <ns1:extLst>
              <ns1:ext uri="{FF2B5EF4-FFF2-40B4-BE49-F238E27FC236}">
                <ns3:creationId id="{7D106F92-9820-4CB8-BF48-38DE4E16A808}"/>
              </ns1:ext>
            </ns1:extLst>
          </ns0:cNvPr>
          <ns0:cNvSpPr>
            <ns1:spLocks noGrp="1"/>
          </ns0:cNvSpPr>
          <ns0:nvPr/>
        </ns0:nvSpPr>
        <ns0:spPr>
          <ns1:xfrm>
            <ns1:off x="7277100" y="4895850"/>
            <ns1:ext cx="1714500" cy="1905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Group 7 · October 2026</ns1:t>
            </ns1:r>
          </ns1:p>
        </ns0:txBody>
      </ns0:sp>
      <ns0:pic>
        <ns0:nvPicPr>
          <ns0:cNvPr id="22" name=""/>
          <ns0:cNvPicPr>
            <ns1:picLocks noChangeAspect="1"/>
          </ns0:cNvPicPr>
          <ns0:nvPr/>
        </ns0:nvPicPr>
        <ns0:blipFill>
          <ns1:blip ns2:embed="R3d831c53f863454c"/>
          <ns1:stretch/>
        </ns0:blipFill>
        <ns0:spPr>
          <ns1:xfrm>
            <ns1:off x="7279079" y="4514850"/>
            <ns1:ext cx="1520042" cy="285750"/>
          </ns1:xfrm>
          <ns1:prstGeom prst="rect">
            <ns1:avLst/>
          </ns1:prstGeom>
        </ns0:spPr>
      </ns0:pic>
      <ns0:sp>
        <ns0:nvSpPr>
          <ns0:cNvPr id="11" name="">
            <ns1:extLst>
              <ns1:ext uri="{FF2B5EF4-FFF2-40B4-BE49-F238E27FC236}">
                <ns3:creationId id="{A5FF583E-8111-4644-B27C-6C46792DD834}"/>
              </ns1:ext>
            </ns1:extLst>
          </ns0:cNvPr>
          <ns0:cNvSpPr>
            <ns1:spLocks noGrp="1"/>
          </ns0:cNvSpPr>
          <ns0:nvPr/>
        </ns0:nvSpPr>
        <ns0:spPr>
          <ns1:xfrm>
            <ns1:off x="361950" y="3267075"/>
            <ns1:ext cx="8286750" cy="209550"/>
          </ns1:xfrm>
          <ns1:prstGeom prst="rect">
            <ns1:avLst/>
          </ns1:prstGeom>
          <ns1:noFill/>
          <ns1:ln w="0">
            <ns1:noFill/>
          </ns1:ln>
        </ns0:spPr>
        <ns0:txBody>
          <ns1:bodyPr>
            <ns1:noAutofit/>
          </ns1:bodyPr>
          <ns1:lstStyle/>
          <ns1:p>
            <ns1:pPr marL="152400" indent="-88900">
              <ns1:spcAft>
                <ns1:spcPts val="200"/>
              </ns1:spcAft>
              <ns1:buChar char="•"/>
              <ns1:defRPr sz="1200" b="0">
                <ns1:solidFill>
                  <ns1:srgbClr val="003262"/>
                </ns1:solidFill>
                <ns1:latin typeface="Arial"/>
                <ns1:ea typeface="Arial"/>
                <ns1:cs typeface="Arial"/>
              </ns1:defRPr>
            </ns1:pPr>
            <ns1:r>
              <ns1:rPr sz="1200" b="0">
                <ns1:solidFill>
                  <ns1:srgbClr val="003262"/>
                </ns1:solidFill>
                <ns1:latin typeface="Arial"/>
                <ns1:ea typeface="Arial"/>
                <ns1:cs typeface="Arial"/>
              </ns1:rPr>
              <ns1:t>Research question: can model changes improve asset-pricing performance?</ns1:t>
            </ns1:r>
          </ns1:p>
        </ns0:txBody>
      </ns0:sp>
    </ns0:spTree>
    <ns0:extLst>
      <ns0:ext uri="{BB962C8B-B14F-4D97-AF65-F5344CB8AC3E}">
        <ns4:creationId val="624588145"/>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12" name="">
            <ns1:extLst>
              <ns1:ext uri="{FF2B5EF4-FFF2-40B4-BE49-F238E27FC236}">
                <ns2:creationId id="{927980B7-6EC6-4E30-9639-EA453C034569}"/>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BDB52ECF-E0E9-401B-B1D8-65EEB89FB45B}"/>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2EBE4EFE-9E3F-401C-8660-2CC3C1EEDB04}"/>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Presentation overview</ns1:t>
            </ns1:r>
          </ns1:p>
        </ns0:txBody>
      </ns0:sp>
      <ns0:sp>
        <ns0:nvSpPr>
          <ns0:cNvPr id="4" name="">
            <ns1:extLst>
              <ns1:ext uri="{FF2B5EF4-FFF2-40B4-BE49-F238E27FC236}">
                <ns2:creationId id="{815A581A-E841-46B9-8044-106CAEBA053B}"/>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15-minute presentation</ns1:t>
            </ns1:r>
          </ns1:p>
        </ns0:txBody>
      </ns0:sp>
      <ns0:sp>
        <ns0:nvSpPr>
          <ns0:cNvPr id="5" name="">
            <ns1:extLst>
              <ns1:ext uri="{FF2B5EF4-FFF2-40B4-BE49-F238E27FC236}">
                <ns2:creationId id="{6EDB3EE9-E9C5-44FF-8907-70CCFD3811F6}"/>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2</ns1:t>
            </ns1:r>
          </ns1:p>
        </ns0:txBody>
      </ns0:sp>
      <ns0:sp>
        <ns0:nvSpPr>
          <ns0:cNvPr id="13" name="">
            <ns1:extLst>
              <ns1:ext uri="{FF2B5EF4-FFF2-40B4-BE49-F238E27FC236}">
                <ns2:creationId id="{61872CCB-F385-49C3-BB99-836BA8911FB4}"/>
              </ns1:ext>
            </ns1:extLst>
          </ns0:cNvPr>
          <ns0:cNvSpPr>
            <ns1:spLocks noGrp="1"/>
          </ns0:cNvSpPr>
          <ns0:nvPr/>
        </ns0:nvSpPr>
        <ns0:spPr>
          <ns1:xfrm>
            <ns1:off x="419100" y="981075"/>
            <ns1:ext cx="8286750" cy="342900"/>
          </ns1:xfrm>
          <ns1:prstGeom prst="rect">
            <ns1:avLst/>
          </ns1:prstGeom>
          <ns1:noFill/>
          <ns1:ln w="0">
            <ns1:noFill/>
          </ns1:ln>
        </ns0:spPr>
        <ns0:txBody>
          <ns1:bodyPr>
            <ns1:noAutofit/>
          </ns1:bodyPr>
          <ns1:lstStyle/>
          <ns1:p>
            <ns1:pPr>
              <ns1:buNone/>
              <ns1:defRPr sz="1875" b="0">
                <ns1:solidFill>
                  <ns1:srgbClr val="003262"/>
                </ns1:solidFill>
                <ns1:latin typeface="Arial"/>
                <ns1:ea typeface="Arial"/>
                <ns1:cs typeface="Arial"/>
              </ns1:defRPr>
            </ns1:pPr>
            <ns1:r>
              <ns1:rPr sz="1875" b="0">
                <ns1:solidFill>
                  <ns1:srgbClr val="003262"/>
                </ns1:solidFill>
                <ns1:latin typeface="Arial"/>
                <ns1:ea typeface="Arial"/>
                <ns1:cs typeface="Arial"/>
              </ns1:rPr>
              <ns1:t>1. Main paper</ns1:t>
            </ns1:r>
          </ns1:p>
        </ns0:txBody>
      </ns0:sp>
      <ns0:sp>
        <ns0:nvSpPr>
          <ns0:cNvPr id="14" name="">
            <ns1:extLst>
              <ns1:ext uri="{FF2B5EF4-FFF2-40B4-BE49-F238E27FC236}">
                <ns2:creationId id="{7CA9D290-0D17-4D0A-A3E0-27664A63086A}"/>
              </ns1:ext>
            </ns1:extLst>
          </ns0:cNvPr>
          <ns0:cNvSpPr>
            <ns1:spLocks noGrp="1"/>
          </ns0:cNvSpPr>
          <ns0:nvPr/>
        </ns0:nvSpPr>
        <ns0:spPr>
          <ns1:xfrm>
            <ns1:off x="419100" y="1371600"/>
            <ns1:ext cx="8286750" cy="342900"/>
          </ns1:xfrm>
          <ns1:prstGeom prst="rect">
            <ns1:avLst/>
          </ns1:prstGeom>
          <ns1:noFill/>
          <ns1:ln w="0">
            <ns1:noFill/>
          </ns1:ln>
        </ns0:spPr>
        <ns0:txBody>
          <ns1:bodyPr>
            <ns1:noAutofit/>
          </ns1:bodyPr>
          <ns1:lstStyle/>
          <ns1:p>
            <ns1:pPr>
              <ns1:buNone/>
              <ns1:defRPr sz="1875" b="0">
                <ns1:solidFill>
                  <ns1:srgbClr val="003262"/>
                </ns1:solidFill>
                <ns1:latin typeface="Arial"/>
                <ns1:ea typeface="Arial"/>
                <ns1:cs typeface="Arial"/>
              </ns1:defRPr>
            </ns1:pPr>
            <ns1:r>
              <ns1:rPr sz="1875" b="0">
                <ns1:solidFill>
                  <ns1:srgbClr val="003262"/>
                </ns1:solidFill>
                <ns1:latin typeface="Arial"/>
                <ns1:ea typeface="Arial"/>
                <ns1:cs typeface="Arial"/>
              </ns1:rPr>
              <ns1:t>2. Replication</ns1:t>
            </ns1:r>
          </ns1:p>
        </ns0:txBody>
      </ns0:sp>
      <ns0:sp>
        <ns0:nvSpPr>
          <ns0:cNvPr id="15" name="">
            <ns1:extLst>
              <ns1:ext uri="{FF2B5EF4-FFF2-40B4-BE49-F238E27FC236}">
                <ns2:creationId id="{ED379246-1383-4C99-8F72-8762051F65EF}"/>
              </ns1:ext>
            </ns1:extLst>
          </ns0:cNvPr>
          <ns0:cNvSpPr>
            <ns1:spLocks noGrp="1"/>
          </ns0:cNvSpPr>
          <ns0:nvPr/>
        </ns0:nvSpPr>
        <ns0:spPr>
          <ns1:xfrm>
            <ns1:off x="419100" y="1762125"/>
            <ns1:ext cx="8286750" cy="342900"/>
          </ns1:xfrm>
          <ns1:prstGeom prst="rect">
            <ns1:avLst/>
          </ns1:prstGeom>
          <ns1:noFill/>
          <ns1:ln w="0">
            <ns1:noFill/>
          </ns1:ln>
        </ns0:spPr>
        <ns0:txBody>
          <ns1:bodyPr>
            <ns1:noAutofit/>
          </ns1:bodyPr>
          <ns1:lstStyle/>
          <ns1:p>
            <ns1:pPr>
              <ns1:buNone/>
              <ns1:defRPr sz="1875" b="1">
                <ns1:solidFill>
                  <ns1:srgbClr val="003262"/>
                </ns1:solidFill>
                <ns1:latin typeface="Arial"/>
                <ns1:ea typeface="Arial"/>
                <ns1:cs typeface="Arial"/>
              </ns1:defRPr>
            </ns1:pPr>
            <ns1:r>
              <ns1:rPr sz="1875" b="1">
                <ns1:solidFill>
                  <ns1:srgbClr val="003262"/>
                </ns1:solidFill>
                <ns1:latin typeface="Arial"/>
                <ns1:ea typeface="Arial"/>
                <ns1:cs typeface="Arial"/>
              </ns1:rPr>
              <ns1:t>3. Transformer</ns1:t>
            </ns1:r>
          </ns1:p>
        </ns0:txBody>
      </ns0:sp>
      <ns0:sp>
        <ns0:nvSpPr>
          <ns0:cNvPr id="16" name="">
            <ns1:extLst>
              <ns1:ext uri="{FF2B5EF4-FFF2-40B4-BE49-F238E27FC236}">
                <ns2:creationId id="{70793E91-35E3-408F-8B9A-E58F50BB11E9}"/>
              </ns1:ext>
            </ns1:extLst>
          </ns0:cNvPr>
          <ns0:cNvSpPr>
            <ns1:spLocks noGrp="1"/>
          </ns0:cNvSpPr>
          <ns0:nvPr/>
        </ns0:nvSpPr>
        <ns0:spPr>
          <ns1:xfrm>
            <ns1:off x="419100" y="2152650"/>
            <ns1:ext cx="8286750" cy="342900"/>
          </ns1:xfrm>
          <ns1:prstGeom prst="rect">
            <ns1:avLst/>
          </ns1:prstGeom>
          <ns1:noFill/>
          <ns1:ln w="0">
            <ns1:noFill/>
          </ns1:ln>
        </ns0:spPr>
        <ns0:txBody>
          <ns1:bodyPr>
            <ns1:noAutofit/>
          </ns1:bodyPr>
          <ns1:lstStyle/>
          <ns1:p>
            <ns1:pPr>
              <ns1:buNone/>
              <ns1:defRPr sz="1875" b="1">
                <ns1:solidFill>
                  <ns1:srgbClr val="003262"/>
                </ns1:solidFill>
                <ns1:latin typeface="Arial"/>
                <ns1:ea typeface="Arial"/>
                <ns1:cs typeface="Arial"/>
              </ns1:defRPr>
            </ns1:pPr>
            <ns1:r>
              <ns1:rPr sz="1875" b="1">
                <ns1:solidFill>
                  <ns1:srgbClr val="003262"/>
                </ns1:solidFill>
                <ns1:latin typeface="Arial"/>
                <ns1:ea typeface="Arial"/>
                <ns1:cs typeface="Arial"/>
              </ns1:rPr>
              <ns1:t>4. Rolling windows</ns1:t>
            </ns1:r>
          </ns1:p>
        </ns0:txBody>
      </ns0:sp>
      <ns0:sp>
        <ns0:nvSpPr>
          <ns0:cNvPr id="17" name="">
            <ns1:extLst>
              <ns1:ext uri="{FF2B5EF4-FFF2-40B4-BE49-F238E27FC236}">
                <ns2:creationId id="{3B10CDF6-7AA4-4389-9B95-7DA57B884B2F}"/>
              </ns1:ext>
            </ns1:extLst>
          </ns0:cNvPr>
          <ns0:cNvSpPr>
            <ns1:spLocks noGrp="1"/>
          </ns0:cNvSpPr>
          <ns0:nvPr/>
        </ns0:nvSpPr>
        <ns0:spPr>
          <ns1:xfrm>
            <ns1:off x="419100" y="2543175"/>
            <ns1:ext cx="8286750" cy="342900"/>
          </ns1:xfrm>
          <ns1:prstGeom prst="rect">
            <ns1:avLst/>
          </ns1:prstGeom>
          <ns1:noFill/>
          <ns1:ln w="0">
            <ns1:noFill/>
          </ns1:ln>
        </ns0:spPr>
        <ns0:txBody>
          <ns1:bodyPr>
            <ns1:noAutofit/>
          </ns1:bodyPr>
          <ns1:lstStyle/>
          <ns1:p>
            <ns1:pPr>
              <ns1:buNone/>
              <ns1:defRPr sz="1875" b="1">
                <ns1:solidFill>
                  <ns1:srgbClr val="003262"/>
                </ns1:solidFill>
                <ns1:latin typeface="Arial"/>
                <ns1:ea typeface="Arial"/>
                <ns1:cs typeface="Arial"/>
              </ns1:defRPr>
            </ns1:pPr>
            <ns1:r>
              <ns1:rPr sz="1875" b="1">
                <ns1:solidFill>
                  <ns1:srgbClr val="003262"/>
                </ns1:solidFill>
                <ns1:latin typeface="Arial"/>
                <ns1:ea typeface="Arial"/>
                <ns1:cs typeface="Arial"/>
              </ns1:rPr>
              <ns1:t>5. Regime change</ns1:t>
            </ns1:r>
          </ns1:p>
        </ns0:txBody>
      </ns0:sp>
      <ns0:sp>
        <ns0:nvSpPr>
          <ns0:cNvPr id="18" name="">
            <ns1:extLst>
              <ns1:ext uri="{FF2B5EF4-FFF2-40B4-BE49-F238E27FC236}">
                <ns2:creationId id="{DFDA38ED-53C5-49E1-BABA-729B78BD85FF}"/>
              </ns1:ext>
            </ns1:extLst>
          </ns0:cNvPr>
          <ns0:cNvSpPr>
            <ns1:spLocks noGrp="1"/>
          </ns0:cNvSpPr>
          <ns0:nvPr/>
        </ns0:nvSpPr>
        <ns0:spPr>
          <ns1:xfrm>
            <ns1:off x="419100" y="2933700"/>
            <ns1:ext cx="8286750" cy="342900"/>
          </ns1:xfrm>
          <ns1:prstGeom prst="rect">
            <ns1:avLst/>
          </ns1:prstGeom>
          <ns1:noFill/>
          <ns1:ln w="0">
            <ns1:noFill/>
          </ns1:ln>
        </ns0:spPr>
        <ns0:txBody>
          <ns1:bodyPr>
            <ns1:noAutofit/>
          </ns1:bodyPr>
          <ns1:lstStyle/>
          <ns1:p>
            <ns1:pPr>
              <ns1:buNone/>
              <ns1:defRPr sz="1875" b="1">
                <ns1:solidFill>
                  <ns1:srgbClr val="003262"/>
                </ns1:solidFill>
                <ns1:latin typeface="Arial"/>
                <ns1:ea typeface="Arial"/>
                <ns1:cs typeface="Arial"/>
              </ns1:defRPr>
            </ns1:pPr>
            <ns1:r>
              <ns1:rPr sz="1875" b="1">
                <ns1:solidFill>
                  <ns1:srgbClr val="003262"/>
                </ns1:solidFill>
                <ns1:latin typeface="Arial"/>
                <ns1:ea typeface="Arial"/>
                <ns1:cs typeface="Arial"/>
              </ns1:rPr>
              <ns1:t>6. Uncertainty</ns1:t>
            </ns1:r>
          </ns1:p>
        </ns0:txBody>
      </ns0:sp>
      <ns0:sp>
        <ns0:nvSpPr>
          <ns0:cNvPr id="19" name="">
            <ns1:extLst>
              <ns1:ext uri="{FF2B5EF4-FFF2-40B4-BE49-F238E27FC236}">
                <ns2:creationId id="{411BD56C-9CB6-44BF-BB65-F27E3D2E1995}"/>
              </ns1:ext>
            </ns1:extLst>
          </ns0:cNvPr>
          <ns0:cNvSpPr>
            <ns1:spLocks noGrp="1"/>
          </ns0:cNvSpPr>
          <ns0:nvPr/>
        </ns0:nvSpPr>
        <ns0:spPr>
          <ns1:xfrm>
            <ns1:off x="419100" y="3324225"/>
            <ns1:ext cx="8286750" cy="342900"/>
          </ns1:xfrm>
          <ns1:prstGeom prst="rect">
            <ns1:avLst/>
          </ns1:prstGeom>
          <ns1:noFill/>
          <ns1:ln w="0">
            <ns1:noFill/>
          </ns1:ln>
        </ns0:spPr>
        <ns0:txBody>
          <ns1:bodyPr>
            <ns1:noAutofit/>
          </ns1:bodyPr>
          <ns1:lstStyle/>
          <ns1:p>
            <ns1:pPr>
              <ns1:buNone/>
              <ns1:defRPr sz="1875" b="0">
                <ns1:solidFill>
                  <ns1:srgbClr val="003262"/>
                </ns1:solidFill>
                <ns1:latin typeface="Arial"/>
                <ns1:ea typeface="Arial"/>
                <ns1:cs typeface="Arial"/>
              </ns1:defRPr>
            </ns1:pPr>
            <ns1:r>
              <ns1:rPr sz="1875" b="0">
                <ns1:solidFill>
                  <ns1:srgbClr val="003262"/>
                </ns1:solidFill>
                <ns1:latin typeface="Arial"/>
                <ns1:ea typeface="Arial"/>
                <ns1:cs typeface="Arial"/>
              </ns1:rPr>
              <ns1:t>7. Combination</ns1:t>
            </ns1:r>
          </ns1:p>
        </ns0:txBody>
      </ns0:sp>
      <ns0:sp>
        <ns0:nvSpPr>
          <ns0:cNvPr id="20" name="">
            <ns1:extLst>
              <ns1:ext uri="{FF2B5EF4-FFF2-40B4-BE49-F238E27FC236}">
                <ns2:creationId id="{7D78D46F-6855-49A8-A7ED-1FF50B26BB81}"/>
              </ns1:ext>
            </ns1:extLst>
          </ns0:cNvPr>
          <ns0:cNvSpPr>
            <ns1:spLocks noGrp="1"/>
          </ns0:cNvSpPr>
          <ns0:nvPr/>
        </ns0:nvSpPr>
        <ns0:spPr>
          <ns1:xfrm>
            <ns1:off x="419100" y="3714750"/>
            <ns1:ext cx="8286750" cy="342900"/>
          </ns1:xfrm>
          <ns1:prstGeom prst="rect">
            <ns1:avLst/>
          </ns1:prstGeom>
          <ns1:noFill/>
          <ns1:ln w="0">
            <ns1:noFill/>
          </ns1:ln>
        </ns0:spPr>
        <ns0:txBody>
          <ns1:bodyPr>
            <ns1:noAutofit/>
          </ns1:bodyPr>
          <ns1:lstStyle/>
          <ns1:p>
            <ns1:pPr>
              <ns1:buNone/>
              <ns1:defRPr sz="1875" b="0">
                <ns1:solidFill>
                  <ns1:srgbClr val="003262"/>
                </ns1:solidFill>
                <ns1:latin typeface="Arial"/>
                <ns1:ea typeface="Arial"/>
                <ns1:cs typeface="Arial"/>
              </ns1:defRPr>
            </ns1:pPr>
            <ns1:r>
              <ns1:rPr sz="1875" b="0">
                <ns1:solidFill>
                  <ns1:srgbClr val="003262"/>
                </ns1:solidFill>
                <ns1:latin typeface="Arial"/>
                <ns1:ea typeface="Arial"/>
                <ns1:cs typeface="Arial"/>
              </ns1:rPr>
              <ns1:t>8. Summary</ns1:t>
            </ns1:r>
          </ns1:p>
        </ns0:txBody>
      </ns0:sp>
      <ns0:sp>
        <ns0:nvSpPr>
          <ns0:cNvPr id="21" name="">
            <ns1:extLst>
              <ns1:ext uri="{FF2B5EF4-FFF2-40B4-BE49-F238E27FC236}">
                <ns2:creationId id="{60184AF2-CAE6-43A6-8292-02A626BDCC5C}"/>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Establish the published paper and replication benchmarks.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Evaluate four extensions, then compare combined results.</ns1:t>
            </ns1:r>
          </ns1:p>
        </ns0:txBody>
      </ns0:sp>
    </ns0:spTree>
    <ns0:extLst>
      <ns0:ext uri="{BB962C8B-B14F-4D97-AF65-F5344CB8AC3E}">
        <ns3:creationId val="355781408"/>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6D19653F-3B5A-47D0-B2D7-8355BF53C991}"/>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71600C88-6EE6-4DE8-B6F7-A059329EB01A}"/>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B55B9CED-0996-46C0-AD6F-C37867C6D868}"/>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Main paper: model architecture and data</ns1:t>
            </ns1:r>
          </ns1:p>
        </ns0:txBody>
      </ns0:sp>
      <ns0:sp>
        <ns0:nvSpPr>
          <ns0:cNvPr id="4" name="">
            <ns1:extLst>
              <ns1:ext uri="{FF2B5EF4-FFF2-40B4-BE49-F238E27FC236}">
                <ns2:creationId id="{EE670733-DBC5-4AEC-8017-BF150C2A5AA1}"/>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1. Main paper</ns1:t>
            </ns1:r>
          </ns1:p>
        </ns0:txBody>
      </ns0:sp>
      <ns0:sp>
        <ns0:nvSpPr>
          <ns0:cNvPr id="5" name="">
            <ns1:extLst>
              <ns1:ext uri="{FF2B5EF4-FFF2-40B4-BE49-F238E27FC236}">
                <ns2:creationId id="{AD17B70D-D8E3-4FD1-9512-A52F64769393}"/>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3</ns1:t>
            </ns1:r>
          </ns1:p>
        </ns0:txBody>
      </ns0:sp>
      <ns0:graphicFrame>
        <ns0:nvGraphicFramePr>
          <ns0:cNvPr id="19" name=""/>
          <ns0:cNvGraphicFramePr/>
          <ns0:nvPr/>
        </ns0:nvGraphicFramePr>
        <ns0:xfrm>
          <ns1:off x="400050" y="1019175"/>
          <ns1:ext cx="8343900" cy="2857500"/>
        </ns0:xfrm>
        <ns1:graphic>
          <ns1:graphicData uri="http://schemas.openxmlformats.org/drawingml/2006/table">
            <ns1:tbl>
              <ns1:tblPr/>
              <ns1:tblGrid>
                <ns1:gridCol w="2476500"/>
                <ns1:gridCol w="2933700"/>
                <ns1:gridCol w="2933700"/>
              </ns1:tblGrid>
              <ns1:tr h="571500">
                <ns1:tc>
                  <ns1:txBody>
                    <ns1:bodyPr/>
                    <ns1:lstStyle/>
                    <ns1:p>
                      <ns1:r>
                        <ns1:rPr sz="1350" b="1">
                          <ns1:solidFill>
                            <ns1:srgbClr val="FFFFFF"/>
                          </ns1:solidFill>
                          <ns1:latin typeface="Arial"/>
                          <ns1:ea typeface="Arial"/>
                          <ns1:cs typeface="Arial"/>
                        </ns1:rPr>
                        <ns1:t>Component</ns1:t>
                      </ns1:r>
                    </ns1:p>
                  </ns1:txBody>
                  <ns1:tcPr marL="91440" marR="91440" marT="45720" marB="45720">
                    <ns1:solidFill>
                      <ns1:srgbClr val="003262"/>
                    </ns1:solidFill>
                  </ns1:tcPr>
                </ns1:tc>
                <ns1:tc>
                  <ns1:txBody>
                    <ns1:bodyPr/>
                    <ns1:lstStyle/>
                    <ns1:p>
                      <ns1:r>
                        <ns1:rPr sz="1350" b="1">
                          <ns1:solidFill>
                            <ns1:srgbClr val="FFFFFF"/>
                          </ns1:solidFill>
                          <ns1:latin typeface="Arial"/>
                          <ns1:ea typeface="Arial"/>
                          <ns1:cs typeface="Arial"/>
                        </ns1:rPr>
                        <ns1:t>Input and role</ns1:t>
                      </ns1:r>
                    </ns1:p>
                  </ns1:txBody>
                  <ns1:tcPr marL="91440" marR="91440" marT="45720" marB="45720">
                    <ns1:solidFill>
                      <ns1:srgbClr val="003262"/>
                    </ns1:solidFill>
                  </ns1:tcPr>
                </ns1:tc>
                <ns1:tc>
                  <ns1:txBody>
                    <ns1:bodyPr/>
                    <ns1:lstStyle/>
                    <ns1:p>
                      <ns1:r>
                        <ns1:rPr sz="1350" b="1">
                          <ns1:solidFill>
                            <ns1:srgbClr val="FFFFFF"/>
                          </ns1:solidFill>
                          <ns1:latin typeface="Arial"/>
                          <ns1:ea typeface="Arial"/>
                          <ns1:cs typeface="Arial"/>
                        </ns1:rPr>
                        <ns1:t>Output</ns1:t>
                      </ns1:r>
                    </ns1:p>
                  </ns1:txBody>
                  <ns1:tcPr marL="91440" marR="91440" marT="45720" marB="45720">
                    <ns1:solidFill>
                      <ns1:srgbClr val="003262"/>
                    </ns1:solidFill>
                  </ns1:tcPr>
                </ns1:tc>
              </ns1:tr>
              <ns1:tr h="571500">
                <ns1:tc>
                  <ns1:txBody>
                    <ns1:bodyPr/>
                    <ns1:lstStyle/>
                    <ns1:p>
                      <ns1:r>
                        <ns1:rPr sz="1425" b="0">
                          <ns1:solidFill>
                            <ns1:srgbClr val="1F2A37"/>
                          </ns1:solidFill>
                          <ns1:latin typeface="Arial"/>
                          <ns1:ea typeface="Arial"/>
                          <ns1:cs typeface="Arial"/>
                        </ns1:rPr>
                        <ns1:t>Macro SDF encoder</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178 macro series, LSTM</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4 states</ns1:t>
                      </ns1:r>
                    </ns1:p>
                  </ns1:txBody>
                  <ns1:tcPr marL="91440" marR="91440" marT="45720" marB="45720">
                    <ns1:solidFill>
                      <ns1:srgbClr val="EEF3F8"/>
                    </ns1:solidFill>
                  </ns1:tcPr>
                </ns1:tc>
              </ns1:tr>
              <ns1:tr h="571500">
                <ns1:tc>
                  <ns1:txBody>
                    <ns1:bodyPr/>
                    <ns1:lstStyle/>
                    <ns1:p>
                      <ns1:r>
                        <ns1:rPr sz="1425" b="0">
                          <ns1:solidFill>
                            <ns1:srgbClr val="1F2A37"/>
                          </ns1:solidFill>
                          <ns1:latin typeface="Arial"/>
                          <ns1:ea typeface="Arial"/>
                          <ns1:cs typeface="Arial"/>
                        </ns1:rPr>
                        <ns1:t>Pricing-weight network</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46 characteristics + states</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Two layers of 64 units</ns1:t>
                      </ns1:r>
                    </ns1:p>
                  </ns1:txBody>
                  <ns1:tcPr marL="91440" marR="91440" marT="45720" marB="45720">
                    <ns1:solidFill>
                      <ns1:srgbClr val="FFFFFF"/>
                    </ns1:solidFill>
                  </ns1:tcPr>
                </ns1:tc>
              </ns1:tr>
              <ns1:tr h="571500">
                <ns1:tc>
                  <ns1:txBody>
                    <ns1:bodyPr/>
                    <ns1:lstStyle/>
                    <ns1:p>
                      <ns1:r>
                        <ns1:rPr sz="1425" b="0">
                          <ns1:solidFill>
                            <ns1:srgbClr val="1F2A37"/>
                          </ns1:solidFill>
                          <ns1:latin typeface="Arial"/>
                          <ns1:ea typeface="Arial"/>
                          <ns1:cs typeface="Arial"/>
                        </ns1:rPr>
                        <ns1:t>Macro instrument encoder</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178 macro series, LSTM</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32 states</ns1:t>
                      </ns1:r>
                    </ns1:p>
                  </ns1:txBody>
                  <ns1:tcPr marL="91440" marR="91440" marT="45720" marB="45720">
                    <ns1:solidFill>
                      <ns1:srgbClr val="EEF3F8"/>
                    </ns1:solidFill>
                  </ns1:tcPr>
                </ns1:tc>
              </ns1:tr>
              <ns1:tr h="571500">
                <ns1:tc>
                  <ns1:txBody>
                    <ns1:bodyPr/>
                    <ns1:lstStyle/>
                    <ns1:p>
                      <ns1:r>
                        <ns1:rPr sz="1425" b="0">
                          <ns1:solidFill>
                            <ns1:srgbClr val="1F2A37"/>
                          </ns1:solidFill>
                          <ns1:latin typeface="Arial"/>
                          <ns1:ea typeface="Arial"/>
                          <ns1:cs typeface="Arial"/>
                        </ns1:rPr>
                        <ns1:t>Conditional network</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Characteristics + states</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8 bounded instruments</ns1:t>
                      </ns1:r>
                    </ns1:p>
                  </ns1:txBody>
                  <ns1:tcPr marL="91440" marR="91440" marT="45720" marB="45720">
                    <ns1:solidFill>
                      <ns1:srgbClr val="FFFFFF"/>
                    </ns1:solidFill>
                  </ns1:tcPr>
                </ns1:tc>
              </ns1:tr>
            </ns1:tbl>
          </ns1:graphicData>
        </ns1:graphic>
      </ns0:graphicFrame>
      <ns0:sp>
        <ns0:nvSpPr>
          <ns0:cNvPr id="10" name="">
            <ns1:extLst>
              <ns1:ext uri="{FF2B5EF4-FFF2-40B4-BE49-F238E27FC236}">
                <ns2:creationId id="{549E0823-13F8-46EA-9053-08FEB3CE12C3}"/>
              </ns1:ext>
            </ns1:extLst>
          </ns0:cNvPr>
          <ns0:cNvSpPr>
            <ns1:spLocks noGrp="1"/>
          </ns0:cNvSpPr>
          <ns0:nvPr/>
        </ns0:nvSpPr>
        <ns0:spPr>
          <ns1:xfrm>
            <ns1:off x="419100" y="781050"/>
            <ns1:ext cx="8286750" cy="209550"/>
          </ns1:xfrm>
          <ns1:prstGeom prst="rect">
            <ns1:avLst/>
          </ns1:prstGeom>
          <ns1:noFill/>
          <ns1:ln w="0">
            <ns1:noFill/>
          </ns1:ln>
        </ns0:spPr>
        <ns0:txBody>
          <ns1:bodyPr>
            <ns1:noAutofit/>
          </ns1:bodyPr>
          <ns1:lstStyle/>
          <ns1:p>
            <ns1:pPr>
              <ns1:buNone/>
              <ns1:defRPr sz="1275" b="0">
                <ns1:solidFill>
                  <ns1:srgbClr val="1F2A37"/>
                </ns1:solidFill>
                <ns1:latin typeface="Arial"/>
                <ns1:ea typeface="Arial"/>
                <ns1:cs typeface="Arial"/>
              </ns1:defRPr>
            </ns1:pPr>
            <ns1:r>
              <ns1:rPr sz="1275" b="0">
                <ns1:solidFill>
                  <ns1:srgbClr val="1F2A37"/>
                </ns1:solidFill>
                <ns1:latin typeface="Arial"/>
                <ns1:ea typeface="Arial"/>
                <ns1:cs typeface="Arial"/>
              </ns1:rPr>
              <ns1:t>Goal: learn a stochastic discount factor through conditional pricing moments.</ns1:t>
            </ns1:r>
          </ns1:p>
        </ns0:txBody>
      </ns0:sp>
      <ns0:sp>
        <ns0:nvSpPr>
          <ns0:cNvPr id="12" name="">
            <ns1:extLst>
              <ns1:ext uri="{FF2B5EF4-FFF2-40B4-BE49-F238E27FC236}">
                <ns2:creationId id="{D0CD2774-67DF-44C3-BAEF-1EB247BE1153}"/>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The SDF network minimizes pricing errors, while an adversary exposes remaining errors.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Train 1967–86, validate 1987–91, and test 1992–2016.</ns1:t>
            </ns1:r>
          </ns1:p>
        </ns0:txBody>
      </ns0:sp>
    </ns0:spTree>
    <ns0:extLst>
      <ns0:ext uri="{BB962C8B-B14F-4D97-AF65-F5344CB8AC3E}">
        <ns3:creationId val="241089024"/>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BA4B65EB-3C9D-4A0A-A5B6-F43D5650CC63}"/>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4D037A00-CA31-49B7-A348-515295FC9802}"/>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AD6F88D0-05A6-4D75-A6AB-BCA7B61A97BA}"/>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Main paper: published results</ns1:t>
            </ns1:r>
          </ns1:p>
        </ns0:txBody>
      </ns0:sp>
      <ns0:sp>
        <ns0:nvSpPr>
          <ns0:cNvPr id="4" name="">
            <ns1:extLst>
              <ns1:ext uri="{FF2B5EF4-FFF2-40B4-BE49-F238E27FC236}">
                <ns2:creationId id="{26248FE1-8E51-4EA7-AC8B-62E05E017D53}"/>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1. Main paper</ns1:t>
            </ns1:r>
          </ns1:p>
        </ns0:txBody>
      </ns0:sp>
      <ns0:sp>
        <ns0:nvSpPr>
          <ns0:cNvPr id="5" name="">
            <ns1:extLst>
              <ns1:ext uri="{FF2B5EF4-FFF2-40B4-BE49-F238E27FC236}">
                <ns2:creationId id="{B8C358BC-7C57-4258-98AB-F5B0C57525E2}"/>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4</ns1:t>
            </ns1:r>
          </ns1:p>
        </ns0:txBody>
      </ns0:sp>
      <ns0:graphicFrame>
        <ns0:nvGraphicFramePr>
          <ns0:cNvPr id="17" name=""/>
          <ns0:cNvGraphicFramePr/>
          <ns0:nvPr/>
        </ns0:nvGraphicFramePr>
        <ns0:xfrm>
          <ns1:off x="400050" y="1019175"/>
          <ns1:ext cx="8343900" cy="2686050"/>
        </ns0:xfrm>
        <ns1:graphic>
          <ns1:graphicData uri="http://schemas.openxmlformats.org/drawingml/2006/table">
            <ns1:tbl>
              <ns1:tblPr/>
              <ns1:tblGrid>
                <ns1:gridCol w="2476500"/>
                <ns1:gridCol w="1955800"/>
                <ns1:gridCol w="1955800"/>
                <ns1:gridCol w="1955800"/>
              </ns1:tblGrid>
              <ns1:tr h="537210">
                <ns1:tc>
                  <ns1:txBody>
                    <ns1:bodyPr/>
                    <ns1:lstStyle/>
                    <ns1:p>
                      <ns1:r>
                        <ns1:rPr sz="1425" b="1">
                          <ns1:solidFill>
                            <ns1:srgbClr val="FFFFFF"/>
                          </ns1:solidFill>
                          <ns1:latin typeface="Arial"/>
                          <ns1:ea typeface="Arial"/>
                          <ns1:cs typeface="Arial"/>
                        </ns1:rPr>
                        <ns1:t>Model</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Train</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Validation</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Test</ns1:t>
                      </ns1:r>
                    </ns1:p>
                  </ns1:txBody>
                  <ns1:tcPr marL="91440" marR="91440" marT="45720" marB="45720">
                    <ns1:solidFill>
                      <ns1:srgbClr val="003262"/>
                    </ns1:solidFill>
                  </ns1:tcPr>
                </ns1:tc>
              </ns1:tr>
              <ns1:tr h="537210">
                <ns1:tc>
                  <ns1:txBody>
                    <ns1:bodyPr/>
                    <ns1:lstStyle/>
                    <ns1:p>
                      <ns1:r>
                        <ns1:rPr sz="1500" b="0">
                          <ns1:solidFill>
                            <ns1:srgbClr val="1F2A37"/>
                          </ns1:solidFill>
                          <ns1:latin typeface="Arial"/>
                          <ns1:ea typeface="Arial"/>
                          <ns1:cs typeface="Arial"/>
                        </ns1:rPr>
                        <ns1:t>LS</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1.800</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0.580</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0.420</ns1:t>
                      </ns1:r>
                    </ns1:p>
                  </ns1:txBody>
                  <ns1:tcPr marL="91440" marR="91440" marT="45720" marB="45720">
                    <ns1:solidFill>
                      <ns1:srgbClr val="EEF3F8"/>
                    </ns1:solidFill>
                  </ns1:tcPr>
                </ns1:tc>
              </ns1:tr>
              <ns1:tr h="537210">
                <ns1:tc>
                  <ns1:txBody>
                    <ns1:bodyPr/>
                    <ns1:lstStyle/>
                    <ns1:p>
                      <ns1:r>
                        <ns1:rPr sz="1500" b="0">
                          <ns1:solidFill>
                            <ns1:srgbClr val="1F2A37"/>
                          </ns1:solidFill>
                          <ns1:latin typeface="Arial"/>
                          <ns1:ea typeface="Arial"/>
                          <ns1:cs typeface="Arial"/>
                        </ns1:rPr>
                        <ns1:t>EN</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1.370</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1.150</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0.500</ns1:t>
                      </ns1:r>
                    </ns1:p>
                  </ns1:txBody>
                  <ns1:tcPr marL="91440" marR="91440" marT="45720" marB="45720">
                    <ns1:solidFill>
                      <ns1:srgbClr val="FFFFFF"/>
                    </ns1:solidFill>
                  </ns1:tcPr>
                </ns1:tc>
              </ns1:tr>
              <ns1:tr h="537210">
                <ns1:tc>
                  <ns1:txBody>
                    <ns1:bodyPr/>
                    <ns1:lstStyle/>
                    <ns1:p>
                      <ns1:r>
                        <ns1:rPr sz="1500" b="0">
                          <ns1:solidFill>
                            <ns1:srgbClr val="1F2A37"/>
                          </ns1:solidFill>
                          <ns1:latin typeface="Arial"/>
                          <ns1:ea typeface="Arial"/>
                          <ns1:cs typeface="Arial"/>
                        </ns1:rPr>
                        <ns1:t>FFN</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0.450</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0.420</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0.440</ns1:t>
                      </ns1:r>
                    </ns1:p>
                  </ns1:txBody>
                  <ns1:tcPr marL="91440" marR="91440" marT="45720" marB="45720">
                    <ns1:solidFill>
                      <ns1:srgbClr val="EEF3F8"/>
                    </ns1:solidFill>
                  </ns1:tcPr>
                </ns1:tc>
              </ns1:tr>
              <ns1:tr h="537210">
                <ns1:tc>
                  <ns1:txBody>
                    <ns1:bodyPr/>
                    <ns1:lstStyle/>
                    <ns1:p>
                      <ns1:r>
                        <ns1:rPr sz="1500" b="0">
                          <ns1:solidFill>
                            <ns1:srgbClr val="1F2A37"/>
                          </ns1:solidFill>
                          <ns1:latin typeface="Arial"/>
                          <ns1:ea typeface="Arial"/>
                          <ns1:cs typeface="Arial"/>
                        </ns1:rPr>
                        <ns1:t>GAN</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2.680</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1.430</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0.750</ns1:t>
                      </ns1:r>
                    </ns1:p>
                  </ns1:txBody>
                  <ns1:tcPr marL="91440" marR="91440" marT="45720" marB="45720">
                    <ns1:solidFill>
                      <ns1:srgbClr val="FFFFFF"/>
                    </ns1:solidFill>
                  </ns1:tcPr>
                </ns1:tc>
              </ns1:tr>
            </ns1:tbl>
          </ns1:graphicData>
        </ns1:graphic>
      </ns0:graphicFrame>
      <ns0:sp>
        <ns0:nvSpPr>
          <ns0:cNvPr id="10" name="">
            <ns1:extLst>
              <ns1:ext uri="{FF2B5EF4-FFF2-40B4-BE49-F238E27FC236}">
                <ns2:creationId id="{FAB9BC73-6FE2-414D-A10D-7E7859018E26}"/>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GAN has the highest published monthly Sharpe in every split.</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Use these results as the reference benchmark for our replication and extensions.</ns1:t>
            </ns1:r>
          </ns1:p>
        </ns0:txBody>
      </ns0:sp>
    </ns0:spTree>
    <ns0:extLst>
      <ns0:ext uri="{BB962C8B-B14F-4D97-AF65-F5344CB8AC3E}">
        <ns3:creationId val="551301269"/>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drawingml/2006/chart" xmlns:ns4="http://schemas.openxmlformats.org/officeDocument/2006/relationships" xmlns:ns5="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611089D9-1563-44C8-9239-8F2DD8B5FEA0}"/>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6731BE8F-AA89-476B-91FE-CC5063C98979}"/>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7DACBCC0-67AE-43F4-BDFC-C6776354450F}"/>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Replication: comparison with the main paper</ns1:t>
            </ns1:r>
          </ns1:p>
        </ns0:txBody>
      </ns0:sp>
      <ns0:sp>
        <ns0:nvSpPr>
          <ns0:cNvPr id="4" name="">
            <ns1:extLst>
              <ns1:ext uri="{FF2B5EF4-FFF2-40B4-BE49-F238E27FC236}">
                <ns2:creationId id="{455A9CFE-0B65-4701-B6FA-F0A4C683D33B}"/>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2. Replication</ns1:t>
            </ns1:r>
          </ns1:p>
        </ns0:txBody>
      </ns0:sp>
      <ns0:sp>
        <ns0:nvSpPr>
          <ns0:cNvPr id="5" name="">
            <ns1:extLst>
              <ns1:ext uri="{FF2B5EF4-FFF2-40B4-BE49-F238E27FC236}">
                <ns2:creationId id="{CACB040B-69F3-452C-914A-CAD15924BA7D}"/>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5</ns1:t>
            </ns1:r>
          </ns1:p>
        </ns0:txBody>
      </ns0:sp>
      <ns0:graphicFrame>
        <ns0:nvGraphicFramePr>
          <ns0:cNvPr id="17" name="Chart"/>
          <ns0:cNvGraphicFramePr/>
          <ns0:nvPr/>
        </ns0:nvGraphicFramePr>
        <ns0:xfrm>
          <ns1:off x="419100" y="933450"/>
          <ns1:ext cx="8305800" cy="3095625"/>
        </ns0:xfrm>
        <ns1:graphic>
          <ns1:graphicData uri="http://schemas.openxmlformats.org/drawingml/2006/chart">
            <ns3:chart ns4:id="Rdb75dc3fe8184889"/>
          </ns1:graphicData>
        </ns1:graphic>
      </ns0:graphicFrame>
      <ns0:sp>
        <ns0:nvSpPr>
          <ns0:cNvPr id="10" name="">
            <ns1:extLst>
              <ns1:ext uri="{FF2B5EF4-FFF2-40B4-BE49-F238E27FC236}">
                <ns2:creationId id="{ECE7A36E-BA5F-4318-A592-20FB24A644B4}"/>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Our GAN test Sharpe is 0.612, compared with the paper’s 0.750.</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Similar rankings support replication, but do not imply exact numerical reproduction.</ns1:t>
            </ns1:r>
          </ns1:p>
        </ns0:txBody>
      </ns0:sp>
    </ns0:spTree>
    <ns0:extLst>
      <ns0:ext uri="{BB962C8B-B14F-4D97-AF65-F5344CB8AC3E}">
        <ns5:creationId val="1020934128"/>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E99BE11B-4261-4CF5-9249-013190E84BC2}"/>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6F166329-D555-4B4B-B517-9F976DFD5E54}"/>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4FFADD75-D94A-448B-924C-D90C51A96C3B}"/>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Replication: validation and common signals</ns1:t>
            </ns1:r>
          </ns1:p>
        </ns0:txBody>
      </ns0:sp>
      <ns0:sp>
        <ns0:nvSpPr>
          <ns0:cNvPr id="4" name="">
            <ns1:extLst>
              <ns1:ext uri="{FF2B5EF4-FFF2-40B4-BE49-F238E27FC236}">
                <ns2:creationId id="{0DE48038-808C-4205-B9C5-761686BAF993}"/>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2. Replication</ns1:t>
            </ns1:r>
          </ns1:p>
        </ns0:txBody>
      </ns0:sp>
      <ns0:sp>
        <ns0:nvSpPr>
          <ns0:cNvPr id="5" name="">
            <ns1:extLst>
              <ns1:ext uri="{FF2B5EF4-FFF2-40B4-BE49-F238E27FC236}">
                <ns2:creationId id="{EA5EF2CC-5A0F-44CD-95D6-09752255A97C}"/>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6</ns1:t>
            </ns1:r>
          </ns1:p>
        </ns0:txBody>
      </ns0:sp>
      <ns0:graphicFrame>
        <ns0:nvGraphicFramePr>
          <ns0:cNvPr id="17" name=""/>
          <ns0:cNvGraphicFramePr/>
          <ns0:nvPr/>
        </ns0:nvGraphicFramePr>
        <ns0:xfrm>
          <ns1:off x="400050" y="1019175"/>
          <ns1:ext cx="8343900" cy="2781300"/>
        </ns0:xfrm>
        <ns1:graphic>
          <ns1:graphicData uri="http://schemas.openxmlformats.org/drawingml/2006/table">
            <ns1:tbl>
              <ns1:tblPr/>
              <ns1:tblGrid>
                <ns1:gridCol w="2714625"/>
                <ns1:gridCol w="2814638"/>
                <ns1:gridCol w="2814638"/>
              </ns1:tblGrid>
              <ns1:tr h="556260">
                <ns1:tc>
                  <ns1:txBody>
                    <ns1:bodyPr/>
                    <ns1:lstStyle/>
                    <ns1:p>
                      <ns1:r>
                        <ns1:rPr sz="1350" b="1">
                          <ns1:solidFill>
                            <ns1:srgbClr val="FFFFFF"/>
                          </ns1:solidFill>
                          <ns1:latin typeface="Arial"/>
                          <ns1:ea typeface="Arial"/>
                          <ns1:cs typeface="Arial"/>
                        </ns1:rPr>
                        <ns1:t>Check</ns1:t>
                      </ns1:r>
                    </ns1:p>
                  </ns1:txBody>
                  <ns1:tcPr marL="91440" marR="91440" marT="45720" marB="45720">
                    <ns1:solidFill>
                      <ns1:srgbClr val="003262"/>
                    </ns1:solidFill>
                  </ns1:tcPr>
                </ns1:tc>
                <ns1:tc>
                  <ns1:txBody>
                    <ns1:bodyPr/>
                    <ns1:lstStyle/>
                    <ns1:p>
                      <ns1:r>
                        <ns1:rPr sz="1350" b="1">
                          <ns1:solidFill>
                            <ns1:srgbClr val="FFFFFF"/>
                          </ns1:solidFill>
                          <ns1:latin typeface="Arial"/>
                          <ns1:ea typeface="Arial"/>
                          <ns1:cs typeface="Arial"/>
                        </ns1:rPr>
                        <ns1:t>Our result</ns1:t>
                      </ns1:r>
                    </ns1:p>
                  </ns1:txBody>
                  <ns1:tcPr marL="91440" marR="91440" marT="45720" marB="45720">
                    <ns1:solidFill>
                      <ns1:srgbClr val="003262"/>
                    </ns1:solidFill>
                  </ns1:tcPr>
                </ns1:tc>
                <ns1:tc>
                  <ns1:txBody>
                    <ns1:bodyPr/>
                    <ns1:lstStyle/>
                    <ns1:p>
                      <ns1:r>
                        <ns1:rPr sz="1350" b="1">
                          <ns1:solidFill>
                            <ns1:srgbClr val="FFFFFF"/>
                          </ns1:solidFill>
                          <ns1:latin typeface="Arial"/>
                          <ns1:ea typeface="Arial"/>
                          <ns1:cs typeface="Arial"/>
                        </ns1:rPr>
                        <ns1:t>Reference</ns1:t>
                      </ns1:r>
                    </ns1:p>
                  </ns1:txBody>
                  <ns1:tcPr marL="91440" marR="91440" marT="45720" marB="45720">
                    <ns1:solidFill>
                      <ns1:srgbClr val="003262"/>
                    </ns1:solidFill>
                  </ns1:tcPr>
                </ns1:tc>
              </ns1:tr>
              <ns1:tr h="556260">
                <ns1:tc>
                  <ns1:txBody>
                    <ns1:bodyPr/>
                    <ns1:lstStyle/>
                    <ns1:p>
                      <ns1:r>
                        <ns1:rPr sz="1425" b="0">
                          <ns1:solidFill>
                            <ns1:srgbClr val="1F2A37"/>
                          </ns1:solidFill>
                          <ns1:latin typeface="Arial"/>
                          <ns1:ea typeface="Arial"/>
                          <ns1:cs typeface="Arial"/>
                        </ns1:rPr>
                        <ns1:t>FF-3 test Sharpe</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0.196</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Paper 0.190</ns1:t>
                      </ns1:r>
                    </ns1:p>
                  </ns1:txBody>
                  <ns1:tcPr marL="91440" marR="91440" marT="45720" marB="45720">
                    <ns1:solidFill>
                      <ns1:srgbClr val="EEF3F8"/>
                    </ns1:solidFill>
                  </ns1:tcPr>
                </ns1:tc>
              </ns1:tr>
              <ns1:tr h="556260">
                <ns1:tc>
                  <ns1:txBody>
                    <ns1:bodyPr/>
                    <ns1:lstStyle/>
                    <ns1:p>
                      <ns1:r>
                        <ns1:rPr sz="1425" b="0">
                          <ns1:solidFill>
                            <ns1:srgbClr val="1F2A37"/>
                          </ns1:solidFill>
                          <ns1:latin typeface="Arial"/>
                          <ns1:ea typeface="Arial"/>
                          <ns1:cs typeface="Arial"/>
                        </ns1:rPr>
                        <ns1:t>FF-5 test Sharpe</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0.223</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Paper 0.220</ns1:t>
                      </ns1:r>
                    </ns1:p>
                  </ns1:txBody>
                  <ns1:tcPr marL="91440" marR="91440" marT="45720" marB="45720">
                    <ns1:solidFill>
                      <ns1:srgbClr val="FFFFFF"/>
                    </ns1:solidFill>
                  </ns1:tcPr>
                </ns1:tc>
              </ns1:tr>
              <ns1:tr h="556260">
                <ns1:tc>
                  <ns1:txBody>
                    <ns1:bodyPr/>
                    <ns1:lstStyle/>
                    <ns1:p>
                      <ns1:r>
                        <ns1:rPr sz="1425" b="0">
                          <ns1:solidFill>
                            <ns1:srgbClr val="1F2A37"/>
                          </ns1:solidFill>
                          <ns1:latin typeface="Arial"/>
                          <ns1:ea typeface="Arial"/>
                          <ns1:cs typeface="Arial"/>
                        </ns1:rPr>
                        <ns1:t>GAN test correlation</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0.800</ns1:t>
                      </ns1:r>
                    </ns1:p>
                  </ns1:txBody>
                  <ns1:tcPr marL="91440" marR="91440" marT="45720" marB="45720">
                    <ns1:solidFill>
                      <ns1:srgbClr val="EEF3F8"/>
                    </ns1:solidFill>
                  </ns1:tcPr>
                </ns1:tc>
                <ns1:tc>
                  <ns1:txBody>
                    <ns1:bodyPr/>
                    <ns1:lstStyle/>
                    <ns1:p>
                      <ns1:r>
                        <ns1:rPr sz="1425" b="0">
                          <ns1:solidFill>
                            <ns1:srgbClr val="1F2A37"/>
                          </ns1:solidFill>
                          <ns1:latin typeface="Arial"/>
                          <ns1:ea typeface="Arial"/>
                          <ns1:cs typeface="Arial"/>
                        </ns1:rPr>
                        <ns1:t>Authors’ monthly GAN</ns1:t>
                      </ns1:r>
                    </ns1:p>
                  </ns1:txBody>
                  <ns1:tcPr marL="91440" marR="91440" marT="45720" marB="45720">
                    <ns1:solidFill>
                      <ns1:srgbClr val="EEF3F8"/>
                    </ns1:solidFill>
                  </ns1:tcPr>
                </ns1:tc>
              </ns1:tr>
              <ns1:tr h="556260">
                <ns1:tc>
                  <ns1:txBody>
                    <ns1:bodyPr/>
                    <ns1:lstStyle/>
                    <ns1:p>
                      <ns1:r>
                        <ns1:rPr sz="1425" b="0">
                          <ns1:solidFill>
                            <ns1:srgbClr val="1F2A37"/>
                          </ns1:solidFill>
                          <ns1:latin typeface="Arial"/>
                          <ns1:ea typeface="Arial"/>
                          <ns1:cs typeface="Arial"/>
                        </ns1:rPr>
                        <ns1:t>Leading characteristics</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ST_REV, SUV, r12_2</ns1:t>
                      </ns1:r>
                    </ns1:p>
                  </ns1:txBody>
                  <ns1:tcPr marL="91440" marR="91440" marT="45720" marB="45720">
                    <ns1:solidFill>
                      <ns1:srgbClr val="FFFFFF"/>
                    </ns1:solidFill>
                  </ns1:tcPr>
                </ns1:tc>
                <ns1:tc>
                  <ns1:txBody>
                    <ns1:bodyPr/>
                    <ns1:lstStyle/>
                    <ns1:p>
                      <ns1:r>
                        <ns1:rPr sz="1425" b="0">
                          <ns1:solidFill>
                            <ns1:srgbClr val="1F2A37"/>
                          </ns1:solidFill>
                          <ns1:latin typeface="Arial"/>
                          <ns1:ea typeface="Arial"/>
                          <ns1:cs typeface="Arial"/>
                        </ns1:rPr>
                        <ns1:t>Same top three</ns1:t>
                      </ns1:r>
                    </ns1:p>
                  </ns1:txBody>
                  <ns1:tcPr marL="91440" marR="91440" marT="45720" marB="45720">
                    <ns1:solidFill>
                      <ns1:srgbClr val="FFFFFF"/>
                    </ns1:solidFill>
                  </ns1:tcPr>
                </ns1:tc>
              </ns1:tr>
            </ns1:tbl>
          </ns1:graphicData>
        </ns1:graphic>
      </ns0:graphicFrame>
      <ns0:sp>
        <ns0:nvSpPr>
          <ns0:cNvPr id="10" name="">
            <ns1:extLst>
              <ns1:ext uri="{FF2B5EF4-FFF2-40B4-BE49-F238E27FC236}">
                <ns2:creationId id="{5A5B4478-583B-4CCC-B7F8-06102F755121}"/>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Factor Sharpe, return correlation and leading characteristics show economic similarity.</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Implementation differences can still affect the replication gap.</ns1:t>
            </ns1:r>
          </ns1:p>
        </ns0:txBody>
      </ns0:sp>
    </ns0:spTree>
    <ns0:extLst>
      <ns0:ext uri="{BB962C8B-B14F-4D97-AF65-F5344CB8AC3E}">
        <ns3:creationId val="548532089"/>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12" name="">
            <ns1:extLst>
              <ns1:ext uri="{FF2B5EF4-FFF2-40B4-BE49-F238E27FC236}">
                <ns2:creationId id="{927980B7-6EC6-4E30-9639-EA453C034569}"/>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BDB52ECF-E0E9-401B-B1D8-65EEB89FB45B}"/>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2EBE4EFE-9E3F-401C-8660-2CC3C1EEDB04}"/>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Transformer: how the model changes</ns1:t>
            </ns1:r>
          </ns1:p>
        </ns0:txBody>
      </ns0:sp>
      <ns0:sp>
        <ns0:nvSpPr>
          <ns0:cNvPr id="4" name="">
            <ns1:extLst>
              <ns1:ext uri="{FF2B5EF4-FFF2-40B4-BE49-F238E27FC236}">
                <ns2:creationId id="{815A581A-E841-46B9-8044-106CAEBA053B}"/>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3. Transformer</ns1:t>
            </ns1:r>
          </ns1:p>
        </ns0:txBody>
      </ns0:sp>
      <ns0:sp>
        <ns0:nvSpPr>
          <ns0:cNvPr id="5" name="">
            <ns1:extLst>
              <ns1:ext uri="{FF2B5EF4-FFF2-40B4-BE49-F238E27FC236}">
                <ns2:creationId id="{6EDB3EE9-E9C5-44FF-8907-70CCFD3811F6}"/>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7</ns1:t>
            </ns1:r>
          </ns1:p>
        </ns0:txBody>
      </ns0:sp>
      <ns0:sp>
        <ns0:nvSpPr>
          <ns0:cNvPr id="13" name="">
            <ns1:extLst>
              <ns1:ext uri="{FF2B5EF4-FFF2-40B4-BE49-F238E27FC236}">
                <ns2:creationId id="{94C33F83-0603-4B56-8EA3-A828DA9CF515}"/>
              </ns1:ext>
            </ns1:extLst>
          </ns0:cNvPr>
          <ns0:cNvSpPr>
            <ns1:spLocks noGrp="1"/>
          </ns0:cNvSpPr>
          <ns0:nvPr/>
        </ns0:nvSpPr>
        <ns0:spPr>
          <ns1:xfrm>
            <ns1:off x="419100" y="981075"/>
            <ns1:ext cx="8286750" cy="304800"/>
          </ns1:xfrm>
          <ns1:prstGeom prst="rect">
            <ns1:avLst/>
          </ns1:prstGeom>
          <ns1:noFill/>
          <ns1:ln w="0">
            <ns1:noFill/>
          </ns1:ln>
        </ns0:spPr>
        <ns0:txBody>
          <ns1:bodyPr>
            <ns1:noAutofit/>
          </ns1:bodyPr>
          <ns1:lstStyle/>
          <ns1:p>
            <ns1:pPr>
              <ns1:defRPr sz="1800" b="1">
                <ns1:solidFill>
                  <ns1:srgbClr val="003262"/>
                </ns1:solidFill>
                <ns1:latin typeface="Arial"/>
                <ns1:ea typeface="Arial"/>
                <ns1:cs typeface="Arial"/>
              </ns1:defRPr>
            </ns1:pPr>
            <ns1:r>
              <ns1:rPr sz="1800" b="1">
                <ns1:solidFill>
                  <ns1:srgbClr val="003262"/>
                </ns1:solidFill>
                <ns1:latin typeface="Arial"/>
                <ns1:ea typeface="Arial"/>
                <ns1:cs typeface="Arial"/>
              </ns1:rPr>
              <ns1:t>1. Represent the macroeconomic history</ns1:t>
            </ns1:r>
          </ns1:p>
        </ns0:txBody>
      </ns0:sp>
      <ns0:sp>
        <ns0:nvSpPr>
          <ns0:cNvPr id="14" name="">
            <ns1:extLst>
              <ns1:ext uri="{FF2B5EF4-FFF2-40B4-BE49-F238E27FC236}">
                <ns2:creationId id="{92032622-7BDD-495C-86FA-289B5ACBB459}"/>
              </ns1:ext>
            </ns1:extLst>
          </ns0:cNvPr>
          <ns0:cNvSpPr>
            <ns1:spLocks noGrp="1"/>
          </ns0:cNvSpPr>
          <ns0:nvPr/>
        </ns0:nvSpPr>
        <ns0:spPr>
          <ns1:xfrm>
            <ns1:off x="419100" y="1352550"/>
            <ns1:ext cx="8286750" cy="552450"/>
          </ns1:xfrm>
          <ns1:prstGeom prst="rect">
            <ns1:avLst/>
          </ns1:prstGeom>
          <ns1:noFill/>
          <ns1:ln w="0">
            <ns1:noFill/>
          </ns1:ln>
        </ns0:spPr>
        <ns0:txBody>
          <ns1:bodyPr>
            <ns1:noAutofit/>
          </ns1:bodyPr>
          <ns1:lstStyle/>
          <ns1:p>
            <ns1:pPr>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Project each month’s 178 macro variables into a vector. Add position information so the model knows the order of months.</ns1:t>
            </ns1:r>
          </ns1:p>
        </ns0:txBody>
      </ns0:sp>
      <ns0:sp>
        <ns0:nvSpPr>
          <ns0:cNvPr id="15" name="">
            <ns1:extLst>
              <ns1:ext uri="{FF2B5EF4-FFF2-40B4-BE49-F238E27FC236}">
                <ns2:creationId id="{1D906765-1B79-43EE-A32D-DD6153C21AEB}"/>
              </ns1:ext>
            </ns1:extLst>
          </ns0:cNvPr>
          <ns0:cNvSpPr>
            <ns1:spLocks noGrp="1"/>
          </ns0:cNvSpPr>
          <ns0:nvPr/>
        </ns0:nvSpPr>
        <ns0:spPr>
          <ns1:xfrm>
            <ns1:off x="419100" y="2038350"/>
            <ns1:ext cx="8286750" cy="304800"/>
          </ns1:xfrm>
          <ns1:prstGeom prst="rect">
            <ns1:avLst/>
          </ns1:prstGeom>
          <ns1:noFill/>
          <ns1:ln w="0">
            <ns1:noFill/>
          </ns1:ln>
        </ns0:spPr>
        <ns0:txBody>
          <ns1:bodyPr>
            <ns1:noAutofit/>
          </ns1:bodyPr>
          <ns1:lstStyle/>
          <ns1:p>
            <ns1:pPr>
              <ns1:defRPr sz="1800" b="1">
                <ns1:solidFill>
                  <ns1:srgbClr val="003262"/>
                </ns1:solidFill>
                <ns1:latin typeface="Arial"/>
                <ns1:ea typeface="Arial"/>
                <ns1:cs typeface="Arial"/>
              </ns1:defRPr>
            </ns1:pPr>
            <ns1:r>
              <ns1:rPr sz="1800" b="1">
                <ns1:solidFill>
                  <ns1:srgbClr val="003262"/>
                </ns1:solidFill>
                <ns1:latin typeface="Arial"/>
                <ns1:ea typeface="Arial"/>
                <ns1:cs typeface="Arial"/>
              </ns1:rPr>
              <ns1:t>2. Attend to the available history</ns1:t>
            </ns1:r>
          </ns1:p>
        </ns0:txBody>
      </ns0:sp>
      <ns0:sp>
        <ns0:nvSpPr>
          <ns0:cNvPr id="16" name="">
            <ns1:extLst>
              <ns1:ext uri="{FF2B5EF4-FFF2-40B4-BE49-F238E27FC236}">
                <ns2:creationId id="{853AB608-0633-4BB7-9035-1FBDF93F0699}"/>
              </ns1:ext>
            </ns1:extLst>
          </ns0:cNvPr>
          <ns0:cNvSpPr>
            <ns1:spLocks noGrp="1"/>
          </ns0:cNvSpPr>
          <ns0:nvPr/>
        </ns0:nvSpPr>
        <ns0:spPr>
          <ns1:xfrm>
            <ns1:off x="419100" y="2409825"/>
            <ns1:ext cx="8286750" cy="552450"/>
          </ns1:xfrm>
          <ns1:prstGeom prst="rect">
            <ns1:avLst/>
          </ns1:prstGeom>
          <ns1:noFill/>
          <ns1:ln w="0">
            <ns1:noFill/>
          </ns1:ln>
        </ns0:spPr>
        <ns0:txBody>
          <ns1:bodyPr>
            <ns1:noAutofit/>
          </ns1:bodyPr>
          <ns1:lstStyle/>
          <ns1:p>
            <ns1:pPr>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Self-attention learns which earlier months matter for the current state. A causal mask blocks access to future months.</ns1:t>
            </ns1:r>
          </ns1:p>
        </ns0:txBody>
      </ns0:sp>
      <ns0:sp>
        <ns0:nvSpPr>
          <ns0:cNvPr id="17" name="">
            <ns1:extLst>
              <ns1:ext uri="{FF2B5EF4-FFF2-40B4-BE49-F238E27FC236}">
                <ns2:creationId id="{3D17220E-4748-4E69-AE87-AF5FB454E133}"/>
              </ns1:ext>
            </ns1:extLst>
          </ns0:cNvPr>
          <ns0:cNvSpPr>
            <ns1:spLocks noGrp="1"/>
          </ns0:cNvSpPr>
          <ns0:nvPr/>
        </ns0:nvSpPr>
        <ns0:spPr>
          <ns1:xfrm>
            <ns1:off x="419100" y="3095625"/>
            <ns1:ext cx="8286750" cy="304800"/>
          </ns1:xfrm>
          <ns1:prstGeom prst="rect">
            <ns1:avLst/>
          </ns1:prstGeom>
          <ns1:noFill/>
          <ns1:ln w="0">
            <ns1:noFill/>
          </ns1:ln>
        </ns0:spPr>
        <ns0:txBody>
          <ns1:bodyPr>
            <ns1:noAutofit/>
          </ns1:bodyPr>
          <ns1:lstStyle/>
          <ns1:p>
            <ns1:pPr>
              <ns1:defRPr sz="1800" b="1">
                <ns1:solidFill>
                  <ns1:srgbClr val="003262"/>
                </ns1:solidFill>
                <ns1:latin typeface="Arial"/>
                <ns1:ea typeface="Arial"/>
                <ns1:cs typeface="Arial"/>
              </ns1:defRPr>
            </ns1:pPr>
            <ns1:r>
              <ns1:rPr sz="1800" b="1">
                <ns1:solidFill>
                  <ns1:srgbClr val="003262"/>
                </ns1:solidFill>
                <ns1:latin typeface="Arial"/>
                <ns1:ea typeface="Arial"/>
                <ns1:cs typeface="Arial"/>
              </ns1:rPr>
              <ns1:t>3. Replace both LSTM encoders</ns1:t>
            </ns1:r>
          </ns1:p>
        </ns0:txBody>
      </ns0:sp>
      <ns0:sp>
        <ns0:nvSpPr>
          <ns0:cNvPr id="18" name="">
            <ns1:extLst>
              <ns1:ext uri="{FF2B5EF4-FFF2-40B4-BE49-F238E27FC236}">
                <ns2:creationId id="{E5375F19-FA9A-4E53-B5C7-C59C6EFD8A40}"/>
              </ns1:ext>
            </ns1:extLst>
          </ns0:cNvPr>
          <ns0:cNvSpPr>
            <ns1:spLocks noGrp="1"/>
          </ns0:cNvSpPr>
          <ns0:nvPr/>
        </ns0:nvSpPr>
        <ns0:spPr>
          <ns1:xfrm>
            <ns1:off x="419100" y="3467100"/>
            <ns1:ext cx="8286750" cy="619125"/>
          </ns1:xfrm>
          <ns1:prstGeom prst="rect">
            <ns1:avLst/>
          </ns1:prstGeom>
          <ns1:noFill/>
          <ns1:ln w="0">
            <ns1:noFill/>
          </ns1:ln>
        </ns0:spPr>
        <ns0:txBody>
          <ns1:bodyPr>
            <ns1:noAutofit/>
          </ns1:bodyPr>
          <ns1:lstStyle/>
          <ns1:p>
            <ns1:pPr>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Two separate Transformers output 4 pricing states and 32 adversarial states. The pricing and instrument networks retain their economic roles.</ns1:t>
            </ns1:r>
          </ns1:p>
        </ns0:txBody>
      </ns0:sp>
      <ns0:sp>
        <ns0:nvSpPr>
          <ns0:cNvPr id="19" name="">
            <ns1:extLst>
              <ns1:ext uri="{FF2B5EF4-FFF2-40B4-BE49-F238E27FC236}">
                <ns2:creationId id="{473C2245-B4A3-47BB-B4C0-663729F750F9}"/>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t>LSTM updates a recurrent memory. Attention directly weights available past months.</ns1:t>
            </ns1:r>
          </ns1:p>
          <ns1:p>
            <ns1:pPr marL="152400" indent="-88900">
              <ns1:spcAft>
                <ns1:spcPts val="200"/>
              </ns1:spcAft>
              <ns1:buChar char="•"/>
              <ns1:defRPr sz="1275" b="1">
                <ns1:solidFill>
                  <ns1:srgbClr val="003262"/>
                </ns1:solidFill>
                <ns1:latin typeface="Arial"/>
                <ns1:ea typeface="Arial"/>
                <ns1:cs typeface="Arial"/>
              </ns1:defRPr>
            </ns1:pPr>
            <ns1:r>
              <ns1:t>The extension changes macro encoding while retaining the asset-pricing objective.</ns1:t>
            </ns1:r>
          </ns1:p>
        </ns0:txBody>
      </ns0:sp>
    </ns0:spTree>
    <ns0:extLst>
      <ns0:ext uri="{BB962C8B-B14F-4D97-AF65-F5344CB8AC3E}">
        <ns3:creationId val="355781408"/>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openxmlformats.org/drawingml/2006/chart" xmlns:ns4="http://schemas.openxmlformats.org/officeDocument/2006/relationships" xmlns:ns5="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0700D548-CD4D-413E-AD30-5A44507AFBDE}"/>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B936E9CD-0600-4E31-A07F-ADDD8F6A58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E8300B09-DD34-41F4-8BA7-2536FAF5AF8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Transformer: train, validation and test results</ns1:t>
            </ns1:r>
          </ns1:p>
        </ns0:txBody>
      </ns0:sp>
      <ns0:sp>
        <ns0:nvSpPr>
          <ns0:cNvPr id="4" name="">
            <ns1:extLst>
              <ns1:ext uri="{FF2B5EF4-FFF2-40B4-BE49-F238E27FC236}">
                <ns2:creationId id="{2D271C58-2903-4859-91E8-D524505C822E}"/>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3. Transformer</ns1:t>
            </ns1:r>
          </ns1:p>
        </ns0:txBody>
      </ns0:sp>
      <ns0:sp>
        <ns0:nvSpPr>
          <ns0:cNvPr id="5" name="">
            <ns1:extLst>
              <ns1:ext uri="{FF2B5EF4-FFF2-40B4-BE49-F238E27FC236}">
                <ns2:creationId id="{218538B8-CE65-40DB-9125-1A3ECA8F009A}"/>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8</ns1:t>
            </ns1:r>
          </ns1:p>
        </ns0:txBody>
      </ns0:sp>
      <ns0:graphicFrame>
        <ns0:nvGraphicFramePr>
          <ns0:cNvPr id="17" name="Chart"/>
          <ns0:cNvGraphicFramePr/>
          <ns0:nvPr/>
        </ns0:nvGraphicFramePr>
        <ns0:xfrm>
          <ns1:off x="419100" y="933450"/>
          <ns1:ext cx="8305800" cy="3095625"/>
        </ns0:xfrm>
        <ns1:graphic>
          <ns1:graphicData uri="http://schemas.openxmlformats.org/drawingml/2006/chart">
            <ns3:chart ns4:id="R92575367d0f746da"/>
          </ns1:graphicData>
        </ns1:graphic>
      </ns0:graphicFrame>
      <ns0:sp>
        <ns0:nvSpPr>
          <ns0:cNvPr id="10" name="">
            <ns1:extLst>
              <ns1:ext uri="{FF2B5EF4-FFF2-40B4-BE49-F238E27FC236}">
                <ns2:creationId id="{1457C092-7A5A-4724-BCC1-140AAFECED82}"/>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Extension LSTM leads Transformer: test monthly Sharpe is 0.459 versus 0.304.</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This comparison holds under our reduced budget, not the full author schedule.</ns1:t>
            </ns1:r>
          </ns1:p>
        </ns0:txBody>
      </ns0:sp>
    </ns0:spTree>
    <ns0:extLst>
      <ns0:ext uri="{BB962C8B-B14F-4D97-AF65-F5344CB8AC3E}">
        <ns5:creationId val="2037954249"/>
      </ns0:ext>
    </ns0:extLst>
  </ns0:cSld>
</ns0:sld>
</file>

<file path=ppt/slides/slide9.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Rolling: 36- and 60-month Sharpe</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4. Rolling windows</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9</ns1:t>
            </ns1:r>
          </ns1:p>
        </ns0:txBody>
      </ns0:sp>
      <ns0:pic>
        <ns0:nvPicPr>
          <ns0:cNvPr id="23" name=""/>
          <ns0:cNvPicPr>
            <ns1:picLocks noChangeAspect="1"/>
          </ns0:cNvPicPr>
          <ns0:nvPr/>
        </ns0:nvPicPr>
        <ns0:blipFill>
          <ns1:blip ns3:embed="Rac9d03c30b034d6a"/>
          <ns1:stretch/>
        </ns0:blipFill>
        <ns0:spPr>
          <ns1:xfrm>
            <ns1:off x="1909763" y="857250"/>
            <ns1:ext cx="5324475" cy="3276600"/>
          </ns1:xfrm>
          <ns1:prstGeom prst="rect">
            <ns1:avLst/>
          </ns1:prstGeom>
        </ns0:spPr>
      </ns0:pic>
      <ns0:sp>
        <ns0:nvSpPr>
          <ns0:cNvPr id="16" name="">
            <ns1:extLst>
              <ns1:ext uri="{FF2B5EF4-FFF2-40B4-BE49-F238E27FC236}">
                <ns2:creationId id="{1A2FFD10-B8A2-4896-827A-7D5EE12E3A21}"/>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Curves show annualized Sharpe over the previous 36 or 60 months.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Longer windows smooth fluctuations. These fixed models are not retrained.</ns1:t>
            </ns1:r>
          </ns1:p>
        </ns0:txBody>
      </ns0:sp>
    </ns0:spTree>
    <ns0:extLst>
      <ns0:ext uri="{BB962C8B-B14F-4D97-AF65-F5344CB8AC3E}">
        <ns4:creationId val="1467767590"/>
      </ns0:ext>
    </ns0:extLst>
  </ns0:cSld>
</ns0:sld>
</file>

<file path=ppt/slides/slide10.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Rolling: paired Sharpe differences</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4. Rolling windows</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10</ns1:t>
            </ns1:r>
          </ns1:p>
        </ns0:txBody>
      </ns0:sp>
      <ns0:pic>
        <ns0:nvPicPr>
          <ns0:cNvPr id="25" name=""/>
          <ns0:cNvPicPr>
            <ns1:picLocks noChangeAspect="1"/>
          </ns0:cNvPicPr>
          <ns0:nvPr/>
        </ns0:nvPicPr>
        <ns0:blipFill>
          <ns1:blip ns3:embed="R41995a4ed4fb466f"/>
          <ns1:stretch/>
        </ns0:blipFill>
        <ns0:spPr>
          <ns1:xfrm>
            <ns1:off x="1235652" y="742950"/>
            <ns1:ext cx="4424795" cy="3476625"/>
          </ns1:xfrm>
          <ns1:prstGeom prst="rect">
            <ns1:avLst/>
          </ns1:prstGeom>
        </ns0:spPr>
      </ns0:pic>
      <ns0:sp>
        <ns0:nvSpPr>
          <ns0:cNvPr id="15" name="">
            <ns1:extLst>
              <ns1:ext uri="{FF2B5EF4-FFF2-40B4-BE49-F238E27FC236}">
                <ns2:creationId id="{DCFFA772-2692-4148-BCFF-354C15928372}"/>
              </ns1:ext>
            </ns1:extLst>
          </ns0:cNvPr>
          <ns0:cNvSpPr>
            <ns1:spLocks noGrp="1"/>
          </ns0:cNvSpPr>
          <ns0:nvPr/>
        </ns0:nvSpPr>
        <ns0:spPr>
          <ns1:xfrm>
            <ns1:off x="6800850" y="1066800"/>
            <ns1:ext cx="2133600" cy="619125"/>
          </ns1:xfrm>
          <ns1:prstGeom prst="rect">
            <ns1:avLst/>
          </ns1:prstGeom>
          <ns1:noFill/>
          <ns1:ln w="0">
            <ns1:noFill/>
          </ns1:ln>
        </ns0:spPr>
        <ns0:txBody>
          <ns1:bodyPr>
            <ns1:noAutofit/>
          </ns1:bodyPr>
          <ns1:lstStyle/>
          <ns1:p>
            <ns1:pPr>
              <ns1:buNone/>
              <ns1:defRPr sz="1650" b="1">
                <ns1:solidFill>
                  <ns1:srgbClr val="003262"/>
                </ns1:solidFill>
                <ns1:latin typeface="Arial"/>
                <ns1:ea typeface="Arial"/>
                <ns1:cs typeface="Arial"/>
              </ns1:defRPr>
            </ns1:pPr>
            <ns1:r>
              <ns1:rPr sz="1650" b="1">
                <ns1:solidFill>
                  <ns1:srgbClr val="003262"/>
                </ns1:solidFill>
                <ns1:latin typeface="Arial"/>
                <ns1:ea typeface="Arial"/>
                <ns1:cs typeface="Arial"/>
              </ns1:rPr>
              <ns1:t>36- and 60-month windows</ns1:t>
            </ns1:r>
          </ns1:p>
        </ns0:txBody>
      </ns0:sp>
      <ns0:sp>
        <ns0:nvSpPr>
          <ns0:cNvPr id="16" name="">
            <ns1:extLst>
              <ns1:ext uri="{FF2B5EF4-FFF2-40B4-BE49-F238E27FC236}">
                <ns2:creationId id="{5219C44E-FA2B-45E2-A4B3-E22300D07256}"/>
              </ns1:ext>
            </ns1:extLst>
          </ns0:cNvPr>
          <ns0:cNvSpPr>
            <ns1:spLocks noGrp="1"/>
          </ns0:cNvSpPr>
          <ns0:nvPr/>
        </ns0:nvSpPr>
        <ns0:spPr>
          <ns1:xfrm>
            <ns1:off x="6800850" y="1924050"/>
            <ns1:ext cx="2133600" cy="1057275"/>
          </ns1:xfrm>
          <ns1:prstGeom prst="rect">
            <ns1:avLst/>
          </ns1:prstGeom>
          <ns1:noFill/>
          <ns1:ln w="0">
            <ns1:noFill/>
          </ns1:ln>
        </ns0:spPr>
        <ns0:txBody>
          <ns1:bodyPr>
            <ns1:noAutofit/>
          </ns1:bodyPr>
          <ns1:lstStyle/>
          <ns1:p>
            <ns1:pPr>
              <ns1:buNone/>
              <ns1:defRPr sz="1500" b="0">
                <ns1:solidFill>
                  <ns1:srgbClr val="003262"/>
                </ns1:solidFill>
                <ns1:latin typeface="Arial"/>
                <ns1:ea typeface="Arial"/>
                <ns1:cs typeface="Arial"/>
              </ns1:defRPr>
            </ns1:pPr>
            <ns1:r>
              <ns1:rPr sz="1500" b="0">
                <ns1:solidFill>
                  <ns1:srgbClr val="003262"/>
                </ns1:solidFill>
                <ns1:latin typeface="Arial"/>
                <ns1:ea typeface="Arial"/>
                <ns1:cs typeface="Arial"/>
              </ns1:rPr>
              <ns1:t>Line: observed annualized Sharpe gap.</ns1:t>
            </ns1:r>
          </ns1:p>
          <ns1:p>
            <ns1:pPr>
              <ns1:buNone/>
              <ns1:defRPr sz="1500" b="0">
                <ns1:solidFill>
                  <ns1:srgbClr val="003262"/>
                </ns1:solidFill>
                <ns1:latin typeface="Arial"/>
                <ns1:ea typeface="Arial"/>
                <ns1:cs typeface="Arial"/>
              </ns1:defRPr>
            </ns1:pPr>
            <ns1:r>
              <ns1:rPr sz="1500" b="0">
                <ns1:solidFill>
                  <ns1:srgbClr val="003262"/>
                </ns1:solidFill>
                <ns1:latin typeface="Arial"/>
                <ns1:ea typeface="Arial"/>
                <ns1:cs typeface="Arial"/>
              </ns1:rPr>
              <ns1:t>Band: pointwise 95% basic interval.</ns1:t>
            </ns1:r>
          </ns1:p>
        </ns0:txBody>
      </ns0:sp>
      <ns0:sp>
        <ns0:nvSpPr>
          <ns0:cNvPr id="18" name="">
            <ns1:extLst>
              <ns1:ext uri="{FF2B5EF4-FFF2-40B4-BE49-F238E27FC236}">
                <ns2:creationId id="{4ECA9557-D389-4EB7-BB58-A17C9511530B}"/>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Line: observed paired Sharpe gap. Shading: pointwise 95% basic interval.</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A band crossing zero leaves that window’s ranking unresolved.</ns1:t>
            </ns1:r>
          </ns1:p>
        </ns0:txBody>
      </ns0:sp>
    </ns0:spTree>
    <ns0:extLst>
      <ns0:ext uri="{BB962C8B-B14F-4D97-AF65-F5344CB8AC3E}">
        <ns4:creationId val="1467767590"/>
      </ns0:ext>
    </ns0:extLst>
  </ns0:cSld>
</ns0:sld>
</file>

<file path=ppt/slides/slide1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9" name="">
            <ns1:extLst>
              <ns1:ext uri="{FF2B5EF4-FFF2-40B4-BE49-F238E27FC236}">
                <ns2:creationId id="{CB5E5558-6D3D-4419-AB34-A274CB1C6EDC}"/>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9C322014-C91C-46FD-AE54-1880BE263DDD}"/>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8EF230A8-3FFC-4E6D-8351-21107C8D574C}"/>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Regimes: definitions and sample sizes</ns1:t>
            </ns1:r>
          </ns1:p>
        </ns0:txBody>
      </ns0:sp>
      <ns0:sp>
        <ns0:nvSpPr>
          <ns0:cNvPr id="4" name="">
            <ns1:extLst>
              <ns1:ext uri="{FF2B5EF4-FFF2-40B4-BE49-F238E27FC236}">
                <ns2:creationId id="{DFCBBE1D-8D0C-4815-9EC8-A51897F62AFC}"/>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5. Regime change</ns1:t>
            </ns1:r>
          </ns1:p>
        </ns0:txBody>
      </ns0:sp>
      <ns0:sp>
        <ns0:nvSpPr>
          <ns0:cNvPr id="5" name="">
            <ns1:extLst>
              <ns1:ext uri="{FF2B5EF4-FFF2-40B4-BE49-F238E27FC236}">
                <ns2:creationId id="{A33275F8-AEDE-492C-A99A-DDDA6FC4BD37}"/>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11</ns1:t>
            </ns1:r>
          </ns1:p>
        </ns0:txBody>
      </ns0:sp>
      <ns0:graphicFrame>
        <ns0:nvGraphicFramePr>
          <ns0:cNvPr id="18" name=""/>
          <ns0:cNvGraphicFramePr/>
          <ns0:nvPr/>
        </ns0:nvGraphicFramePr>
        <ns0:xfrm>
          <ns1:off x="400050" y="1019175"/>
          <ns1:ext cx="8343900" cy="1714500"/>
        </ns0:xfrm>
        <ns1:graphic>
          <ns1:graphicData uri="http://schemas.openxmlformats.org/drawingml/2006/table">
            <ns1:tbl>
              <ns1:tblPr/>
              <ns1:tblGrid>
                <ns1:gridCol w="2095500"/>
                <ns1:gridCol w="3124200"/>
                <ns1:gridCol w="3124200"/>
              </ns1:tblGrid>
              <ns1:tr h="571500">
                <ns1:tc>
                  <ns1:txBody>
                    <ns1:bodyPr/>
                    <ns1:lstStyle/>
                    <ns1:p>
                      <ns1:r>
                        <ns1:rPr sz="1425" b="1">
                          <ns1:solidFill>
                            <ns1:srgbClr val="FFFFFF"/>
                          </ns1:solidFill>
                          <ns1:latin typeface="Arial"/>
                          <ns1:ea typeface="Arial"/>
                          <ns1:cs typeface="Arial"/>
                        </ns1:rPr>
                        <ns1:t>Regime family</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Definition</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Test months</ns1:t>
                      </ns1:r>
                    </ns1:p>
                  </ns1:txBody>
                  <ns1:tcPr marL="91440" marR="91440" marT="45720" marB="45720">
                    <ns1:solidFill>
                      <ns1:srgbClr val="003262"/>
                    </ns1:solidFill>
                  </ns1:tcPr>
                </ns1:tc>
              </ns1:tr>
              <ns1:tr h="571500">
                <ns1:tc>
                  <ns1:txBody>
                    <ns1:bodyPr/>
                    <ns1:lstStyle/>
                    <ns1:p>
                      <ns1:r>
                        <ns1:rPr sz="1500" b="0">
                          <ns1:solidFill>
                            <ns1:srgbClr val="1F2A37"/>
                          </ns1:solidFill>
                          <ns1:latin typeface="Arial"/>
                          <ns1:ea typeface="Arial"/>
                          <ns1:cs typeface="Arial"/>
                        </ns1:rPr>
                        <ns1:t>Business cycle</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NBER expansion / recession</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274 / 26</ns1:t>
                      </ns1:r>
                    </ns1:p>
                  </ns1:txBody>
                  <ns1:tcPr marL="91440" marR="91440" marT="45720" marB="45720">
                    <ns1:solidFill>
                      <ns1:srgbClr val="EEF3F8"/>
                    </ns1:solidFill>
                  </ns1:tcPr>
                </ns1:tc>
              </ns1:tr>
              <ns1:tr h="571500">
                <ns1:tc>
                  <ns1:txBody>
                    <ns1:bodyPr/>
                    <ns1:lstStyle/>
                    <ns1:p>
                      <ns1:r>
                        <ns1:rPr sz="1500" b="0">
                          <ns1:solidFill>
                            <ns1:srgbClr val="1F2A37"/>
                          </ns1:solidFill>
                          <ns1:latin typeface="Arial"/>
                          <ns1:ea typeface="Arial"/>
                          <ns1:cs typeface="Arial"/>
                        </ns1:rPr>
                        <ns1:t>Market volatility</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High / low previous-12-month volatility</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123 / 177</ns1:t>
                      </ns1:r>
                    </ns1:p>
                  </ns1:txBody>
                  <ns1:tcPr marL="91440" marR="91440" marT="45720" marB="45720">
                    <ns1:solidFill>
                      <ns1:srgbClr val="FFFFFF"/>
                    </ns1:solidFill>
                  </ns1:tcPr>
                </ns1:tc>
              </ns1:tr>
            </ns1:tbl>
          </ns1:graphicData>
        </ns1:graphic>
      </ns0:graphicFrame>
      <ns0:sp>
        <ns0:nvSpPr>
          <ns0:cNvPr id="7" name="">
            <ns1:extLst>
              <ns1:ext uri="{FF2B5EF4-FFF2-40B4-BE49-F238E27FC236}">
                <ns2:creationId id="{A32CA22B-6AFC-459D-9663-7BE494B42B45}"/>
              </ns1:ext>
            </ns1:extLst>
          </ns0:cNvPr>
          <ns0:cNvSpPr>
            <ns1:spLocks noGrp="1"/>
          </ns0:cNvSpPr>
          <ns0:nvPr/>
        </ns0:nvSpPr>
        <ns0:spPr>
          <ns1:xfrm>
            <ns1:off x="419100" y="3000375"/>
            <ns1:ext cx="8286750" cy="647700"/>
          </ns1:xfrm>
          <ns1:prstGeom prst="rect">
            <ns1:avLst/>
          </ns1:prstGeom>
          <ns1:noFill/>
          <ns1:ln w="0">
            <ns1:noFill/>
          </ns1:ln>
        </ns0:spPr>
        <ns0:txBody>
          <ns1:bodyPr>
            <ns1:noAutofit/>
          </ns1:bodyPr>
          <ns1:lstStyle/>
          <ns1:p>
            <ns1:pPr>
              <ns1:buNone/>
              <ns1:defRPr sz="1725" b="0">
                <ns1:solidFill>
                  <ns1:srgbClr val="1F2A37"/>
                </ns1:solidFill>
                <ns1:latin typeface="Arial"/>
                <ns1:ea typeface="Arial"/>
                <ns1:cs typeface="Arial"/>
              </ns1:defRPr>
            </ns1:pPr>
            <ns1:r>
              <ns1:rPr sz="1725" b="0">
                <ns1:solidFill>
                  <ns1:srgbClr val="1F2A37"/>
                </ns1:solidFill>
                <ns1:latin typeface="Arial"/>
                <ns1:ea typeface="Arial"/>
                <ns1:cs typeface="Arial"/>
              </ns1:rPr>
              <ns1:t>The volatility cutoff comes from the training sample. Recession dates are retrospective.</ns1:t>
            </ns1:r>
          </ns1:p>
        </ns0:txBody>
      </ns0:sp>
      <ns0:sp>
        <ns0:nvSpPr>
          <ns0:cNvPr id="11" name="">
            <ns1:extLst>
              <ns1:ext uri="{FF2B5EF4-FFF2-40B4-BE49-F238E27FC236}">
                <ns2:creationId id="{67DFFB2F-0349-4CAC-9C97-E7D1A1FED030}"/>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Business-cycle and volatility regimes classify different economic conditions.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Only 26 recession months limit precision. NBER labels are retrospective.</ns1:t>
            </ns1:r>
          </ns1:p>
        </ns0:txBody>
      </ns0:sp>
    </ns0:spTree>
    <ns0:extLst>
      <ns0:ext uri="{BB962C8B-B14F-4D97-AF65-F5344CB8AC3E}">
        <ns3:creationId val="258924723"/>
      </ns0:ext>
    </ns0:extLst>
  </ns0:cSld>
</ns0:sld>
</file>

<file path=ppt/slides/slide1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0FE07DDD-E7B8-4EA3-9649-23508D781D75}"/>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0FAEA006-A383-4DD8-9A61-17200858636C}"/>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5164E306-5B97-4FC3-80A1-2ECF8446746A}"/>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Regimes: comparison among our models</ns1:t>
            </ns1:r>
          </ns1:p>
        </ns0:txBody>
      </ns0:sp>
      <ns0:sp>
        <ns0:nvSpPr>
          <ns0:cNvPr id="4" name="">
            <ns1:extLst>
              <ns1:ext uri="{FF2B5EF4-FFF2-40B4-BE49-F238E27FC236}">
                <ns2:creationId id="{EDEF3DD9-A8F5-4FC0-B80F-F53973C90AC7}"/>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5. Regime change</ns1:t>
            </ns1:r>
          </ns1:p>
        </ns0:txBody>
      </ns0:sp>
      <ns0:sp>
        <ns0:nvSpPr>
          <ns0:cNvPr id="5" name="">
            <ns1:extLst>
              <ns1:ext uri="{FF2B5EF4-FFF2-40B4-BE49-F238E27FC236}">
                <ns2:creationId id="{C2C842B4-2656-4E27-8170-29C06494A6C7}"/>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12</ns1:t>
            </ns1:r>
          </ns1:p>
        </ns0:txBody>
      </ns0:sp>
      <ns0:pic>
        <ns0:nvPicPr>
          <ns0:cNvPr id="17" name=""/>
          <ns0:cNvPicPr>
            <ns1:picLocks noChangeAspect="1"/>
          </ns0:cNvPicPr>
          <ns0:nvPr/>
        </ns0:nvPicPr>
        <ns0:blipFill>
          <ns1:blip ns3:embed="Ra2035fd16e0e4719"/>
          <ns1:stretch/>
        </ns0:blipFill>
        <ns0:spPr>
          <ns1:xfrm>
            <ns1:off x="266700" y="948418"/>
            <ns1:ext cx="8610600" cy="3075214"/>
          </ns1:xfrm>
          <ns1:prstGeom prst="rect">
            <ns1:avLst/>
          </ns1:prstGeom>
        </ns0:spPr>
      </ns0:pic>
      <ns0:sp>
        <ns0:nvSpPr>
          <ns0:cNvPr id="10" name="">
            <ns1:extLst>
              <ns1:ext uri="{FF2B5EF4-FFF2-40B4-BE49-F238E27FC236}">
                <ns2:creationId id="{4D964932-39C0-43C7-BB9E-8705DF4DD341}"/>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Bars show monthly Sharpe using only months in each regime.</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Feedforward leads recession Sharpe at 0.570, while Transformer has -0.071.</ns1:t>
            </ns1:r>
          </ns1:p>
        </ns0:txBody>
      </ns0:sp>
    </ns0:spTree>
    <ns0:extLst>
      <ns0:ext uri="{BB962C8B-B14F-4D97-AF65-F5344CB8AC3E}">
        <ns4:creationId val="2076814023"/>
      </ns0:ext>
    </ns0:extLst>
  </ns0:cSld>
</ns0:sld>
</file>

<file path=ppt/slides/slide1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paper and replication</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13</ns1:t>
            </ns1:r>
          </ns1:p>
        </ns0:txBody>
      </ns0:sp>
      <ns0:pic>
        <ns0:nvPicPr>
          <ns0:cNvPr id="22" name=""/>
          <ns0:cNvPicPr>
            <ns1:picLocks noChangeAspect="1"/>
          </ns0:cNvPicPr>
          <ns0:nvPr/>
        </ns0:nvPicPr>
        <ns0:blipFill>
          <ns1:blip ns3:embed="R606c9444e18c4065"/>
          <ns1:srcRect l="0" t="0" r="0" b="58000"/>
          <ns1:stretch>
            <ns1:fillRect l="0" t="0" r="0" b="0"/>
          </ns1:stretch>
        </ns0:blipFill>
        <ns0:spPr>
          <ns1:xfrm>
            <ns1:off x="1362075" y="876300"/>
            <ns1:ext cx="6419850" cy="3276600"/>
          </ns1:xfrm>
          <ns1:prstGeom prst="rect">
            <ns1:avLst/>
          </ns1:prstGeom>
        </ns0:spPr>
      </ns0:pic>
      <ns0:sp>
        <ns0:nvSpPr>
          <ns0:cNvPr id="15" name="">
            <ns1:extLst>
              <ns1:ext uri="{FF2B5EF4-FFF2-40B4-BE49-F238E27FC236}">
                <ns2:creationId id="{F7646310-0595-49C3-839B-7D2226430A99}"/>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Lines show annualized rolling Sharpe for the paper and replicated GAN.</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Some bands cross zero, leaving positive Sharpe unresolved in those windows.</ns1:t>
            </ns1:r>
          </ns1:p>
        </ns0:txBody>
      </ns0:sp>
    </ns0:spTree>
    <ns0:extLst>
      <ns0:ext uri="{BB962C8B-B14F-4D97-AF65-F5344CB8AC3E}">
        <ns4:creationId val="1467767590"/>
      </ns0:ext>
    </ns0:extLst>
  </ns0:cSld>
</ns0:sld>
</file>

<file path=ppt/slides/slide1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extension models</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14</ns1:t>
            </ns1:r>
          </ns1:p>
        </ns0:txBody>
      </ns0:sp>
      <ns0:pic>
        <ns0:nvPicPr>
          <ns0:cNvPr id="22" name=""/>
          <ns0:cNvPicPr>
            <ns1:picLocks noChangeAspect="1"/>
          </ns0:cNvPicPr>
          <ns0:nvPr/>
        </ns0:nvPicPr>
        <ns0:blipFill>
          <ns1:blip ns3:embed="Rb7143f4b313544e8"/>
          <ns1:srcRect l="0" t="42000" r="0" b="0"/>
          <ns1:stretch>
            <ns1:fillRect l="0" t="0" r="0" b="0"/>
          </ns1:stretch>
        </ns0:blipFill>
        <ns0:spPr>
          <ns1:xfrm>
            <ns1:off x="2247900" y="876300"/>
            <ns1:ext cx="4648200" cy="3276600"/>
          </ns1:xfrm>
          <ns1:prstGeom prst="rect">
            <ns1:avLst/>
          </ns1:prstGeom>
        </ns0:spPr>
      </ns0:pic>
      <ns0:sp>
        <ns0:nvSpPr>
          <ns0:cNvPr id="15" name="">
            <ns1:extLst>
              <ns1:ext uri="{FF2B5EF4-FFF2-40B4-BE49-F238E27FC236}">
                <ns2:creationId id="{0FBC485B-A00E-4236-88B4-959EACA5A5C9}"/>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Separate confidence bands show sampling uncertainty for each extension model.</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Several bands cross zero. Use the paired comparison on slide 15 to assess model gaps.</ns1:t>
            </ns1:r>
          </ns1:p>
        </ns0:txBody>
      </ns0:sp>
    </ns0:spTree>
    <ns0:extLst>
      <ns0:ext uri="{BB962C8B-B14F-4D97-AF65-F5344CB8AC3E}">
        <ns4:creationId val="1467767590"/>
      </ns0:ext>
    </ns0:extLst>
  </ns0:cSld>
</ns0:sld>
</file>

<file path=ppt/slides/slide1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9" name="">
            <ns1:extLst>
              <ns1:ext uri="{FF2B5EF4-FFF2-40B4-BE49-F238E27FC236}">
                <ns2:creationId id="{1ECBEAE4-DF3D-49AC-AC77-3827D0C8A476}"/>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00711BCB-0BD7-4367-BC9A-E3DEAC4DC03C}"/>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58518004-C98E-4EF1-B645-A32BD34E91F5}"/>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paired Sharpe differences</ns1:t>
            </ns1:r>
          </ns1:p>
        </ns0:txBody>
      </ns0:sp>
      <ns0:sp>
        <ns0:nvSpPr>
          <ns0:cNvPr id="4" name="">
            <ns1:extLst>
              <ns1:ext uri="{FF2B5EF4-FFF2-40B4-BE49-F238E27FC236}">
                <ns2:creationId id="{C13BD07D-E50E-4FED-84C3-175A0A2A1A67}"/>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FA565141-3A51-404A-9DA1-2E8A04D56C2D}"/>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15</ns1:t>
            </ns1:r>
          </ns1:p>
        </ns0:txBody>
      </ns0:sp>
      <ns0:graphicFrame>
        <ns0:nvGraphicFramePr>
          <ns0:cNvPr id="18" name=""/>
          <ns0:cNvGraphicFramePr/>
          <ns0:nvPr/>
        </ns0:nvGraphicFramePr>
        <ns0:xfrm>
          <ns1:off x="400050" y="1019175"/>
          <ns1:ext cx="8343900" cy="2571750"/>
        </ns0:xfrm>
        <ns1:graphic>
          <ns1:graphicData uri="http://schemas.openxmlformats.org/drawingml/2006/table">
            <ns1:tbl>
              <ns1:tblPr/>
              <ns1:tblGrid>
                <ns1:gridCol w="2857500"/>
                <ns1:gridCol w="1828800"/>
                <ns1:gridCol w="1828800"/>
                <ns1:gridCol w="1828800"/>
              </ns1:tblGrid>
              <ns1:tr h="642938">
                <ns1:tc>
                  <ns1:txBody>
                    <ns1:bodyPr/>
                    <ns1:lstStyle/>
                    <ns1:p>
                      <ns1:r>
                        <ns1:rPr sz="1425" b="1">
                          <ns1:solidFill>
                            <ns1:srgbClr val="FFFFFF"/>
                          </ns1:solidFill>
                          <ns1:latin typeface="Arial"/>
                          <ns1:ea typeface="Arial"/>
                          <ns1:cs typeface="Arial"/>
                        </ns1:rPr>
                        <ns1:t>A minus B</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Difference</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95% basic</ns1:t>
                      </ns1:r>
                    </ns1:p>
                  </ns1:txBody>
                  <ns1:tcPr marL="91440" marR="91440" marT="45720" marB="45720">
                    <ns1:solidFill>
                      <ns1:srgbClr val="003262"/>
                    </ns1:solidFill>
                  </ns1:tcPr>
                </ns1:tc>
                <ns1:tc>
                  <ns1:txBody>
                    <ns1:bodyPr/>
                    <ns1:lstStyle/>
                    <ns1:p>
                      <ns1:r>
                        <ns1:rPr sz="1425" b="1">
                          <ns1:solidFill>
                            <ns1:srgbClr val="FFFFFF"/>
                          </ns1:solidFill>
                          <ns1:latin typeface="Arial"/>
                          <ns1:ea typeface="Arial"/>
                          <ns1:cs typeface="Arial"/>
                        </ns1:rPr>
                        <ns1:t>95% simultaneous</ns1:t>
                      </ns1:r>
                    </ns1:p>
                  </ns1:txBody>
                  <ns1:tcPr marL="91440" marR="91440" marT="45720" marB="45720">
                    <ns1:solidFill>
                      <ns1:srgbClr val="003262"/>
                    </ns1:solidFill>
                  </ns1:tcPr>
                </ns1:tc>
              </ns1:tr>
              <ns1:tr h="642938">
                <ns1:tc>
                  <ns1:txBody>
                    <ns1:bodyPr/>
                    <ns1:lstStyle/>
                    <ns1:p>
                      <ns1:r>
                        <ns1:rPr sz="1500" b="0">
                          <ns1:solidFill>
                            <ns1:srgbClr val="1F2A37"/>
                          </ns1:solidFill>
                          <ns1:latin typeface="Arial"/>
                          <ns1:ea typeface="Arial"/>
                          <ns1:cs typeface="Arial"/>
                        </ns1:rPr>
                        <ns1:t>Paper GAN minus</ns1:t>
                      </ns1:r>
                    </ns1:p>
                    <ns1:p>
                      <ns1:r>
                        <ns1:rPr sz="1500" b="0">
                          <ns1:solidFill>
                            <ns1:srgbClr val="1F2A37"/>
                          </ns1:solidFill>
                          <ns1:latin typeface="Arial"/>
                          <ns1:ea typeface="Arial"/>
                          <ns1:cs typeface="Arial"/>
                        </ns1:rPr>
                        <ns1:t>Replicated GAN</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0.138</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[-0.037, 0.256]</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[-0.148, 0.425]</ns1:t>
                      </ns1:r>
                    </ns1:p>
                  </ns1:txBody>
                  <ns1:tcPr marL="91440" marR="91440" marT="45720" marB="45720">
                    <ns1:solidFill>
                      <ns1:srgbClr val="EEF3F8"/>
                    </ns1:solidFill>
                  </ns1:tcPr>
                </ns1:tc>
              </ns1:tr>
              <ns1:tr h="642938">
                <ns1:tc>
                  <ns1:txBody>
                    <ns1:bodyPr/>
                    <ns1:lstStyle/>
                    <ns1:p>
                      <ns1:r>
                        <ns1:rPr sz="1500" b="0">
                          <ns1:solidFill>
                            <ns1:srgbClr val="1F2A37"/>
                          </ns1:solidFill>
                          <ns1:latin typeface="Arial"/>
                          <ns1:ea typeface="Arial"/>
                          <ns1:cs typeface="Arial"/>
                        </ns1:rPr>
                        <ns1:t>Extension LSTM minus</ns1:t>
                      </ns1:r>
                    </ns1:p>
                    <ns1:p>
                      <ns1:r>
                        <ns1:rPr sz="1500" b="0">
                          <ns1:solidFill>
                            <ns1:srgbClr val="1F2A37"/>
                          </ns1:solidFill>
                          <ns1:latin typeface="Arial"/>
                          <ns1:ea typeface="Arial"/>
                          <ns1:cs typeface="Arial"/>
                        </ns1:rPr>
                        <ns1:t>Transformer</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0.155</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[-0.049, 0.365]</ns1:t>
                      </ns1:r>
                    </ns1:p>
                  </ns1:txBody>
                  <ns1:tcPr marL="91440" marR="91440" marT="45720" marB="45720">
                    <ns1:solidFill>
                      <ns1:srgbClr val="FFFFFF"/>
                    </ns1:solidFill>
                  </ns1:tcPr>
                </ns1:tc>
                <ns1:tc>
                  <ns1:txBody>
                    <ns1:bodyPr/>
                    <ns1:lstStyle/>
                    <ns1:p>
                      <ns1:r>
                        <ns1:rPr sz="1500" b="0">
                          <ns1:solidFill>
                            <ns1:srgbClr val="1F2A37"/>
                          </ns1:solidFill>
                          <ns1:latin typeface="Arial"/>
                          <ns1:ea typeface="Arial"/>
                          <ns1:cs typeface="Arial"/>
                        </ns1:rPr>
                        <ns1:t>[-0.132, 0.441]</ns1:t>
                      </ns1:r>
                    </ns1:p>
                  </ns1:txBody>
                  <ns1:tcPr marL="91440" marR="91440" marT="45720" marB="45720">
                    <ns1:solidFill>
                      <ns1:srgbClr val="FFFFFF"/>
                    </ns1:solidFill>
                  </ns1:tcPr>
                </ns1:tc>
              </ns1:tr>
              <ns1:tr h="642938">
                <ns1:tc>
                  <ns1:txBody>
                    <ns1:bodyPr/>
                    <ns1:lstStyle/>
                    <ns1:p>
                      <ns1:r>
                        <ns1:rPr sz="1500" b="0">
                          <ns1:solidFill>
                            <ns1:srgbClr val="1F2A37"/>
                          </ns1:solidFill>
                          <ns1:latin typeface="Arial"/>
                          <ns1:ea typeface="Arial"/>
                          <ns1:cs typeface="Arial"/>
                        </ns1:rPr>
                        <ns1:t>Extension LSTM minus</ns1:t>
                      </ns1:r>
                    </ns1:p>
                    <ns1:p>
                      <ns1:r>
                        <ns1:rPr sz="1500" b="0">
                          <ns1:solidFill>
                            <ns1:srgbClr val="1F2A37"/>
                          </ns1:solidFill>
                          <ns1:latin typeface="Arial"/>
                          <ns1:ea typeface="Arial"/>
                          <ns1:cs typeface="Arial"/>
                        </ns1:rPr>
                        <ns1:t>Equal-weight blend</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-0.004</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[-0.132, 0.119]</ns1:t>
                      </ns1:r>
                    </ns1:p>
                  </ns1:txBody>
                  <ns1:tcPr marL="91440" marR="91440" marT="45720" marB="45720">
                    <ns1:solidFill>
                      <ns1:srgbClr val="EEF3F8"/>
                    </ns1:solidFill>
                  </ns1:tcPr>
                </ns1:tc>
                <ns1:tc>
                  <ns1:txBody>
                    <ns1:bodyPr/>
                    <ns1:lstStyle/>
                    <ns1:p>
                      <ns1:r>
                        <ns1:rPr sz="1500" b="0">
                          <ns1:solidFill>
                            <ns1:srgbClr val="1F2A37"/>
                          </ns1:solidFill>
                          <ns1:latin typeface="Arial"/>
                          <ns1:ea typeface="Arial"/>
                          <ns1:cs typeface="Arial"/>
                        </ns1:rPr>
                        <ns1:t>[-0.290, 0.283]</ns1:t>
                      </ns1:r>
                    </ns1:p>
                  </ns1:txBody>
                  <ns1:tcPr marL="91440" marR="91440" marT="45720" marB="45720">
                    <ns1:solidFill>
                      <ns1:srgbClr val="EEF3F8"/>
                    </ns1:solidFill>
                  </ns1:tcPr>
                </ns1:tc>
              </ns1:tr>
            </ns1:tbl>
          </ns1:graphicData>
        </ns1:graphic>
      </ns0:graphicFrame>
      <ns0:sp>
        <ns0:nvSpPr>
          <ns0:cNvPr id="7" name="">
            <ns1:extLst>
              <ns1:ext uri="{FF2B5EF4-FFF2-40B4-BE49-F238E27FC236}">
                <ns2:creationId id="{48BC5BE1-AD53-4907-9DA1-64D2556CB971}"/>
              </ns1:ext>
            </ns1:extLst>
          </ns0:cNvPr>
          <ns0:cNvSpPr>
            <ns1:spLocks noGrp="1"/>
          </ns0:cNvSpPr>
          <ns0:nvPr/>
        </ns0:nvSpPr>
        <ns0:spPr>
          <ns1:xfrm>
            <ns1:off x="419100" y="3771900"/>
            <ns1:ext cx="8286750" cy="409575"/>
          </ns1:xfrm>
          <ns1:prstGeom prst="rect">
            <ns1:avLst/>
          </ns1:prstGeom>
          <ns1:noFill/>
          <ns1:ln w="0">
            <ns1:noFill/>
          </ns1:ln>
        </ns0:spPr>
        <ns0:txBody>
          <ns1:bodyPr>
            <ns1:noAutofit/>
          </ns1:bodyPr>
          <ns1:lstStyle/>
          <ns1:p>
            <ns1:pPr>
              <ns1:buNone/>
              <ns1:defRPr sz="1650" b="0">
                <ns1:solidFill>
                  <ns1:srgbClr val="1F2A37"/>
                </ns1:solidFill>
                <ns1:latin typeface="Arial"/>
                <ns1:ea typeface="Arial"/>
                <ns1:cs typeface="Arial"/>
              </ns1:defRPr>
            </ns1:pPr>
            <ns1:r>
              <ns1:rPr sz="1650" b="0">
                <ns1:solidFill>
                  <ns1:srgbClr val="1F2A37"/>
                </ns1:solidFill>
                <ns1:latin typeface="Arial"/>
                <ns1:ea typeface="Arial"/>
                <ns1:cs typeface="Arial"/>
              </ns1:rPr>
              <ns1:t>A positive point estimate can coexist with an interval containing zero.</ns1:t>
            </ns1:r>
          </ns1:p>
        </ns0:txBody>
      </ns0:sp>
      <ns0:sp>
        <ns0:nvSpPr>
          <ns0:cNvPr id="11" name="">
            <ns1:extLst>
              <ns1:ext uri="{FF2B5EF4-FFF2-40B4-BE49-F238E27FC236}">
                <ns2:creationId id="{EA262447-3DE7-4812-84A4-4CCC90AB7963}"/>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LSTM exceeds Transformer by 0.155 monthly Sharpe, but both intervals include zero.</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The observed advantage remains statistically unresolved. This does not prove equality.</ns1:t>
            </ns1:r>
          </ns1:p>
        </ns0:txBody>
      </ns0:sp>
    </ns0:spTree>
    <ns0:extLst>
      <ns0:ext uri="{BB962C8B-B14F-4D97-AF65-F5344CB8AC3E}">
        <ns3:creationId val="1660969340"/>
      </ns0:ext>
    </ns0:extLst>
  </ns0:cSld>
</ns0:sld>
</file>

<file path=ppt/slides/slide1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bootstrap Sharpe differences</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16</ns1:t>
            </ns1:r>
          </ns1:p>
        </ns0:txBody>
      </ns0:sp>
      <ns0:pic>
        <ns0:nvPicPr>
          <ns0:cNvPr id="22" name=""/>
          <ns0:cNvPicPr>
            <ns1:picLocks noChangeAspect="1"/>
          </ns0:cNvPicPr>
          <ns0:nvPr/>
        </ns0:nvPicPr>
        <ns0:blipFill>
          <ns1:blip ns3:embed="R7f34ddf3c5f14a36"/>
          <ns1:stretch/>
        </ns0:blipFill>
        <ns0:spPr>
          <ns1:xfrm>
            <ns1:off x="266700" y="1064236"/>
            <ns1:ext cx="8572500" cy="2967404"/>
          </ns1:xfrm>
          <ns1:prstGeom prst="rect">
            <ns1:avLst/>
          </ns1:prstGeom>
        </ns0:spPr>
      </ns0:pic>
      <ns0:sp>
        <ns0:nvSpPr>
          <ns0:cNvPr id="15" name="">
            <ns1:extLst>
              <ns1:ext uri="{FF2B5EF4-FFF2-40B4-BE49-F238E27FC236}">
                <ns2:creationId id="{8E58E06B-A0C8-45DF-AB36-510E7D55B625}"/>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Bars count 10,000 draws. Gold marks the observed gap, black marks zero.</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Both paired 95% basic intervals include zero, despite different point estimates.</ns1:t>
            </ns1:r>
          </ns1:p>
        </ns0:txBody>
      </ns0:sp>
    </ns0:spTree>
    <ns0:extLst>
      <ns0:ext uri="{BB962C8B-B14F-4D97-AF65-F5344CB8AC3E}">
        <ns4:creationId val="1467767590"/>
      </ns0:ext>
    </ns0:extLst>
  </ns0:cSld>
</ns0:sld>
</file>

<file path=ppt/slides/slide1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9" name="">
            <ns1:extLst>
              <ns1:ext uri="{FF2B5EF4-FFF2-40B4-BE49-F238E27FC236}">
                <ns2:creationId id="{8B94D9E8-B03D-45E3-9690-E6ABF21524F7}"/>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A94A16DC-AFFE-4E3E-8F3B-D514FB7BE675}"/>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945F4658-1DED-492A-8404-CB19961A18E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Combination: equal-weight architecture portfolio</ns1:t>
            </ns1:r>
          </ns1:p>
        </ns0:txBody>
      </ns0:sp>
      <ns0:sp>
        <ns0:nvSpPr>
          <ns0:cNvPr id="4" name="">
            <ns1:extLst>
              <ns1:ext uri="{FF2B5EF4-FFF2-40B4-BE49-F238E27FC236}">
                <ns2:creationId id="{557FCD5B-A371-45DD-A32A-F8921A1B0406}"/>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7. Combination</ns1:t>
            </ns1:r>
          </ns1:p>
        </ns0:txBody>
      </ns0:sp>
      <ns0:sp>
        <ns0:nvSpPr>
          <ns0:cNvPr id="5" name="">
            <ns1:extLst>
              <ns1:ext uri="{FF2B5EF4-FFF2-40B4-BE49-F238E27FC236}">
                <ns2:creationId id="{5587A2AA-703A-4DD7-ADD9-77E7EFBB5C6E}"/>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17</ns1:t>
            </ns1:r>
          </ns1:p>
        </ns0:txBody>
      </ns0:sp>
      <ns0:graphicFrame>
        <ns0:nvGraphicFramePr>
          <ns0:cNvPr id="18" name=""/>
          <ns0:cNvGraphicFramePr/>
          <ns0:nvPr/>
        </ns0:nvGraphicFramePr>
        <ns0:xfrm>
          <ns1:off x="400050" y="1019175"/>
          <ns1:ext cx="8343900" cy="2286000"/>
        </ns0:xfrm>
        <ns1:graphic>
          <ns1:graphicData uri="http://schemas.openxmlformats.org/drawingml/2006/table">
            <ns1:tbl>
              <ns1:tblPr/>
              <ns1:tblGrid>
                <ns1:gridCol w="2857500"/>
                <ns1:gridCol w="1828800"/>
                <ns1:gridCol w="1828800"/>
                <ns1:gridCol w="1828800"/>
              </ns1:tblGrid>
              <ns1:tr h="571500">
                <ns1:tc>
                  <ns1:txBody>
                    <ns1:bodyPr/>
                    <ns1:lstStyle/>
                    <ns1:p>
                      <ns1:r>
                        <ns1:rPr sz="1650" b="1">
                          <ns1:solidFill>
                            <ns1:srgbClr val="FFFFFF"/>
                          </ns1:solidFill>
                          <ns1:latin typeface="Arial"/>
                          <ns1:ea typeface="Arial"/>
                          <ns1:cs typeface="Arial"/>
                        </ns1:rPr>
                        <ns1:t>Portfolio</ns1:t>
                      </ns1:r>
                    </ns1:p>
                  </ns1:txBody>
                  <ns1:tcPr marL="91440" marR="91440" marT="45720" marB="45720">
                    <ns1:solidFill>
                      <ns1:srgbClr val="003262"/>
                    </ns1:solidFill>
                  </ns1:tcPr>
                </ns1:tc>
                <ns1:tc>
                  <ns1:txBody>
                    <ns1:bodyPr/>
                    <ns1:lstStyle/>
                    <ns1:p>
                      <ns1:r>
                        <ns1:rPr sz="1650" b="1">
                          <ns1:solidFill>
                            <ns1:srgbClr val="FFFFFF"/>
                          </ns1:solidFill>
                          <ns1:latin typeface="Arial"/>
                          <ns1:ea typeface="Arial"/>
                          <ns1:cs typeface="Arial"/>
                        </ns1:rPr>
                        <ns1:t>Train</ns1:t>
                      </ns1:r>
                    </ns1:p>
                  </ns1:txBody>
                  <ns1:tcPr marL="91440" marR="91440" marT="45720" marB="45720">
                    <ns1:solidFill>
                      <ns1:srgbClr val="003262"/>
                    </ns1:solidFill>
                  </ns1:tcPr>
                </ns1:tc>
                <ns1:tc>
                  <ns1:txBody>
                    <ns1:bodyPr/>
                    <ns1:lstStyle/>
                    <ns1:p>
                      <ns1:r>
                        <ns1:rPr sz="1650" b="1">
                          <ns1:solidFill>
                            <ns1:srgbClr val="FFFFFF"/>
                          </ns1:solidFill>
                          <ns1:latin typeface="Arial"/>
                          <ns1:ea typeface="Arial"/>
                          <ns1:cs typeface="Arial"/>
                        </ns1:rPr>
                        <ns1:t>Validation</ns1:t>
                      </ns1:r>
                    </ns1:p>
                  </ns1:txBody>
                  <ns1:tcPr marL="91440" marR="91440" marT="45720" marB="45720">
                    <ns1:solidFill>
                      <ns1:srgbClr val="003262"/>
                    </ns1:solidFill>
                  </ns1:tcPr>
                </ns1:tc>
                <ns1:tc>
                  <ns1:txBody>
                    <ns1:bodyPr/>
                    <ns1:lstStyle/>
                    <ns1:p>
                      <ns1:r>
                        <ns1:rPr sz="1650" b="1">
                          <ns1:solidFill>
                            <ns1:srgbClr val="FFFFFF"/>
                          </ns1:solidFill>
                          <ns1:latin typeface="Arial"/>
                          <ns1:ea typeface="Arial"/>
                          <ns1:cs typeface="Arial"/>
                        </ns1:rPr>
                        <ns1:t>Test</ns1:t>
                      </ns1:r>
                    </ns1:p>
                  </ns1:txBody>
                  <ns1:tcPr marL="91440" marR="91440" marT="45720" marB="45720">
                    <ns1:solidFill>
                      <ns1:srgbClr val="003262"/>
                    </ns1:solidFill>
                  </ns1:tcPr>
                </ns1:tc>
              </ns1:tr>
              <ns1:tr h="571500">
                <ns1:tc>
                  <ns1:txBody>
                    <ns1:bodyPr/>
                    <ns1:lstStyle/>
                    <ns1:p>
                      <ns1:r>
                        <ns1:rPr sz="1725" b="0">
                          <ns1:solidFill>
                            <ns1:srgbClr val="1F2A37"/>
                          </ns1:solidFill>
                          <ns1:latin typeface="Arial"/>
                          <ns1:ea typeface="Arial"/>
                          <ns1:cs typeface="Arial"/>
                        </ns1:rPr>
                        <ns1:t>LSTM</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1.308</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0.750</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0.459</ns1:t>
                      </ns1:r>
                    </ns1:p>
                  </ns1:txBody>
                  <ns1:tcPr marL="91440" marR="91440" marT="45720" marB="45720">
                    <ns1:solidFill>
                      <ns1:srgbClr val="EEF3F8"/>
                    </ns1:solidFill>
                  </ns1:tcPr>
                </ns1:tc>
              </ns1:tr>
              <ns1:tr h="571500">
                <ns1:tc>
                  <ns1:txBody>
                    <ns1:bodyPr/>
                    <ns1:lstStyle/>
                    <ns1:p>
                      <ns1:r>
                        <ns1:rPr sz="1725" b="0">
                          <ns1:solidFill>
                            <ns1:srgbClr val="1F2A37"/>
                          </ns1:solidFill>
                          <ns1:latin typeface="Arial"/>
                          <ns1:ea typeface="Arial"/>
                          <ns1:cs typeface="Arial"/>
                        </ns1:rPr>
                        <ns1:t>Transformer</ns1:t>
                      </ns1:r>
                    </ns1:p>
                  </ns1:txBody>
                  <ns1:tcPr marL="91440" marR="91440" marT="45720" marB="45720">
                    <ns1:solidFill>
                      <ns1:srgbClr val="FFFFFF"/>
                    </ns1:solidFill>
                  </ns1:tcPr>
                </ns1:tc>
                <ns1:tc>
                  <ns1:txBody>
                    <ns1:bodyPr/>
                    <ns1:lstStyle/>
                    <ns1:p>
                      <ns1:r>
                        <ns1:rPr sz="1725" b="0">
                          <ns1:solidFill>
                            <ns1:srgbClr val="1F2A37"/>
                          </ns1:solidFill>
                          <ns1:latin typeface="Arial"/>
                          <ns1:ea typeface="Arial"/>
                          <ns1:cs typeface="Arial"/>
                        </ns1:rPr>
                        <ns1:t>1.049</ns1:t>
                      </ns1:r>
                    </ns1:p>
                  </ns1:txBody>
                  <ns1:tcPr marL="91440" marR="91440" marT="45720" marB="45720">
                    <ns1:solidFill>
                      <ns1:srgbClr val="FFFFFF"/>
                    </ns1:solidFill>
                  </ns1:tcPr>
                </ns1:tc>
                <ns1:tc>
                  <ns1:txBody>
                    <ns1:bodyPr/>
                    <ns1:lstStyle/>
                    <ns1:p>
                      <ns1:r>
                        <ns1:rPr sz="1725" b="0">
                          <ns1:solidFill>
                            <ns1:srgbClr val="1F2A37"/>
                          </ns1:solidFill>
                          <ns1:latin typeface="Arial"/>
                          <ns1:ea typeface="Arial"/>
                          <ns1:cs typeface="Arial"/>
                        </ns1:rPr>
                        <ns1:t>0.589</ns1:t>
                      </ns1:r>
                    </ns1:p>
                  </ns1:txBody>
                  <ns1:tcPr marL="91440" marR="91440" marT="45720" marB="45720">
                    <ns1:solidFill>
                      <ns1:srgbClr val="FFFFFF"/>
                    </ns1:solidFill>
                  </ns1:tcPr>
                </ns1:tc>
                <ns1:tc>
                  <ns1:txBody>
                    <ns1:bodyPr/>
                    <ns1:lstStyle/>
                    <ns1:p>
                      <ns1:r>
                        <ns1:rPr sz="1725" b="0">
                          <ns1:solidFill>
                            <ns1:srgbClr val="1F2A37"/>
                          </ns1:solidFill>
                          <ns1:latin typeface="Arial"/>
                          <ns1:ea typeface="Arial"/>
                          <ns1:cs typeface="Arial"/>
                        </ns1:rPr>
                        <ns1:t>0.304</ns1:t>
                      </ns1:r>
                    </ns1:p>
                  </ns1:txBody>
                  <ns1:tcPr marL="91440" marR="91440" marT="45720" marB="45720">
                    <ns1:solidFill>
                      <ns1:srgbClr val="FFFFFF"/>
                    </ns1:solidFill>
                  </ns1:tcPr>
                </ns1:tc>
              </ns1:tr>
              <ns1:tr h="571500">
                <ns1:tc>
                  <ns1:txBody>
                    <ns1:bodyPr/>
                    <ns1:lstStyle/>
                    <ns1:p>
                      <ns1:r>
                        <ns1:rPr sz="1725" b="0">
                          <ns1:solidFill>
                            <ns1:srgbClr val="1F2A37"/>
                          </ns1:solidFill>
                          <ns1:latin typeface="Arial"/>
                          <ns1:ea typeface="Arial"/>
                          <ns1:cs typeface="Arial"/>
                        </ns1:rPr>
                        <ns1:t>50/50 blend</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1.414</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0.915</ns1:t>
                      </ns1:r>
                    </ns1:p>
                  </ns1:txBody>
                  <ns1:tcPr marL="91440" marR="91440" marT="45720" marB="45720">
                    <ns1:solidFill>
                      <ns1:srgbClr val="EEF3F8"/>
                    </ns1:solidFill>
                  </ns1:tcPr>
                </ns1:tc>
                <ns1:tc>
                  <ns1:txBody>
                    <ns1:bodyPr/>
                    <ns1:lstStyle/>
                    <ns1:p>
                      <ns1:r>
                        <ns1:rPr sz="1725" b="0">
                          <ns1:solidFill>
                            <ns1:srgbClr val="1F2A37"/>
                          </ns1:solidFill>
                          <ns1:latin typeface="Arial"/>
                          <ns1:ea typeface="Arial"/>
                          <ns1:cs typeface="Arial"/>
                        </ns1:rPr>
                        <ns1:t>0.463</ns1:t>
                      </ns1:r>
                    </ns1:p>
                  </ns1:txBody>
                  <ns1:tcPr marL="91440" marR="91440" marT="45720" marB="45720">
                    <ns1:solidFill>
                      <ns1:srgbClr val="EEF3F8"/>
                    </ns1:solidFill>
                  </ns1:tcPr>
                </ns1:tc>
              </ns1:tr>
            </ns1:tbl>
          </ns1:graphicData>
        </ns1:graphic>
      </ns0:graphicFrame>
      <ns0:sp>
        <ns0:nvSpPr>
          <ns0:cNvPr id="7" name="">
            <ns1:extLst>
              <ns1:ext uri="{FF2B5EF4-FFF2-40B4-BE49-F238E27FC236}">
                <ns2:creationId id="{0FC919DC-B92E-4C58-9020-10967D75D7E8}"/>
              </ns1:ext>
            </ns1:extLst>
          </ns0:cNvPr>
          <ns0:cNvSpPr>
            <ns1:spLocks noGrp="1"/>
          </ns0:cNvSpPr>
          <ns0:nvPr/>
        </ns0:nvSpPr>
        <ns0:spPr>
          <ns1:xfrm>
            <ns1:off x="419100" y="3533775"/>
            <ns1:ext cx="8286750" cy="428625"/>
          </ns1:xfrm>
          <ns1:prstGeom prst="rect">
            <ns1:avLst/>
          </ns1:prstGeom>
          <ns1:noFill/>
          <ns1:ln w="0">
            <ns1:noFill/>
          </ns1:ln>
        </ns0:spPr>
        <ns0:txBody>
          <ns1:bodyPr>
            <ns1:noAutofit/>
          </ns1:bodyPr>
          <ns1:lstStyle/>
          <ns1:p>
            <ns1:pPr>
              <ns1:buNone/>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Test correlation between architectures is 0.292. Averaging lowers volatility.</ns1:t>
            </ns1:r>
          </ns1:p>
        </ns0:txBody>
      </ns0:sp>
      <ns0:sp>
        <ns0:nvSpPr>
          <ns0:cNvPr id="11" name="">
            <ns1:extLst>
              <ns1:ext uri="{FF2B5EF4-FFF2-40B4-BE49-F238E27FC236}">
                <ns2:creationId id="{6AE06712-C6F0-4F33-8187-BFF53F903AB8}"/>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Averaging saved LSTM and Transformer returns lowers volatility.</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Test Sharpe rises only from 0.459 to 0.463. The combination is exploratory.</ns1:t>
            </ns1:r>
          </ns1:p>
        </ns0:txBody>
      </ns0:sp>
    </ns0:spTree>
    <ns0:extLst>
      <ns0:ext uri="{BB962C8B-B14F-4D97-AF65-F5344CB8AC3E}">
        <ns3:creationId val="462819897"/>
      </ns0:ext>
    </ns0:extLst>
  </ns0:cSld>
</ns0:sld>
</file>

<file path=ppt/slides/slide18.xml><?xml version="1.0" encoding="utf-8"?>
<ns0:sld xmlns:ns0="http://schemas.openxmlformats.org/presentationml/2006/main" xmlns:ns1="http://schemas.openxmlformats.org/drawingml/2006/main" xmlns:ns2="http://schemas.microsoft.com/office/drawing/2014/main" xmlns:ns3="http://schemas.openxmlformats.org/drawingml/2006/chart" xmlns:ns4="http://schemas.openxmlformats.org/officeDocument/2006/relationships" xmlns:ns5="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FB5238D6-5086-432D-98AA-7DDBE213212F}"/>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389AB788-A3CB-4EEF-AC86-E36CEFE24C24}"/>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F7BD27E0-1B6C-4952-9327-18EC64F6A789}"/>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Combination: 36-month rolling results by regime</ns1:t>
            </ns1:r>
          </ns1:p>
        </ns0:txBody>
      </ns0:sp>
      <ns0:sp>
        <ns0:nvSpPr>
          <ns0:cNvPr id="4" name="">
            <ns1:extLst>
              <ns1:ext uri="{FF2B5EF4-FFF2-40B4-BE49-F238E27FC236}">
                <ns2:creationId id="{A86CDF18-B593-4A19-B134-0A48AEC1C485}"/>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7. Combination</ns1:t>
            </ns1:r>
          </ns1:p>
        </ns0:txBody>
      </ns0:sp>
      <ns0:sp>
        <ns0:nvSpPr>
          <ns0:cNvPr id="5" name="">
            <ns1:extLst>
              <ns1:ext uri="{FF2B5EF4-FFF2-40B4-BE49-F238E27FC236}">
                <ns2:creationId id="{ADD87B3E-7529-4B7C-8BF9-638E6E3CCCEB}"/>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18</ns1:t>
            </ns1:r>
          </ns1:p>
        </ns0:txBody>
      </ns0:sp>
      <ns0:graphicFrame>
        <ns0:nvGraphicFramePr>
          <ns0:cNvPr id="17" name="Chart"/>
          <ns0:cNvGraphicFramePr/>
          <ns0:nvPr/>
        </ns0:nvGraphicFramePr>
        <ns0:xfrm>
          <ns1:off x="419100" y="933450"/>
          <ns1:ext cx="8305800" cy="3095625"/>
        </ns0:xfrm>
        <ns1:graphic>
          <ns1:graphicData uri="http://schemas.openxmlformats.org/drawingml/2006/chart">
            <ns3:chart ns4:id="Recf05afca2aa4c30"/>
          </ns1:graphicData>
        </ns1:graphic>
      </ns0:graphicFrame>
      <ns0:sp>
        <ns0:nvSpPr>
          <ns0:cNvPr id="10" name="">
            <ns1:extLst>
              <ns1:ext uri="{FF2B5EF4-FFF2-40B4-BE49-F238E27FC236}">
                <ns2:creationId id="{9CFBEFB9-C88F-4B25-A7F3-956D70A9703E}"/>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Bars group rolling windows by the economic regime at their endpoint.</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A recession-ending window includes expansion months, unlike conditional regime Sharpe.</ns1:t>
            </ns1:r>
          </ns1:p>
        </ns0:txBody>
      </ns0:sp>
    </ns0:spTree>
    <ns0:extLst>
      <ns0:ext uri="{BB962C8B-B14F-4D97-AF65-F5344CB8AC3E}">
        <ns5:creationId val="1477924077"/>
      </ns0:ext>
    </ns0:extLst>
  </ns0:cSld>
</ns0:sld>
</file>

<file path=ppt/slides/slide19.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8" name="">
            <ns1:extLst>
              <ns1:ext uri="{FF2B5EF4-FFF2-40B4-BE49-F238E27FC236}">
                <ns2:creationId id="{D6BA5D51-E367-4934-9161-1A9AA29B882B}"/>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1BF77CDE-17F8-443C-A072-4E45D948A7CF}"/>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0AC6496D-D32A-43E8-A621-7E656AA7F7BD}"/>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Combination: overall, rolling and recession results</ns1:t>
            </ns1:r>
          </ns1:p>
        </ns0:txBody>
      </ns0:sp>
      <ns0:sp>
        <ns0:nvSpPr>
          <ns0:cNvPr id="4" name="">
            <ns1:extLst>
              <ns1:ext uri="{FF2B5EF4-FFF2-40B4-BE49-F238E27FC236}">
                <ns2:creationId id="{E2DB1C94-88D7-4A6C-AC02-94343312E215}"/>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7. Combination</ns1:t>
            </ns1:r>
          </ns1:p>
        </ns0:txBody>
      </ns0:sp>
      <ns0:sp>
        <ns0:nvSpPr>
          <ns0:cNvPr id="5" name="">
            <ns1:extLst>
              <ns1:ext uri="{FF2B5EF4-FFF2-40B4-BE49-F238E27FC236}">
                <ns2:creationId id="{20C572EC-5677-4400-B899-B8F048EE0119}"/>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19</ns1:t>
            </ns1:r>
          </ns1:p>
        </ns0:txBody>
      </ns0:sp>
      <ns0:graphicFrame>
        <ns0:nvGraphicFramePr>
          <ns0:cNvPr id="17" name=""/>
          <ns0:cNvGraphicFramePr/>
          <ns0:nvPr/>
        </ns0:nvGraphicFramePr>
        <ns0:xfrm>
          <ns1:off x="400050" y="1019175"/>
          <ns1:ext cx="8343900" cy="2857500"/>
        </ns0:xfrm>
        <ns1:graphic>
          <ns1:graphicData uri="http://schemas.openxmlformats.org/drawingml/2006/table">
            <ns1:tbl>
              <ns1:tblPr/>
              <ns1:tblGrid>
                <ns1:gridCol w="2571750"/>
                <ns1:gridCol w="1924050"/>
                <ns1:gridCol w="1924050"/>
                <ns1:gridCol w="1924050"/>
              </ns1:tblGrid>
              <ns1:tr h="357188">
                <ns1:tc>
                  <ns1:txBody>
                    <ns1:bodyPr/>
                    <ns1:lstStyle/>
                    <ns1:p>
                      <ns1:r>
                        <ns1:rPr sz="1275" b="1">
                          <ns1:solidFill>
                            <ns1:srgbClr val="FFFFFF"/>
                          </ns1:solidFill>
                          <ns1:latin typeface="Arial"/>
                          <ns1:ea typeface="Arial"/>
                          <ns1:cs typeface="Arial"/>
                        </ns1:rPr>
                        <ns1:t>Local portfolio</ns1:t>
                      </ns1:r>
                    </ns1:p>
                  </ns1:txBody>
                  <ns1:tcPr marL="91440" marR="91440" marT="45720" marB="45720">
                    <ns1:solidFill>
                      <ns1:srgbClr val="003262"/>
                    </ns1:solidFill>
                  </ns1:tcPr>
                </ns1:tc>
                <ns1:tc>
                  <ns1:txBody>
                    <ns1:bodyPr/>
                    <ns1:lstStyle/>
                    <ns1:p>
                      <ns1:r>
                        <ns1:rPr sz="1275" b="1">
                          <ns1:solidFill>
                            <ns1:srgbClr val="FFFFFF"/>
                          </ns1:solidFill>
                          <ns1:latin typeface="Arial"/>
                          <ns1:ea typeface="Arial"/>
                          <ns1:cs typeface="Arial"/>
                        </ns1:rPr>
                        <ns1:t>Test Sharpe</ns1:t>
                      </ns1:r>
                    </ns1:p>
                    <ns1:p>
                      <ns1:r>
                        <ns1:rPr sz="1275" b="1">
                          <ns1:solidFill>
                            <ns1:srgbClr val="FFFFFF"/>
                          </ns1:solidFill>
                          <ns1:latin typeface="Arial"/>
                          <ns1:ea typeface="Arial"/>
                          <ns1:cs typeface="Arial"/>
                        </ns1:rPr>
                        <ns1:t>monthly</ns1:t>
                      </ns1:r>
                    </ns1:p>
                  </ns1:txBody>
                  <ns1:tcPr marL="91440" marR="91440" marT="45720" marB="45720">
                    <ns1:solidFill>
                      <ns1:srgbClr val="003262"/>
                    </ns1:solidFill>
                  </ns1:tcPr>
                </ns1:tc>
                <ns1:tc>
                  <ns1:txBody>
                    <ns1:bodyPr/>
                    <ns1:lstStyle/>
                    <ns1:p>
                      <ns1:r>
                        <ns1:rPr sz="1275" b="1">
                          <ns1:solidFill>
                            <ns1:srgbClr val="FFFFFF"/>
                          </ns1:solidFill>
                          <ns1:latin typeface="Arial"/>
                          <ns1:ea typeface="Arial"/>
                          <ns1:cs typeface="Arial"/>
                        </ns1:rPr>
                        <ns1:t>36-month mean</ns1:t>
                      </ns1:r>
                    </ns1:p>
                    <ns1:p>
                      <ns1:r>
                        <ns1:rPr sz="1275" b="1">
                          <ns1:solidFill>
                            <ns1:srgbClr val="FFFFFF"/>
                          </ns1:solidFill>
                          <ns1:latin typeface="Arial"/>
                          <ns1:ea typeface="Arial"/>
                          <ns1:cs typeface="Arial"/>
                        </ns1:rPr>
                        <ns1:t>annualized</ns1:t>
                      </ns1:r>
                    </ns1:p>
                  </ns1:txBody>
                  <ns1:tcPr marL="91440" marR="91440" marT="45720" marB="45720">
                    <ns1:solidFill>
                      <ns1:srgbClr val="003262"/>
                    </ns1:solidFill>
                  </ns1:tcPr>
                </ns1:tc>
                <ns1:tc>
                  <ns1:txBody>
                    <ns1:bodyPr/>
                    <ns1:lstStyle/>
                    <ns1:p>
                      <ns1:r>
                        <ns1:rPr sz="1275" b="1">
                          <ns1:solidFill>
                            <ns1:srgbClr val="FFFFFF"/>
                          </ns1:solidFill>
                          <ns1:latin typeface="Arial"/>
                          <ns1:ea typeface="Arial"/>
                          <ns1:cs typeface="Arial"/>
                        </ns1:rPr>
                        <ns1:t>Recession Sharpe</ns1:t>
                      </ns1:r>
                    </ns1:p>
                    <ns1:p>
                      <ns1:r>
                        <ns1:rPr sz="1275" b="1">
                          <ns1:solidFill>
                            <ns1:srgbClr val="FFFFFF"/>
                          </ns1:solidFill>
                          <ns1:latin typeface="Arial"/>
                          <ns1:ea typeface="Arial"/>
                          <ns1:cs typeface="Arial"/>
                        </ns1:rPr>
                        <ns1:t>monthly</ns1:t>
                      </ns1:r>
                    </ns1:p>
                  </ns1:txBody>
                  <ns1:tcPr marL="91440" marR="91440" marT="45720" marB="45720">
                    <ns1:solidFill>
                      <ns1:srgbClr val="003262"/>
                    </ns1:solidFill>
                  </ns1:tcPr>
                </ns1:tc>
              </ns1:tr>
              <ns1:tr h="357188">
                <ns1:tc>
                  <ns1:txBody>
                    <ns1:bodyPr/>
                    <ns1:lstStyle/>
                    <ns1:p>
                      <ns1:r>
                        <ns1:rPr sz="1350" b="0">
                          <ns1:solidFill>
                            <ns1:srgbClr val="1F2A37"/>
                          </ns1:solidFill>
                          <ns1:latin typeface="Arial"/>
                          <ns1:ea typeface="Arial"/>
                          <ns1:cs typeface="Arial"/>
                        </ns1:rPr>
                        <ns1:t>Replicated GAN</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0.612</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2.890</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0.455</ns1:t>
                      </ns1:r>
                    </ns1:p>
                  </ns1:txBody>
                  <ns1:tcPr marL="91440" marR="91440" marT="45720" marB="45720">
                    <ns1:solidFill>
                      <ns1:srgbClr val="EEF3F8"/>
                    </ns1:solidFill>
                  </ns1:tcPr>
                </ns1:tc>
              </ns1:tr>
              <ns1:tr h="357188">
                <ns1:tc>
                  <ns1:txBody>
                    <ns1:bodyPr/>
                    <ns1:lstStyle/>
                    <ns1:p>
                      <ns1:r>
                        <ns1:rPr sz="1350" b="0">
                          <ns1:solidFill>
                            <ns1:srgbClr val="1F2A37"/>
                          </ns1:solidFill>
                          <ns1:latin typeface="Arial"/>
                          <ns1:ea typeface="Arial"/>
                          <ns1:cs typeface="Arial"/>
                        </ns1:rPr>
                        <ns1:t>Feedforward</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0.570</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2.620</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0.570</ns1:t>
                      </ns1:r>
                    </ns1:p>
                  </ns1:txBody>
                  <ns1:tcPr marL="91440" marR="91440" marT="45720" marB="45720">
                    <ns1:solidFill>
                      <ns1:srgbClr val="FFFFFF"/>
                    </ns1:solidFill>
                  </ns1:tcPr>
                </ns1:tc>
              </ns1:tr>
              <ns1:tr h="357188">
                <ns1:tc>
                  <ns1:txBody>
                    <ns1:bodyPr/>
                    <ns1:lstStyle/>
                    <ns1:p>
                      <ns1:r>
                        <ns1:rPr sz="1350" b="0">
                          <ns1:solidFill>
                            <ns1:srgbClr val="1F2A37"/>
                          </ns1:solidFill>
                          <ns1:latin typeface="Arial"/>
                          <ns1:ea typeface="Arial"/>
                          <ns1:cs typeface="Arial"/>
                        </ns1:rPr>
                        <ns1:t>Equal-weight blend</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0.463</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2.166</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0.076</ns1:t>
                      </ns1:r>
                    </ns1:p>
                  </ns1:txBody>
                  <ns1:tcPr marL="91440" marR="91440" marT="45720" marB="45720">
                    <ns1:solidFill>
                      <ns1:srgbClr val="EEF3F8"/>
                    </ns1:solidFill>
                  </ns1:tcPr>
                </ns1:tc>
              </ns1:tr>
              <ns1:tr h="357188">
                <ns1:tc>
                  <ns1:txBody>
                    <ns1:bodyPr/>
                    <ns1:lstStyle/>
                    <ns1:p>
                      <ns1:r>
                        <ns1:rPr sz="1350" b="0">
                          <ns1:solidFill>
                            <ns1:srgbClr val="1F2A37"/>
                          </ns1:solidFill>
                          <ns1:latin typeface="Arial"/>
                          <ns1:ea typeface="Arial"/>
                          <ns1:cs typeface="Arial"/>
                        </ns1:rPr>
                        <ns1:t>Extension LSTM</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0.459</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1.992</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0.264</ns1:t>
                      </ns1:r>
                    </ns1:p>
                  </ns1:txBody>
                  <ns1:tcPr marL="91440" marR="91440" marT="45720" marB="45720">
                    <ns1:solidFill>
                      <ns1:srgbClr val="FFFFFF"/>
                    </ns1:solidFill>
                  </ns1:tcPr>
                </ns1:tc>
              </ns1:tr>
              <ns1:tr h="357188">
                <ns1:tc>
                  <ns1:txBody>
                    <ns1:bodyPr/>
                    <ns1:lstStyle/>
                    <ns1:p>
                      <ns1:r>
                        <ns1:rPr sz="1350" b="0">
                          <ns1:solidFill>
                            <ns1:srgbClr val="1F2A37"/>
                          </ns1:solidFill>
                          <ns1:latin typeface="Arial"/>
                          <ns1:ea typeface="Arial"/>
                          <ns1:cs typeface="Arial"/>
                        </ns1:rPr>
                        <ns1:t>Elastic Net</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0.412</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2.074</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0.254</ns1:t>
                      </ns1:r>
                    </ns1:p>
                  </ns1:txBody>
                  <ns1:tcPr marL="91440" marR="91440" marT="45720" marB="45720">
                    <ns1:solidFill>
                      <ns1:srgbClr val="EEF3F8"/>
                    </ns1:solidFill>
                  </ns1:tcPr>
                </ns1:tc>
              </ns1:tr>
              <ns1:tr h="357188">
                <ns1:tc>
                  <ns1:txBody>
                    <ns1:bodyPr/>
                    <ns1:lstStyle/>
                    <ns1:p>
                      <ns1:r>
                        <ns1:rPr sz="1350" b="0">
                          <ns1:solidFill>
                            <ns1:srgbClr val="1F2A37"/>
                          </ns1:solidFill>
                          <ns1:latin typeface="Arial"/>
                          <ns1:ea typeface="Arial"/>
                          <ns1:cs typeface="Arial"/>
                        </ns1:rPr>
                        <ns1:t>Linear</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0.406</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1.740</ns1:t>
                      </ns1:r>
                    </ns1:p>
                  </ns1:txBody>
                  <ns1:tcPr marL="91440" marR="91440" marT="45720" marB="45720">
                    <ns1:solidFill>
                      <ns1:srgbClr val="FFFFFF"/>
                    </ns1:solidFill>
                  </ns1:tcPr>
                </ns1:tc>
                <ns1:tc>
                  <ns1:txBody>
                    <ns1:bodyPr/>
                    <ns1:lstStyle/>
                    <ns1:p>
                      <ns1:r>
                        <ns1:rPr sz="1350" b="0">
                          <ns1:solidFill>
                            <ns1:srgbClr val="1F2A37"/>
                          </ns1:solidFill>
                          <ns1:latin typeface="Arial"/>
                          <ns1:ea typeface="Arial"/>
                          <ns1:cs typeface="Arial"/>
                        </ns1:rPr>
                        <ns1:t>0.404</ns1:t>
                      </ns1:r>
                    </ns1:p>
                  </ns1:txBody>
                  <ns1:tcPr marL="91440" marR="91440" marT="45720" marB="45720">
                    <ns1:solidFill>
                      <ns1:srgbClr val="FFFFFF"/>
                    </ns1:solidFill>
                  </ns1:tcPr>
                </ns1:tc>
              </ns1:tr>
              <ns1:tr h="357188">
                <ns1:tc>
                  <ns1:txBody>
                    <ns1:bodyPr/>
                    <ns1:lstStyle/>
                    <ns1:p>
                      <ns1:r>
                        <ns1:rPr sz="1350" b="0">
                          <ns1:solidFill>
                            <ns1:srgbClr val="1F2A37"/>
                          </ns1:solidFill>
                          <ns1:latin typeface="Arial"/>
                          <ns1:ea typeface="Arial"/>
                          <ns1:cs typeface="Arial"/>
                        </ns1:rPr>
                        <ns1:t>Transformer</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0.304</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1.467</ns1:t>
                      </ns1:r>
                    </ns1:p>
                  </ns1:txBody>
                  <ns1:tcPr marL="91440" marR="91440" marT="45720" marB="45720">
                    <ns1:solidFill>
                      <ns1:srgbClr val="EEF3F8"/>
                    </ns1:solidFill>
                  </ns1:tcPr>
                </ns1:tc>
                <ns1:tc>
                  <ns1:txBody>
                    <ns1:bodyPr/>
                    <ns1:lstStyle/>
                    <ns1:p>
                      <ns1:r>
                        <ns1:rPr sz="1350" b="0">
                          <ns1:solidFill>
                            <ns1:srgbClr val="1F2A37"/>
                          </ns1:solidFill>
                          <ns1:latin typeface="Arial"/>
                          <ns1:ea typeface="Arial"/>
                          <ns1:cs typeface="Arial"/>
                        </ns1:rPr>
                        <ns1:t>-0.071</ns1:t>
                      </ns1:r>
                    </ns1:p>
                  </ns1:txBody>
                  <ns1:tcPr marL="91440" marR="91440" marT="45720" marB="45720">
                    <ns1:solidFill>
                      <ns1:srgbClr val="EEF3F8"/>
                    </ns1:solidFill>
                  </ns1:tcPr>
                </ns1:tc>
              </ns1:tr>
            </ns1:tbl>
          </ns1:graphicData>
        </ns1:graphic>
      </ns0:graphicFrame>
      <ns0:sp>
        <ns0:nvSpPr>
          <ns0:cNvPr id="10" name="">
            <ns1:extLst>
              <ns1:ext uri="{FF2B5EF4-FFF2-40B4-BE49-F238E27FC236}">
                <ns2:creationId id="{2D71A795-EF2B-42B6-AADF-2D6FEAFA5BB0}"/>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Overall, rolling and recession columns answer different questions and use different units.</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Replication leads local test Sharpe at 0.612. Feedforward leads recessions at 0.570.</ns1:t>
            </ns1:r>
          </ns1:p>
        </ns0:txBody>
      </ns0:sp>
    </ns0:spTree>
    <ns0:extLst>
      <ns0:ext uri="{BB962C8B-B14F-4D97-AF65-F5344CB8AC3E}">
        <ns3:creationId val="561633589"/>
      </ns0:ext>
    </ns0:extLst>
  </ns0:cSld>
</ns0:sld>
</file>

<file path=ppt/slides/slide20.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7901E8C3-1DCC-4E85-92A6-66CC0CBFEE7A}"/>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3974995C-121F-414F-B645-644EDF71B691}"/>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F6FF864F-D740-4428-953A-32F614C80A9D}"/>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Summary: findings and next steps</ns1:t>
            </ns1:r>
          </ns1:p>
        </ns0:txBody>
      </ns0:sp>
      <ns0:sp>
        <ns0:nvSpPr>
          <ns0:cNvPr id="4" name="">
            <ns1:extLst>
              <ns1:ext uri="{FF2B5EF4-FFF2-40B4-BE49-F238E27FC236}">
                <ns2:creationId id="{6DDDBBEA-F23A-4ADB-972A-F61DC40B706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8. Summary</ns1:t>
            </ns1:r>
          </ns1:p>
        </ns0:txBody>
      </ns0:sp>
      <ns0:sp>
        <ns0:nvSpPr>
          <ns0:cNvPr id="5" name="">
            <ns1:extLst>
              <ns1:ext uri="{FF2B5EF4-FFF2-40B4-BE49-F238E27FC236}">
                <ns2:creationId id="{73145E81-73FE-42B4-8FA2-7F83EDB2382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20</ns1:t>
            </ns1:r>
          </ns1:p>
        </ns0:txBody>
      </ns0:sp>
      <ns0:sp>
        <ns0:nvSpPr>
          <ns0:cNvPr id="6" name="">
            <ns1:extLst>
              <ns1:ext uri="{FF2B5EF4-FFF2-40B4-BE49-F238E27FC236}">
                <ns2:creationId id="{2BF1B0E0-CB9C-4205-84CE-FADFDA20B85D}"/>
              </ns1:ext>
            </ns1:extLst>
          </ns0:cNvPr>
          <ns0:cNvSpPr>
            <ns1:spLocks noGrp="1"/>
          </ns0:cNvSpPr>
          <ns0:nvPr/>
        </ns0:nvSpPr>
        <ns0:spPr>
          <ns1:xfrm>
            <ns1:off x="400050" y="1000125"/>
            <ns1:ext cx="8096250" cy="295275"/>
          </ns1:xfrm>
          <ns1:prstGeom prst="rect">
            <ns1:avLst/>
          </ns1:prstGeom>
          <ns1:noFill/>
          <ns1:ln w="0">
            <ns1:noFill/>
          </ns1:ln>
        </ns0:spPr>
        <ns0:txBody>
          <ns1:bodyPr>
            <ns1:noAutofit/>
          </ns1:bodyPr>
          <ns1:lstStyle/>
          <ns1:p>
            <ns1:pPr>
              <ns1:buNone/>
              <ns1:defRPr sz="1800" b="1">
                <ns1:solidFill>
                  <ns1:srgbClr val="003262"/>
                </ns1:solidFill>
                <ns1:latin typeface="Arial"/>
                <ns1:ea typeface="Arial"/>
                <ns1:cs typeface="Arial"/>
              </ns1:defRPr>
            </ns1:pPr>
            <ns1:r>
              <ns1:rPr sz="1800" b="1">
                <ns1:solidFill>
                  <ns1:srgbClr val="003262"/>
                </ns1:solidFill>
                <ns1:latin typeface="Arial"/>
                <ns1:ea typeface="Arial"/>
                <ns1:cs typeface="Arial"/>
              </ns1:rPr>
              <ns1:t>What we add</ns1:t>
            </ns1:r>
          </ns1:p>
        </ns0:txBody>
      </ns0:sp>
      <ns0:sp>
        <ns0:nvSpPr>
          <ns0:cNvPr id="7" name="">
            <ns1:extLst>
              <ns1:ext uri="{FF2B5EF4-FFF2-40B4-BE49-F238E27FC236}">
                <ns2:creationId id="{6A78B5E2-A11D-40F2-B58B-7C3EE8B62B11}"/>
              </ns1:ext>
            </ns1:extLst>
          </ns0:cNvPr>
          <ns0:cNvSpPr>
            <ns1:spLocks noGrp="1"/>
          </ns0:cNvSpPr>
          <ns0:nvPr/>
        </ns0:nvSpPr>
        <ns0:spPr>
          <ns1:xfrm>
            <ns1:off x="400050" y="1352550"/>
            <ns1:ext cx="8096250" cy="628650"/>
          </ns1:xfrm>
          <ns1:prstGeom prst="rect">
            <ns1:avLst/>
          </ns1:prstGeom>
          <ns1:noFill/>
          <ns1:ln w="0">
            <ns1:noFill/>
          </ns1:ln>
        </ns0:spPr>
        <ns0:txBody>
          <ns1:bodyPr>
            <ns1:noAutofit/>
          </ns1:bodyPr>
          <ns1:lstStyle/>
          <ns1:p>
            <ns1:pPr>
              <ns1:buNone/>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A common-budget encoder comparison, rolling and regime evaluation, a fixed combination, and paired uncertainty.</ns1:t>
            </ns1:r>
          </ns1:p>
        </ns0:txBody>
      </ns0:sp>
      <ns0:sp>
        <ns0:nvSpPr>
          <ns0:cNvPr id="8" name="">
            <ns1:extLst>
              <ns1:ext uri="{FF2B5EF4-FFF2-40B4-BE49-F238E27FC236}">
                <ns2:creationId id="{CDCA378D-6329-481B-A219-8273096AF7CE}"/>
              </ns1:ext>
            </ns1:extLst>
          </ns0:cNvPr>
          <ns0:cNvSpPr>
            <ns1:spLocks noGrp="1"/>
          </ns0:cNvSpPr>
          <ns0:nvPr/>
        </ns0:nvSpPr>
        <ns0:spPr>
          <ns1:xfrm>
            <ns1:off x="400050" y="2066925"/>
            <ns1:ext cx="8096250" cy="295275"/>
          </ns1:xfrm>
          <ns1:prstGeom prst="rect">
            <ns1:avLst/>
          </ns1:prstGeom>
          <ns1:noFill/>
          <ns1:ln w="0">
            <ns1:noFill/>
          </ns1:ln>
        </ns0:spPr>
        <ns0:txBody>
          <ns1:bodyPr>
            <ns1:noAutofit/>
          </ns1:bodyPr>
          <ns1:lstStyle/>
          <ns1:p>
            <ns1:pPr>
              <ns1:buNone/>
              <ns1:defRPr sz="1800" b="1">
                <ns1:solidFill>
                  <ns1:srgbClr val="003262"/>
                </ns1:solidFill>
                <ns1:latin typeface="Arial"/>
                <ns1:ea typeface="Arial"/>
                <ns1:cs typeface="Arial"/>
              </ns1:defRPr>
            </ns1:pPr>
            <ns1:r>
              <ns1:rPr sz="1800" b="1">
                <ns1:solidFill>
                  <ns1:srgbClr val="003262"/>
                </ns1:solidFill>
                <ns1:latin typeface="Arial"/>
                <ns1:ea typeface="Arial"/>
                <ns1:cs typeface="Arial"/>
              </ns1:rPr>
              <ns1:t>What the evidence supports</ns1:t>
            </ns1:r>
          </ns1:p>
        </ns0:txBody>
      </ns0:sp>
      <ns0:sp>
        <ns0:nvSpPr>
          <ns0:cNvPr id="9" name="">
            <ns1:extLst>
              <ns1:ext uri="{FF2B5EF4-FFF2-40B4-BE49-F238E27FC236}">
                <ns2:creationId id="{B114AB3E-811C-4B4C-9233-EB852CC9840B}"/>
              </ns1:ext>
            </ns1:extLst>
          </ns0:cNvPr>
          <ns0:cNvSpPr>
            <ns1:spLocks noGrp="1"/>
          </ns0:cNvSpPr>
          <ns0:nvPr/>
        </ns0:nvSpPr>
        <ns0:spPr>
          <ns1:xfrm>
            <ns1:off x="400050" y="2419350"/>
            <ns1:ext cx="8096250" cy="628650"/>
          </ns1:xfrm>
          <ns1:prstGeom prst="rect">
            <ns1:avLst/>
          </ns1:prstGeom>
          <ns1:noFill/>
          <ns1:ln w="0">
            <ns1:noFill/>
          </ns1:ln>
        </ns0:spPr>
        <ns0:txBody>
          <ns1:bodyPr>
            <ns1:noAutofit/>
          </ns1:bodyPr>
          <ns1:lstStyle/>
          <ns1:p>
            <ns1:pPr>
              <ns1:buNone/>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LSTM has higher observed test Sharpe. Bootstrap intervals leave its advantage over Transformer unresolved.</ns1:t>
            </ns1:r>
          </ns1:p>
        </ns0:txBody>
      </ns0:sp>
      <ns0:sp>
        <ns0:nvSpPr>
          <ns0:cNvPr id="10" name="">
            <ns1:extLst>
              <ns1:ext uri="{FF2B5EF4-FFF2-40B4-BE49-F238E27FC236}">
                <ns2:creationId id="{23138FAA-5FB2-4EA1-A541-B08A503D5A01}"/>
              </ns1:ext>
            </ns1:extLst>
          </ns0:cNvPr>
          <ns0:cNvSpPr>
            <ns1:spLocks noGrp="1"/>
          </ns0:cNvSpPr>
          <ns0:nvPr/>
        </ns0:nvSpPr>
        <ns0:spPr>
          <ns1:xfrm>
            <ns1:off x="400050" y="3133725"/>
            <ns1:ext cx="8096250" cy="295275"/>
          </ns1:xfrm>
          <ns1:prstGeom prst="rect">
            <ns1:avLst/>
          </ns1:prstGeom>
          <ns1:noFill/>
          <ns1:ln w="0">
            <ns1:noFill/>
          </ns1:ln>
        </ns0:spPr>
        <ns0:txBody>
          <ns1:bodyPr>
            <ns1:noAutofit/>
          </ns1:bodyPr>
          <ns1:lstStyle/>
          <ns1:p>
            <ns1:pPr>
              <ns1:buNone/>
              <ns1:defRPr sz="1800" b="1">
                <ns1:solidFill>
                  <ns1:srgbClr val="003262"/>
                </ns1:solidFill>
                <ns1:latin typeface="Arial"/>
                <ns1:ea typeface="Arial"/>
                <ns1:cs typeface="Arial"/>
              </ns1:defRPr>
            </ns1:pPr>
            <ns1:r>
              <ns1:rPr sz="1800" b="1">
                <ns1:solidFill>
                  <ns1:srgbClr val="003262"/>
                </ns1:solidFill>
                <ns1:latin typeface="Arial"/>
                <ns1:ea typeface="Arial"/>
                <ns1:cs typeface="Arial"/>
              </ns1:rPr>
              <ns1:t>What remains open</ns1:t>
            </ns1:r>
          </ns1:p>
        </ns0:txBody>
      </ns0:sp>
      <ns0:sp>
        <ns0:nvSpPr>
          <ns0:cNvPr id="11" name="">
            <ns1:extLst>
              <ns1:ext uri="{FF2B5EF4-FFF2-40B4-BE49-F238E27FC236}">
                <ns2:creationId id="{975CC6A3-F469-4177-8B8E-F3299805EBF6}"/>
              </ns1:ext>
            </ns1:extLst>
          </ns0:cNvPr>
          <ns0:cNvSpPr>
            <ns1:spLocks noGrp="1"/>
          </ns0:cNvSpPr>
          <ns0:nvPr/>
        </ns0:nvSpPr>
        <ns0:spPr>
          <ns1:xfrm>
            <ns1:off x="400050" y="3486150"/>
            <ns1:ext cx="8096250" cy="628650"/>
          </ns1:xfrm>
          <ns1:prstGeom prst="rect">
            <ns1:avLst/>
          </ns1:prstGeom>
          <ns1:noFill/>
          <ns1:ln w="0">
            <ns1:noFill/>
          </ns1:ln>
        </ns0:spPr>
        <ns0:txBody>
          <ns1:bodyPr>
            <ns1:noAutofit/>
          </ns1:bodyPr>
          <ns1:lstStyle/>
          <ns1:p>
            <ns1:pPr>
              <ns1:buNone/>
              <ns1:defRPr sz="1575" b="0">
                <ns1:solidFill>
                  <ns1:srgbClr val="1F2A37"/>
                </ns1:solidFill>
                <ns1:latin typeface="Arial"/>
                <ns1:ea typeface="Arial"/>
                <ns1:cs typeface="Arial"/>
              </ns1:defRPr>
            </ns1:pPr>
            <ns1:r>
              <ns1:rPr sz="1575" b="0">
                <ns1:solidFill>
                  <ns1:srgbClr val="1F2A37"/>
                </ns1:solidFill>
                <ns1:latin typeface="Arial"/>
                <ns1:ea typeface="Arial"/>
                <ns1:cs typeface="Arial"/>
              </ns1:rPr>
              <ns1:t>Full author-schedule GPU training, a new holdout, transaction costs and uncertainty across training runs.</ns1:t>
            </ns1:r>
          </ns1:p>
        </ns0:txBody>
      </ns0:sp>
      <ns0:sp>
        <ns0:nvSpPr>
          <ns0:cNvPr id="14" name="">
            <ns1:extLst>
              <ns1:ext uri="{FF2B5EF4-FFF2-40B4-BE49-F238E27FC236}">
                <ns2:creationId id="{5A98A400-C1B1-4D9D-993B-B07123F1EF67}"/>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Our contribution combines architecture, rolling, regime and uncertainty evaluation.</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Higher point estimates still need uncertainty checks and a new holdout.</ns1:t>
            </ns1:r>
          </ns1:p>
        </ns0:txBody>
      </ns0:sp>
    </ns0:spTree>
    <ns0:extLst>
      <ns0:ext uri="{BB962C8B-B14F-4D97-AF65-F5344CB8AC3E}">
        <ns3:creationId val="111821271"/>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2026-10-07T00:40:40.9930000Z</dcterms:created>
  <dcterms:modified xsi:type="dcterms:W3CDTF">2026-10-07T00:40:40.9930000Z</dcterms:modified>
</coreProperties>
</file>