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4.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e432bed6bf94b90" /><Relationship Type="http://schemas.openxmlformats.org/officeDocument/2006/relationships/extended-properties" Target="/docProps/app.xml" Id="Rfef0ad137fe04290" /><Relationship Type="http://schemas.openxmlformats.org/officeDocument/2006/relationships/officeDocument" Target="/ppt/presentation.xml" Id="Rf9ba860e89fc4a15" /></Relationships>
</file>

<file path=ppt/presentation.xml><?xml version="1.0" encoding="utf-8"?>
<p:presentation xmlns:p="http://schemas.openxmlformats.org/presentationml/2006/main">
  <p:sldMasterIdLst>
    <p:sldMasterId xmlns:r="http://schemas.openxmlformats.org/officeDocument/2006/relationships" id="2147483648" r:id="Ra715bfc394e24b3c"/>
  </p:sldMasterIdLst>
  <p:notesMasterIdLst>
    <p:notesMasterId xmlns:r="http://schemas.openxmlformats.org/officeDocument/2006/relationships" r:id="R4bbf4b9e16e04489"/>
  </p:notesMasterIdLst>
  <p:sldIdLst>
    <p:sldId xmlns:r="http://schemas.openxmlformats.org/officeDocument/2006/relationships" id="256" r:id="R725687ce333c4259"/>
    <p:sldId xmlns:r="http://schemas.openxmlformats.org/officeDocument/2006/relationships" id="257" r:id="Rfa41c5e51ae44cbf"/>
    <p:sldId xmlns:r="http://schemas.openxmlformats.org/officeDocument/2006/relationships" id="258" r:id="R01bdbb619cc243cb"/>
    <p:sldId xmlns:r="http://schemas.openxmlformats.org/officeDocument/2006/relationships" id="259" r:id="Rab18a5c54b8e4f81"/>
    <p:sldId xmlns:r="http://schemas.openxmlformats.org/officeDocument/2006/relationships" id="260" r:id="R5bc224aa30a84eb3"/>
    <p:sldId xmlns:r="http://schemas.openxmlformats.org/officeDocument/2006/relationships" id="261" r:id="R01a972822ec1427e"/>
    <p:sldId xmlns:r="http://schemas.openxmlformats.org/officeDocument/2006/relationships" id="262" r:id="R462549eb50f644b6"/>
    <p:sldId xmlns:r="http://schemas.openxmlformats.org/officeDocument/2006/relationships" id="263" r:id="R88d9a71bbd514b44"/>
    <p:sldId xmlns:r="http://schemas.openxmlformats.org/officeDocument/2006/relationships" id="264" r:id="R878760ac8f5f421b"/>
    <p:sldId xmlns:r="http://schemas.openxmlformats.org/officeDocument/2006/relationships" id="265" r:id="R99f3017347ec4171"/>
    <p:sldId xmlns:r="http://schemas.openxmlformats.org/officeDocument/2006/relationships" id="266" r:id="R39581b821dd84b90"/>
    <p:sldId xmlns:r="http://schemas.openxmlformats.org/officeDocument/2006/relationships" id="267" r:id="Ra97cb388fa8a4879"/>
    <p:sldId xmlns:r="http://schemas.openxmlformats.org/officeDocument/2006/relationships" id="268" r:id="Rdaef6de080df40e8"/>
    <p:sldId xmlns:r="http://schemas.openxmlformats.org/officeDocument/2006/relationships" id="269" r:id="Rf2fd823b6959469a"/>
    <p:sldId xmlns:r="http://schemas.openxmlformats.org/officeDocument/2006/relationships" id="270" r:id="R551aba70f8214d5c"/>
    <p:sldId xmlns:r="http://schemas.openxmlformats.org/officeDocument/2006/relationships" id="271" r:id="R12f1f1759b3b4fad"/>
    <p:sldId xmlns:r="http://schemas.openxmlformats.org/officeDocument/2006/relationships" id="272" r:id="R40923364721346e8"/>
    <p:sldId xmlns:r="http://schemas.openxmlformats.org/officeDocument/2006/relationships" id="273" r:id="R424b9a8fd8254f39"/>
    <p:sldId xmlns:r="http://schemas.openxmlformats.org/officeDocument/2006/relationships" id="274" r:id="Red6c3db8f5684d62"/>
    <p:sldId xmlns:r="http://schemas.openxmlformats.org/officeDocument/2006/relationships" id="275" r:id="R2fd02a9bf4374c46"/>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2397b7288d94741" /><Relationship Type="http://schemas.openxmlformats.org/officeDocument/2006/relationships/slideMaster" Target="/ppt/slideMasters/slideMaster1.xml" Id="Ra715bfc394e24b3c" /><Relationship Type="http://schemas.openxmlformats.org/officeDocument/2006/relationships/notesMaster" Target="/ppt/notesMasters/notesMaster1.xml" Id="R4bbf4b9e16e04489" /><Relationship Type="http://schemas.openxmlformats.org/officeDocument/2006/relationships/presProps" Target="/ppt/presProps.xml" Id="Ra27a577fc35c479b" /><Relationship Type="http://schemas.openxmlformats.org/officeDocument/2006/relationships/tableStyles" Target="/ppt/tableStyles.xml" Id="R8781a3857f6443e7" /><Relationship Type="http://schemas.openxmlformats.org/officeDocument/2006/relationships/slide" Target="/ppt/slides/slide1.xml" Id="R725687ce333c4259" /><Relationship Type="http://schemas.openxmlformats.org/officeDocument/2006/relationships/slide" Target="/ppt/slides/slide2.xml" Id="Rfa41c5e51ae44cbf" /><Relationship Type="http://schemas.openxmlformats.org/officeDocument/2006/relationships/slide" Target="/ppt/slides/slide3.xml" Id="R01bdbb619cc243cb" /><Relationship Type="http://schemas.openxmlformats.org/officeDocument/2006/relationships/slide" Target="/ppt/slides/slide4.xml" Id="Rab18a5c54b8e4f81" /><Relationship Type="http://schemas.openxmlformats.org/officeDocument/2006/relationships/slide" Target="/ppt/slides/slide5.xml" Id="R5bc224aa30a84eb3" /><Relationship Type="http://schemas.openxmlformats.org/officeDocument/2006/relationships/slide" Target="/ppt/slides/slide6.xml" Id="R01a972822ec1427e" /><Relationship Type="http://schemas.openxmlformats.org/officeDocument/2006/relationships/slide" Target="/ppt/slides/slide7.xml" Id="R462549eb50f644b6" /><Relationship Type="http://schemas.openxmlformats.org/officeDocument/2006/relationships/slide" Target="/ppt/slides/slide8.xml" Id="R88d9a71bbd514b44" /><Relationship Type="http://schemas.openxmlformats.org/officeDocument/2006/relationships/slide" Target="/ppt/slides/slide9.xml" Id="R878760ac8f5f421b" /><Relationship Type="http://schemas.openxmlformats.org/officeDocument/2006/relationships/slide" Target="/ppt/slides/slide10.xml" Id="R99f3017347ec4171" /><Relationship Type="http://schemas.openxmlformats.org/officeDocument/2006/relationships/slide" Target="/ppt/slides/slide11.xml" Id="R39581b821dd84b90" /><Relationship Type="http://schemas.openxmlformats.org/officeDocument/2006/relationships/slide" Target="/ppt/slides/slide12.xml" Id="Ra97cb388fa8a4879" /><Relationship Type="http://schemas.openxmlformats.org/officeDocument/2006/relationships/slide" Target="/ppt/slides/slide13.xml" Id="Rdaef6de080df40e8" /><Relationship Type="http://schemas.openxmlformats.org/officeDocument/2006/relationships/slide" Target="/ppt/slides/slide14.xml" Id="Rf2fd823b6959469a" /><Relationship Type="http://schemas.openxmlformats.org/officeDocument/2006/relationships/slide" Target="/ppt/slides/slide15.xml" Id="R551aba70f8214d5c" /><Relationship Type="http://schemas.openxmlformats.org/officeDocument/2006/relationships/slide" Target="/ppt/slides/slide16.xml" Id="R12f1f1759b3b4fad" /><Relationship Type="http://schemas.openxmlformats.org/officeDocument/2006/relationships/slide" Target="/ppt/slides/slide17.xml" Id="R40923364721346e8" /><Relationship Type="http://schemas.openxmlformats.org/officeDocument/2006/relationships/slide" Target="/ppt/slides/slide18.xml" Id="R424b9a8fd8254f39" /><Relationship Type="http://schemas.openxmlformats.org/officeDocument/2006/relationships/slide" Target="/ppt/slides/slide19.xml" Id="Red6c3db8f5684d62" /><Relationship Type="http://schemas.openxmlformats.org/officeDocument/2006/relationships/slide" Target="/ppt/slides/slide20.xml" Id="R2fd02a9bf4374c4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fb00fb79a34e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b33aaf3d9334331" /><Relationship Type="http://schemas.openxmlformats.org/officeDocument/2006/relationships/notesMaster" Target="/ppt/notesMasters/notesMaster1.xml" Id="R858b42d7668249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5192c1c3fb3346fe" /><Relationship Type="http://schemas.openxmlformats.org/officeDocument/2006/relationships/notesMaster" Target="/ppt/notesMasters/notesMaster1.xml" Id="R0958ca9cd54c46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b9b5090f9046fa" /><Relationship Type="http://schemas.openxmlformats.org/officeDocument/2006/relationships/notesMaster" Target="/ppt/notesMasters/notesMaster1.xml" Id="R18055baf793a45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89e7a42db84f18" /><Relationship Type="http://schemas.openxmlformats.org/officeDocument/2006/relationships/notesMaster" Target="/ppt/notesMasters/notesMaster1.xml" Id="Re90554bf7d8f45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44dc7aba414a3a" /><Relationship Type="http://schemas.openxmlformats.org/officeDocument/2006/relationships/notesMaster" Target="/ppt/notesMasters/notesMaster1.xml" Id="Rff45a413008e4e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b0bd2470e04588" /><Relationship Type="http://schemas.openxmlformats.org/officeDocument/2006/relationships/notesMaster" Target="/ppt/notesMasters/notesMaster1.xml" Id="R5fb02730e32b479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ff7a3280e74f7b" /><Relationship Type="http://schemas.openxmlformats.org/officeDocument/2006/relationships/notesMaster" Target="/ppt/notesMasters/notesMaster1.xml" Id="R64f54214a74949a3"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f9b290108c4145" /><Relationship Type="http://schemas.openxmlformats.org/officeDocument/2006/relationships/notesMaster" Target="/ppt/notesMasters/notesMaster1.xml" Id="R59f2fa52d64a4c2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7c6032d324a43aa" /><Relationship Type="http://schemas.openxmlformats.org/officeDocument/2006/relationships/notesMaster" Target="/ppt/notesMasters/notesMaster1.xml" Id="Rd47aadb2e7c146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487aa4c8ad246bf" /><Relationship Type="http://schemas.openxmlformats.org/officeDocument/2006/relationships/notesMaster" Target="/ppt/notesMasters/notesMaster1.xml" Id="Rb5d768ef1f1b430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eb7eee89514490" /><Relationship Type="http://schemas.openxmlformats.org/officeDocument/2006/relationships/notesMaster" Target="/ppt/notesMasters/notesMaster1.xml" Id="Rd6535f8c7d7e40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75c73a478994725" /><Relationship Type="http://schemas.openxmlformats.org/officeDocument/2006/relationships/notesMaster" Target="/ppt/notesMasters/notesMaster1.xml" Id="R0e604e4c83094b0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a0f54ea1ae4374" /><Relationship Type="http://schemas.openxmlformats.org/officeDocument/2006/relationships/notesMaster" Target="/ppt/notesMasters/notesMaster1.xml" Id="R28b44c46348d466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8dde0f78264fa7" /><Relationship Type="http://schemas.openxmlformats.org/officeDocument/2006/relationships/notesMaster" Target="/ppt/notesMasters/notesMaster1.xml" Id="R2a7abdfe7ec34b6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804787608a04f90" /><Relationship Type="http://schemas.openxmlformats.org/officeDocument/2006/relationships/notesMaster" Target="/ppt/notesMasters/notesMaster1.xml" Id="R81de23a4cc5e4bb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be84cea468f4600" /><Relationship Type="http://schemas.openxmlformats.org/officeDocument/2006/relationships/notesMaster" Target="/ppt/notesMasters/notesMaster1.xml" Id="Rd50adb46406d413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b761947c7d4311" /><Relationship Type="http://schemas.openxmlformats.org/officeDocument/2006/relationships/notesMaster" Target="/ppt/notesMasters/notesMaster1.xml" Id="R0f68b3a51e1b4d4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2efe0cecee4c0c" /><Relationship Type="http://schemas.openxmlformats.org/officeDocument/2006/relationships/notesMaster" Target="/ppt/notesMasters/notesMaster1.xml" Id="Rf5fe6e2d911c426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ecf29e19e7c4e8b" /><Relationship Type="http://schemas.openxmlformats.org/officeDocument/2006/relationships/notesMaster" Target="/ppt/notesMasters/notesMaster1.xml" Id="Re9172a6ce94a4b5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b7b4fb59f5d4f29" /><Relationship Type="http://schemas.openxmlformats.org/officeDocument/2006/relationships/notesMaster" Target="/ppt/notesMasters/notesMaster1.xml" Id="R4e9ec1234aff4e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15 seconds.</a:t>
            </a:r>
          </a:p>
          <a:p xmlns:a="http://schemas.openxmlformats.org/drawingml/2006/main">
            <a:r>
              <a:t>Introduce the asset-pricing question and the team. This talk distinguishes the published paper, our historical replication and the matched extension experiment.</a:t>
            </a:r>
          </a:p>
          <a:p xmlns:a="http://schemas.openxmlformats.org/drawingml/2006/main">
            <a:r>
              <a:t/>
            </a:r>
          </a:p>
          <a:p xmlns:a="http://schemas.openxmlformats.org/drawingml/2006/main">
            <a:r>
              <a:t>Source notes preserved:</a:t>
            </a:r>
          </a:p>
          <a:p xmlns:a="http://schemas.openxmlformats.org/drawingml/2006/main">
            <a:r>
              <a:t>Asset Pricing with Deep Learning: Replication and Extensions. Eight sections: main paper, replication, Transformer, rolling windows, regime change, uncertainty, combination, summary. Source photograph and logo retained from the earlier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25 seconds.</a:t>
            </a:r>
          </a:p>
          <a:p xmlns:a="http://schemas.openxmlformats.org/drawingml/2006/main">
            <a:r>
              <a:t>Give the eight-part roadmap. Four extensions cover Transformer, rolling performance, economic regimes and uncertainty. The final comparison combines these perspectives.</a:t>
            </a:r>
          </a:p>
          <a:p xmlns:a="http://schemas.openxmlformats.org/drawingml/2006/main">
            <a:r>
              <a:t/>
            </a:r>
          </a:p>
          <a:p xmlns:a="http://schemas.openxmlformats.org/drawingml/2006/main">
            <a:r>
              <a:t>Source notes preserved:</a:t>
            </a:r>
          </a:p>
          <a:p xmlns:a="http://schemas.openxmlformats.org/drawingml/2006/main">
            <a:r>
              <a:t>Four extension sections: Transformer, rolling windows, regime change, and uncertainty. The combination section compares results jointly before the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Explain that the pricing network learns a stochastic discount factor and the adversary searches for pricing errors. LSTM summarizes macroeconomic history. State the train, validation and test dates.</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State the published monthly test Sharpe of 0.750. Published results are the reference, with the model and data definitions shown here.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Our replicated GAN reaches monthly test Sharpe 0.612. Distinguish this historical replication from the later extension implementation. The gap from 0.750 does not isolate one implementation choice.</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Summarize validation and common signals. Explain why reproduction checks matter before interpreting architectural extensions.</a:t>
            </a:r>
          </a:p>
          <a:p xmlns:a="http://schemas.openxmlformats.org/drawingml/2006/main">
            <a:r>
              <a:t/>
            </a:r>
          </a:p>
          <a:p xmlns:a="http://schemas.openxmlformats.org/drawingml/2006/main">
            <a:r>
              <a:t>Source notes preserved:</a:t>
            </a:r>
          </a:p>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Extension 1: replace the macro sequence encoder with causal attention. Both new architectures use nine seeds and the same reduced training budget and checkpoint rule. This is shorter than the author schedule.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60 seconds.</a:t>
            </a:r>
          </a:p>
          <a:p xmlns:a="http://schemas.openxmlformats.org/drawingml/2006/main">
            <a:r>
              <a:t>Compare train, validation and test on the same schedule. Monthly test Sharpe is 0.459 for extension LSTM and 0.304 for Transformer. A newer architecture does not guarantee improvement.</a:t>
            </a:r>
          </a:p>
          <a:p xmlns:a="http://schemas.openxmlformats.org/drawingml/2006/main">
            <a:r>
              <a:t/>
            </a:r>
          </a:p>
          <a:p xmlns:a="http://schemas.openxmlformats.org/drawingml/2006/main">
            <a:r>
              <a:t>Source notes preserved:</a:t>
            </a:r>
          </a:p>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30 seconds.</a:t>
            </a:r>
          </a:p>
          <a:p xmlns:a="http://schemas.openxmlformats.org/drawingml/2006/main">
            <a:r>
              <a:t>Extension 2: evaluate the saved portfolios using 36- and 60-month rolling Sharpe. This does not refit models. Rolling chart values are annualized.</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Trace the 36-month performance changes. Emphasize that rankings vary through time and adjacent windows overlap substantially.</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Compare both window lengths. A mean of rolling annualized Sharpes differs from the full-test monthly Sharpe. Keep those quantities separate.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Extension 3: define NBER expansion/recession and past-volatility regimes. The test includes only 26 recession months, so regime estimates have limited precision.</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Use the Code 012 figure to compare all local portfolios by regime. Highlight the variation in rankings and treat the recession results as descriptive point estimates.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results/bootstrap_uncertainty/local_only/figures/local_regime_comparison.png.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35 seconds.</a:t>
            </a:r>
          </a:p>
          <a:p xmlns:a="http://schemas.openxmlformats.org/drawingml/2006/main">
            <a:r>
              <a:t>Extension 4: use paired circular block bootstrap with 10,000 draws. Shared resampled months preserve cross-model dependence. Primary block length is 12 months, with 6 and 24 as sensitivity checks. These intervals condition on saved trained models.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No models are retrained. The circular bootstrap samples contiguous return blocks with identical indices for every portfolio. Pointwise intervals concern one comparison. Simultaneous intervals use the maximum absolute centered bootstrap error across ten pairs for each block 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Use the Code 012 intervals to separate observed ranking from precision. Show the paper benchmark and replication alongside the matched architecture comparison.</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Figure copied unchanged from results/bootstrap_uncertainty/figures/model_sharpe_intervals.png. Interpret with the preceding method and results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55 seconds.</a:t>
            </a:r>
          </a:p>
          <a:p xmlns:a="http://schemas.openxmlformats.org/drawingml/2006/main">
            <a:r>
              <a:t>The LSTM minus Transformer point gap is 0.155 monthly Sharpe. Its basic 95% interval includes zero. Simultaneous comparisons also leave that ranking unresolved. This does not prove equivalence.</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paired_sharpe_difference_intervals.csv. Difference is A minus B. Pointwise basic intervals and simultaneous intervals adjust for different families. Simultaneous family contains all ten pairs among the five portfolios.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40 seconds.</a:t>
            </a:r>
          </a:p>
          <a:p xmlns:a="http://schemas.openxmlformats.org/drawingml/2006/main">
            <a:r>
              <a:t>The fixed 50/50 average combines saved LSTM and Transformer portfolio returns. Its test Sharpe is 0.463 versus LSTM 0.459. This exploratory combination was constructed after inspecting test outcomes.</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45 seconds.</a:t>
            </a:r>
          </a:p>
          <a:p xmlns:a="http://schemas.openxmlformats.org/drawingml/2006/main">
            <a:r>
              <a:t>Combine rolling evaluation with regimes labeled at the endpoint. A recession-ending 36-month window includes earlier expansion months. These annualized values answer a different question from conditional monthly regime Sharpe.</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50 seconds.</a:t>
            </a:r>
          </a:p>
          <a:p xmlns:a="http://schemas.openxmlformats.org/drawingml/2006/main">
            <a:r>
              <a:t>Compare all seven local portfolios across overall, rolling and recession metrics. Read the column units explicitly. Historical replication models and the matched new architecture experiment have different implementations.</a:t>
            </a:r>
          </a:p>
          <a:p xmlns:a="http://schemas.openxmlformats.org/drawingml/2006/main">
            <a:r>
              <a:t/>
            </a:r>
          </a:p>
          <a:p xmlns:a="http://schemas.openxmlformats.org/drawingml/2006/main">
            <a:r>
              <a:t>Source notes preserved:</a:t>
            </a:r>
          </a:p>
          <a:p xmlns:a="http://schemas.openxmlformats.org/drawingml/2006/main">
            <a:r>
              <a:t>Source: results/bootstrap_uncertainty/tables/. Code 012 uses 300 aligned monthly excess returns, January 1992–December 2016, population standard deviation, 10,000 paired circular-block draws, 6/12/24-month blocks. Primary full-test block length is 12. Intervals condition on fixed saved models and the existing history. Additional sources: results/bootstrap_uncertainty/local_only/tables/overall_performance.csv, rolling_summary.csv, regime_comparison.csv, paired_intervals.csv. Monthly full-test and recession-only Sharpes differ from mean annualized rolling Sharpe. Local simultaneous intervals recalibrate all 21 local pairs. Regime entries are point estimates with no regime-specific confidence intervals. Recession contains only 26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speaking time: 90 seconds.</a:t>
            </a:r>
          </a:p>
          <a:p xmlns:a="http://schemas.openxmlformats.org/drawingml/2006/main">
            <a:r>
              <a:t>Close with the contribution: matched architecture comparison plus rolling, regime and bootstrap evaluation, with an illustrative portfolio combination. LSTM leads the Transformer in point estimates, but intervals leave the gap unresolved. Full author-schedule GPU runs, a new holdout and trading costs remain future work.</a:t>
            </a:r>
          </a:p>
          <a:p xmlns:a="http://schemas.openxmlformats.org/drawingml/2006/main">
            <a:r>
              <a:t/>
            </a:r>
          </a:p>
          <a:p xmlns:a="http://schemas.openxmlformats.org/drawingml/2006/main">
            <a:r>
              <a:t>Source notes preserved:</a:t>
            </a:r>
          </a:p>
          <a:p xmlns:a="http://schemas.openxmlformats.org/drawingml/2006/main">
            <a:r>
              <a:t>Saved replication and extension returns. New models use nine seeds, a shortened 16/4/48 schedule, four optimizer passes, and validation checkpoint selection. Code 012 subsequently assesses return-sample uncertainty with a paired block bootstrap. Codes 09–11 evaluate saved models without retraining. Code 012 does not establish equivalence from an interval containing zero. Fixed equal-weight combination was considered after test inspection. Recession labels are retrospective. No transaction costs, genuinely unseen holdout, retraining uncertainty, or real-time vintage correction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e8d21877af742d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84c423d67544c7" /><Relationship Type="http://schemas.openxmlformats.org/officeDocument/2006/relationships/slideLayout" Target="/ppt/slideLayouts/slideLayout1.xml" Id="R40132939858941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132939858941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10bd049693a4b3e" /><Relationship Type="http://schemas.openxmlformats.org/officeDocument/2006/relationships/image" Target="/ppt/media/image.png" Id="Rd5462d7e9d1b4cd3" /><Relationship Type="http://schemas.openxmlformats.org/officeDocument/2006/relationships/image" Target="/ppt/media/image2.png" Id="Rcae51b15bc564b04" /><Relationship Type="http://schemas.openxmlformats.org/officeDocument/2006/relationships/notesSlide" Target="/ppt/notesSlides/notesSlide1.xml" Id="Ra2c2774826ab44b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6225fcac8a4802" /><Relationship Type="http://schemas.openxmlformats.org/officeDocument/2006/relationships/notesSlide" Target="/ppt/notesSlides/notesSlide2.xml" Id="R8dd48532f5884b2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6718ad638814b52" /><Relationship Type="http://schemas.openxmlformats.org/officeDocument/2006/relationships/notesSlide" Target="/ppt/notesSlides/notesSlide3.xml" Id="R509fb2073c6c4ab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4381e7074b24639" /><Relationship Type="http://schemas.openxmlformats.org/officeDocument/2006/relationships/notesSlide" Target="/ppt/notesSlides/notesSlide4.xml" Id="Re30798c9e3b449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95d8e83527487a" /><Relationship Type="http://schemas.openxmlformats.org/officeDocument/2006/relationships/chart" Target="/ppt/slides/charts/chart1.xml" Id="R7eb5810146214377" /><Relationship Type="http://schemas.openxmlformats.org/officeDocument/2006/relationships/notesSlide" Target="/ppt/notesSlides/notesSlide5.xml" Id="R1227a75dcb4342c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11839f02894b85" /><Relationship Type="http://schemas.openxmlformats.org/officeDocument/2006/relationships/notesSlide" Target="/ppt/notesSlides/notesSlide6.xml" Id="R7919112a0f5e4b6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84287dce0464fa2" /><Relationship Type="http://schemas.openxmlformats.org/officeDocument/2006/relationships/notesSlide" Target="/ppt/notesSlides/notesSlide7.xml" Id="R35fc6c68e415488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428db1984124e4f" /><Relationship Type="http://schemas.openxmlformats.org/officeDocument/2006/relationships/chart" Target="/ppt/slides/charts/chart2.xml" Id="R3fc79581fc4049ec" /><Relationship Type="http://schemas.openxmlformats.org/officeDocument/2006/relationships/notesSlide" Target="/ppt/notesSlides/notesSlide8.xml" Id="Rdc5fd400df3c43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cceef36fe1e465d" /><Relationship Type="http://schemas.openxmlformats.org/officeDocument/2006/relationships/notesSlide" Target="/ppt/notesSlides/notesSlide9.xml" Id="Rb5d592197a2e4f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f61ae9df2bc4dd5" /><Relationship Type="http://schemas.openxmlformats.org/officeDocument/2006/relationships/chart" Target="/ppt/slides/charts/chart3.xml" Id="Rc314a7b91a7d4f2f" /><Relationship Type="http://schemas.openxmlformats.org/officeDocument/2006/relationships/notesSlide" Target="/ppt/notesSlides/notesSlide10.xml" Id="R773bab0148ab40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fb26a3a658424a" /><Relationship Type="http://schemas.openxmlformats.org/officeDocument/2006/relationships/notesSlide" Target="/ppt/notesSlides/notesSlide11.xml" Id="R55b9ebe71a1949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0e419f88e044fc" /><Relationship Type="http://schemas.openxmlformats.org/officeDocument/2006/relationships/notesSlide" Target="/ppt/notesSlides/notesSlide12.xml" Id="Rc65622236ad043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39366269834ad6" /><Relationship Type="http://schemas.openxmlformats.org/officeDocument/2006/relationships/image" Target="/ppt/media/image3.png" Id="R5fb9de4dbfaf4ab7" /><Relationship Type="http://schemas.openxmlformats.org/officeDocument/2006/relationships/notesSlide" Target="/ppt/notesSlides/notesSlide13.xml" Id="R4ef520cf0c554d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3e374264f5445ec" /><Relationship Type="http://schemas.openxmlformats.org/officeDocument/2006/relationships/notesSlide" Target="/ppt/notesSlides/notesSlide14.xml" Id="Rc65c75c18d4943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028b4fef8d74cd0" /><Relationship Type="http://schemas.openxmlformats.org/officeDocument/2006/relationships/image" Target="/ppt/media/image4.png" Id="R770d8c20e56547cb" /><Relationship Type="http://schemas.openxmlformats.org/officeDocument/2006/relationships/notesSlide" Target="/ppt/notesSlides/notesSlide15.xml" Id="R10026aa625d34b4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73319f4660e451d" /><Relationship Type="http://schemas.openxmlformats.org/officeDocument/2006/relationships/notesSlide" Target="/ppt/notesSlides/notesSlide16.xml" Id="Rfff66989870442e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0f2c8d7d6b34342" /><Relationship Type="http://schemas.openxmlformats.org/officeDocument/2006/relationships/notesSlide" Target="/ppt/notesSlides/notesSlide17.xml" Id="R46a4eb3e33da4d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f2502073874f0e" /><Relationship Type="http://schemas.openxmlformats.org/officeDocument/2006/relationships/chart" Target="/ppt/slides/charts/chart4.xml" Id="R6300da2b42504121" /><Relationship Type="http://schemas.openxmlformats.org/officeDocument/2006/relationships/notesSlide" Target="/ppt/notesSlides/notesSlide18.xml" Id="Re0fd5e9c73e7488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8f2292507534b0d" /><Relationship Type="http://schemas.openxmlformats.org/officeDocument/2006/relationships/notesSlide" Target="/ppt/notesSlides/notesSlide19.xml" Id="Rff8e743019c6422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12844ce2bc8423d" /><Relationship Type="http://schemas.openxmlformats.org/officeDocument/2006/relationships/notesSlide" Target="/ppt/notesSlides/notesSlide20.xml" Id="R0f722e0d0ce6400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5.xlsx"/></Relationships>
</file>

<file path=ppt/slides/charts/_rels/chart4.xml.rels><Relationships xmlns="http://schemas.openxmlformats.org/package/2006/relationships"><Relationship Id="rIdChartSnapshot1" Type="http://schemas.openxmlformats.org/officeDocument/2006/relationships/package" Target="../../embeddings/chart-data-snapshot-009.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Replicated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Extension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Paper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Data'!$B$2:$B$266</c:f>
              <c:numCache>
                <c:formatCode>0.000</c:formatCode>
                <c:ptCount val="265"/>
                <c:pt idx="0">
                  <c:v>4.3622389</c:v>
                </c:pt>
                <c:pt idx="1">
                  <c:v>4.77971264</c:v>
                </c:pt>
                <c:pt idx="2">
                  <c:v>5.8243755</c:v>
                </c:pt>
                <c:pt idx="3">
                  <c:v>5.95470623</c:v>
                </c:pt>
                <c:pt idx="4">
                  <c:v>5.88456279</c:v>
                </c:pt>
                <c:pt idx="5">
                  <c:v>5.86484575</c:v>
                </c:pt>
                <c:pt idx="6">
                  <c:v>5.97513852</c:v>
                </c:pt>
                <c:pt idx="7">
                  <c:v>5.97580107</c:v>
                </c:pt>
                <c:pt idx="8">
                  <c:v>5.95880261</c:v>
                </c:pt>
                <c:pt idx="9">
                  <c:v>5.98327742</c:v>
                </c:pt>
                <c:pt idx="10">
                  <c:v>6.15180326</c:v>
                </c:pt>
                <c:pt idx="11">
                  <c:v>6.1288098</c:v>
                </c:pt>
                <c:pt idx="12">
                  <c:v>6.13804984</c:v>
                </c:pt>
                <c:pt idx="13">
                  <c:v>6.20989281</c:v>
                </c:pt>
                <c:pt idx="14">
                  <c:v>6.13882422</c:v>
                </c:pt>
                <c:pt idx="15">
                  <c:v>5.71777152</c:v>
                </c:pt>
                <c:pt idx="16">
                  <c:v>5.33514108</c:v>
                </c:pt>
                <c:pt idx="17">
                  <c:v>5.79384395</c:v>
                </c:pt>
                <c:pt idx="18">
                  <c:v>5.77127487</c:v>
                </c:pt>
                <c:pt idx="19">
                  <c:v>5.78103975</c:v>
                </c:pt>
                <c:pt idx="20">
                  <c:v>5.8745457</c:v>
                </c:pt>
                <c:pt idx="21">
                  <c:v>5.80194483</c:v>
                </c:pt>
                <c:pt idx="22">
                  <c:v>6.10921564</c:v>
                </c:pt>
                <c:pt idx="23">
                  <c:v>7.10385881</c:v>
                </c:pt>
                <c:pt idx="24">
                  <c:v>7.15027416</c:v>
                </c:pt>
                <c:pt idx="25">
                  <c:v>7.25006679</c:v>
                </c:pt>
                <c:pt idx="26">
                  <c:v>7.74193605</c:v>
                </c:pt>
                <c:pt idx="27">
                  <c:v>7.91253047</c:v>
                </c:pt>
                <c:pt idx="28">
                  <c:v>7.92443853</c:v>
                </c:pt>
                <c:pt idx="29">
                  <c:v>8.18155322</c:v>
                </c:pt>
                <c:pt idx="30">
                  <c:v>7.93203614</c:v>
                </c:pt>
                <c:pt idx="31">
                  <c:v>7.85611824</c:v>
                </c:pt>
                <c:pt idx="32">
                  <c:v>7.35706594</c:v>
                </c:pt>
                <c:pt idx="33">
                  <c:v>7.40418685</c:v>
                </c:pt>
                <c:pt idx="34">
                  <c:v>7.44218056</c:v>
                </c:pt>
                <c:pt idx="35">
                  <c:v>7.74430337</c:v>
                </c:pt>
                <c:pt idx="36">
                  <c:v>8.11409423</c:v>
                </c:pt>
                <c:pt idx="37">
                  <c:v>8.01935931</c:v>
                </c:pt>
                <c:pt idx="38">
                  <c:v>7.96500238</c:v>
                </c:pt>
                <c:pt idx="39">
                  <c:v>7.94113894</c:v>
                </c:pt>
                <c:pt idx="40">
                  <c:v>7.83263005</c:v>
                </c:pt>
                <c:pt idx="41">
                  <c:v>7.99941199</c:v>
                </c:pt>
                <c:pt idx="42">
                  <c:v>7.88913849</c:v>
                </c:pt>
                <c:pt idx="43">
                  <c:v>7.56340778</c:v>
                </c:pt>
                <c:pt idx="44">
                  <c:v>7.39396014</c:v>
                </c:pt>
                <c:pt idx="45">
                  <c:v>7.26457236</c:v>
                </c:pt>
                <c:pt idx="46">
                  <c:v>7.32433658</c:v>
                </c:pt>
                <c:pt idx="47">
                  <c:v>7.06112971</c:v>
                </c:pt>
                <c:pt idx="48">
                  <c:v>7.06334183</c:v>
                </c:pt>
                <c:pt idx="49">
                  <c:v>6.93309876</c:v>
                </c:pt>
                <c:pt idx="50">
                  <c:v>6.94357739</c:v>
                </c:pt>
                <c:pt idx="51">
                  <c:v>6.74787717</c:v>
                </c:pt>
                <c:pt idx="52">
                  <c:v>6.60904593</c:v>
                </c:pt>
                <c:pt idx="53">
                  <c:v>6.58682722</c:v>
                </c:pt>
                <c:pt idx="54">
                  <c:v>6.60273956</c:v>
                </c:pt>
                <c:pt idx="55">
                  <c:v>6.5622518</c:v>
                </c:pt>
                <c:pt idx="56">
                  <c:v>6.56176396</c:v>
                </c:pt>
                <c:pt idx="57">
                  <c:v>6.4886676</c:v>
                </c:pt>
                <c:pt idx="58">
                  <c:v>6.3329984</c:v>
                </c:pt>
                <c:pt idx="59">
                  <c:v>6.29847613</c:v>
                </c:pt>
                <c:pt idx="60">
                  <c:v>6.26345187</c:v>
                </c:pt>
                <c:pt idx="61">
                  <c:v>5.76821258</c:v>
                </c:pt>
                <c:pt idx="62">
                  <c:v>5.55221682</c:v>
                </c:pt>
                <c:pt idx="63">
                  <c:v>5.55794448</c:v>
                </c:pt>
                <c:pt idx="64">
                  <c:v>5.14928291</c:v>
                </c:pt>
                <c:pt idx="65">
                  <c:v>4.91092318</c:v>
                </c:pt>
                <c:pt idx="66">
                  <c:v>4.87499813</c:v>
                </c:pt>
                <c:pt idx="67">
                  <c:v>4.97445615</c:v>
                </c:pt>
                <c:pt idx="68">
                  <c:v>5.22200447</c:v>
                </c:pt>
                <c:pt idx="69">
                  <c:v>5.30084273</c:v>
                </c:pt>
                <c:pt idx="70">
                  <c:v>5.26482008</c:v>
                </c:pt>
                <c:pt idx="71">
                  <c:v>5.18075821</c:v>
                </c:pt>
                <c:pt idx="72">
                  <c:v>5.16855782</c:v>
                </c:pt>
                <c:pt idx="73">
                  <c:v>5.06970733</c:v>
                </c:pt>
                <c:pt idx="74">
                  <c:v>4.55603799</c:v>
                </c:pt>
                <c:pt idx="75">
                  <c:v>4.36787634</c:v>
                </c:pt>
                <c:pt idx="76">
                  <c:v>4.45557848</c:v>
                </c:pt>
                <c:pt idx="77">
                  <c:v>4.46097755</c:v>
                </c:pt>
                <c:pt idx="78">
                  <c:v>4.38159643</c:v>
                </c:pt>
                <c:pt idx="79">
                  <c:v>4.54114791</c:v>
                </c:pt>
                <c:pt idx="80">
                  <c:v>4.60647579</c:v>
                </c:pt>
                <c:pt idx="81">
                  <c:v>4.58007508</c:v>
                </c:pt>
                <c:pt idx="82">
                  <c:v>4.55464727</c:v>
                </c:pt>
                <c:pt idx="83">
                  <c:v>4.28125724</c:v>
                </c:pt>
                <c:pt idx="84">
                  <c:v>4.24738127</c:v>
                </c:pt>
                <c:pt idx="85">
                  <c:v>4.2433366</c:v>
                </c:pt>
                <c:pt idx="86">
                  <c:v>4.34672743</c:v>
                </c:pt>
                <c:pt idx="87">
                  <c:v>4.38873671</c:v>
                </c:pt>
                <c:pt idx="88">
                  <c:v>4.72762498</c:v>
                </c:pt>
                <c:pt idx="89">
                  <c:v>4.86511518</c:v>
                </c:pt>
                <c:pt idx="90">
                  <c:v>4.8757076</c:v>
                </c:pt>
                <c:pt idx="91">
                  <c:v>4.68222445</c:v>
                </c:pt>
                <c:pt idx="92">
                  <c:v>4.67565604</c:v>
                </c:pt>
                <c:pt idx="93">
                  <c:v>4.8295139</c:v>
                </c:pt>
                <c:pt idx="94">
                  <c:v>4.6899498</c:v>
                </c:pt>
                <c:pt idx="95">
                  <c:v>3.37639638</c:v>
                </c:pt>
                <c:pt idx="96">
                  <c:v>3.36287365</c:v>
                </c:pt>
                <c:pt idx="97">
                  <c:v>3.31063405</c:v>
                </c:pt>
                <c:pt idx="98">
                  <c:v>3.2761283</c:v>
                </c:pt>
                <c:pt idx="99">
                  <c:v>3.13135372</c:v>
                </c:pt>
                <c:pt idx="100">
                  <c:v>2.94158669</c:v>
                </c:pt>
                <c:pt idx="101">
                  <c:v>2.83077717</c:v>
                </c:pt>
                <c:pt idx="102">
                  <c:v>2.64612275</c:v>
                </c:pt>
                <c:pt idx="103">
                  <c:v>2.42027557</c:v>
                </c:pt>
                <c:pt idx="104">
                  <c:v>2.30046639</c:v>
                </c:pt>
                <c:pt idx="105">
                  <c:v>2.31556932</c:v>
                </c:pt>
                <c:pt idx="106">
                  <c:v>2.28495612</c:v>
                </c:pt>
                <c:pt idx="107">
                  <c:v>2.17287948</c:v>
                </c:pt>
                <c:pt idx="108">
                  <c:v>2.12821204</c:v>
                </c:pt>
                <c:pt idx="109">
                  <c:v>2.14682087</c:v>
                </c:pt>
                <c:pt idx="110">
                  <c:v>2.04005475</c:v>
                </c:pt>
                <c:pt idx="111">
                  <c:v>2.04403907</c:v>
                </c:pt>
                <c:pt idx="112">
                  <c:v>1.97916592</c:v>
                </c:pt>
                <c:pt idx="113">
                  <c:v>1.9196421</c:v>
                </c:pt>
                <c:pt idx="114">
                  <c:v>1.94995215</c:v>
                </c:pt>
                <c:pt idx="115">
                  <c:v>1.89886035</c:v>
                </c:pt>
                <c:pt idx="116">
                  <c:v>1.87929664</c:v>
                </c:pt>
                <c:pt idx="117">
                  <c:v>1.88865138</c:v>
                </c:pt>
                <c:pt idx="118">
                  <c:v>1.85093334</c:v>
                </c:pt>
                <c:pt idx="119">
                  <c:v>1.92130467</c:v>
                </c:pt>
                <c:pt idx="120">
                  <c:v>1.87819215</c:v>
                </c:pt>
                <c:pt idx="121">
                  <c:v>1.8526888</c:v>
                </c:pt>
                <c:pt idx="122">
                  <c:v>1.75961296</c:v>
                </c:pt>
                <c:pt idx="123">
                  <c:v>1.80992048</c:v>
                </c:pt>
                <c:pt idx="124">
                  <c:v>1.77035645</c:v>
                </c:pt>
                <c:pt idx="125">
                  <c:v>1.74786481</c:v>
                </c:pt>
                <c:pt idx="126">
                  <c:v>1.68331424</c:v>
                </c:pt>
                <c:pt idx="127">
                  <c:v>1.55324004</c:v>
                </c:pt>
                <c:pt idx="128">
                  <c:v>1.53167065</c:v>
                </c:pt>
                <c:pt idx="129">
                  <c:v>1.39273649</c:v>
                </c:pt>
                <c:pt idx="130">
                  <c:v>1.35585141</c:v>
                </c:pt>
                <c:pt idx="131">
                  <c:v>2.04709835</c:v>
                </c:pt>
                <c:pt idx="132">
                  <c:v>2.27460302</c:v>
                </c:pt>
                <c:pt idx="133">
                  <c:v>2.18901182</c:v>
                </c:pt>
                <c:pt idx="134">
                  <c:v>2.26755126</c:v>
                </c:pt>
                <c:pt idx="135">
                  <c:v>2.33361596</c:v>
                </c:pt>
                <c:pt idx="136">
                  <c:v>2.83783135</c:v>
                </c:pt>
                <c:pt idx="137">
                  <c:v>3.16296877</c:v>
                </c:pt>
                <c:pt idx="138">
                  <c:v>3.40025561</c:v>
                </c:pt>
                <c:pt idx="139">
                  <c:v>4.07391738</c:v>
                </c:pt>
                <c:pt idx="140">
                  <c:v>4.3184875</c:v>
                </c:pt>
                <c:pt idx="141">
                  <c:v>4.3475019</c:v>
                </c:pt>
                <c:pt idx="142">
                  <c:v>4.34059909</c:v>
                </c:pt>
                <c:pt idx="143">
                  <c:v>4.99829334</c:v>
                </c:pt>
                <c:pt idx="144">
                  <c:v>4.97796277</c:v>
                </c:pt>
                <c:pt idx="145">
                  <c:v>4.62409456</c:v>
                </c:pt>
                <c:pt idx="146">
                  <c:v>4.5620639</c:v>
                </c:pt>
                <c:pt idx="147">
                  <c:v>4.68624648</c:v>
                </c:pt>
                <c:pt idx="148">
                  <c:v>4.74836784</c:v>
                </c:pt>
                <c:pt idx="149">
                  <c:v>4.60487923</c:v>
                </c:pt>
                <c:pt idx="150">
                  <c:v>4.44474566</c:v>
                </c:pt>
                <c:pt idx="151">
                  <c:v>3.70845236</c:v>
                </c:pt>
                <c:pt idx="152">
                  <c:v>3.61628539</c:v>
                </c:pt>
                <c:pt idx="153">
                  <c:v>3.67962876</c:v>
                </c:pt>
                <c:pt idx="154">
                  <c:v>3.73022023</c:v>
                </c:pt>
                <c:pt idx="155">
                  <c:v>3.66908011</c:v>
                </c:pt>
                <c:pt idx="156">
                  <c:v>3.68655151</c:v>
                </c:pt>
                <c:pt idx="157">
                  <c:v>3.82547513</c:v>
                </c:pt>
                <c:pt idx="158">
                  <c:v>3.57853598</c:v>
                </c:pt>
                <c:pt idx="159">
                  <c:v>3.54811609</c:v>
                </c:pt>
                <c:pt idx="160">
                  <c:v>3.56364808</c:v>
                </c:pt>
                <c:pt idx="161">
                  <c:v>3.15017809</c:v>
                </c:pt>
                <c:pt idx="162">
                  <c:v>2.3477998</c:v>
                </c:pt>
                <c:pt idx="163">
                  <c:v>2.36955755</c:v>
                </c:pt>
                <c:pt idx="164">
                  <c:v>2.20385503</c:v>
                </c:pt>
                <c:pt idx="165">
                  <c:v>2.23140439</c:v>
                </c:pt>
                <c:pt idx="166">
                  <c:v>2.17402785</c:v>
                </c:pt>
                <c:pt idx="167">
                  <c:v>2.21432792</c:v>
                </c:pt>
                <c:pt idx="168">
                  <c:v>2.27578311</c:v>
                </c:pt>
                <c:pt idx="169">
                  <c:v>2.36866794</c:v>
                </c:pt>
                <c:pt idx="170">
                  <c:v>1.93893554</c:v>
                </c:pt>
                <c:pt idx="171">
                  <c:v>1.92510278</c:v>
                </c:pt>
                <c:pt idx="172">
                  <c:v>0.80886574</c:v>
                </c:pt>
                <c:pt idx="173">
                  <c:v>0.82189621</c:v>
                </c:pt>
                <c:pt idx="174">
                  <c:v>0.90726286</c:v>
                </c:pt>
                <c:pt idx="175">
                  <c:v>0.88889424</c:v>
                </c:pt>
                <c:pt idx="176">
                  <c:v>0.72332257</c:v>
                </c:pt>
                <c:pt idx="177">
                  <c:v>0.69125938</c:v>
                </c:pt>
                <c:pt idx="178">
                  <c:v>0.67697957</c:v>
                </c:pt>
                <c:pt idx="179">
                  <c:v>0.65461306</c:v>
                </c:pt>
                <c:pt idx="180">
                  <c:v>0.55359989</c:v>
                </c:pt>
                <c:pt idx="181">
                  <c:v>0.62525257</c:v>
                </c:pt>
                <c:pt idx="182">
                  <c:v>0.60996877</c:v>
                </c:pt>
                <c:pt idx="183">
                  <c:v>0.5994906</c:v>
                </c:pt>
                <c:pt idx="184">
                  <c:v>0.50778195</c:v>
                </c:pt>
                <c:pt idx="185">
                  <c:v>0.45052111</c:v>
                </c:pt>
                <c:pt idx="186">
                  <c:v>0.43980559</c:v>
                </c:pt>
                <c:pt idx="187">
                  <c:v>0.5423186</c:v>
                </c:pt>
                <c:pt idx="188">
                  <c:v>0.51891423</c:v>
                </c:pt>
                <c:pt idx="189">
                  <c:v>0.58748566</c:v>
                </c:pt>
                <c:pt idx="190">
                  <c:v>0.60543013</c:v>
                </c:pt>
                <c:pt idx="191">
                  <c:v>0.59062339</c:v>
                </c:pt>
                <c:pt idx="192">
                  <c:v>0.5939499</c:v>
                </c:pt>
                <c:pt idx="193">
                  <c:v>0.56224649</c:v>
                </c:pt>
                <c:pt idx="194">
                  <c:v>0.44846524</c:v>
                </c:pt>
                <c:pt idx="195">
                  <c:v>0.44123779</c:v>
                </c:pt>
                <c:pt idx="196">
                  <c:v>0.37767858</c:v>
                </c:pt>
                <c:pt idx="197">
                  <c:v>0.43791324</c:v>
                </c:pt>
                <c:pt idx="198">
                  <c:v>0.55356585</c:v>
                </c:pt>
                <c:pt idx="199">
                  <c:v>0.39999308</c:v>
                </c:pt>
                <c:pt idx="200">
                  <c:v>0.48964686</c:v>
                </c:pt>
                <c:pt idx="201">
                  <c:v>0.50033696</c:v>
                </c:pt>
                <c:pt idx="202">
                  <c:v>0.65211109</c:v>
                </c:pt>
                <c:pt idx="203">
                  <c:v>0.63785916</c:v>
                </c:pt>
                <c:pt idx="204">
                  <c:v>0.54210397</c:v>
                </c:pt>
                <c:pt idx="205">
                  <c:v>0.46589502</c:v>
                </c:pt>
                <c:pt idx="206">
                  <c:v>0.66293322</c:v>
                </c:pt>
                <c:pt idx="207">
                  <c:v>0.7174139</c:v>
                </c:pt>
                <c:pt idx="208">
                  <c:v>2.12915175</c:v>
                </c:pt>
                <c:pt idx="209">
                  <c:v>2.13075389</c:v>
                </c:pt>
                <c:pt idx="210">
                  <c:v>2.08953097</c:v>
                </c:pt>
                <c:pt idx="211">
                  <c:v>2.10758766</c:v>
                </c:pt>
                <c:pt idx="212">
                  <c:v>2.42132404</c:v>
                </c:pt>
                <c:pt idx="213">
                  <c:v>2.5212514</c:v>
                </c:pt>
                <c:pt idx="214">
                  <c:v>2.62477944</c:v>
                </c:pt>
                <c:pt idx="215">
                  <c:v>2.73447281</c:v>
                </c:pt>
                <c:pt idx="216">
                  <c:v>2.7819155</c:v>
                </c:pt>
                <c:pt idx="217">
                  <c:v>2.79036206</c:v>
                </c:pt>
                <c:pt idx="218">
                  <c:v>2.93812735</c:v>
                </c:pt>
                <c:pt idx="219">
                  <c:v>2.92857526</c:v>
                </c:pt>
                <c:pt idx="220">
                  <c:v>3.39599794</c:v>
                </c:pt>
                <c:pt idx="221">
                  <c:v>3.69725693</c:v>
                </c:pt>
                <c:pt idx="222">
                  <c:v>3.66027317</c:v>
                </c:pt>
                <c:pt idx="223">
                  <c:v>3.68232585</c:v>
                </c:pt>
                <c:pt idx="224">
                  <c:v>3.77233429</c:v>
                </c:pt>
                <c:pt idx="225">
                  <c:v>3.79629909</c:v>
                </c:pt>
                <c:pt idx="226">
                  <c:v>3.78971808</c:v>
                </c:pt>
                <c:pt idx="227">
                  <c:v>3.90867177</c:v>
                </c:pt>
                <c:pt idx="228">
                  <c:v>3.8593251</c:v>
                </c:pt>
                <c:pt idx="229">
                  <c:v>3.80005241</c:v>
                </c:pt>
                <c:pt idx="230">
                  <c:v>3.73185733</c:v>
                </c:pt>
                <c:pt idx="231">
                  <c:v>3.84520345</c:v>
                </c:pt>
                <c:pt idx="232">
                  <c:v>3.40946097</c:v>
                </c:pt>
                <c:pt idx="233">
                  <c:v>3.3449948</c:v>
                </c:pt>
                <c:pt idx="234">
                  <c:v>3.2622079</c:v>
                </c:pt>
                <c:pt idx="235">
                  <c:v>3.42358572</c:v>
                </c:pt>
                <c:pt idx="236">
                  <c:v>3.24669967</c:v>
                </c:pt>
                <c:pt idx="237">
                  <c:v>2.99494996</c:v>
                </c:pt>
                <c:pt idx="238">
                  <c:v>3.16127772</c:v>
                </c:pt>
                <c:pt idx="239">
                  <c:v>3.13994746</c:v>
                </c:pt>
                <c:pt idx="240">
                  <c:v>2.41745093</c:v>
                </c:pt>
                <c:pt idx="241">
                  <c:v>2.43059108</c:v>
                </c:pt>
                <c:pt idx="242">
                  <c:v>2.43652271</c:v>
                </c:pt>
                <c:pt idx="243">
                  <c:v>2.41972285</c:v>
                </c:pt>
                <c:pt idx="244">
                  <c:v>2.37886508</c:v>
                </c:pt>
                <c:pt idx="245">
                  <c:v>2.37059345</c:v>
                </c:pt>
                <c:pt idx="246">
                  <c:v>2.25307843</c:v>
                </c:pt>
                <c:pt idx="247">
                  <c:v>2.20984432</c:v>
                </c:pt>
                <c:pt idx="248">
                  <c:v>2.24277672</c:v>
                </c:pt>
                <c:pt idx="249">
                  <c:v>2.3037351</c:v>
                </c:pt>
                <c:pt idx="250">
                  <c:v>2.3212478</c:v>
                </c:pt>
                <c:pt idx="251">
                  <c:v>2.31549726</c:v>
                </c:pt>
                <c:pt idx="252">
                  <c:v>2.46764567</c:v>
                </c:pt>
                <c:pt idx="253">
                  <c:v>2.47023757</c:v>
                </c:pt>
                <c:pt idx="254">
                  <c:v>2.3092302</c:v>
                </c:pt>
                <c:pt idx="255">
                  <c:v>2.14499938</c:v>
                </c:pt>
                <c:pt idx="256">
                  <c:v>1.60743068</c:v>
                </c:pt>
                <c:pt idx="257">
                  <c:v>1.73403733</c:v>
                </c:pt>
                <c:pt idx="258">
                  <c:v>1.82058716</c:v>
                </c:pt>
                <c:pt idx="259">
                  <c:v>1.68675522</c:v>
                </c:pt>
                <c:pt idx="260">
                  <c:v>1.60790071</c:v>
                </c:pt>
                <c:pt idx="261">
                  <c:v>1.5958477</c:v>
                </c:pt>
                <c:pt idx="262">
                  <c:v>1.52249054</c:v>
                </c:pt>
                <c:pt idx="263">
                  <c:v>1.4457142</c:v>
                </c:pt>
                <c:pt idx="264">
                  <c:v>1.39765761</c:v>
                </c:pt>
              </c:numCache>
            </c:numRef>
          </c:yVal>
        </c:ser>
        <c:ser>
          <c:idx val="1"/>
          <c:order val="1"/>
          <c:tx>
            <c:v>Replicated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Data'!$D$2:$D$266</c:f>
              <c:numCache>
                <c:formatCode>0.000</c:formatCode>
                <c:ptCount val="265"/>
                <c:pt idx="0">
                  <c:v>4.35771524</c:v>
                </c:pt>
                <c:pt idx="1">
                  <c:v>4.73571406</c:v>
                </c:pt>
                <c:pt idx="2">
                  <c:v>5.28731228</c:v>
                </c:pt>
                <c:pt idx="3">
                  <c:v>5.30956763</c:v>
                </c:pt>
                <c:pt idx="4">
                  <c:v>5.3558775</c:v>
                </c:pt>
                <c:pt idx="5">
                  <c:v>5.25664504</c:v>
                </c:pt>
                <c:pt idx="6">
                  <c:v>5.34332183</c:v>
                </c:pt>
                <c:pt idx="7">
                  <c:v>5.20960636</c:v>
                </c:pt>
                <c:pt idx="8">
                  <c:v>5.16620153</c:v>
                </c:pt>
                <c:pt idx="9">
                  <c:v>5.17611227</c:v>
                </c:pt>
                <c:pt idx="10">
                  <c:v>5.34710643</c:v>
                </c:pt>
                <c:pt idx="11">
                  <c:v>5.38377255</c:v>
                </c:pt>
                <c:pt idx="12">
                  <c:v>5.41034167</c:v>
                </c:pt>
                <c:pt idx="13">
                  <c:v>5.77722431</c:v>
                </c:pt>
                <c:pt idx="14">
                  <c:v>5.70614181</c:v>
                </c:pt>
                <c:pt idx="15">
                  <c:v>5.76194481</c:v>
                </c:pt>
                <c:pt idx="16">
                  <c:v>5.40963829</c:v>
                </c:pt>
                <c:pt idx="17">
                  <c:v>5.58896543</c:v>
                </c:pt>
                <c:pt idx="18">
                  <c:v>5.57373526</c:v>
                </c:pt>
                <c:pt idx="19">
                  <c:v>5.57862533</c:v>
                </c:pt>
                <c:pt idx="20">
                  <c:v>5.55278329</c:v>
                </c:pt>
                <c:pt idx="21">
                  <c:v>5.44990387</c:v>
                </c:pt>
                <c:pt idx="22">
                  <c:v>5.67969619</c:v>
                </c:pt>
                <c:pt idx="23">
                  <c:v>6.08305242</c:v>
                </c:pt>
                <c:pt idx="24">
                  <c:v>6.23295874</c:v>
                </c:pt>
                <c:pt idx="25">
                  <c:v>6.08651579</c:v>
                </c:pt>
                <c:pt idx="26">
                  <c:v>6.69779815</c:v>
                </c:pt>
                <c:pt idx="27">
                  <c:v>6.88678567</c:v>
                </c:pt>
                <c:pt idx="28">
                  <c:v>6.89781986</c:v>
                </c:pt>
                <c:pt idx="29">
                  <c:v>7.22008243</c:v>
                </c:pt>
                <c:pt idx="30">
                  <c:v>7.1434033</c:v>
                </c:pt>
                <c:pt idx="31">
                  <c:v>7.26464961</c:v>
                </c:pt>
                <c:pt idx="32">
                  <c:v>6.89354325</c:v>
                </c:pt>
                <c:pt idx="33">
                  <c:v>6.96879909</c:v>
                </c:pt>
                <c:pt idx="34">
                  <c:v>6.92695897</c:v>
                </c:pt>
                <c:pt idx="35">
                  <c:v>7.07944728</c:v>
                </c:pt>
                <c:pt idx="36">
                  <c:v>7.35294703</c:v>
                </c:pt>
                <c:pt idx="37">
                  <c:v>7.35047429</c:v>
                </c:pt>
                <c:pt idx="38">
                  <c:v>7.33989944</c:v>
                </c:pt>
                <c:pt idx="39">
                  <c:v>7.35881006</c:v>
                </c:pt>
                <c:pt idx="40">
                  <c:v>7.0519877</c:v>
                </c:pt>
                <c:pt idx="41">
                  <c:v>7.21673559</c:v>
                </c:pt>
                <c:pt idx="42">
                  <c:v>7.40709554</c:v>
                </c:pt>
                <c:pt idx="43">
                  <c:v>7.57868636</c:v>
                </c:pt>
                <c:pt idx="44">
                  <c:v>7.64936827</c:v>
                </c:pt>
                <c:pt idx="45">
                  <c:v>7.5873724</c:v>
                </c:pt>
                <c:pt idx="46">
                  <c:v>7.54879875</c:v>
                </c:pt>
                <c:pt idx="47">
                  <c:v>7.35713973</c:v>
                </c:pt>
                <c:pt idx="48">
                  <c:v>7.29691544</c:v>
                </c:pt>
                <c:pt idx="49">
                  <c:v>7.22934427</c:v>
                </c:pt>
                <c:pt idx="50">
                  <c:v>7.35832538</c:v>
                </c:pt>
                <c:pt idx="51">
                  <c:v>6.01325745</c:v>
                </c:pt>
                <c:pt idx="52">
                  <c:v>5.05297595</c:v>
                </c:pt>
                <c:pt idx="53">
                  <c:v>5.20560997</c:v>
                </c:pt>
                <c:pt idx="54">
                  <c:v>5.244057</c:v>
                </c:pt>
                <c:pt idx="55">
                  <c:v>5.2461493</c:v>
                </c:pt>
                <c:pt idx="56">
                  <c:v>5.09201122</c:v>
                </c:pt>
                <c:pt idx="57">
                  <c:v>5.03233495</c:v>
                </c:pt>
                <c:pt idx="58">
                  <c:v>5.01533124</c:v>
                </c:pt>
                <c:pt idx="59">
                  <c:v>5.16957517</c:v>
                </c:pt>
                <c:pt idx="60">
                  <c:v>4.39211982</c:v>
                </c:pt>
                <c:pt idx="61">
                  <c:v>4.37974183</c:v>
                </c:pt>
                <c:pt idx="62">
                  <c:v>2.29176415</c:v>
                </c:pt>
                <c:pt idx="63">
                  <c:v>2.30890098</c:v>
                </c:pt>
                <c:pt idx="64">
                  <c:v>2.30282231</c:v>
                </c:pt>
                <c:pt idx="65">
                  <c:v>2.20593314</c:v>
                </c:pt>
                <c:pt idx="66">
                  <c:v>2.23218721</c:v>
                </c:pt>
                <c:pt idx="67">
                  <c:v>2.25892021</c:v>
                </c:pt>
                <c:pt idx="68">
                  <c:v>2.33512605</c:v>
                </c:pt>
                <c:pt idx="69">
                  <c:v>2.38576804</c:v>
                </c:pt>
                <c:pt idx="70">
                  <c:v>2.38762084</c:v>
                </c:pt>
                <c:pt idx="71">
                  <c:v>2.38656336</c:v>
                </c:pt>
                <c:pt idx="72">
                  <c:v>2.37642521</c:v>
                </c:pt>
                <c:pt idx="73">
                  <c:v>2.35324208</c:v>
                </c:pt>
                <c:pt idx="74">
                  <c:v>2.30528223</c:v>
                </c:pt>
                <c:pt idx="75">
                  <c:v>2.31854475</c:v>
                </c:pt>
                <c:pt idx="76">
                  <c:v>2.36485265</c:v>
                </c:pt>
                <c:pt idx="77">
                  <c:v>2.3605959</c:v>
                </c:pt>
                <c:pt idx="78">
                  <c:v>2.31992907</c:v>
                </c:pt>
                <c:pt idx="79">
                  <c:v>2.38455992</c:v>
                </c:pt>
                <c:pt idx="80">
                  <c:v>2.37987592</c:v>
                </c:pt>
                <c:pt idx="81">
                  <c:v>2.3829419</c:v>
                </c:pt>
                <c:pt idx="82">
                  <c:v>2.33652237</c:v>
                </c:pt>
                <c:pt idx="83">
                  <c:v>2.08906465</c:v>
                </c:pt>
                <c:pt idx="84">
                  <c:v>2.04407067</c:v>
                </c:pt>
                <c:pt idx="85">
                  <c:v>2.11189335</c:v>
                </c:pt>
                <c:pt idx="86">
                  <c:v>2.15565496</c:v>
                </c:pt>
                <c:pt idx="87">
                  <c:v>2.32618889</c:v>
                </c:pt>
                <c:pt idx="88">
                  <c:v>2.60294185</c:v>
                </c:pt>
                <c:pt idx="89">
                  <c:v>2.65160779</c:v>
                </c:pt>
                <c:pt idx="90">
                  <c:v>2.6691663</c:v>
                </c:pt>
                <c:pt idx="91">
                  <c:v>2.72529545</c:v>
                </c:pt>
                <c:pt idx="92">
                  <c:v>2.79881537</c:v>
                </c:pt>
                <c:pt idx="93">
                  <c:v>2.90578234</c:v>
                </c:pt>
                <c:pt idx="94">
                  <c:v>2.81582337</c:v>
                </c:pt>
                <c:pt idx="95">
                  <c:v>2.29690651</c:v>
                </c:pt>
                <c:pt idx="96">
                  <c:v>2.52032823</c:v>
                </c:pt>
                <c:pt idx="97">
                  <c:v>2.42936803</c:v>
                </c:pt>
                <c:pt idx="98">
                  <c:v>3.11196213</c:v>
                </c:pt>
                <c:pt idx="99">
                  <c:v>2.94355865</c:v>
                </c:pt>
                <c:pt idx="100">
                  <c:v>2.73102346</c:v>
                </c:pt>
                <c:pt idx="101">
                  <c:v>2.3484632</c:v>
                </c:pt>
                <c:pt idx="102">
                  <c:v>2.18753979</c:v>
                </c:pt>
                <c:pt idx="103">
                  <c:v>2.02172472</c:v>
                </c:pt>
                <c:pt idx="104">
                  <c:v>1.96868264</c:v>
                </c:pt>
                <c:pt idx="105">
                  <c:v>1.96756149</c:v>
                </c:pt>
                <c:pt idx="106">
                  <c:v>1.94862026</c:v>
                </c:pt>
                <c:pt idx="107">
                  <c:v>1.8826364</c:v>
                </c:pt>
                <c:pt idx="108">
                  <c:v>1.87859563</c:v>
                </c:pt>
                <c:pt idx="109">
                  <c:v>1.88557082</c:v>
                </c:pt>
                <c:pt idx="110">
                  <c:v>1.79591917</c:v>
                </c:pt>
                <c:pt idx="111">
                  <c:v>1.72748291</c:v>
                </c:pt>
                <c:pt idx="112">
                  <c:v>1.66634497</c:v>
                </c:pt>
                <c:pt idx="113">
                  <c:v>1.61797951</c:v>
                </c:pt>
                <c:pt idx="114">
                  <c:v>1.67434069</c:v>
                </c:pt>
                <c:pt idx="115">
                  <c:v>1.60424494</c:v>
                </c:pt>
                <c:pt idx="116">
                  <c:v>1.54237126</c:v>
                </c:pt>
                <c:pt idx="117">
                  <c:v>1.55487988</c:v>
                </c:pt>
                <c:pt idx="118">
                  <c:v>1.54650066</c:v>
                </c:pt>
                <c:pt idx="119">
                  <c:v>1.76363516</c:v>
                </c:pt>
                <c:pt idx="120">
                  <c:v>1.75833207</c:v>
                </c:pt>
                <c:pt idx="121">
                  <c:v>1.74898656</c:v>
                </c:pt>
                <c:pt idx="122">
                  <c:v>1.69322104</c:v>
                </c:pt>
                <c:pt idx="123">
                  <c:v>1.64170761</c:v>
                </c:pt>
                <c:pt idx="124">
                  <c:v>1.47013764</c:v>
                </c:pt>
                <c:pt idx="125">
                  <c:v>1.4391042</c:v>
                </c:pt>
                <c:pt idx="126">
                  <c:v>1.3820806</c:v>
                </c:pt>
                <c:pt idx="127">
                  <c:v>1.17596048</c:v>
                </c:pt>
                <c:pt idx="128">
                  <c:v>1.12739318</c:v>
                </c:pt>
                <c:pt idx="129">
                  <c:v>1.0047989</c:v>
                </c:pt>
                <c:pt idx="130">
                  <c:v>1.00678067</c:v>
                </c:pt>
                <c:pt idx="131">
                  <c:v>1.47599821</c:v>
                </c:pt>
                <c:pt idx="132">
                  <c:v>1.41424931</c:v>
                </c:pt>
                <c:pt idx="133">
                  <c:v>1.44982354</c:v>
                </c:pt>
                <c:pt idx="134">
                  <c:v>1.54796855</c:v>
                </c:pt>
                <c:pt idx="135">
                  <c:v>1.59537218</c:v>
                </c:pt>
                <c:pt idx="136">
                  <c:v>1.84257811</c:v>
                </c:pt>
                <c:pt idx="137">
                  <c:v>3.03309187</c:v>
                </c:pt>
                <c:pt idx="138">
                  <c:v>3.21172203</c:v>
                </c:pt>
                <c:pt idx="139">
                  <c:v>3.63759713</c:v>
                </c:pt>
                <c:pt idx="140">
                  <c:v>3.68088627</c:v>
                </c:pt>
                <c:pt idx="141">
                  <c:v>3.65512312</c:v>
                </c:pt>
                <c:pt idx="142">
                  <c:v>3.66638214</c:v>
                </c:pt>
                <c:pt idx="143">
                  <c:v>3.50229378</c:v>
                </c:pt>
                <c:pt idx="144">
                  <c:v>3.53874226</c:v>
                </c:pt>
                <c:pt idx="145">
                  <c:v>3.36460666</c:v>
                </c:pt>
                <c:pt idx="146">
                  <c:v>3.30179906</c:v>
                </c:pt>
                <c:pt idx="147">
                  <c:v>3.40496586</c:v>
                </c:pt>
                <c:pt idx="148">
                  <c:v>3.47906408</c:v>
                </c:pt>
                <c:pt idx="149">
                  <c:v>3.40730425</c:v>
                </c:pt>
                <c:pt idx="150">
                  <c:v>3.2746444</c:v>
                </c:pt>
                <c:pt idx="151">
                  <c:v>2.93379305</c:v>
                </c:pt>
                <c:pt idx="152">
                  <c:v>2.92430628</c:v>
                </c:pt>
                <c:pt idx="153">
                  <c:v>2.88760891</c:v>
                </c:pt>
                <c:pt idx="154">
                  <c:v>2.90991585</c:v>
                </c:pt>
                <c:pt idx="155">
                  <c:v>2.56736296</c:v>
                </c:pt>
                <c:pt idx="156">
                  <c:v>2.68225853</c:v>
                </c:pt>
                <c:pt idx="157">
                  <c:v>2.77968192</c:v>
                </c:pt>
                <c:pt idx="158">
                  <c:v>2.60471756</c:v>
                </c:pt>
                <c:pt idx="159">
                  <c:v>2.66536305</c:v>
                </c:pt>
                <c:pt idx="160">
                  <c:v>2.98337943</c:v>
                </c:pt>
                <c:pt idx="161">
                  <c:v>2.86228806</c:v>
                </c:pt>
                <c:pt idx="162">
                  <c:v>2.43976122</c:v>
                </c:pt>
                <c:pt idx="163">
                  <c:v>2.73988383</c:v>
                </c:pt>
                <c:pt idx="164">
                  <c:v>2.62751433</c:v>
                </c:pt>
                <c:pt idx="165">
                  <c:v>2.72202915</c:v>
                </c:pt>
                <c:pt idx="166">
                  <c:v>2.55892164</c:v>
                </c:pt>
                <c:pt idx="167">
                  <c:v>2.65278481</c:v>
                </c:pt>
                <c:pt idx="168">
                  <c:v>2.6772221</c:v>
                </c:pt>
                <c:pt idx="169">
                  <c:v>2.63989644</c:v>
                </c:pt>
                <c:pt idx="170">
                  <c:v>2.56640479</c:v>
                </c:pt>
                <c:pt idx="171">
                  <c:v>2.57082835</c:v>
                </c:pt>
                <c:pt idx="172">
                  <c:v>1.25150391</c:v>
                </c:pt>
                <c:pt idx="173">
                  <c:v>1.238854</c:v>
                </c:pt>
                <c:pt idx="174">
                  <c:v>1.29385039</c:v>
                </c:pt>
                <c:pt idx="175">
                  <c:v>1.1162997</c:v>
                </c:pt>
                <c:pt idx="176">
                  <c:v>0.9344654</c:v>
                </c:pt>
                <c:pt idx="177">
                  <c:v>0.88427729</c:v>
                </c:pt>
                <c:pt idx="178">
                  <c:v>0.86138662</c:v>
                </c:pt>
                <c:pt idx="179">
                  <c:v>0.88588608</c:v>
                </c:pt>
                <c:pt idx="180">
                  <c:v>0.88642807</c:v>
                </c:pt>
                <c:pt idx="181">
                  <c:v>0.87403178</c:v>
                </c:pt>
                <c:pt idx="182">
                  <c:v>0.92161691</c:v>
                </c:pt>
                <c:pt idx="183">
                  <c:v>0.86071721</c:v>
                </c:pt>
                <c:pt idx="184">
                  <c:v>0.79017538</c:v>
                </c:pt>
                <c:pt idx="185">
                  <c:v>0.7224114</c:v>
                </c:pt>
                <c:pt idx="186">
                  <c:v>0.70929304</c:v>
                </c:pt>
                <c:pt idx="187">
                  <c:v>0.85524555</c:v>
                </c:pt>
                <c:pt idx="188">
                  <c:v>0.84742401</c:v>
                </c:pt>
                <c:pt idx="189">
                  <c:v>0.88642041</c:v>
                </c:pt>
                <c:pt idx="190">
                  <c:v>0.91047898</c:v>
                </c:pt>
                <c:pt idx="191">
                  <c:v>0.97785695</c:v>
                </c:pt>
                <c:pt idx="192">
                  <c:v>0.90064686</c:v>
                </c:pt>
                <c:pt idx="193">
                  <c:v>0.8338624</c:v>
                </c:pt>
                <c:pt idx="194">
                  <c:v>0.65510216</c:v>
                </c:pt>
                <c:pt idx="195">
                  <c:v>0.66852777</c:v>
                </c:pt>
                <c:pt idx="196">
                  <c:v>0.63447253</c:v>
                </c:pt>
                <c:pt idx="197">
                  <c:v>0.65715805</c:v>
                </c:pt>
                <c:pt idx="198">
                  <c:v>0.72522597</c:v>
                </c:pt>
                <c:pt idx="199">
                  <c:v>0.57651961</c:v>
                </c:pt>
                <c:pt idx="200">
                  <c:v>0.57396245</c:v>
                </c:pt>
                <c:pt idx="201">
                  <c:v>0.53609865</c:v>
                </c:pt>
                <c:pt idx="202">
                  <c:v>0.64900883</c:v>
                </c:pt>
                <c:pt idx="203">
                  <c:v>0.6444029</c:v>
                </c:pt>
                <c:pt idx="204">
                  <c:v>0.54142991</c:v>
                </c:pt>
                <c:pt idx="205">
                  <c:v>0.5938229</c:v>
                </c:pt>
                <c:pt idx="206">
                  <c:v>0.60384765</c:v>
                </c:pt>
                <c:pt idx="207">
                  <c:v>0.63295923</c:v>
                </c:pt>
                <c:pt idx="208">
                  <c:v>1.20627925</c:v>
                </c:pt>
                <c:pt idx="209">
                  <c:v>1.19627078</c:v>
                </c:pt>
                <c:pt idx="210">
                  <c:v>1.19013751</c:v>
                </c:pt>
                <c:pt idx="211">
                  <c:v>1.38372134</c:v>
                </c:pt>
                <c:pt idx="212">
                  <c:v>1.5266737</c:v>
                </c:pt>
                <c:pt idx="213">
                  <c:v>1.54033031</c:v>
                </c:pt>
                <c:pt idx="214">
                  <c:v>1.60574058</c:v>
                </c:pt>
                <c:pt idx="215">
                  <c:v>1.64895392</c:v>
                </c:pt>
                <c:pt idx="216">
                  <c:v>1.54139624</c:v>
                </c:pt>
                <c:pt idx="217">
                  <c:v>1.57957104</c:v>
                </c:pt>
                <c:pt idx="218">
                  <c:v>1.56509235</c:v>
                </c:pt>
                <c:pt idx="219">
                  <c:v>1.58787028</c:v>
                </c:pt>
                <c:pt idx="220">
                  <c:v>1.66565689</c:v>
                </c:pt>
                <c:pt idx="221">
                  <c:v>1.68439652</c:v>
                </c:pt>
                <c:pt idx="222">
                  <c:v>1.70019576</c:v>
                </c:pt>
                <c:pt idx="223">
                  <c:v>1.57801342</c:v>
                </c:pt>
                <c:pt idx="224">
                  <c:v>1.5483743</c:v>
                </c:pt>
                <c:pt idx="225">
                  <c:v>1.51915484</c:v>
                </c:pt>
                <c:pt idx="226">
                  <c:v>1.56244333</c:v>
                </c:pt>
                <c:pt idx="227">
                  <c:v>1.60760942</c:v>
                </c:pt>
                <c:pt idx="228">
                  <c:v>1.65442919</c:v>
                </c:pt>
                <c:pt idx="229">
                  <c:v>1.63810117</c:v>
                </c:pt>
                <c:pt idx="230">
                  <c:v>1.69404202</c:v>
                </c:pt>
                <c:pt idx="231">
                  <c:v>1.64906119</c:v>
                </c:pt>
                <c:pt idx="232">
                  <c:v>1.49295562</c:v>
                </c:pt>
                <c:pt idx="233">
                  <c:v>1.48203811</c:v>
                </c:pt>
                <c:pt idx="234">
                  <c:v>1.49708393</c:v>
                </c:pt>
                <c:pt idx="235">
                  <c:v>1.57935068</c:v>
                </c:pt>
                <c:pt idx="236">
                  <c:v>1.56673716</c:v>
                </c:pt>
                <c:pt idx="237">
                  <c:v>1.65496826</c:v>
                </c:pt>
                <c:pt idx="238">
                  <c:v>2.60183969</c:v>
                </c:pt>
                <c:pt idx="239">
                  <c:v>2.46866114</c:v>
                </c:pt>
                <c:pt idx="240">
                  <c:v>2.00142031</c:v>
                </c:pt>
                <c:pt idx="241">
                  <c:v>2.00102817</c:v>
                </c:pt>
                <c:pt idx="242">
                  <c:v>2.06876414</c:v>
                </c:pt>
                <c:pt idx="243">
                  <c:v>2.07844176</c:v>
                </c:pt>
                <c:pt idx="244">
                  <c:v>1.84434056</c:v>
                </c:pt>
                <c:pt idx="245">
                  <c:v>1.98264214</c:v>
                </c:pt>
                <c:pt idx="246">
                  <c:v>1.9043956</c:v>
                </c:pt>
                <c:pt idx="247">
                  <c:v>1.88835198</c:v>
                </c:pt>
                <c:pt idx="248">
                  <c:v>1.9929159</c:v>
                </c:pt>
                <c:pt idx="249">
                  <c:v>2.12853634</c:v>
                </c:pt>
                <c:pt idx="250">
                  <c:v>2.13787743</c:v>
                </c:pt>
                <c:pt idx="251">
                  <c:v>2.15470311</c:v>
                </c:pt>
                <c:pt idx="252">
                  <c:v>2.33389328</c:v>
                </c:pt>
                <c:pt idx="253">
                  <c:v>2.36931268</c:v>
                </c:pt>
                <c:pt idx="254">
                  <c:v>2.25332143</c:v>
                </c:pt>
                <c:pt idx="255">
                  <c:v>2.29065979</c:v>
                </c:pt>
                <c:pt idx="256">
                  <c:v>1.40343814</c:v>
                </c:pt>
                <c:pt idx="257">
                  <c:v>1.6122127</c:v>
                </c:pt>
                <c:pt idx="258">
                  <c:v>1.64836664</c:v>
                </c:pt>
                <c:pt idx="259">
                  <c:v>1.64804359</c:v>
                </c:pt>
                <c:pt idx="260">
                  <c:v>1.61261466</c:v>
                </c:pt>
                <c:pt idx="261">
                  <c:v>1.54408675</c:v>
                </c:pt>
                <c:pt idx="262">
                  <c:v>1.54076814</c:v>
                </c:pt>
                <c:pt idx="263">
                  <c:v>1.50170446</c:v>
                </c:pt>
                <c:pt idx="264">
                  <c:v>1.49852285</c:v>
                </c:pt>
              </c:numCache>
            </c:numRef>
          </c:yVal>
        </c:ser>
        <c:ser>
          <c:idx val="2"/>
          <c:order val="2"/>
          <c:tx>
            <c:v>Extension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Data'!$F$2:$F$266</c:f>
              <c:numCache>
                <c:formatCode>0.000</c:formatCode>
                <c:ptCount val="265"/>
                <c:pt idx="0">
                  <c:v>3.57005753</c:v>
                </c:pt>
                <c:pt idx="1">
                  <c:v>3.56325638</c:v>
                </c:pt>
                <c:pt idx="2">
                  <c:v>4.00284057</c:v>
                </c:pt>
                <c:pt idx="3">
                  <c:v>3.94281431</c:v>
                </c:pt>
                <c:pt idx="4">
                  <c:v>3.94063262</c:v>
                </c:pt>
                <c:pt idx="5">
                  <c:v>3.79557105</c:v>
                </c:pt>
                <c:pt idx="6">
                  <c:v>3.43992865</c:v>
                </c:pt>
                <c:pt idx="7">
                  <c:v>3.37854014</c:v>
                </c:pt>
                <c:pt idx="8">
                  <c:v>3.24872415</c:v>
                </c:pt>
                <c:pt idx="9">
                  <c:v>3.17685283</c:v>
                </c:pt>
                <c:pt idx="10">
                  <c:v>3.30152104</c:v>
                </c:pt>
                <c:pt idx="11">
                  <c:v>3.2913142</c:v>
                </c:pt>
                <c:pt idx="12">
                  <c:v>3.27393206</c:v>
                </c:pt>
                <c:pt idx="13">
                  <c:v>3.27664982</c:v>
                </c:pt>
                <c:pt idx="14">
                  <c:v>3.25182899</c:v>
                </c:pt>
                <c:pt idx="15">
                  <c:v>3.12043734</c:v>
                </c:pt>
                <c:pt idx="16">
                  <c:v>2.97418527</c:v>
                </c:pt>
                <c:pt idx="17">
                  <c:v>3.03997401</c:v>
                </c:pt>
                <c:pt idx="18">
                  <c:v>3.24272106</c:v>
                </c:pt>
                <c:pt idx="19">
                  <c:v>3.24165658</c:v>
                </c:pt>
                <c:pt idx="20">
                  <c:v>3.34759598</c:v>
                </c:pt>
                <c:pt idx="21">
                  <c:v>3.29142857</c:v>
                </c:pt>
                <c:pt idx="22">
                  <c:v>3.57004112</c:v>
                </c:pt>
                <c:pt idx="23">
                  <c:v>3.85067996</c:v>
                </c:pt>
                <c:pt idx="24">
                  <c:v>3.78134366</c:v>
                </c:pt>
                <c:pt idx="25">
                  <c:v>3.79263366</c:v>
                </c:pt>
                <c:pt idx="26">
                  <c:v>3.86283096</c:v>
                </c:pt>
                <c:pt idx="27">
                  <c:v>3.8882576</c:v>
                </c:pt>
                <c:pt idx="28">
                  <c:v>3.83476454</c:v>
                </c:pt>
                <c:pt idx="29">
                  <c:v>4.03622021</c:v>
                </c:pt>
                <c:pt idx="30">
                  <c:v>4.1371851</c:v>
                </c:pt>
                <c:pt idx="31">
                  <c:v>4.01414389</c:v>
                </c:pt>
                <c:pt idx="32">
                  <c:v>3.80964153</c:v>
                </c:pt>
                <c:pt idx="33">
                  <c:v>3.85683586</c:v>
                </c:pt>
                <c:pt idx="34">
                  <c:v>3.85771423</c:v>
                </c:pt>
                <c:pt idx="35">
                  <c:v>3.8689801</c:v>
                </c:pt>
                <c:pt idx="36">
                  <c:v>3.63272208</c:v>
                </c:pt>
                <c:pt idx="37">
                  <c:v>3.64172551</c:v>
                </c:pt>
                <c:pt idx="38">
                  <c:v>3.62596522</c:v>
                </c:pt>
                <c:pt idx="39">
                  <c:v>3.68152449</c:v>
                </c:pt>
                <c:pt idx="40">
                  <c:v>3.58497768</c:v>
                </c:pt>
                <c:pt idx="41">
                  <c:v>3.73545869</c:v>
                </c:pt>
                <c:pt idx="42">
                  <c:v>3.95157995</c:v>
                </c:pt>
                <c:pt idx="43">
                  <c:v>3.9457339</c:v>
                </c:pt>
                <c:pt idx="44">
                  <c:v>4.01884856</c:v>
                </c:pt>
                <c:pt idx="45">
                  <c:v>4.17498731</c:v>
                </c:pt>
                <c:pt idx="46">
                  <c:v>4.18224198</c:v>
                </c:pt>
                <c:pt idx="47">
                  <c:v>4.24467382</c:v>
                </c:pt>
                <c:pt idx="48">
                  <c:v>4.16737514</c:v>
                </c:pt>
                <c:pt idx="49">
                  <c:v>3.97348293</c:v>
                </c:pt>
                <c:pt idx="50">
                  <c:v>3.77533385</c:v>
                </c:pt>
                <c:pt idx="51">
                  <c:v>3.8286306</c:v>
                </c:pt>
                <c:pt idx="52">
                  <c:v>4.05543046</c:v>
                </c:pt>
                <c:pt idx="53">
                  <c:v>4.1144247</c:v>
                </c:pt>
                <c:pt idx="54">
                  <c:v>4.08772989</c:v>
                </c:pt>
                <c:pt idx="55">
                  <c:v>4.0929857</c:v>
                </c:pt>
                <c:pt idx="56">
                  <c:v>3.88671299</c:v>
                </c:pt>
                <c:pt idx="57">
                  <c:v>3.70863643</c:v>
                </c:pt>
                <c:pt idx="58">
                  <c:v>3.61713208</c:v>
                </c:pt>
                <c:pt idx="59">
                  <c:v>3.20259854</c:v>
                </c:pt>
                <c:pt idx="60">
                  <c:v>2.27163063</c:v>
                </c:pt>
                <c:pt idx="61">
                  <c:v>2.21426654</c:v>
                </c:pt>
                <c:pt idx="62">
                  <c:v>0.7296847</c:v>
                </c:pt>
                <c:pt idx="63">
                  <c:v>0.82458568</c:v>
                </c:pt>
                <c:pt idx="64">
                  <c:v>0.9384165</c:v>
                </c:pt>
                <c:pt idx="65">
                  <c:v>0.86581492</c:v>
                </c:pt>
                <c:pt idx="66">
                  <c:v>0.83192814</c:v>
                </c:pt>
                <c:pt idx="67">
                  <c:v>0.96928462</c:v>
                </c:pt>
                <c:pt idx="68">
                  <c:v>0.88167408</c:v>
                </c:pt>
                <c:pt idx="69">
                  <c:v>0.91249435</c:v>
                </c:pt>
                <c:pt idx="70">
                  <c:v>0.99027427</c:v>
                </c:pt>
                <c:pt idx="71">
                  <c:v>1.10618977</c:v>
                </c:pt>
                <c:pt idx="72">
                  <c:v>1.19650037</c:v>
                </c:pt>
                <c:pt idx="73">
                  <c:v>1.21977605</c:v>
                </c:pt>
                <c:pt idx="74">
                  <c:v>1.3049818</c:v>
                </c:pt>
                <c:pt idx="75">
                  <c:v>1.34198319</c:v>
                </c:pt>
                <c:pt idx="76">
                  <c:v>1.38266294</c:v>
                </c:pt>
                <c:pt idx="77">
                  <c:v>1.39913709</c:v>
                </c:pt>
                <c:pt idx="78">
                  <c:v>1.40206276</c:v>
                </c:pt>
                <c:pt idx="79">
                  <c:v>1.42291695</c:v>
                </c:pt>
                <c:pt idx="80">
                  <c:v>1.31437007</c:v>
                </c:pt>
                <c:pt idx="81">
                  <c:v>1.18708282</c:v>
                </c:pt>
                <c:pt idx="82">
                  <c:v>1.19627953</c:v>
                </c:pt>
                <c:pt idx="83">
                  <c:v>1.22762584</c:v>
                </c:pt>
                <c:pt idx="84">
                  <c:v>1.23383536</c:v>
                </c:pt>
                <c:pt idx="85">
                  <c:v>1.32140658</c:v>
                </c:pt>
                <c:pt idx="86">
                  <c:v>1.36427012</c:v>
                </c:pt>
                <c:pt idx="87">
                  <c:v>1.40364344</c:v>
                </c:pt>
                <c:pt idx="88">
                  <c:v>1.37579825</c:v>
                </c:pt>
                <c:pt idx="89">
                  <c:v>1.36350927</c:v>
                </c:pt>
                <c:pt idx="90">
                  <c:v>1.26434106</c:v>
                </c:pt>
                <c:pt idx="91">
                  <c:v>1.09024637</c:v>
                </c:pt>
                <c:pt idx="92">
                  <c:v>1.12295003</c:v>
                </c:pt>
                <c:pt idx="93">
                  <c:v>1.09511333</c:v>
                </c:pt>
                <c:pt idx="94">
                  <c:v>1.11008654</c:v>
                </c:pt>
                <c:pt idx="95">
                  <c:v>1.1503935</c:v>
                </c:pt>
                <c:pt idx="96">
                  <c:v>1.46255119</c:v>
                </c:pt>
                <c:pt idx="97">
                  <c:v>1.45780571</c:v>
                </c:pt>
                <c:pt idx="98">
                  <c:v>2.50538134</c:v>
                </c:pt>
                <c:pt idx="99">
                  <c:v>2.26700091</c:v>
                </c:pt>
                <c:pt idx="100">
                  <c:v>2.22217991</c:v>
                </c:pt>
                <c:pt idx="101">
                  <c:v>2.37365763</c:v>
                </c:pt>
                <c:pt idx="102">
                  <c:v>2.46366013</c:v>
                </c:pt>
                <c:pt idx="103">
                  <c:v>2.43143693</c:v>
                </c:pt>
                <c:pt idx="104">
                  <c:v>2.7708803</c:v>
                </c:pt>
                <c:pt idx="105">
                  <c:v>2.66299455</c:v>
                </c:pt>
                <c:pt idx="106">
                  <c:v>2.55385745</c:v>
                </c:pt>
                <c:pt idx="107">
                  <c:v>2.36398686</c:v>
                </c:pt>
                <c:pt idx="108">
                  <c:v>2.34629674</c:v>
                </c:pt>
                <c:pt idx="109">
                  <c:v>2.32657649</c:v>
                </c:pt>
                <c:pt idx="110">
                  <c:v>2.46856147</c:v>
                </c:pt>
                <c:pt idx="111">
                  <c:v>2.42703959</c:v>
                </c:pt>
                <c:pt idx="112">
                  <c:v>2.33834497</c:v>
                </c:pt>
                <c:pt idx="113">
                  <c:v>2.24991614</c:v>
                </c:pt>
                <c:pt idx="114">
                  <c:v>2.34041553</c:v>
                </c:pt>
                <c:pt idx="115">
                  <c:v>2.39341474</c:v>
                </c:pt>
                <c:pt idx="116">
                  <c:v>2.52038576</c:v>
                </c:pt>
                <c:pt idx="117">
                  <c:v>2.7702092</c:v>
                </c:pt>
                <c:pt idx="118">
                  <c:v>2.653174</c:v>
                </c:pt>
                <c:pt idx="119">
                  <c:v>2.643962</c:v>
                </c:pt>
                <c:pt idx="120">
                  <c:v>2.39454158</c:v>
                </c:pt>
                <c:pt idx="121">
                  <c:v>2.35629853</c:v>
                </c:pt>
                <c:pt idx="122">
                  <c:v>2.34973692</c:v>
                </c:pt>
                <c:pt idx="123">
                  <c:v>2.28110426</c:v>
                </c:pt>
                <c:pt idx="124">
                  <c:v>2.3419777</c:v>
                </c:pt>
                <c:pt idx="125">
                  <c:v>2.19282863</c:v>
                </c:pt>
                <c:pt idx="126">
                  <c:v>2.33136319</c:v>
                </c:pt>
                <c:pt idx="127">
                  <c:v>2.67072231</c:v>
                </c:pt>
                <c:pt idx="128">
                  <c:v>2.70321023</c:v>
                </c:pt>
                <c:pt idx="129">
                  <c:v>2.95922954</c:v>
                </c:pt>
                <c:pt idx="130">
                  <c:v>2.88257783</c:v>
                </c:pt>
                <c:pt idx="131">
                  <c:v>2.91726913</c:v>
                </c:pt>
                <c:pt idx="132">
                  <c:v>2.84521084</c:v>
                </c:pt>
                <c:pt idx="133">
                  <c:v>2.81872861</c:v>
                </c:pt>
                <c:pt idx="134">
                  <c:v>3.06396266</c:v>
                </c:pt>
                <c:pt idx="135">
                  <c:v>3.34879314</c:v>
                </c:pt>
                <c:pt idx="136">
                  <c:v>3.30198137</c:v>
                </c:pt>
                <c:pt idx="137">
                  <c:v>3.47410325</c:v>
                </c:pt>
                <c:pt idx="138">
                  <c:v>3.35559353</c:v>
                </c:pt>
                <c:pt idx="139">
                  <c:v>3.34412355</c:v>
                </c:pt>
                <c:pt idx="140">
                  <c:v>3.26519986</c:v>
                </c:pt>
                <c:pt idx="141">
                  <c:v>3.01852884</c:v>
                </c:pt>
                <c:pt idx="142">
                  <c:v>2.96307323</c:v>
                </c:pt>
                <c:pt idx="143">
                  <c:v>3.14328439</c:v>
                </c:pt>
                <c:pt idx="144">
                  <c:v>3.10348485</c:v>
                </c:pt>
                <c:pt idx="145">
                  <c:v>2.77823195</c:v>
                </c:pt>
                <c:pt idx="146">
                  <c:v>2.75654607</c:v>
                </c:pt>
                <c:pt idx="147">
                  <c:v>2.61032688</c:v>
                </c:pt>
                <c:pt idx="148">
                  <c:v>2.59292486</c:v>
                </c:pt>
                <c:pt idx="149">
                  <c:v>2.38366008</c:v>
                </c:pt>
                <c:pt idx="150">
                  <c:v>2.32377738</c:v>
                </c:pt>
                <c:pt idx="151">
                  <c:v>2.31529783</c:v>
                </c:pt>
                <c:pt idx="152">
                  <c:v>2.09204455</c:v>
                </c:pt>
                <c:pt idx="153">
                  <c:v>1.97461306</c:v>
                </c:pt>
                <c:pt idx="154">
                  <c:v>1.98126964</c:v>
                </c:pt>
                <c:pt idx="155">
                  <c:v>1.95648186</c:v>
                </c:pt>
                <c:pt idx="156">
                  <c:v>2.42656736</c:v>
                </c:pt>
                <c:pt idx="157">
                  <c:v>2.36215772</c:v>
                </c:pt>
                <c:pt idx="158">
                  <c:v>2.37845244</c:v>
                </c:pt>
                <c:pt idx="159">
                  <c:v>2.31377931</c:v>
                </c:pt>
                <c:pt idx="160">
                  <c:v>2.39036558</c:v>
                </c:pt>
                <c:pt idx="161">
                  <c:v>2.57373355</c:v>
                </c:pt>
                <c:pt idx="162">
                  <c:v>1.45611674</c:v>
                </c:pt>
                <c:pt idx="163">
                  <c:v>1.53115043</c:v>
                </c:pt>
                <c:pt idx="164">
                  <c:v>1.15652209</c:v>
                </c:pt>
                <c:pt idx="165">
                  <c:v>0.74118043</c:v>
                </c:pt>
                <c:pt idx="166">
                  <c:v>0.82173416</c:v>
                </c:pt>
                <c:pt idx="167">
                  <c:v>1.02960485</c:v>
                </c:pt>
                <c:pt idx="168">
                  <c:v>1.15470237</c:v>
                </c:pt>
                <c:pt idx="169">
                  <c:v>1.26380155</c:v>
                </c:pt>
                <c:pt idx="170">
                  <c:v>1.1513543</c:v>
                </c:pt>
                <c:pt idx="171">
                  <c:v>1.10752433</c:v>
                </c:pt>
                <c:pt idx="172">
                  <c:v>0.64557452</c:v>
                </c:pt>
                <c:pt idx="173">
                  <c:v>0.64183598</c:v>
                </c:pt>
                <c:pt idx="174">
                  <c:v>0.69447395</c:v>
                </c:pt>
                <c:pt idx="175">
                  <c:v>0.77842632</c:v>
                </c:pt>
                <c:pt idx="176">
                  <c:v>0.63296349</c:v>
                </c:pt>
                <c:pt idx="177">
                  <c:v>0.7701059</c:v>
                </c:pt>
                <c:pt idx="178">
                  <c:v>0.76807806</c:v>
                </c:pt>
                <c:pt idx="179">
                  <c:v>0.72768282</c:v>
                </c:pt>
                <c:pt idx="180">
                  <c:v>0.65641608</c:v>
                </c:pt>
                <c:pt idx="181">
                  <c:v>0.76064291</c:v>
                </c:pt>
                <c:pt idx="182">
                  <c:v>0.73421899</c:v>
                </c:pt>
                <c:pt idx="183">
                  <c:v>0.79529135</c:v>
                </c:pt>
                <c:pt idx="184">
                  <c:v>0.73412778</c:v>
                </c:pt>
                <c:pt idx="185">
                  <c:v>0.80190126</c:v>
                </c:pt>
                <c:pt idx="186">
                  <c:v>0.73546984</c:v>
                </c:pt>
                <c:pt idx="187">
                  <c:v>0.67081394</c:v>
                </c:pt>
                <c:pt idx="188">
                  <c:v>0.77660012</c:v>
                </c:pt>
                <c:pt idx="189">
                  <c:v>0.74098413</c:v>
                </c:pt>
                <c:pt idx="190">
                  <c:v>0.71220037</c:v>
                </c:pt>
                <c:pt idx="191">
                  <c:v>0.63581966</c:v>
                </c:pt>
                <c:pt idx="192">
                  <c:v>0.48940021</c:v>
                </c:pt>
                <c:pt idx="193">
                  <c:v>0.48682302</c:v>
                </c:pt>
                <c:pt idx="194">
                  <c:v>0.3387549</c:v>
                </c:pt>
                <c:pt idx="195">
                  <c:v>0.35355752</c:v>
                </c:pt>
                <c:pt idx="196">
                  <c:v>0.24925989</c:v>
                </c:pt>
                <c:pt idx="197">
                  <c:v>0.22198346</c:v>
                </c:pt>
                <c:pt idx="198">
                  <c:v>0.44127689</c:v>
                </c:pt>
                <c:pt idx="199">
                  <c:v>0.45107834</c:v>
                </c:pt>
                <c:pt idx="200">
                  <c:v>0.71827051</c:v>
                </c:pt>
                <c:pt idx="201">
                  <c:v>1.03982042</c:v>
                </c:pt>
                <c:pt idx="202">
                  <c:v>1.11779173</c:v>
                </c:pt>
                <c:pt idx="203">
                  <c:v>1.00490623</c:v>
                </c:pt>
                <c:pt idx="204">
                  <c:v>0.85019782</c:v>
                </c:pt>
                <c:pt idx="205">
                  <c:v>0.73321337</c:v>
                </c:pt>
                <c:pt idx="206">
                  <c:v>0.77139183</c:v>
                </c:pt>
                <c:pt idx="207">
                  <c:v>0.75384315</c:v>
                </c:pt>
                <c:pt idx="208">
                  <c:v>1.27343172</c:v>
                </c:pt>
                <c:pt idx="209">
                  <c:v>1.2450667</c:v>
                </c:pt>
                <c:pt idx="210">
                  <c:v>1.04953946</c:v>
                </c:pt>
                <c:pt idx="211">
                  <c:v>0.95634289</c:v>
                </c:pt>
                <c:pt idx="212">
                  <c:v>1.22570237</c:v>
                </c:pt>
                <c:pt idx="213">
                  <c:v>1.08274629</c:v>
                </c:pt>
                <c:pt idx="214">
                  <c:v>1.2283189</c:v>
                </c:pt>
                <c:pt idx="215">
                  <c:v>1.28957956</c:v>
                </c:pt>
                <c:pt idx="216">
                  <c:v>1.25449527</c:v>
                </c:pt>
                <c:pt idx="217">
                  <c:v>1.28938154</c:v>
                </c:pt>
                <c:pt idx="218">
                  <c:v>1.3390064</c:v>
                </c:pt>
                <c:pt idx="219">
                  <c:v>1.16633723</c:v>
                </c:pt>
                <c:pt idx="220">
                  <c:v>1.19169619</c:v>
                </c:pt>
                <c:pt idx="221">
                  <c:v>1.13523021</c:v>
                </c:pt>
                <c:pt idx="222">
                  <c:v>1.17689642</c:v>
                </c:pt>
                <c:pt idx="223">
                  <c:v>1.2111293</c:v>
                </c:pt>
                <c:pt idx="224">
                  <c:v>1.10697572</c:v>
                </c:pt>
                <c:pt idx="225">
                  <c:v>1.07926942</c:v>
                </c:pt>
                <c:pt idx="226">
                  <c:v>1.23784835</c:v>
                </c:pt>
                <c:pt idx="227">
                  <c:v>1.1479908</c:v>
                </c:pt>
                <c:pt idx="228">
                  <c:v>1.24228814</c:v>
                </c:pt>
                <c:pt idx="229">
                  <c:v>1.22795496</c:v>
                </c:pt>
                <c:pt idx="230">
                  <c:v>1.29019319</c:v>
                </c:pt>
                <c:pt idx="231">
                  <c:v>1.3040283</c:v>
                </c:pt>
                <c:pt idx="232">
                  <c:v>1.38016549</c:v>
                </c:pt>
                <c:pt idx="233">
                  <c:v>1.4107804</c:v>
                </c:pt>
                <c:pt idx="234">
                  <c:v>1.33973542</c:v>
                </c:pt>
                <c:pt idx="235">
                  <c:v>1.40565775</c:v>
                </c:pt>
                <c:pt idx="236">
                  <c:v>1.15470056</c:v>
                </c:pt>
                <c:pt idx="237">
                  <c:v>1.13315642</c:v>
                </c:pt>
                <c:pt idx="238">
                  <c:v>0.83477618</c:v>
                </c:pt>
                <c:pt idx="239">
                  <c:v>0.72790108</c:v>
                </c:pt>
                <c:pt idx="240">
                  <c:v>0.58531735</c:v>
                </c:pt>
                <c:pt idx="241">
                  <c:v>0.66999669</c:v>
                </c:pt>
                <c:pt idx="242">
                  <c:v>0.83262337</c:v>
                </c:pt>
                <c:pt idx="243">
                  <c:v>0.92480189</c:v>
                </c:pt>
                <c:pt idx="244">
                  <c:v>0.82988285</c:v>
                </c:pt>
                <c:pt idx="245">
                  <c:v>0.8608495</c:v>
                </c:pt>
                <c:pt idx="246">
                  <c:v>0.96318998</c:v>
                </c:pt>
                <c:pt idx="247">
                  <c:v>0.73266286</c:v>
                </c:pt>
                <c:pt idx="248">
                  <c:v>0.85170899</c:v>
                </c:pt>
                <c:pt idx="249">
                  <c:v>0.96197971</c:v>
                </c:pt>
                <c:pt idx="250">
                  <c:v>0.66484987</c:v>
                </c:pt>
                <c:pt idx="251">
                  <c:v>0.58844286</c:v>
                </c:pt>
                <c:pt idx="252">
                  <c:v>0.86653201</c:v>
                </c:pt>
                <c:pt idx="253">
                  <c:v>0.8477876</c:v>
                </c:pt>
                <c:pt idx="254">
                  <c:v>0.83868549</c:v>
                </c:pt>
                <c:pt idx="255">
                  <c:v>0.97779513</c:v>
                </c:pt>
                <c:pt idx="256">
                  <c:v>0.4785447</c:v>
                </c:pt>
                <c:pt idx="257">
                  <c:v>0.66510423</c:v>
                </c:pt>
                <c:pt idx="258">
                  <c:v>0.80536385</c:v>
                </c:pt>
                <c:pt idx="259">
                  <c:v>0.68702778</c:v>
                </c:pt>
                <c:pt idx="260">
                  <c:v>0.69534266</c:v>
                </c:pt>
                <c:pt idx="261">
                  <c:v>0.68273595</c:v>
                </c:pt>
                <c:pt idx="262">
                  <c:v>0.7261901</c:v>
                </c:pt>
                <c:pt idx="263">
                  <c:v>0.74456139</c:v>
                </c:pt>
                <c:pt idx="264">
                  <c:v>0.82025394</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Data'!$H$2:$H$266</c:f>
              <c:numCache>
                <c:formatCode>0.000</c:formatCode>
                <c:ptCount val="265"/>
                <c:pt idx="0">
                  <c:v>1.36684231</c:v>
                </c:pt>
                <c:pt idx="1">
                  <c:v>1.27596507</c:v>
                </c:pt>
                <c:pt idx="2">
                  <c:v>1.6666648</c:v>
                </c:pt>
                <c:pt idx="3">
                  <c:v>1.74614131</c:v>
                </c:pt>
                <c:pt idx="4">
                  <c:v>1.74749784</c:v>
                </c:pt>
                <c:pt idx="5">
                  <c:v>1.75552827</c:v>
                </c:pt>
                <c:pt idx="6">
                  <c:v>1.81232416</c:v>
                </c:pt>
                <c:pt idx="7">
                  <c:v>1.86829283</c:v>
                </c:pt>
                <c:pt idx="8">
                  <c:v>1.95426198</c:v>
                </c:pt>
                <c:pt idx="9">
                  <c:v>1.81444463</c:v>
                </c:pt>
                <c:pt idx="10">
                  <c:v>2.00839776</c:v>
                </c:pt>
                <c:pt idx="11">
                  <c:v>2.1098099</c:v>
                </c:pt>
                <c:pt idx="12">
                  <c:v>2.1247695</c:v>
                </c:pt>
                <c:pt idx="13">
                  <c:v>2.04367197</c:v>
                </c:pt>
                <c:pt idx="14">
                  <c:v>2.08534879</c:v>
                </c:pt>
                <c:pt idx="15">
                  <c:v>1.91235083</c:v>
                </c:pt>
                <c:pt idx="16">
                  <c:v>1.64561436</c:v>
                </c:pt>
                <c:pt idx="17">
                  <c:v>1.54953345</c:v>
                </c:pt>
                <c:pt idx="18">
                  <c:v>1.71277011</c:v>
                </c:pt>
                <c:pt idx="19">
                  <c:v>1.86585646</c:v>
                </c:pt>
                <c:pt idx="20">
                  <c:v>1.81669066</c:v>
                </c:pt>
                <c:pt idx="21">
                  <c:v>1.82410825</c:v>
                </c:pt>
                <c:pt idx="22">
                  <c:v>2.04111283</c:v>
                </c:pt>
                <c:pt idx="23">
                  <c:v>2.27235047</c:v>
                </c:pt>
                <c:pt idx="24">
                  <c:v>2.26871535</c:v>
                </c:pt>
                <c:pt idx="25">
                  <c:v>2.02619885</c:v>
                </c:pt>
                <c:pt idx="26">
                  <c:v>2.3716007</c:v>
                </c:pt>
                <c:pt idx="27">
                  <c:v>2.63194839</c:v>
                </c:pt>
                <c:pt idx="28">
                  <c:v>2.60678034</c:v>
                </c:pt>
                <c:pt idx="29">
                  <c:v>2.76445319</c:v>
                </c:pt>
                <c:pt idx="30">
                  <c:v>2.78802559</c:v>
                </c:pt>
                <c:pt idx="31">
                  <c:v>2.62111334</c:v>
                </c:pt>
                <c:pt idx="32">
                  <c:v>2.2973943</c:v>
                </c:pt>
                <c:pt idx="33">
                  <c:v>2.33616484</c:v>
                </c:pt>
                <c:pt idx="34">
                  <c:v>2.15132868</c:v>
                </c:pt>
                <c:pt idx="35">
                  <c:v>2.15956268</c:v>
                </c:pt>
                <c:pt idx="36">
                  <c:v>2.2131038</c:v>
                </c:pt>
                <c:pt idx="37">
                  <c:v>1.99322866</c:v>
                </c:pt>
                <c:pt idx="38">
                  <c:v>1.98588432</c:v>
                </c:pt>
                <c:pt idx="39">
                  <c:v>1.97872142</c:v>
                </c:pt>
                <c:pt idx="40">
                  <c:v>1.79145168</c:v>
                </c:pt>
                <c:pt idx="41">
                  <c:v>1.85266666</c:v>
                </c:pt>
                <c:pt idx="42">
                  <c:v>1.73794383</c:v>
                </c:pt>
                <c:pt idx="43">
                  <c:v>1.68518162</c:v>
                </c:pt>
                <c:pt idx="44">
                  <c:v>1.56412533</c:v>
                </c:pt>
                <c:pt idx="45">
                  <c:v>1.59950764</c:v>
                </c:pt>
                <c:pt idx="46">
                  <c:v>1.45283107</c:v>
                </c:pt>
                <c:pt idx="47">
                  <c:v>1.47186549</c:v>
                </c:pt>
                <c:pt idx="48">
                  <c:v>1.37435082</c:v>
                </c:pt>
                <c:pt idx="49">
                  <c:v>1.25178716</c:v>
                </c:pt>
                <c:pt idx="50">
                  <c:v>1.25637533</c:v>
                </c:pt>
                <c:pt idx="51">
                  <c:v>1.11047583</c:v>
                </c:pt>
                <c:pt idx="52">
                  <c:v>1.34733646</c:v>
                </c:pt>
                <c:pt idx="53">
                  <c:v>1.49837002</c:v>
                </c:pt>
                <c:pt idx="54">
                  <c:v>1.57058097</c:v>
                </c:pt>
                <c:pt idx="55">
                  <c:v>1.49093475</c:v>
                </c:pt>
                <c:pt idx="56">
                  <c:v>1.42046046</c:v>
                </c:pt>
                <c:pt idx="57">
                  <c:v>1.3900461</c:v>
                </c:pt>
                <c:pt idx="58">
                  <c:v>1.22025703</c:v>
                </c:pt>
                <c:pt idx="59">
                  <c:v>1.14589176</c:v>
                </c:pt>
                <c:pt idx="60">
                  <c:v>0.94497434</c:v>
                </c:pt>
                <c:pt idx="61">
                  <c:v>1.14007573</c:v>
                </c:pt>
                <c:pt idx="62">
                  <c:v>0.67217805</c:v>
                </c:pt>
                <c:pt idx="63">
                  <c:v>0.79086655</c:v>
                </c:pt>
                <c:pt idx="64">
                  <c:v>0.78125351</c:v>
                </c:pt>
                <c:pt idx="65">
                  <c:v>0.77447063</c:v>
                </c:pt>
                <c:pt idx="66">
                  <c:v>0.70887926</c:v>
                </c:pt>
                <c:pt idx="67">
                  <c:v>0.88434315</c:v>
                </c:pt>
                <c:pt idx="68">
                  <c:v>1.12407615</c:v>
                </c:pt>
                <c:pt idx="69">
                  <c:v>1.30506041</c:v>
                </c:pt>
                <c:pt idx="70">
                  <c:v>1.4074864</c:v>
                </c:pt>
                <c:pt idx="71">
                  <c:v>1.47286852</c:v>
                </c:pt>
                <c:pt idx="72">
                  <c:v>1.47444285</c:v>
                </c:pt>
                <c:pt idx="73">
                  <c:v>0.61421246</c:v>
                </c:pt>
                <c:pt idx="74">
                  <c:v>0.77280209</c:v>
                </c:pt>
                <c:pt idx="75">
                  <c:v>0.80943237</c:v>
                </c:pt>
                <c:pt idx="76">
                  <c:v>0.84668952</c:v>
                </c:pt>
                <c:pt idx="77">
                  <c:v>0.89149321</c:v>
                </c:pt>
                <c:pt idx="78">
                  <c:v>0.9195997</c:v>
                </c:pt>
                <c:pt idx="79">
                  <c:v>1.03723149</c:v>
                </c:pt>
                <c:pt idx="80">
                  <c:v>1.1726142</c:v>
                </c:pt>
                <c:pt idx="81">
                  <c:v>1.27245964</c:v>
                </c:pt>
                <c:pt idx="82">
                  <c:v>1.10052829</c:v>
                </c:pt>
                <c:pt idx="83">
                  <c:v>0.87227021</c:v>
                </c:pt>
                <c:pt idx="84">
                  <c:v>0.88163859</c:v>
                </c:pt>
                <c:pt idx="85">
                  <c:v>1.0259192</c:v>
                </c:pt>
                <c:pt idx="86">
                  <c:v>1.14621693</c:v>
                </c:pt>
                <c:pt idx="87">
                  <c:v>1.23030153</c:v>
                </c:pt>
                <c:pt idx="88">
                  <c:v>1.33085812</c:v>
                </c:pt>
                <c:pt idx="89">
                  <c:v>1.38554905</c:v>
                </c:pt>
                <c:pt idx="90">
                  <c:v>1.44929027</c:v>
                </c:pt>
                <c:pt idx="91">
                  <c:v>1.51156845</c:v>
                </c:pt>
                <c:pt idx="92">
                  <c:v>1.50437671</c:v>
                </c:pt>
                <c:pt idx="93">
                  <c:v>1.53696842</c:v>
                </c:pt>
                <c:pt idx="94">
                  <c:v>1.42607387</c:v>
                </c:pt>
                <c:pt idx="95">
                  <c:v>1.15900363</c:v>
                </c:pt>
                <c:pt idx="96">
                  <c:v>1.27664099</c:v>
                </c:pt>
                <c:pt idx="97">
                  <c:v>1.22045373</c:v>
                </c:pt>
                <c:pt idx="98">
                  <c:v>1.32211158</c:v>
                </c:pt>
                <c:pt idx="99">
                  <c:v>1.25459</c:v>
                </c:pt>
                <c:pt idx="100">
                  <c:v>1.25596444</c:v>
                </c:pt>
                <c:pt idx="101">
                  <c:v>1.18342398</c:v>
                </c:pt>
                <c:pt idx="102">
                  <c:v>1.14607514</c:v>
                </c:pt>
                <c:pt idx="103">
                  <c:v>1.09609416</c:v>
                </c:pt>
                <c:pt idx="104">
                  <c:v>0.99470271</c:v>
                </c:pt>
                <c:pt idx="105">
                  <c:v>0.9455208</c:v>
                </c:pt>
                <c:pt idx="106">
                  <c:v>0.98052162</c:v>
                </c:pt>
                <c:pt idx="107">
                  <c:v>0.92765686</c:v>
                </c:pt>
                <c:pt idx="108">
                  <c:v>0.85156671</c:v>
                </c:pt>
                <c:pt idx="109">
                  <c:v>1.52543817</c:v>
                </c:pt>
                <c:pt idx="110">
                  <c:v>1.43923448</c:v>
                </c:pt>
                <c:pt idx="111">
                  <c:v>1.33280094</c:v>
                </c:pt>
                <c:pt idx="112">
                  <c:v>1.32675718</c:v>
                </c:pt>
                <c:pt idx="113">
                  <c:v>1.24061137</c:v>
                </c:pt>
                <c:pt idx="114">
                  <c:v>1.29278936</c:v>
                </c:pt>
                <c:pt idx="115">
                  <c:v>1.21940719</c:v>
                </c:pt>
                <c:pt idx="116">
                  <c:v>1.14185661</c:v>
                </c:pt>
                <c:pt idx="117">
                  <c:v>1.10594965</c:v>
                </c:pt>
                <c:pt idx="118">
                  <c:v>1.3876465</c:v>
                </c:pt>
                <c:pt idx="119">
                  <c:v>1.69755978</c:v>
                </c:pt>
                <c:pt idx="120">
                  <c:v>1.66568025</c:v>
                </c:pt>
                <c:pt idx="121">
                  <c:v>1.62307645</c:v>
                </c:pt>
                <c:pt idx="122">
                  <c:v>1.56219557</c:v>
                </c:pt>
                <c:pt idx="123">
                  <c:v>1.52747758</c:v>
                </c:pt>
                <c:pt idx="124">
                  <c:v>1.36494755</c:v>
                </c:pt>
                <c:pt idx="125">
                  <c:v>1.27640462</c:v>
                </c:pt>
                <c:pt idx="126">
                  <c:v>1.16696992</c:v>
                </c:pt>
                <c:pt idx="127">
                  <c:v>1.07189261</c:v>
                </c:pt>
                <c:pt idx="128">
                  <c:v>1.15196389</c:v>
                </c:pt>
                <c:pt idx="129">
                  <c:v>1.11888483</c:v>
                </c:pt>
                <c:pt idx="130">
                  <c:v>1.35751218</c:v>
                </c:pt>
                <c:pt idx="131">
                  <c:v>2.66706003</c:v>
                </c:pt>
                <c:pt idx="132">
                  <c:v>2.72076178</c:v>
                </c:pt>
                <c:pt idx="133">
                  <c:v>3.01596599</c:v>
                </c:pt>
                <c:pt idx="134">
                  <c:v>3.19229704</c:v>
                </c:pt>
                <c:pt idx="135">
                  <c:v>3.2311374</c:v>
                </c:pt>
                <c:pt idx="136">
                  <c:v>3.14926382</c:v>
                </c:pt>
                <c:pt idx="137">
                  <c:v>3.03976994</c:v>
                </c:pt>
                <c:pt idx="138">
                  <c:v>3.28959949</c:v>
                </c:pt>
                <c:pt idx="139">
                  <c:v>3.26017045</c:v>
                </c:pt>
                <c:pt idx="140">
                  <c:v>3.68380407</c:v>
                </c:pt>
                <c:pt idx="141">
                  <c:v>3.6258319</c:v>
                </c:pt>
                <c:pt idx="142">
                  <c:v>3.62603616</c:v>
                </c:pt>
                <c:pt idx="143">
                  <c:v>3.56038801</c:v>
                </c:pt>
                <c:pt idx="144">
                  <c:v>3.56650057</c:v>
                </c:pt>
                <c:pt idx="145">
                  <c:v>3.49259578</c:v>
                </c:pt>
                <c:pt idx="146">
                  <c:v>3.44725073</c:v>
                </c:pt>
                <c:pt idx="147">
                  <c:v>3.62022758</c:v>
                </c:pt>
                <c:pt idx="148">
                  <c:v>3.76881826</c:v>
                </c:pt>
                <c:pt idx="149">
                  <c:v>3.89110058</c:v>
                </c:pt>
                <c:pt idx="150">
                  <c:v>3.55138702</c:v>
                </c:pt>
                <c:pt idx="151">
                  <c:v>3.1318945</c:v>
                </c:pt>
                <c:pt idx="152">
                  <c:v>3.09139191</c:v>
                </c:pt>
                <c:pt idx="153">
                  <c:v>3.11039172</c:v>
                </c:pt>
                <c:pt idx="154">
                  <c:v>3.20322472</c:v>
                </c:pt>
                <c:pt idx="155">
                  <c:v>3.11333757</c:v>
                </c:pt>
                <c:pt idx="156">
                  <c:v>3.22033396</c:v>
                </c:pt>
                <c:pt idx="157">
                  <c:v>2.48390605</c:v>
                </c:pt>
                <c:pt idx="158">
                  <c:v>2.48390113</c:v>
                </c:pt>
                <c:pt idx="159">
                  <c:v>2.61085063</c:v>
                </c:pt>
                <c:pt idx="160">
                  <c:v>2.77421374</c:v>
                </c:pt>
                <c:pt idx="161">
                  <c:v>2.89575333</c:v>
                </c:pt>
                <c:pt idx="162">
                  <c:v>2.13646849</c:v>
                </c:pt>
                <c:pt idx="163">
                  <c:v>2.19866512</c:v>
                </c:pt>
                <c:pt idx="164">
                  <c:v>2.18261156</c:v>
                </c:pt>
                <c:pt idx="165">
                  <c:v>2.20878603</c:v>
                </c:pt>
                <c:pt idx="166">
                  <c:v>1.42454101</c:v>
                </c:pt>
                <c:pt idx="167">
                  <c:v>1.23408543</c:v>
                </c:pt>
                <c:pt idx="168">
                  <c:v>1.32948873</c:v>
                </c:pt>
                <c:pt idx="169">
                  <c:v>0.85798044</c:v>
                </c:pt>
                <c:pt idx="170">
                  <c:v>0.539912</c:v>
                </c:pt>
                <c:pt idx="171">
                  <c:v>0.41679037</c:v>
                </c:pt>
                <c:pt idx="172">
                  <c:v>0.17788708</c:v>
                </c:pt>
                <c:pt idx="173">
                  <c:v>0.28923507</c:v>
                </c:pt>
                <c:pt idx="174">
                  <c:v>0.2832743</c:v>
                </c:pt>
                <c:pt idx="175">
                  <c:v>0.29957071</c:v>
                </c:pt>
                <c:pt idx="176">
                  <c:v>-0.01160774</c:v>
                </c:pt>
                <c:pt idx="177">
                  <c:v>0.00938419</c:v>
                </c:pt>
                <c:pt idx="178">
                  <c:v>-0.00147819</c:v>
                </c:pt>
                <c:pt idx="179">
                  <c:v>0.05971296</c:v>
                </c:pt>
                <c:pt idx="180">
                  <c:v>0.03727963</c:v>
                </c:pt>
                <c:pt idx="181">
                  <c:v>-0.05213494</c:v>
                </c:pt>
                <c:pt idx="182">
                  <c:v>-0.03874021</c:v>
                </c:pt>
                <c:pt idx="183">
                  <c:v>-0.10138256</c:v>
                </c:pt>
                <c:pt idx="184">
                  <c:v>-0.30319413</c:v>
                </c:pt>
                <c:pt idx="185">
                  <c:v>-0.46271055</c:v>
                </c:pt>
                <c:pt idx="186">
                  <c:v>-0.43006013</c:v>
                </c:pt>
                <c:pt idx="187">
                  <c:v>-0.37541834</c:v>
                </c:pt>
                <c:pt idx="188">
                  <c:v>-0.37701068</c:v>
                </c:pt>
                <c:pt idx="189">
                  <c:v>-0.29980597</c:v>
                </c:pt>
                <c:pt idx="190">
                  <c:v>-0.32162976</c:v>
                </c:pt>
                <c:pt idx="191">
                  <c:v>-0.33847993</c:v>
                </c:pt>
                <c:pt idx="192">
                  <c:v>-0.37061024</c:v>
                </c:pt>
                <c:pt idx="193">
                  <c:v>-0.31500172</c:v>
                </c:pt>
                <c:pt idx="194">
                  <c:v>-0.47046248</c:v>
                </c:pt>
                <c:pt idx="195">
                  <c:v>-0.46715193</c:v>
                </c:pt>
                <c:pt idx="196">
                  <c:v>-0.50107181</c:v>
                </c:pt>
                <c:pt idx="197">
                  <c:v>-0.51807386</c:v>
                </c:pt>
                <c:pt idx="198">
                  <c:v>-0.37854668</c:v>
                </c:pt>
                <c:pt idx="199">
                  <c:v>-0.61413854</c:v>
                </c:pt>
                <c:pt idx="200">
                  <c:v>-0.6102357</c:v>
                </c:pt>
                <c:pt idx="201">
                  <c:v>-0.62812435</c:v>
                </c:pt>
                <c:pt idx="202">
                  <c:v>-0.27366858</c:v>
                </c:pt>
                <c:pt idx="203">
                  <c:v>-0.07877636</c:v>
                </c:pt>
                <c:pt idx="204">
                  <c:v>-0.11880501</c:v>
                </c:pt>
                <c:pt idx="205">
                  <c:v>0.13002954</c:v>
                </c:pt>
                <c:pt idx="206">
                  <c:v>0.35147697</c:v>
                </c:pt>
                <c:pt idx="207">
                  <c:v>0.46199134</c:v>
                </c:pt>
                <c:pt idx="208">
                  <c:v>0.86866262</c:v>
                </c:pt>
                <c:pt idx="209">
                  <c:v>0.78523814</c:v>
                </c:pt>
                <c:pt idx="210">
                  <c:v>0.87601583</c:v>
                </c:pt>
                <c:pt idx="211">
                  <c:v>0.90522303</c:v>
                </c:pt>
                <c:pt idx="212">
                  <c:v>1.51994992</c:v>
                </c:pt>
                <c:pt idx="213">
                  <c:v>1.42047697</c:v>
                </c:pt>
                <c:pt idx="214">
                  <c:v>1.41733986</c:v>
                </c:pt>
                <c:pt idx="215">
                  <c:v>1.38385456</c:v>
                </c:pt>
                <c:pt idx="216">
                  <c:v>1.27899835</c:v>
                </c:pt>
                <c:pt idx="217">
                  <c:v>1.54215002</c:v>
                </c:pt>
                <c:pt idx="218">
                  <c:v>1.53738617</c:v>
                </c:pt>
                <c:pt idx="219">
                  <c:v>1.58327992</c:v>
                </c:pt>
                <c:pt idx="220">
                  <c:v>2.03802685</c:v>
                </c:pt>
                <c:pt idx="221">
                  <c:v>1.92401709</c:v>
                </c:pt>
                <c:pt idx="222">
                  <c:v>1.94834225</c:v>
                </c:pt>
                <c:pt idx="223">
                  <c:v>1.77310149</c:v>
                </c:pt>
                <c:pt idx="224">
                  <c:v>1.65168987</c:v>
                </c:pt>
                <c:pt idx="225">
                  <c:v>1.54146017</c:v>
                </c:pt>
                <c:pt idx="226">
                  <c:v>1.52895507</c:v>
                </c:pt>
                <c:pt idx="227">
                  <c:v>1.65864704</c:v>
                </c:pt>
                <c:pt idx="228">
                  <c:v>1.57484744</c:v>
                </c:pt>
                <c:pt idx="229">
                  <c:v>1.33825169</c:v>
                </c:pt>
                <c:pt idx="230">
                  <c:v>1.48962383</c:v>
                </c:pt>
                <c:pt idx="231">
                  <c:v>1.48057736</c:v>
                </c:pt>
                <c:pt idx="232">
                  <c:v>1.49735365</c:v>
                </c:pt>
                <c:pt idx="233">
                  <c:v>1.5566345</c:v>
                </c:pt>
                <c:pt idx="234">
                  <c:v>1.55709813</c:v>
                </c:pt>
                <c:pt idx="235">
                  <c:v>1.78798325</c:v>
                </c:pt>
                <c:pt idx="236">
                  <c:v>1.7709198</c:v>
                </c:pt>
                <c:pt idx="237">
                  <c:v>1.79236391</c:v>
                </c:pt>
                <c:pt idx="238">
                  <c:v>1.7934856</c:v>
                </c:pt>
                <c:pt idx="239">
                  <c:v>1.79364057</c:v>
                </c:pt>
                <c:pt idx="240">
                  <c:v>1.79816076</c:v>
                </c:pt>
                <c:pt idx="241">
                  <c:v>1.85885718</c:v>
                </c:pt>
                <c:pt idx="242">
                  <c:v>1.84421873</c:v>
                </c:pt>
                <c:pt idx="243">
                  <c:v>1.92607034</c:v>
                </c:pt>
                <c:pt idx="244">
                  <c:v>1.54911647</c:v>
                </c:pt>
                <c:pt idx="245">
                  <c:v>1.72069912</c:v>
                </c:pt>
                <c:pt idx="246">
                  <c:v>1.6667419</c:v>
                </c:pt>
                <c:pt idx="247">
                  <c:v>1.67905384</c:v>
                </c:pt>
                <c:pt idx="248">
                  <c:v>1.65924771</c:v>
                </c:pt>
                <c:pt idx="249">
                  <c:v>1.78944217</c:v>
                </c:pt>
                <c:pt idx="250">
                  <c:v>1.78445813</c:v>
                </c:pt>
                <c:pt idx="251">
                  <c:v>1.82331403</c:v>
                </c:pt>
                <c:pt idx="252">
                  <c:v>1.92713307</c:v>
                </c:pt>
                <c:pt idx="253">
                  <c:v>2.00228328</c:v>
                </c:pt>
                <c:pt idx="254">
                  <c:v>1.87151652</c:v>
                </c:pt>
                <c:pt idx="255">
                  <c:v>1.63968587</c:v>
                </c:pt>
                <c:pt idx="256">
                  <c:v>0.99990549</c:v>
                </c:pt>
                <c:pt idx="257">
                  <c:v>1.27499255</c:v>
                </c:pt>
                <c:pt idx="258">
                  <c:v>1.20534603</c:v>
                </c:pt>
                <c:pt idx="259">
                  <c:v>1.15274064</c:v>
                </c:pt>
                <c:pt idx="260">
                  <c:v>1.13903894</c:v>
                </c:pt>
                <c:pt idx="261">
                  <c:v>1.09261354</c:v>
                </c:pt>
                <c:pt idx="262">
                  <c:v>1.12116389</c:v>
                </c:pt>
                <c:pt idx="263">
                  <c:v>1.0227361</c:v>
                </c:pt>
                <c:pt idx="264">
                  <c:v>1.07184396</c:v>
                </c:pt>
              </c:numCache>
            </c:numRef>
          </c:yVal>
        </c:ser>
        <c:ser>
          <c:idx val="4"/>
          <c:order val="4"/>
          <c:tx>
            <c:v>Equal-weight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Data'!$J$2:$J$266</c:f>
              <c:numCache>
                <c:formatCode>0.000</c:formatCode>
                <c:ptCount val="265"/>
                <c:pt idx="0">
                  <c:v>2.82311996</c:v>
                </c:pt>
                <c:pt idx="1">
                  <c:v>2.7652166</c:v>
                </c:pt>
                <c:pt idx="2">
                  <c:v>3.31144537</c:v>
                </c:pt>
                <c:pt idx="3">
                  <c:v>3.33067411</c:v>
                </c:pt>
                <c:pt idx="4">
                  <c:v>3.32916859</c:v>
                </c:pt>
                <c:pt idx="5">
                  <c:v>3.25745119</c:v>
                </c:pt>
                <c:pt idx="6">
                  <c:v>3.14980273</c:v>
                </c:pt>
                <c:pt idx="7">
                  <c:v>3.140979</c:v>
                </c:pt>
                <c:pt idx="8">
                  <c:v>3.05782287</c:v>
                </c:pt>
                <c:pt idx="9">
                  <c:v>2.9228538</c:v>
                </c:pt>
                <c:pt idx="10">
                  <c:v>3.12307907</c:v>
                </c:pt>
                <c:pt idx="11">
                  <c:v>3.19985219</c:v>
                </c:pt>
                <c:pt idx="12">
                  <c:v>3.19212593</c:v>
                </c:pt>
                <c:pt idx="13">
                  <c:v>3.09803792</c:v>
                </c:pt>
                <c:pt idx="14">
                  <c:v>3.05599689</c:v>
                </c:pt>
                <c:pt idx="15">
                  <c:v>2.90744515</c:v>
                </c:pt>
                <c:pt idx="16">
                  <c:v>2.54124752</c:v>
                </c:pt>
                <c:pt idx="17">
                  <c:v>2.52565231</c:v>
                </c:pt>
                <c:pt idx="18">
                  <c:v>2.77979383</c:v>
                </c:pt>
                <c:pt idx="19">
                  <c:v>2.83028151</c:v>
                </c:pt>
                <c:pt idx="20">
                  <c:v>2.83491773</c:v>
                </c:pt>
                <c:pt idx="21">
                  <c:v>2.82023677</c:v>
                </c:pt>
                <c:pt idx="22">
                  <c:v>3.07814905</c:v>
                </c:pt>
                <c:pt idx="23">
                  <c:v>3.39258472</c:v>
                </c:pt>
                <c:pt idx="24">
                  <c:v>3.43909599</c:v>
                </c:pt>
                <c:pt idx="25">
                  <c:v>3.30759164</c:v>
                </c:pt>
                <c:pt idx="26">
                  <c:v>3.68157501</c:v>
                </c:pt>
                <c:pt idx="27">
                  <c:v>3.87630637</c:v>
                </c:pt>
                <c:pt idx="28">
                  <c:v>3.80662708</c:v>
                </c:pt>
                <c:pt idx="29">
                  <c:v>4.02789152</c:v>
                </c:pt>
                <c:pt idx="30">
                  <c:v>4.07847521</c:v>
                </c:pt>
                <c:pt idx="31">
                  <c:v>3.86204072</c:v>
                </c:pt>
                <c:pt idx="32">
                  <c:v>3.5178701</c:v>
                </c:pt>
                <c:pt idx="33">
                  <c:v>3.70652131</c:v>
                </c:pt>
                <c:pt idx="34">
                  <c:v>3.52377433</c:v>
                </c:pt>
                <c:pt idx="35">
                  <c:v>3.53805182</c:v>
                </c:pt>
                <c:pt idx="36">
                  <c:v>3.54260419</c:v>
                </c:pt>
                <c:pt idx="37">
                  <c:v>3.36993138</c:v>
                </c:pt>
                <c:pt idx="38">
                  <c:v>3.3712059</c:v>
                </c:pt>
                <c:pt idx="39">
                  <c:v>3.37611743</c:v>
                </c:pt>
                <c:pt idx="40">
                  <c:v>3.16911329</c:v>
                </c:pt>
                <c:pt idx="41">
                  <c:v>3.28910305</c:v>
                </c:pt>
                <c:pt idx="42">
                  <c:v>3.22048752</c:v>
                </c:pt>
                <c:pt idx="43">
                  <c:v>3.16797222</c:v>
                </c:pt>
                <c:pt idx="44">
                  <c:v>3.24574512</c:v>
                </c:pt>
                <c:pt idx="45">
                  <c:v>3.39847146</c:v>
                </c:pt>
                <c:pt idx="46">
                  <c:v>3.28946572</c:v>
                </c:pt>
                <c:pt idx="47">
                  <c:v>3.29516722</c:v>
                </c:pt>
                <c:pt idx="48">
                  <c:v>3.23090111</c:v>
                </c:pt>
                <c:pt idx="49">
                  <c:v>2.98287721</c:v>
                </c:pt>
                <c:pt idx="50">
                  <c:v>2.90286635</c:v>
                </c:pt>
                <c:pt idx="51">
                  <c:v>2.77359905</c:v>
                </c:pt>
                <c:pt idx="52">
                  <c:v>3.14239793</c:v>
                </c:pt>
                <c:pt idx="53">
                  <c:v>3.34975991</c:v>
                </c:pt>
                <c:pt idx="54">
                  <c:v>3.34862324</c:v>
                </c:pt>
                <c:pt idx="55">
                  <c:v>3.3422461</c:v>
                </c:pt>
                <c:pt idx="56">
                  <c:v>3.18189408</c:v>
                </c:pt>
                <c:pt idx="57">
                  <c:v>3.07098531</c:v>
                </c:pt>
                <c:pt idx="58">
                  <c:v>2.9426817</c:v>
                </c:pt>
                <c:pt idx="59">
                  <c:v>2.71983213</c:v>
                </c:pt>
                <c:pt idx="60">
                  <c:v>2.08482601</c:v>
                </c:pt>
                <c:pt idx="61">
                  <c:v>2.15100198</c:v>
                </c:pt>
                <c:pt idx="62">
                  <c:v>0.81768806</c:v>
                </c:pt>
                <c:pt idx="63">
                  <c:v>0.92356059</c:v>
                </c:pt>
                <c:pt idx="64">
                  <c:v>1.00707724</c:v>
                </c:pt>
                <c:pt idx="65">
                  <c:v>0.95639075</c:v>
                </c:pt>
                <c:pt idx="66">
                  <c:v>0.90475184</c:v>
                </c:pt>
                <c:pt idx="67">
                  <c:v>1.06767292</c:v>
                </c:pt>
                <c:pt idx="68">
                  <c:v>1.12712924</c:v>
                </c:pt>
                <c:pt idx="69">
                  <c:v>1.2138136</c:v>
                </c:pt>
                <c:pt idx="70">
                  <c:v>1.3120569</c:v>
                </c:pt>
                <c:pt idx="71">
                  <c:v>1.41640457</c:v>
                </c:pt>
                <c:pt idx="72">
                  <c:v>1.47954466</c:v>
                </c:pt>
                <c:pt idx="73">
                  <c:v>1.13854149</c:v>
                </c:pt>
                <c:pt idx="74">
                  <c:v>1.23838663</c:v>
                </c:pt>
                <c:pt idx="75">
                  <c:v>1.27803474</c:v>
                </c:pt>
                <c:pt idx="76">
                  <c:v>1.32593808</c:v>
                </c:pt>
                <c:pt idx="77">
                  <c:v>1.36102692</c:v>
                </c:pt>
                <c:pt idx="78">
                  <c:v>1.38061157</c:v>
                </c:pt>
                <c:pt idx="79">
                  <c:v>1.4644529</c:v>
                </c:pt>
                <c:pt idx="80">
                  <c:v>1.48263505</c:v>
                </c:pt>
                <c:pt idx="81">
                  <c:v>1.47978691</c:v>
                </c:pt>
                <c:pt idx="82">
                  <c:v>1.3910635</c:v>
                </c:pt>
                <c:pt idx="83">
                  <c:v>1.27599238</c:v>
                </c:pt>
                <c:pt idx="84">
                  <c:v>1.28564984</c:v>
                </c:pt>
                <c:pt idx="85">
                  <c:v>1.42718216</c:v>
                </c:pt>
                <c:pt idx="86">
                  <c:v>1.53203935</c:v>
                </c:pt>
                <c:pt idx="87">
                  <c:v>1.61157851</c:v>
                </c:pt>
                <c:pt idx="88">
                  <c:v>1.66336704</c:v>
                </c:pt>
                <c:pt idx="89">
                  <c:v>1.68845624</c:v>
                </c:pt>
                <c:pt idx="90">
                  <c:v>1.68786114</c:v>
                </c:pt>
                <c:pt idx="91">
                  <c:v>1.63246991</c:v>
                </c:pt>
                <c:pt idx="92">
                  <c:v>1.64958028</c:v>
                </c:pt>
                <c:pt idx="93">
                  <c:v>1.65691349</c:v>
                </c:pt>
                <c:pt idx="94">
                  <c:v>1.60062009</c:v>
                </c:pt>
                <c:pt idx="95">
                  <c:v>1.44185727</c:v>
                </c:pt>
                <c:pt idx="96">
                  <c:v>1.68913648</c:v>
                </c:pt>
                <c:pt idx="97">
                  <c:v>1.64575771</c:v>
                </c:pt>
                <c:pt idx="98">
                  <c:v>2.20090084</c:v>
                </c:pt>
                <c:pt idx="99">
                  <c:v>2.0436283</c:v>
                </c:pt>
                <c:pt idx="100">
                  <c:v>1.99474933</c:v>
                </c:pt>
                <c:pt idx="101">
                  <c:v>2.03023646</c:v>
                </c:pt>
                <c:pt idx="102">
                  <c:v>2.04535997</c:v>
                </c:pt>
                <c:pt idx="103">
                  <c:v>1.98541542</c:v>
                </c:pt>
                <c:pt idx="104">
                  <c:v>2.01190884</c:v>
                </c:pt>
                <c:pt idx="105">
                  <c:v>1.93075381</c:v>
                </c:pt>
                <c:pt idx="106">
                  <c:v>1.91430579</c:v>
                </c:pt>
                <c:pt idx="107">
                  <c:v>1.79933135</c:v>
                </c:pt>
                <c:pt idx="108">
                  <c:v>1.75058329</c:v>
                </c:pt>
                <c:pt idx="109">
                  <c:v>2.34733911</c:v>
                </c:pt>
                <c:pt idx="110">
                  <c:v>2.51699334</c:v>
                </c:pt>
                <c:pt idx="111">
                  <c:v>2.43260104</c:v>
                </c:pt>
                <c:pt idx="112">
                  <c:v>2.37202522</c:v>
                </c:pt>
                <c:pt idx="113">
                  <c:v>2.25855516</c:v>
                </c:pt>
                <c:pt idx="114">
                  <c:v>2.34816126</c:v>
                </c:pt>
                <c:pt idx="115">
                  <c:v>2.33156389</c:v>
                </c:pt>
                <c:pt idx="116">
                  <c:v>2.30542695</c:v>
                </c:pt>
                <c:pt idx="117">
                  <c:v>2.32881247</c:v>
                </c:pt>
                <c:pt idx="118">
                  <c:v>2.53889472</c:v>
                </c:pt>
                <c:pt idx="119">
                  <c:v>2.76801535</c:v>
                </c:pt>
                <c:pt idx="120">
                  <c:v>2.61356047</c:v>
                </c:pt>
                <c:pt idx="121">
                  <c:v>2.58951976</c:v>
                </c:pt>
                <c:pt idx="122">
                  <c:v>2.56044128</c:v>
                </c:pt>
                <c:pt idx="123">
                  <c:v>2.48562789</c:v>
                </c:pt>
                <c:pt idx="124">
                  <c:v>2.44835144</c:v>
                </c:pt>
                <c:pt idx="125">
                  <c:v>2.29549895</c:v>
                </c:pt>
                <c:pt idx="126">
                  <c:v>2.25697098</c:v>
                </c:pt>
                <c:pt idx="127">
                  <c:v>2.27382865</c:v>
                </c:pt>
                <c:pt idx="128">
                  <c:v>2.34780294</c:v>
                </c:pt>
                <c:pt idx="129">
                  <c:v>2.41254921</c:v>
                </c:pt>
                <c:pt idx="130">
                  <c:v>2.55003907</c:v>
                </c:pt>
                <c:pt idx="131">
                  <c:v>3.61392752</c:v>
                </c:pt>
                <c:pt idx="132">
                  <c:v>3.96344673</c:v>
                </c:pt>
                <c:pt idx="133">
                  <c:v>4.18067335</c:v>
                </c:pt>
                <c:pt idx="134">
                  <c:v>4.6482461</c:v>
                </c:pt>
                <c:pt idx="135">
                  <c:v>4.98039882</c:v>
                </c:pt>
                <c:pt idx="136">
                  <c:v>4.8565948</c:v>
                </c:pt>
                <c:pt idx="137">
                  <c:v>4.648819</c:v>
                </c:pt>
                <c:pt idx="138">
                  <c:v>4.57503947</c:v>
                </c:pt>
                <c:pt idx="139">
                  <c:v>4.54599639</c:v>
                </c:pt>
                <c:pt idx="140">
                  <c:v>4.5225574</c:v>
                </c:pt>
                <c:pt idx="141">
                  <c:v>4.306889</c:v>
                </c:pt>
                <c:pt idx="142">
                  <c:v>4.26986082</c:v>
                </c:pt>
                <c:pt idx="143">
                  <c:v>4.3321774</c:v>
                </c:pt>
                <c:pt idx="144">
                  <c:v>4.39569597</c:v>
                </c:pt>
                <c:pt idx="145">
                  <c:v>4.12771352</c:v>
                </c:pt>
                <c:pt idx="146">
                  <c:v>4.20163014</c:v>
                </c:pt>
                <c:pt idx="147">
                  <c:v>4.18552866</c:v>
                </c:pt>
                <c:pt idx="148">
                  <c:v>4.34305592</c:v>
                </c:pt>
                <c:pt idx="149">
                  <c:v>4.48195375</c:v>
                </c:pt>
                <c:pt idx="150">
                  <c:v>4.28510183</c:v>
                </c:pt>
                <c:pt idx="151">
                  <c:v>4.11388743</c:v>
                </c:pt>
                <c:pt idx="152">
                  <c:v>3.9442857</c:v>
                </c:pt>
                <c:pt idx="153">
                  <c:v>3.96041771</c:v>
                </c:pt>
                <c:pt idx="154">
                  <c:v>4.07882474</c:v>
                </c:pt>
                <c:pt idx="155">
                  <c:v>4.102426</c:v>
                </c:pt>
                <c:pt idx="156">
                  <c:v>4.6745157</c:v>
                </c:pt>
                <c:pt idx="157">
                  <c:v>3.98267135</c:v>
                </c:pt>
                <c:pt idx="158">
                  <c:v>3.89385871</c:v>
                </c:pt>
                <c:pt idx="159">
                  <c:v>3.97856196</c:v>
                </c:pt>
                <c:pt idx="160">
                  <c:v>3.93213169</c:v>
                </c:pt>
                <c:pt idx="161">
                  <c:v>4.21608838</c:v>
                </c:pt>
                <c:pt idx="162">
                  <c:v>2.34101433</c:v>
                </c:pt>
                <c:pt idx="163">
                  <c:v>2.4335192</c:v>
                </c:pt>
                <c:pt idx="164">
                  <c:v>2.24458231</c:v>
                </c:pt>
                <c:pt idx="165">
                  <c:v>2.00775995</c:v>
                </c:pt>
                <c:pt idx="166">
                  <c:v>1.61827719</c:v>
                </c:pt>
                <c:pt idx="167">
                  <c:v>1.65597823</c:v>
                </c:pt>
                <c:pt idx="168">
                  <c:v>1.78319405</c:v>
                </c:pt>
                <c:pt idx="169">
                  <c:v>1.52159236</c:v>
                </c:pt>
                <c:pt idx="170">
                  <c:v>1.10905995</c:v>
                </c:pt>
                <c:pt idx="171">
                  <c:v>0.97167622</c:v>
                </c:pt>
                <c:pt idx="172">
                  <c:v>0.47849087</c:v>
                </c:pt>
                <c:pt idx="173">
                  <c:v>0.55597789</c:v>
                </c:pt>
                <c:pt idx="174">
                  <c:v>0.57971593</c:v>
                </c:pt>
                <c:pt idx="175">
                  <c:v>0.64142779</c:v>
                </c:pt>
                <c:pt idx="176">
                  <c:v>0.30896754</c:v>
                </c:pt>
                <c:pt idx="177">
                  <c:v>0.39210126</c:v>
                </c:pt>
                <c:pt idx="178">
                  <c:v>0.38344296</c:v>
                </c:pt>
                <c:pt idx="179">
                  <c:v>0.40826969</c:v>
                </c:pt>
                <c:pt idx="180">
                  <c:v>0.35856694</c:v>
                </c:pt>
                <c:pt idx="181">
                  <c:v>0.34241804</c:v>
                </c:pt>
                <c:pt idx="182">
                  <c:v>0.33852012</c:v>
                </c:pt>
                <c:pt idx="183">
                  <c:v>0.32386917</c:v>
                </c:pt>
                <c:pt idx="184">
                  <c:v>0.14142342</c:v>
                </c:pt>
                <c:pt idx="185">
                  <c:v>0.05945247</c:v>
                </c:pt>
                <c:pt idx="186">
                  <c:v>0.05129383</c:v>
                </c:pt>
                <c:pt idx="187">
                  <c:v>0.05889239</c:v>
                </c:pt>
                <c:pt idx="188">
                  <c:v>0.11069972</c:v>
                </c:pt>
                <c:pt idx="189">
                  <c:v>0.14482806</c:v>
                </c:pt>
                <c:pt idx="190">
                  <c:v>0.1163527</c:v>
                </c:pt>
                <c:pt idx="191">
                  <c:v>0.06572721</c:v>
                </c:pt>
                <c:pt idx="192">
                  <c:v>-0.02668474</c:v>
                </c:pt>
                <c:pt idx="193">
                  <c:v>0.01519029</c:v>
                </c:pt>
                <c:pt idx="194">
                  <c:v>-0.17560786</c:v>
                </c:pt>
                <c:pt idx="195">
                  <c:v>-0.16550396</c:v>
                </c:pt>
                <c:pt idx="196">
                  <c:v>-0.246764</c:v>
                </c:pt>
                <c:pt idx="197">
                  <c:v>-0.27363125</c:v>
                </c:pt>
                <c:pt idx="198">
                  <c:v>-0.06862427</c:v>
                </c:pt>
                <c:pt idx="199">
                  <c:v>-0.23075655</c:v>
                </c:pt>
                <c:pt idx="200">
                  <c:v>-0.07361317</c:v>
                </c:pt>
                <c:pt idx="201">
                  <c:v>0.05824194</c:v>
                </c:pt>
                <c:pt idx="202">
                  <c:v>0.38294208</c:v>
                </c:pt>
                <c:pt idx="203">
                  <c:v>0.40979661</c:v>
                </c:pt>
                <c:pt idx="204">
                  <c:v>0.31184567</c:v>
                </c:pt>
                <c:pt idx="205">
                  <c:v>0.42476312</c:v>
                </c:pt>
                <c:pt idx="206">
                  <c:v>0.6008148</c:v>
                </c:pt>
                <c:pt idx="207">
                  <c:v>0.6671799</c:v>
                </c:pt>
                <c:pt idx="208">
                  <c:v>1.23745054</c:v>
                </c:pt>
                <c:pt idx="209">
                  <c:v>1.17054074</c:v>
                </c:pt>
                <c:pt idx="210">
                  <c:v>1.15537757</c:v>
                </c:pt>
                <c:pt idx="211">
                  <c:v>1.1180386</c:v>
                </c:pt>
                <c:pt idx="212">
                  <c:v>1.80578976</c:v>
                </c:pt>
                <c:pt idx="213">
                  <c:v>1.661425</c:v>
                </c:pt>
                <c:pt idx="214">
                  <c:v>1.72525096</c:v>
                </c:pt>
                <c:pt idx="215">
                  <c:v>1.72104351</c:v>
                </c:pt>
                <c:pt idx="216">
                  <c:v>1.61070758</c:v>
                </c:pt>
                <c:pt idx="217">
                  <c:v>1.78367083</c:v>
                </c:pt>
                <c:pt idx="218">
                  <c:v>1.8055575</c:v>
                </c:pt>
                <c:pt idx="219">
                  <c:v>1.72589372</c:v>
                </c:pt>
                <c:pt idx="220">
                  <c:v>2.04877115</c:v>
                </c:pt>
                <c:pt idx="221">
                  <c:v>1.92711566</c:v>
                </c:pt>
                <c:pt idx="222">
                  <c:v>1.97154981</c:v>
                </c:pt>
                <c:pt idx="223">
                  <c:v>1.88451264</c:v>
                </c:pt>
                <c:pt idx="224">
                  <c:v>1.74391172</c:v>
                </c:pt>
                <c:pt idx="225">
                  <c:v>1.58303933</c:v>
                </c:pt>
                <c:pt idx="226">
                  <c:v>1.65947302</c:v>
                </c:pt>
                <c:pt idx="227">
                  <c:v>1.72122264</c:v>
                </c:pt>
                <c:pt idx="228">
                  <c:v>1.70777731</c:v>
                </c:pt>
                <c:pt idx="229">
                  <c:v>1.56368391</c:v>
                </c:pt>
                <c:pt idx="230">
                  <c:v>1.7136477</c:v>
                </c:pt>
                <c:pt idx="231">
                  <c:v>1.7144039</c:v>
                </c:pt>
                <c:pt idx="232">
                  <c:v>1.76444725</c:v>
                </c:pt>
                <c:pt idx="233">
                  <c:v>1.82218662</c:v>
                </c:pt>
                <c:pt idx="234">
                  <c:v>1.78534022</c:v>
                </c:pt>
                <c:pt idx="235">
                  <c:v>1.93457671</c:v>
                </c:pt>
                <c:pt idx="236">
                  <c:v>1.79244571</c:v>
                </c:pt>
                <c:pt idx="237">
                  <c:v>1.78721533</c:v>
                </c:pt>
                <c:pt idx="238">
                  <c:v>1.79851185</c:v>
                </c:pt>
                <c:pt idx="239">
                  <c:v>1.78449557</c:v>
                </c:pt>
                <c:pt idx="240">
                  <c:v>1.71276021</c:v>
                </c:pt>
                <c:pt idx="241">
                  <c:v>1.78771928</c:v>
                </c:pt>
                <c:pt idx="242">
                  <c:v>1.9078237</c:v>
                </c:pt>
                <c:pt idx="243">
                  <c:v>2.02602081</c:v>
                </c:pt>
                <c:pt idx="244">
                  <c:v>1.67494548</c:v>
                </c:pt>
                <c:pt idx="245">
                  <c:v>1.76141013</c:v>
                </c:pt>
                <c:pt idx="246">
                  <c:v>1.7395213</c:v>
                </c:pt>
                <c:pt idx="247">
                  <c:v>1.76195468</c:v>
                </c:pt>
                <c:pt idx="248">
                  <c:v>1.83784598</c:v>
                </c:pt>
                <c:pt idx="249">
                  <c:v>1.98800325</c:v>
                </c:pt>
                <c:pt idx="250">
                  <c:v>1.84970932</c:v>
                </c:pt>
                <c:pt idx="251">
                  <c:v>1.85782361</c:v>
                </c:pt>
                <c:pt idx="252">
                  <c:v>2.06577564</c:v>
                </c:pt>
                <c:pt idx="253">
                  <c:v>2.08760438</c:v>
                </c:pt>
                <c:pt idx="254">
                  <c:v>2.00146646</c:v>
                </c:pt>
                <c:pt idx="255">
                  <c:v>1.91361459</c:v>
                </c:pt>
                <c:pt idx="256">
                  <c:v>0.9577319</c:v>
                </c:pt>
                <c:pt idx="257">
                  <c:v>1.22200924</c:v>
                </c:pt>
                <c:pt idx="258">
                  <c:v>1.25205386</c:v>
                </c:pt>
                <c:pt idx="259">
                  <c:v>1.14718717</c:v>
                </c:pt>
                <c:pt idx="260">
                  <c:v>1.14219281</c:v>
                </c:pt>
                <c:pt idx="261">
                  <c:v>1.09972289</c:v>
                </c:pt>
                <c:pt idx="262">
                  <c:v>1.13739135</c:v>
                </c:pt>
                <c:pt idx="263">
                  <c:v>1.06756159</c:v>
                </c:pt>
                <c:pt idx="264">
                  <c:v>1.1391027</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Replicated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Extension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Equal-weight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d5462d7e9d1b4cd3"/>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E7B2E12-71FE-425D-AA0C-3E48724DFAC5}"/>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FFFFFF"/>
                </a:solidFill>
                <a:latin typeface="Arial"/>
                <a:ea typeface="Arial"/>
                <a:cs typeface="Arial"/>
              </a:defRPr>
            </a:pPr>
            <a:r>
              <a:rPr sz="3000" b="1">
                <a:solidFill>
                  <a:srgbClr val="FFFFFF"/>
                </a:solidFill>
                <a:latin typeface="Arial"/>
                <a:ea typeface="Arial"/>
                <a:cs typeface="Arial"/>
              </a:rPr>
              <a:t>Deep Learning in Asset Pricing</a:t>
            </a:r>
          </a:p>
        </p:txBody>
      </p:sp>
      <p:sp>
        <p:nvSpPr>
          <p:cNvPr id="3" name="">
            <a:extLst xmlns:a="http://schemas.openxmlformats.org/drawingml/2006/main">
              <a:ext uri="{FF2B5EF4-FFF2-40B4-BE49-F238E27FC236}">
                <a16:creationId xmlns:a16="http://schemas.microsoft.com/office/drawing/2014/main" id="{DF695EB0-547D-4965-94D1-D835C4659154}"/>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3262"/>
                </a:solidFill>
                <a:latin typeface="Arial"/>
                <a:ea typeface="Arial"/>
                <a:cs typeface="Arial"/>
              </a:defRPr>
            </a:pPr>
            <a:r>
              <a:rPr sz="2025" b="1">
                <a:solidFill>
                  <a:srgbClr val="003262"/>
                </a:solidFill>
                <a:latin typeface="Arial"/>
                <a:ea typeface="Arial"/>
                <a:cs typeface="Arial"/>
              </a:rPr>
              <a:t>Replication and Model Comparisons</a:t>
            </a:r>
          </a:p>
        </p:txBody>
      </p:sp>
      <p:sp>
        <p:nvSpPr>
          <p:cNvPr id="4" name="">
            <a:extLst xmlns:a="http://schemas.openxmlformats.org/drawingml/2006/main">
              <a:ext uri="{FF2B5EF4-FFF2-40B4-BE49-F238E27FC236}">
                <a16:creationId xmlns:a16="http://schemas.microsoft.com/office/drawing/2014/main" id="{5481CBCE-E7D6-4BC4-800A-9A7C0A831F5E}"/>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Transformer, rolling windows, regimes and portfolio combinations</a:t>
            </a:r>
          </a:p>
        </p:txBody>
      </p:sp>
      <p:sp>
        <p:nvSpPr>
          <p:cNvPr id="5" name="">
            <a:extLst xmlns:a="http://schemas.openxmlformats.org/drawingml/2006/main">
              <a:ext uri="{FF2B5EF4-FFF2-40B4-BE49-F238E27FC236}">
                <a16:creationId xmlns:a16="http://schemas.microsoft.com/office/drawing/2014/main" id="{A4983446-7EC0-4107-BF9F-D59958BEF0F6}"/>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6558B462-85ED-457A-8617-624E02B58E9C}"/>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7AF936C5-CA29-4C4B-B20A-86125B38574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7D106F92-9820-4CB8-BF48-38DE4E16A808}"/>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ae51b15bc564b04"/>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62458814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7980B7-6EC6-4E30-9639-EA453C03456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B52ECF-E0E9-401B-B1D8-65EEB89FB45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EBE4EFE-9E3F-401C-8660-2CC3C1EEDB0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815A581A-E841-46B9-8044-106CAEBA05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15-minute presentation</a:t>
            </a:r>
          </a:p>
        </p:txBody>
      </p:sp>
      <p:sp>
        <p:nvSpPr>
          <p:cNvPr id="5" name="">
            <a:extLst xmlns:a="http://schemas.openxmlformats.org/drawingml/2006/main">
              <a:ext uri="{FF2B5EF4-FFF2-40B4-BE49-F238E27FC236}">
                <a16:creationId xmlns:a16="http://schemas.microsoft.com/office/drawing/2014/main" id="{6EDB3EE9-E9C5-44FF-8907-70CCFD3811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1872CCB-F385-49C3-BB99-836BA8911FB4}"/>
              </a:ext>
            </a:extLst>
          </p:cNvPr>
          <p:cNvSpPr>
            <a:spLocks xmlns:a="http://schemas.openxmlformats.org/drawingml/2006/main" noGrp="1"/>
          </p:cNvSpPr>
          <p:nvPr/>
        </p:nvSpPr>
        <p:spPr>
          <a:xfrm xmlns:a="http://schemas.openxmlformats.org/drawingml/2006/main">
            <a:off x="419100" y="9810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1. Main paper</a:t>
            </a:r>
          </a:p>
        </p:txBody>
      </p:sp>
      <p:sp>
        <p:nvSpPr>
          <p:cNvPr id="14" name="">
            <a:extLst xmlns:a="http://schemas.openxmlformats.org/drawingml/2006/main">
              <a:ext uri="{FF2B5EF4-FFF2-40B4-BE49-F238E27FC236}">
                <a16:creationId xmlns:a16="http://schemas.microsoft.com/office/drawing/2014/main" id="{7CA9D290-0D17-4D0A-A3E0-27664A63086A}"/>
              </a:ext>
            </a:extLst>
          </p:cNvPr>
          <p:cNvSpPr>
            <a:spLocks xmlns:a="http://schemas.openxmlformats.org/drawingml/2006/main" noGrp="1"/>
          </p:cNvSpPr>
          <p:nvPr/>
        </p:nvSpPr>
        <p:spPr>
          <a:xfrm xmlns:a="http://schemas.openxmlformats.org/drawingml/2006/main">
            <a:off x="419100" y="13716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2. Replication</a:t>
            </a:r>
          </a:p>
        </p:txBody>
      </p:sp>
      <p:sp>
        <p:nvSpPr>
          <p:cNvPr id="15" name="">
            <a:extLst xmlns:a="http://schemas.openxmlformats.org/drawingml/2006/main">
              <a:ext uri="{FF2B5EF4-FFF2-40B4-BE49-F238E27FC236}">
                <a16:creationId xmlns:a16="http://schemas.microsoft.com/office/drawing/2014/main" id="{ED379246-1383-4C99-8F72-8762051F65EF}"/>
              </a:ext>
            </a:extLst>
          </p:cNvPr>
          <p:cNvSpPr>
            <a:spLocks xmlns:a="http://schemas.openxmlformats.org/drawingml/2006/main" noGrp="1"/>
          </p:cNvSpPr>
          <p:nvPr/>
        </p:nvSpPr>
        <p:spPr>
          <a:xfrm xmlns:a="http://schemas.openxmlformats.org/drawingml/2006/main">
            <a:off x="419100" y="17621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3. Transformer</a:t>
            </a:r>
          </a:p>
        </p:txBody>
      </p:sp>
      <p:sp>
        <p:nvSpPr>
          <p:cNvPr id="16" name="">
            <a:extLst xmlns:a="http://schemas.openxmlformats.org/drawingml/2006/main">
              <a:ext uri="{FF2B5EF4-FFF2-40B4-BE49-F238E27FC236}">
                <a16:creationId xmlns:a16="http://schemas.microsoft.com/office/drawing/2014/main" id="{70793E91-35E3-408F-8B9A-E58F50BB11E9}"/>
              </a:ext>
            </a:extLst>
          </p:cNvPr>
          <p:cNvSpPr>
            <a:spLocks xmlns:a="http://schemas.openxmlformats.org/drawingml/2006/main" noGrp="1"/>
          </p:cNvSpPr>
          <p:nvPr/>
        </p:nvSpPr>
        <p:spPr>
          <a:xfrm xmlns:a="http://schemas.openxmlformats.org/drawingml/2006/main">
            <a:off x="419100" y="21526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4. Rolling windows</a:t>
            </a:r>
          </a:p>
        </p:txBody>
      </p:sp>
      <p:sp>
        <p:nvSpPr>
          <p:cNvPr id="17" name="">
            <a:extLst xmlns:a="http://schemas.openxmlformats.org/drawingml/2006/main">
              <a:ext uri="{FF2B5EF4-FFF2-40B4-BE49-F238E27FC236}">
                <a16:creationId xmlns:a16="http://schemas.microsoft.com/office/drawing/2014/main" id="{3B10CDF6-7AA4-4389-9B95-7DA57B884B2F}"/>
              </a:ext>
            </a:extLst>
          </p:cNvPr>
          <p:cNvSpPr>
            <a:spLocks xmlns:a="http://schemas.openxmlformats.org/drawingml/2006/main" noGrp="1"/>
          </p:cNvSpPr>
          <p:nvPr/>
        </p:nvSpPr>
        <p:spPr>
          <a:xfrm xmlns:a="http://schemas.openxmlformats.org/drawingml/2006/main">
            <a:off x="419100" y="254317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5. Regime change</a:t>
            </a:r>
          </a:p>
        </p:txBody>
      </p:sp>
      <p:sp>
        <p:nvSpPr>
          <p:cNvPr id="18" name="">
            <a:extLst xmlns:a="http://schemas.openxmlformats.org/drawingml/2006/main">
              <a:ext uri="{FF2B5EF4-FFF2-40B4-BE49-F238E27FC236}">
                <a16:creationId xmlns:a16="http://schemas.microsoft.com/office/drawing/2014/main" id="{DFDA38ED-53C5-49E1-BABA-729B78BD85FF}"/>
              </a:ext>
            </a:extLst>
          </p:cNvPr>
          <p:cNvSpPr>
            <a:spLocks xmlns:a="http://schemas.openxmlformats.org/drawingml/2006/main" noGrp="1"/>
          </p:cNvSpPr>
          <p:nvPr/>
        </p:nvSpPr>
        <p:spPr>
          <a:xfrm xmlns:a="http://schemas.openxmlformats.org/drawingml/2006/main">
            <a:off x="419100" y="293370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003262"/>
                </a:solidFill>
                <a:latin typeface="Arial"/>
                <a:ea typeface="Arial"/>
                <a:cs typeface="Arial"/>
              </a:defRPr>
            </a:pPr>
            <a:r>
              <a:rPr sz="1875" b="1">
                <a:solidFill>
                  <a:srgbClr val="003262"/>
                </a:solidFill>
                <a:latin typeface="Arial"/>
                <a:ea typeface="Arial"/>
                <a:cs typeface="Arial"/>
              </a:rPr>
              <a:t>6. Uncertainty</a:t>
            </a:r>
          </a:p>
        </p:txBody>
      </p:sp>
      <p:sp>
        <p:nvSpPr>
          <p:cNvPr id="19" name="">
            <a:extLst xmlns:a="http://schemas.openxmlformats.org/drawingml/2006/main">
              <a:ext uri="{FF2B5EF4-FFF2-40B4-BE49-F238E27FC236}">
                <a16:creationId xmlns:a16="http://schemas.microsoft.com/office/drawing/2014/main" id="{411BD56C-9CB6-44BF-BB65-F27E3D2E1995}"/>
              </a:ext>
            </a:extLst>
          </p:cNvPr>
          <p:cNvSpPr>
            <a:spLocks xmlns:a="http://schemas.openxmlformats.org/drawingml/2006/main" noGrp="1"/>
          </p:cNvSpPr>
          <p:nvPr/>
        </p:nvSpPr>
        <p:spPr>
          <a:xfrm xmlns:a="http://schemas.openxmlformats.org/drawingml/2006/main">
            <a:off x="419100" y="3324225"/>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7. Combination</a:t>
            </a:r>
          </a:p>
        </p:txBody>
      </p:sp>
      <p:sp>
        <p:nvSpPr>
          <p:cNvPr id="20" name="">
            <a:extLst xmlns:a="http://schemas.openxmlformats.org/drawingml/2006/main">
              <a:ext uri="{FF2B5EF4-FFF2-40B4-BE49-F238E27FC236}">
                <a16:creationId xmlns:a16="http://schemas.microsoft.com/office/drawing/2014/main" id="{7D78D46F-6855-49A8-A7ED-1FF50B26BB81}"/>
              </a:ext>
            </a:extLst>
          </p:cNvPr>
          <p:cNvSpPr>
            <a:spLocks xmlns:a="http://schemas.openxmlformats.org/drawingml/2006/main" noGrp="1"/>
          </p:cNvSpPr>
          <p:nvPr/>
        </p:nvSpPr>
        <p:spPr>
          <a:xfrm xmlns:a="http://schemas.openxmlformats.org/drawingml/2006/main">
            <a:off x="419100" y="3714750"/>
            <a:ext cx="828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003262"/>
                </a:solidFill>
                <a:latin typeface="Arial"/>
                <a:ea typeface="Arial"/>
                <a:cs typeface="Arial"/>
              </a:defRPr>
            </a:pPr>
            <a:r>
              <a:rPr sz="1875" b="0">
                <a:solidFill>
                  <a:srgbClr val="003262"/>
                </a:solidFill>
                <a:latin typeface="Arial"/>
                <a:ea typeface="Arial"/>
                <a:cs typeface="Arial"/>
              </a:rPr>
              <a:t>8. Summary</a:t>
            </a:r>
          </a:p>
        </p:txBody>
      </p:sp>
    </p:spTree>
    <p:extLst>
      <p:ext uri="{BB962C8B-B14F-4D97-AF65-F5344CB8AC3E}">
        <p14:creationId xmlns:p14="http://schemas.microsoft.com/office/powerpoint/2010/main" val="3557814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19653F-3B5A-47D0-B2D7-8355BF53C991}"/>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1600C88-6EE6-4DE8-B6F7-A059329EB01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55B9CED-0996-46C0-AD6F-C37867C6D86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model architecture and data</a:t>
            </a:r>
          </a:p>
        </p:txBody>
      </p:sp>
      <p:sp>
        <p:nvSpPr>
          <p:cNvPr id="4" name="">
            <a:extLst xmlns:a="http://schemas.openxmlformats.org/drawingml/2006/main">
              <a:ext uri="{FF2B5EF4-FFF2-40B4-BE49-F238E27FC236}">
                <a16:creationId xmlns:a16="http://schemas.microsoft.com/office/drawing/2014/main" id="{EE670733-DBC5-4AEC-8017-BF150C2A5AA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AD17B70D-D8E3-4FD1-9512-A52F6476939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3</a:t>
            </a:r>
          </a:p>
        </p:txBody>
      </p:sp>
      <p:graphicFrame>
        <p:nvGraphicFramePr>
          <p:cNvPr id="17"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B2DB547B-70D5-48D6-B0DC-285D659785D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Train 1967–1986. Validation 1987–1991. Test 1992–2016.</a:t>
            </a:r>
          </a:p>
        </p:txBody>
      </p:sp>
      <p:sp>
        <p:nvSpPr>
          <p:cNvPr id="10" name="">
            <a:extLst xmlns:a="http://schemas.openxmlformats.org/drawingml/2006/main">
              <a:ext uri="{FF2B5EF4-FFF2-40B4-BE49-F238E27FC236}">
                <a16:creationId xmlns:a16="http://schemas.microsoft.com/office/drawing/2014/main" id="{549E0823-13F8-46EA-9053-08FEB3CE12C3}"/>
              </a:ext>
            </a:extLst>
          </p:cNvPr>
          <p:cNvSpPr>
            <a:spLocks xmlns:a="http://schemas.openxmlformats.org/drawingml/2006/main" noGrp="1"/>
          </p:cNvSpPr>
          <p:nvPr/>
        </p:nvSpPr>
        <p:spPr>
          <a:xfrm xmlns:a="http://schemas.openxmlformats.org/drawingml/2006/main">
            <a:off x="419100" y="781050"/>
            <a:ext cx="8286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1F2A37"/>
                </a:solidFill>
                <a:latin typeface="Arial"/>
                <a:ea typeface="Arial"/>
                <a:cs typeface="Arial"/>
              </a:defRPr>
            </a:pPr>
            <a:r>
              <a:rPr sz="1275" b="0">
                <a:solidFill>
                  <a:srgbClr val="1F2A37"/>
                </a:solidFill>
                <a:latin typeface="Arial"/>
                <a:ea typeface="Arial"/>
                <a:cs typeface="Arial"/>
              </a:rPr>
              <a:t>Goal: learn a stochastic discount factor through conditional pricing moments.</a:t>
            </a:r>
          </a:p>
        </p:txBody>
      </p:sp>
    </p:spTree>
    <p:extLst>
      <p:ext uri="{BB962C8B-B14F-4D97-AF65-F5344CB8AC3E}">
        <p14:creationId xmlns:p14="http://schemas.microsoft.com/office/powerpoint/2010/main" val="2410890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4B65EB-3C9D-4A0A-A5B6-F43D5650CC6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037A00-CA31-49B7-A348-515295FC980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D6F88D0-05A6-4D75-A6AB-BCA7B61A97B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Main paper: published results</a:t>
            </a:r>
          </a:p>
        </p:txBody>
      </p:sp>
      <p:sp>
        <p:nvSpPr>
          <p:cNvPr id="4" name="">
            <a:extLst xmlns:a="http://schemas.openxmlformats.org/drawingml/2006/main">
              <a:ext uri="{FF2B5EF4-FFF2-40B4-BE49-F238E27FC236}">
                <a16:creationId xmlns:a16="http://schemas.microsoft.com/office/drawing/2014/main" id="{26248FE1-8E51-4EA7-AC8B-62E05E017D5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1. Main paper</a:t>
            </a:r>
          </a:p>
        </p:txBody>
      </p:sp>
      <p:sp>
        <p:nvSpPr>
          <p:cNvPr id="5" name="">
            <a:extLst xmlns:a="http://schemas.openxmlformats.org/drawingml/2006/main">
              <a:ext uri="{FF2B5EF4-FFF2-40B4-BE49-F238E27FC236}">
                <a16:creationId xmlns:a16="http://schemas.microsoft.com/office/drawing/2014/main" id="{B8C358BC-7C57-4258-98AB-F5B0C57525E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4</a:t>
            </a:r>
          </a:p>
        </p:txBody>
      </p:sp>
      <p:graphicFrame>
        <p:nvGraphicFramePr>
          <p:cNvPr id="15"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5020EE53-7272-425D-86F6-E30D3DA2878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55130126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11089D9-1563-44C8-9239-8F2DD8B5FEA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31BE8F-AA89-476B-91FE-CC5063C98979}"/>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DACBCC0-67AE-43F4-BDFC-C677635445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comparison with the main paper</a:t>
            </a:r>
          </a:p>
        </p:txBody>
      </p:sp>
      <p:sp>
        <p:nvSpPr>
          <p:cNvPr id="4" name="">
            <a:extLst xmlns:a="http://schemas.openxmlformats.org/drawingml/2006/main">
              <a:ext uri="{FF2B5EF4-FFF2-40B4-BE49-F238E27FC236}">
                <a16:creationId xmlns:a16="http://schemas.microsoft.com/office/drawing/2014/main" id="{455A9CFE-0B65-4701-B6FA-F0A4C683D33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CACB040B-69F3-452C-914A-CAD15924BA7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7eb5810146214377"/>
          </a:graphicData>
        </a:graphic>
      </p:graphicFrame>
      <p:sp>
        <p:nvSpPr>
          <p:cNvPr id="7" name="">
            <a:extLst xmlns:a="http://schemas.openxmlformats.org/drawingml/2006/main">
              <a:ext uri="{FF2B5EF4-FFF2-40B4-BE49-F238E27FC236}">
                <a16:creationId xmlns:a16="http://schemas.microsoft.com/office/drawing/2014/main" id="{C9EFEDBA-C313-4BFA-832E-B0E771BFDDD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1020934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9BE11B-4261-4CF5-9249-013190E84BC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F166329-D555-4B4B-B517-9F976DFD5E5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FFADD75-D94A-448B-924C-D90C51A96C3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0DE48038-808C-4205-B9C5-761686BAF99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2. Replication</a:t>
            </a:r>
          </a:p>
        </p:txBody>
      </p:sp>
      <p:sp>
        <p:nvSpPr>
          <p:cNvPr id="5" name="">
            <a:extLst xmlns:a="http://schemas.openxmlformats.org/drawingml/2006/main">
              <a:ext uri="{FF2B5EF4-FFF2-40B4-BE49-F238E27FC236}">
                <a16:creationId xmlns:a16="http://schemas.microsoft.com/office/drawing/2014/main" id="{EA5EF2CC-5A0F-44CD-95D6-09752255A97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5"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5407A2-5FDF-4208-BF0D-A440477DFB2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5485320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166DBE-344C-49BA-843F-C0722674AE2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8C96F4-9E47-47DC-987E-185E99AF0A2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A09ADAE-25E3-42A0-AB06-F1332454AEE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the common training budget</a:t>
            </a:r>
          </a:p>
        </p:txBody>
      </p:sp>
      <p:sp>
        <p:nvSpPr>
          <p:cNvPr id="4" name="">
            <a:extLst xmlns:a="http://schemas.openxmlformats.org/drawingml/2006/main">
              <a:ext uri="{FF2B5EF4-FFF2-40B4-BE49-F238E27FC236}">
                <a16:creationId xmlns:a16="http://schemas.microsoft.com/office/drawing/2014/main" id="{3F78C370-320C-4285-8BE6-17F488CD4FC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4D5826CC-CE4B-4A27-A695-09F2260D895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3618E6-C473-4773-BCBA-A3EF6C31F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17261830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700D548-CD4D-413E-AD30-5A44507AFBDE}"/>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936E9CD-0600-4E31-A07F-ADDD8F6A58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8300B09-DD34-41F4-8BA7-2536FAF5AF8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Transformer: train, validation and test results</a:t>
            </a:r>
          </a:p>
        </p:txBody>
      </p:sp>
      <p:sp>
        <p:nvSpPr>
          <p:cNvPr id="4" name="">
            <a:extLst xmlns:a="http://schemas.openxmlformats.org/drawingml/2006/main">
              <a:ext uri="{FF2B5EF4-FFF2-40B4-BE49-F238E27FC236}">
                <a16:creationId xmlns:a16="http://schemas.microsoft.com/office/drawing/2014/main" id="{2D271C58-2903-4859-91E8-D524505C822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3. Transformer</a:t>
            </a:r>
          </a:p>
        </p:txBody>
      </p:sp>
      <p:sp>
        <p:nvSpPr>
          <p:cNvPr id="5" name="">
            <a:extLst xmlns:a="http://schemas.openxmlformats.org/drawingml/2006/main">
              <a:ext uri="{FF2B5EF4-FFF2-40B4-BE49-F238E27FC236}">
                <a16:creationId xmlns:a16="http://schemas.microsoft.com/office/drawing/2014/main" id="{218538B8-CE65-40DB-9125-1A3ECA8F009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3fc79581fc4049ec"/>
          </a:graphicData>
        </a:graphic>
      </p:graphicFrame>
      <p:sp>
        <p:nvSpPr>
          <p:cNvPr id="7" name="">
            <a:extLst xmlns:a="http://schemas.openxmlformats.org/drawingml/2006/main">
              <a:ext uri="{FF2B5EF4-FFF2-40B4-BE49-F238E27FC236}">
                <a16:creationId xmlns:a16="http://schemas.microsoft.com/office/drawing/2014/main" id="{7429AC2E-F16A-401C-8BD1-7EEEB3CC505C}"/>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20379542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A3869B9-2101-4069-81C0-29135000AE4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E97E64C-7EDA-4C1A-B55C-AE2096D2225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529E9-95AC-4B91-85F6-BB684B3665B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evaluation method</a:t>
            </a:r>
          </a:p>
        </p:txBody>
      </p:sp>
      <p:sp>
        <p:nvSpPr>
          <p:cNvPr id="4" name="">
            <a:extLst xmlns:a="http://schemas.openxmlformats.org/drawingml/2006/main">
              <a:ext uri="{FF2B5EF4-FFF2-40B4-BE49-F238E27FC236}">
                <a16:creationId xmlns:a16="http://schemas.microsoft.com/office/drawing/2014/main" id="{B8C98099-D8AB-4624-A4AA-696AE6FD73BE}"/>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83DE2C-E69F-4F84-971A-43AB596E9A0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6"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706FECD-096C-4D33-B362-BC3250BA0112}"/>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B651E15A-E374-4C06-B390-EC7648703C0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76772707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8DCBE78-3310-4433-B9C1-4AB7CF75447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D057CF-B969-428D-A83D-D665F21C96E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558CAE1-ACCE-4F33-A2B4-C668677E1C5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36-month Sharpe</a:t>
            </a:r>
          </a:p>
        </p:txBody>
      </p:sp>
      <p:sp>
        <p:nvSpPr>
          <p:cNvPr id="4" name="">
            <a:extLst xmlns:a="http://schemas.openxmlformats.org/drawingml/2006/main">
              <a:ext uri="{FF2B5EF4-FFF2-40B4-BE49-F238E27FC236}">
                <a16:creationId xmlns:a16="http://schemas.microsoft.com/office/drawing/2014/main" id="{CB4CAB04-F848-4771-AC3E-ACBF06D2B622}"/>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A4F52E5B-8421-4B11-B26E-A31E9F8F309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10</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c314a7b91a7d4f2f"/>
          </a:graphicData>
        </a:graphic>
      </p:graphicFrame>
      <p:sp>
        <p:nvSpPr>
          <p:cNvPr id="7" name="">
            <a:extLst xmlns:a="http://schemas.openxmlformats.org/drawingml/2006/main">
              <a:ext uri="{FF2B5EF4-FFF2-40B4-BE49-F238E27FC236}">
                <a16:creationId xmlns:a16="http://schemas.microsoft.com/office/drawing/2014/main" id="{66B420E0-A43F-4985-BF5A-1967603E1BA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36.6% of complete windows.</a:t>
            </a:r>
          </a:p>
        </p:txBody>
      </p:sp>
    </p:spTree>
    <p:extLst>
      <p:ext uri="{BB962C8B-B14F-4D97-AF65-F5344CB8AC3E}">
        <p14:creationId xmlns:p14="http://schemas.microsoft.com/office/powerpoint/2010/main" val="73946644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5684BC9-CA6F-402B-8EA3-FB842427B8A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1C0E0C-EE9E-48E8-BB18-B23D28C2B7A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4D997F5-B0D1-43D2-AF04-C2B4C225D23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Rolling: comparison across window lengths</a:t>
            </a:r>
          </a:p>
        </p:txBody>
      </p:sp>
      <p:sp>
        <p:nvSpPr>
          <p:cNvPr id="4" name="">
            <a:extLst xmlns:a="http://schemas.openxmlformats.org/drawingml/2006/main">
              <a:ext uri="{FF2B5EF4-FFF2-40B4-BE49-F238E27FC236}">
                <a16:creationId xmlns:a16="http://schemas.microsoft.com/office/drawing/2014/main" id="{C1614DA6-E92A-4541-8667-D8767936BAA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4. Rolling windows</a:t>
            </a:r>
          </a:p>
        </p:txBody>
      </p:sp>
      <p:sp>
        <p:nvSpPr>
          <p:cNvPr id="5" name="">
            <a:extLst xmlns:a="http://schemas.openxmlformats.org/drawingml/2006/main">
              <a:ext uri="{FF2B5EF4-FFF2-40B4-BE49-F238E27FC236}">
                <a16:creationId xmlns:a16="http://schemas.microsoft.com/office/drawing/2014/main" id="{83F57E94-0C2E-463E-AB6F-FA2155D67CE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Paper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Replicated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Extension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889A1406-2FAC-4EE6-923B-2441B6AB8BD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26756837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5E5558-6D3D-4419-AB34-A274CB1C6ED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C322014-C91C-46FD-AE54-1880BE263DD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F230A8-3FFC-4E6D-8351-21107C8D574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definitions and sample sizes</a:t>
            </a:r>
          </a:p>
        </p:txBody>
      </p:sp>
      <p:sp>
        <p:nvSpPr>
          <p:cNvPr id="4" name="">
            <a:extLst xmlns:a="http://schemas.openxmlformats.org/drawingml/2006/main">
              <a:ext uri="{FF2B5EF4-FFF2-40B4-BE49-F238E27FC236}">
                <a16:creationId xmlns:a16="http://schemas.microsoft.com/office/drawing/2014/main" id="{DFCBBE1D-8D0C-4815-9EC8-A51897F62AF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A33275F8-AEDE-492C-A99A-DDDA6FC4BD3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6"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A32CA22B-6AFC-459D-9663-7BE494B42B45}"/>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44D9039A-A541-4AD4-9CA7-494649B8D9F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25892472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FE07DDD-E7B8-4EA3-9649-23508D781D7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FAEA006-A383-4DD8-9A61-17200858636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164E306-5B97-4FC3-80A1-2ECF8446746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Regimes: comparison among our models</a:t>
            </a:r>
          </a:p>
        </p:txBody>
      </p:sp>
      <p:sp>
        <p:nvSpPr>
          <p:cNvPr id="4" name="">
            <a:extLst xmlns:a="http://schemas.openxmlformats.org/drawingml/2006/main">
              <a:ext uri="{FF2B5EF4-FFF2-40B4-BE49-F238E27FC236}">
                <a16:creationId xmlns:a16="http://schemas.microsoft.com/office/drawing/2014/main" id="{EDEF3DD9-A8F5-4FC0-B80F-F53973C90AC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5. Regime change</a:t>
            </a:r>
          </a:p>
        </p:txBody>
      </p:sp>
      <p:sp>
        <p:nvSpPr>
          <p:cNvPr id="5" name="">
            <a:extLst xmlns:a="http://schemas.openxmlformats.org/drawingml/2006/main">
              <a:ext uri="{FF2B5EF4-FFF2-40B4-BE49-F238E27FC236}">
                <a16:creationId xmlns:a16="http://schemas.microsoft.com/office/drawing/2014/main" id="{C2C842B4-2656-4E27-8170-29C06494A6C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fb9de4dbfaf4ab7"/>
          <a:stretch xmlns:a="http://schemas.openxmlformats.org/drawingml/2006/main"/>
        </p:blipFill>
        <p:spPr>
          <a:xfrm xmlns:a="http://schemas.openxmlformats.org/drawingml/2006/main">
            <a:off x="266700" y="948418"/>
            <a:ext cx="8610600" cy="307521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90AED53-B374-4B7A-A12E-21DB511BB2F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Conditional monthly Sharpe. These regime estimates do not include confidence intervals.</a:t>
            </a:r>
          </a:p>
        </p:txBody>
      </p:sp>
    </p:spTree>
    <p:extLst>
      <p:ext uri="{BB962C8B-B14F-4D97-AF65-F5344CB8AC3E}">
        <p14:creationId xmlns:p14="http://schemas.microsoft.com/office/powerpoint/2010/main" val="20768140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66F3AD-AB2C-46C9-A764-C82928CDD4C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5C9FE0-4892-415D-BDDA-B96FA887205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2D8B698-64C8-4609-9EBC-EBD49393650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block-bootstrap method</a:t>
            </a:r>
          </a:p>
        </p:txBody>
      </p:sp>
      <p:sp>
        <p:nvSpPr>
          <p:cNvPr id="4" name="">
            <a:extLst xmlns:a="http://schemas.openxmlformats.org/drawingml/2006/main">
              <a:ext uri="{FF2B5EF4-FFF2-40B4-BE49-F238E27FC236}">
                <a16:creationId xmlns:a16="http://schemas.microsoft.com/office/drawing/2014/main" id="{29C225ED-7FEF-4671-B713-F8C687A0375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33563EF8-0359-4721-8AFE-4463B97AA9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14</a:t>
            </a:r>
          </a:p>
        </p:txBody>
      </p:sp>
      <p:sp>
        <p:nvSpPr>
          <p:cNvPr id="6" name="">
            <a:extLst xmlns:a="http://schemas.openxmlformats.org/drawingml/2006/main">
              <a:ext uri="{FF2B5EF4-FFF2-40B4-BE49-F238E27FC236}">
                <a16:creationId xmlns:a16="http://schemas.microsoft.com/office/drawing/2014/main" id="{138AFE0C-3AD8-4E92-BD2D-4ACC96E8FA61}"/>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A paired comparison</a:t>
            </a:r>
          </a:p>
        </p:txBody>
      </p:sp>
      <p:sp>
        <p:nvSpPr>
          <p:cNvPr id="7" name="">
            <a:extLst xmlns:a="http://schemas.openxmlformats.org/drawingml/2006/main">
              <a:ext uri="{FF2B5EF4-FFF2-40B4-BE49-F238E27FC236}">
                <a16:creationId xmlns:a16="http://schemas.microsoft.com/office/drawing/2014/main" id="{5993ECE0-97F2-49A1-BC12-08E6FF6AF35E}"/>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Resample the same months for every portfolio, so each draw preserves the return pairing.</a:t>
            </a:r>
          </a:p>
        </p:txBody>
      </p:sp>
      <p:sp>
        <p:nvSpPr>
          <p:cNvPr id="8" name="">
            <a:extLst xmlns:a="http://schemas.openxmlformats.org/drawingml/2006/main">
              <a:ext uri="{FF2B5EF4-FFF2-40B4-BE49-F238E27FC236}">
                <a16:creationId xmlns:a16="http://schemas.microsoft.com/office/drawing/2014/main" id="{C2369161-785C-41B1-80A0-461909545B1F}"/>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Contiguous blocks</a:t>
            </a:r>
          </a:p>
        </p:txBody>
      </p:sp>
      <p:sp>
        <p:nvSpPr>
          <p:cNvPr id="9" name="">
            <a:extLst xmlns:a="http://schemas.openxmlformats.org/drawingml/2006/main">
              <a:ext uri="{FF2B5EF4-FFF2-40B4-BE49-F238E27FC236}">
                <a16:creationId xmlns:a16="http://schemas.microsoft.com/office/drawing/2014/main" id="{6573144A-7C4E-4F95-B692-BE2575E00598}"/>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Use 10,000 draws and compare 6-, 12- and 24-month blocks to assess dependence sensitivity.</a:t>
            </a:r>
          </a:p>
        </p:txBody>
      </p:sp>
      <p:sp>
        <p:nvSpPr>
          <p:cNvPr id="10" name="">
            <a:extLst xmlns:a="http://schemas.openxmlformats.org/drawingml/2006/main">
              <a:ext uri="{FF2B5EF4-FFF2-40B4-BE49-F238E27FC236}">
                <a16:creationId xmlns:a16="http://schemas.microsoft.com/office/drawing/2014/main" id="{BC0E5994-7FD4-4157-BDB8-1CA6EEE6D604}"/>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The question</a:t>
            </a:r>
          </a:p>
        </p:txBody>
      </p:sp>
      <p:sp>
        <p:nvSpPr>
          <p:cNvPr id="11" name="">
            <a:extLst xmlns:a="http://schemas.openxmlformats.org/drawingml/2006/main">
              <a:ext uri="{FF2B5EF4-FFF2-40B4-BE49-F238E27FC236}">
                <a16:creationId xmlns:a16="http://schemas.microsoft.com/office/drawing/2014/main" id="{F757DF67-3D67-473D-A364-4185B4C4ED3F}"/>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Does a positive observed Sharpe gap remain distinguishable from zero under the bootstrap assumptions?</a:t>
            </a:r>
          </a:p>
        </p:txBody>
      </p:sp>
      <p:sp>
        <p:nvSpPr>
          <p:cNvPr id="12" name="">
            <a:extLst xmlns:a="http://schemas.openxmlformats.org/drawingml/2006/main">
              <a:ext uri="{FF2B5EF4-FFF2-40B4-BE49-F238E27FC236}">
                <a16:creationId xmlns:a16="http://schemas.microsoft.com/office/drawing/2014/main" id="{FD0FE993-7D27-405F-BAC3-E410ABA9104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Uncertainty concerns the return sample, conditional on the saved models.</a:t>
            </a:r>
          </a:p>
        </p:txBody>
      </p:sp>
    </p:spTree>
    <p:extLst>
      <p:ext uri="{BB962C8B-B14F-4D97-AF65-F5344CB8AC3E}">
        <p14:creationId xmlns:p14="http://schemas.microsoft.com/office/powerpoint/2010/main" val="146776759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373195-FBC3-44DA-B1AF-D529FE88CE5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01FBE87-149A-40D1-BD61-CDDD3C9D2F4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217FF820-30EE-4631-9070-8C36B8E2A08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model Sharpe intervals</a:t>
            </a:r>
          </a:p>
        </p:txBody>
      </p:sp>
      <p:sp>
        <p:nvSpPr>
          <p:cNvPr id="4" name="">
            <a:extLst xmlns:a="http://schemas.openxmlformats.org/drawingml/2006/main">
              <a:ext uri="{FF2B5EF4-FFF2-40B4-BE49-F238E27FC236}">
                <a16:creationId xmlns:a16="http://schemas.microsoft.com/office/drawing/2014/main" id="{DDE91750-1914-4238-AFB3-BBD5310842E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7475D90D-55A5-4ABB-9C86-5FE9FD712B9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15</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70d8c20e56547cb"/>
          <a:stretch xmlns:a="http://schemas.openxmlformats.org/drawingml/2006/main"/>
        </p:blipFill>
        <p:spPr>
          <a:xfrm xmlns:a="http://schemas.openxmlformats.org/drawingml/2006/main">
            <a:off x="952500" y="857250"/>
            <a:ext cx="7239000" cy="32575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D3F9032-17EE-4A21-8820-36E9934DBA0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Monthly test Sharpe, with 95% basic intervals using 12-month blocks.</a:t>
            </a:r>
          </a:p>
        </p:txBody>
      </p:sp>
    </p:spTree>
    <p:extLst>
      <p:ext uri="{BB962C8B-B14F-4D97-AF65-F5344CB8AC3E}">
        <p14:creationId xmlns:p14="http://schemas.microsoft.com/office/powerpoint/2010/main" val="15868008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ECBEAE4-DF3D-49AC-AC77-3827D0C8A4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711BCB-0BD7-4367-BC9A-E3DEAC4DC0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518004-C98E-4EF1-B645-A32BD34E91F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Uncertainty: paired Sharpe differences</a:t>
            </a:r>
          </a:p>
        </p:txBody>
      </p:sp>
      <p:sp>
        <p:nvSpPr>
          <p:cNvPr id="4" name="">
            <a:extLst xmlns:a="http://schemas.openxmlformats.org/drawingml/2006/main">
              <a:ext uri="{FF2B5EF4-FFF2-40B4-BE49-F238E27FC236}">
                <a16:creationId xmlns:a16="http://schemas.microsoft.com/office/drawing/2014/main" id="{C13BD07D-E50E-4FED-84C3-175A0A2A1A6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6. Uncertainty</a:t>
            </a:r>
          </a:p>
        </p:txBody>
      </p:sp>
      <p:sp>
        <p:nvSpPr>
          <p:cNvPr id="5" name="">
            <a:extLst xmlns:a="http://schemas.openxmlformats.org/drawingml/2006/main">
              <a:ext uri="{FF2B5EF4-FFF2-40B4-BE49-F238E27FC236}">
                <a16:creationId xmlns:a16="http://schemas.microsoft.com/office/drawing/2014/main" id="{FA565141-3A51-404A-9DA1-2E8A04D56C2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6" name=""/>
          <p:cNvGraphicFramePr/>
          <p:nvPr/>
        </p:nvGraphicFramePr>
        <p:xfrm>
          <a:off xmlns:a="http://schemas.openxmlformats.org/drawingml/2006/main" x="400050" y="1019175"/>
          <a:ext xmlns:a="http://schemas.openxmlformats.org/drawingml/2006/main" cx="8343900" cy="2571750"/>
        </p:xfrm>
        <a:graphic xmlns:a="http://schemas.openxmlformats.org/drawingml/2006/main">
          <a:graphicData uri="http://schemas.openxmlformats.org/drawingml/2006/table">
            <a:tbl>
              <a:tblPr/>
              <a:tblGrid>
                <a:gridCol w="2857500"/>
                <a:gridCol w="1828800"/>
                <a:gridCol w="1828800"/>
                <a:gridCol w="1828800"/>
              </a:tblGrid>
              <a:tr h="642938">
                <a:tc>
                  <a:txBody>
                    <a:bodyPr/>
                    <a:lstStyle/>
                    <a:p>
                      <a:r>
                        <a:rPr sz="1425" b="1">
                          <a:solidFill>
                            <a:srgbClr val="FFFFFF"/>
                          </a:solidFill>
                          <a:latin typeface="Arial"/>
                          <a:ea typeface="Arial"/>
                          <a:cs typeface="Arial"/>
                        </a:rPr>
                        <a:t>A minus B</a:t>
                      </a:r>
                    </a:p>
                  </a:txBody>
                  <a:tcPr marL="91440" marR="91440" marT="45720" marB="45720">
                    <a:solidFill>
                      <a:srgbClr val="003262"/>
                    </a:solidFill>
                  </a:tcPr>
                </a:tc>
                <a:tc>
                  <a:txBody>
                    <a:bodyPr/>
                    <a:lstStyle/>
                    <a:p>
                      <a:r>
                        <a:rPr sz="1425" b="1">
                          <a:solidFill>
                            <a:srgbClr val="FFFFFF"/>
                          </a:solidFill>
                          <a:latin typeface="Arial"/>
                          <a:ea typeface="Arial"/>
                          <a:cs typeface="Arial"/>
                        </a:rPr>
                        <a:t>Difference</a:t>
                      </a:r>
                    </a:p>
                  </a:txBody>
                  <a:tcPr marL="91440" marR="91440" marT="45720" marB="45720">
                    <a:solidFill>
                      <a:srgbClr val="003262"/>
                    </a:solidFill>
                  </a:tcPr>
                </a:tc>
                <a:tc>
                  <a:txBody>
                    <a:bodyPr/>
                    <a:lstStyle/>
                    <a:p>
                      <a:r>
                        <a:rPr sz="1425" b="1">
                          <a:solidFill>
                            <a:srgbClr val="FFFFFF"/>
                          </a:solidFill>
                          <a:latin typeface="Arial"/>
                          <a:ea typeface="Arial"/>
                          <a:cs typeface="Arial"/>
                        </a:rPr>
                        <a:t>95% basic</a:t>
                      </a:r>
                    </a:p>
                  </a:txBody>
                  <a:tcPr marL="91440" marR="91440" marT="45720" marB="45720">
                    <a:solidFill>
                      <a:srgbClr val="003262"/>
                    </a:solidFill>
                  </a:tcPr>
                </a:tc>
                <a:tc>
                  <a:txBody>
                    <a:bodyPr/>
                    <a:lstStyle/>
                    <a:p>
                      <a:r>
                        <a:rPr sz="1425" b="1">
                          <a:solidFill>
                            <a:srgbClr val="FFFFFF"/>
                          </a:solidFill>
                          <a:latin typeface="Arial"/>
                          <a:ea typeface="Arial"/>
                          <a:cs typeface="Arial"/>
                        </a:rPr>
                        <a:t>95% simultaneous</a:t>
                      </a:r>
                    </a:p>
                  </a:txBody>
                  <a:tcPr marL="91440" marR="91440" marT="45720" marB="45720">
                    <a:solidFill>
                      <a:srgbClr val="003262"/>
                    </a:solidFill>
                  </a:tcPr>
                </a:tc>
              </a:tr>
              <a:tr h="642938">
                <a:tc>
                  <a:txBody>
                    <a:bodyPr/>
                    <a:lstStyle/>
                    <a:p>
                      <a:r>
                        <a:rPr sz="1500" b="0">
                          <a:solidFill>
                            <a:srgbClr val="1F2A37"/>
                          </a:solidFill>
                          <a:latin typeface="Arial"/>
                          <a:ea typeface="Arial"/>
                          <a:cs typeface="Arial"/>
                        </a:rPr>
                        <a:t>Paper GAN minus</a:t>
                      </a:r>
                    </a:p>
                    <a:p>
                      <a:r>
                        <a:rPr sz="150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500" b="0">
                          <a:solidFill>
                            <a:srgbClr val="1F2A37"/>
                          </a:solidFill>
                          <a:latin typeface="Arial"/>
                          <a:ea typeface="Arial"/>
                          <a:cs typeface="Arial"/>
                        </a:rPr>
                        <a:t>0.138</a:t>
                      </a:r>
                    </a:p>
                  </a:txBody>
                  <a:tcPr marL="91440" marR="91440" marT="45720" marB="45720">
                    <a:solidFill>
                      <a:srgbClr val="EEF3F8"/>
                    </a:solidFill>
                  </a:tcPr>
                </a:tc>
                <a:tc>
                  <a:txBody>
                    <a:bodyPr/>
                    <a:lstStyle/>
                    <a:p>
                      <a:r>
                        <a:rPr sz="1500" b="0">
                          <a:solidFill>
                            <a:srgbClr val="1F2A37"/>
                          </a:solidFill>
                          <a:latin typeface="Arial"/>
                          <a:ea typeface="Arial"/>
                          <a:cs typeface="Arial"/>
                        </a:rPr>
                        <a:t>[-0.037, 0.256]</a:t>
                      </a:r>
                    </a:p>
                  </a:txBody>
                  <a:tcPr marL="91440" marR="91440" marT="45720" marB="45720">
                    <a:solidFill>
                      <a:srgbClr val="EEF3F8"/>
                    </a:solidFill>
                  </a:tcPr>
                </a:tc>
                <a:tc>
                  <a:txBody>
                    <a:bodyPr/>
                    <a:lstStyle/>
                    <a:p>
                      <a:r>
                        <a:rPr sz="1500" b="0">
                          <a:solidFill>
                            <a:srgbClr val="1F2A37"/>
                          </a:solidFill>
                          <a:latin typeface="Arial"/>
                          <a:ea typeface="Arial"/>
                          <a:cs typeface="Arial"/>
                        </a:rPr>
                        <a:t>[-0.148, 0.425]</a:t>
                      </a:r>
                    </a:p>
                  </a:txBody>
                  <a:tcPr marL="91440" marR="91440" marT="45720" marB="45720">
                    <a:solidFill>
                      <a:srgbClr val="EEF3F8"/>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Transformer</a:t>
                      </a:r>
                    </a:p>
                  </a:txBody>
                  <a:tcPr marL="91440" marR="91440" marT="45720" marB="45720">
                    <a:solidFill>
                      <a:srgbClr val="FFFFFF"/>
                    </a:solidFill>
                  </a:tcPr>
                </a:tc>
                <a:tc>
                  <a:txBody>
                    <a:bodyPr/>
                    <a:lstStyle/>
                    <a:p>
                      <a:r>
                        <a:rPr sz="1500" b="0">
                          <a:solidFill>
                            <a:srgbClr val="1F2A37"/>
                          </a:solidFill>
                          <a:latin typeface="Arial"/>
                          <a:ea typeface="Arial"/>
                          <a:cs typeface="Arial"/>
                        </a:rPr>
                        <a:t>0.155</a:t>
                      </a:r>
                    </a:p>
                  </a:txBody>
                  <a:tcPr marL="91440" marR="91440" marT="45720" marB="45720">
                    <a:solidFill>
                      <a:srgbClr val="FFFFFF"/>
                    </a:solidFill>
                  </a:tcPr>
                </a:tc>
                <a:tc>
                  <a:txBody>
                    <a:bodyPr/>
                    <a:lstStyle/>
                    <a:p>
                      <a:r>
                        <a:rPr sz="1500" b="0">
                          <a:solidFill>
                            <a:srgbClr val="1F2A37"/>
                          </a:solidFill>
                          <a:latin typeface="Arial"/>
                          <a:ea typeface="Arial"/>
                          <a:cs typeface="Arial"/>
                        </a:rPr>
                        <a:t>[-0.049, 0.365]</a:t>
                      </a:r>
                    </a:p>
                  </a:txBody>
                  <a:tcPr marL="91440" marR="91440" marT="45720" marB="45720">
                    <a:solidFill>
                      <a:srgbClr val="FFFFFF"/>
                    </a:solidFill>
                  </a:tcPr>
                </a:tc>
                <a:tc>
                  <a:txBody>
                    <a:bodyPr/>
                    <a:lstStyle/>
                    <a:p>
                      <a:r>
                        <a:rPr sz="1500" b="0">
                          <a:solidFill>
                            <a:srgbClr val="1F2A37"/>
                          </a:solidFill>
                          <a:latin typeface="Arial"/>
                          <a:ea typeface="Arial"/>
                          <a:cs typeface="Arial"/>
                        </a:rPr>
                        <a:t>[-0.132, 0.441]</a:t>
                      </a:r>
                    </a:p>
                  </a:txBody>
                  <a:tcPr marL="91440" marR="91440" marT="45720" marB="45720">
                    <a:solidFill>
                      <a:srgbClr val="FFFFFF"/>
                    </a:solidFill>
                  </a:tcPr>
                </a:tc>
              </a:tr>
              <a:tr h="642938">
                <a:tc>
                  <a:txBody>
                    <a:bodyPr/>
                    <a:lstStyle/>
                    <a:p>
                      <a:r>
                        <a:rPr sz="1500" b="0">
                          <a:solidFill>
                            <a:srgbClr val="1F2A37"/>
                          </a:solidFill>
                          <a:latin typeface="Arial"/>
                          <a:ea typeface="Arial"/>
                          <a:cs typeface="Arial"/>
                        </a:rPr>
                        <a:t>Extension LSTM minus</a:t>
                      </a:r>
                    </a:p>
                    <a:p>
                      <a:r>
                        <a:rPr sz="150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500" b="0">
                          <a:solidFill>
                            <a:srgbClr val="1F2A37"/>
                          </a:solidFill>
                          <a:latin typeface="Arial"/>
                          <a:ea typeface="Arial"/>
                          <a:cs typeface="Arial"/>
                        </a:rPr>
                        <a:t>-0.004</a:t>
                      </a:r>
                    </a:p>
                  </a:txBody>
                  <a:tcPr marL="91440" marR="91440" marT="45720" marB="45720">
                    <a:solidFill>
                      <a:srgbClr val="EEF3F8"/>
                    </a:solidFill>
                  </a:tcPr>
                </a:tc>
                <a:tc>
                  <a:txBody>
                    <a:bodyPr/>
                    <a:lstStyle/>
                    <a:p>
                      <a:r>
                        <a:rPr sz="1500" b="0">
                          <a:solidFill>
                            <a:srgbClr val="1F2A37"/>
                          </a:solidFill>
                          <a:latin typeface="Arial"/>
                          <a:ea typeface="Arial"/>
                          <a:cs typeface="Arial"/>
                        </a:rPr>
                        <a:t>[-0.132, 0.119]</a:t>
                      </a:r>
                    </a:p>
                  </a:txBody>
                  <a:tcPr marL="91440" marR="91440" marT="45720" marB="45720">
                    <a:solidFill>
                      <a:srgbClr val="EEF3F8"/>
                    </a:solidFill>
                  </a:tcPr>
                </a:tc>
                <a:tc>
                  <a:txBody>
                    <a:bodyPr/>
                    <a:lstStyle/>
                    <a:p>
                      <a:r>
                        <a:rPr sz="1500" b="0">
                          <a:solidFill>
                            <a:srgbClr val="1F2A37"/>
                          </a:solidFill>
                          <a:latin typeface="Arial"/>
                          <a:ea typeface="Arial"/>
                          <a:cs typeface="Arial"/>
                        </a:rPr>
                        <a:t>[-0.290, 0.283]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8BC5BE1-AD53-4907-9DA1-64D2556CB971}"/>
              </a:ext>
            </a:extLst>
          </p:cNvPr>
          <p:cNvSpPr>
            <a:spLocks xmlns:a="http://schemas.openxmlformats.org/drawingml/2006/main" noGrp="1"/>
          </p:cNvSpPr>
          <p:nvPr/>
        </p:nvSpPr>
        <p:spPr>
          <a:xfrm xmlns:a="http://schemas.openxmlformats.org/drawingml/2006/main">
            <a:off x="419100" y="3771900"/>
            <a:ext cx="8286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A37"/>
                </a:solidFill>
                <a:latin typeface="Arial"/>
                <a:ea typeface="Arial"/>
                <a:cs typeface="Arial"/>
              </a:defRPr>
            </a:pPr>
            <a:r>
              <a:rPr sz="1650" b="0">
                <a:solidFill>
                  <a:srgbClr val="1F2A37"/>
                </a:solidFill>
                <a:latin typeface="Arial"/>
                <a:ea typeface="Arial"/>
                <a:cs typeface="Arial"/>
              </a:rPr>
              <a:t>A positive point estimate can coexist with an interval containing zero.</a:t>
            </a:r>
          </a:p>
        </p:txBody>
      </p:sp>
      <p:sp>
        <p:nvSpPr>
          <p:cNvPr id="8" name="">
            <a:extLst xmlns:a="http://schemas.openxmlformats.org/drawingml/2006/main">
              <a:ext uri="{FF2B5EF4-FFF2-40B4-BE49-F238E27FC236}">
                <a16:creationId xmlns:a16="http://schemas.microsoft.com/office/drawing/2014/main" id="{3BAF0132-950B-4822-BA33-0A7136420AC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LSTM minus Transformer is 0.155, with basic interval spanning zero.</a:t>
            </a:r>
          </a:p>
        </p:txBody>
      </p:sp>
    </p:spTree>
    <p:extLst>
      <p:ext uri="{BB962C8B-B14F-4D97-AF65-F5344CB8AC3E}">
        <p14:creationId xmlns:p14="http://schemas.microsoft.com/office/powerpoint/2010/main" val="166096934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94D9E8-B03D-45E3-9690-E6ABF21524F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4A16DC-AFFE-4E3E-8F3B-D514FB7BE67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45F4658-1DED-492A-8404-CB19961A18E0}"/>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equal-weight architecture portfolio</a:t>
            </a:r>
          </a:p>
        </p:txBody>
      </p:sp>
      <p:sp>
        <p:nvSpPr>
          <p:cNvPr id="4" name="">
            <a:extLst xmlns:a="http://schemas.openxmlformats.org/drawingml/2006/main">
              <a:ext uri="{FF2B5EF4-FFF2-40B4-BE49-F238E27FC236}">
                <a16:creationId xmlns:a16="http://schemas.microsoft.com/office/drawing/2014/main" id="{557FCD5B-A371-45DD-A32A-F8921A1B040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5587A2AA-703A-4DD7-ADD9-77E7EFBB5C6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6"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0FC919DC-B92E-4C58-9020-10967D75D7E8}"/>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8992F0A9-022A-4C77-A101-70B40B9CBA9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46281989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5238D6-5086-432D-98AA-7DDBE213212F}"/>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9AB788-A3CB-4EEF-AC86-E36CEFE24C2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7BD27E0-1B6C-4952-9327-18EC64F6A78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36-month rolling results by regime</a:t>
            </a:r>
          </a:p>
        </p:txBody>
      </p:sp>
      <p:sp>
        <p:nvSpPr>
          <p:cNvPr id="4" name="">
            <a:extLst xmlns:a="http://schemas.openxmlformats.org/drawingml/2006/main">
              <a:ext uri="{FF2B5EF4-FFF2-40B4-BE49-F238E27FC236}">
                <a16:creationId xmlns:a16="http://schemas.microsoft.com/office/drawing/2014/main" id="{A86CDF18-B593-4A19-B134-0A48AEC1C4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ADD87B3E-7529-4B7C-8BF9-638E6E3CCCE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5"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6300da2b42504121"/>
          </a:graphicData>
        </a:graphic>
      </p:graphicFrame>
      <p:sp>
        <p:nvSpPr>
          <p:cNvPr id="7" name="">
            <a:extLst xmlns:a="http://schemas.openxmlformats.org/drawingml/2006/main">
              <a:ext uri="{FF2B5EF4-FFF2-40B4-BE49-F238E27FC236}">
                <a16:creationId xmlns:a16="http://schemas.microsoft.com/office/drawing/2014/main" id="{8B4F6AFE-170B-43B1-9D94-8AA0213CF5B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14779240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BA5D51-E367-4934-9161-1A9AA29B882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BF77CDE-17F8-443C-A072-4E45D948A7C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AC6496D-D32A-43E8-A621-7E656AA7F7B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Combination: overall, rolling and recession results</a:t>
            </a:r>
          </a:p>
        </p:txBody>
      </p:sp>
      <p:sp>
        <p:nvSpPr>
          <p:cNvPr id="4" name="">
            <a:extLst xmlns:a="http://schemas.openxmlformats.org/drawingml/2006/main">
              <a:ext uri="{FF2B5EF4-FFF2-40B4-BE49-F238E27FC236}">
                <a16:creationId xmlns:a16="http://schemas.microsoft.com/office/drawing/2014/main" id="{E2DB1C94-88D7-4A6C-AC02-94343312E21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7. Combination</a:t>
            </a:r>
          </a:p>
        </p:txBody>
      </p:sp>
      <p:sp>
        <p:nvSpPr>
          <p:cNvPr id="5" name="">
            <a:extLst xmlns:a="http://schemas.openxmlformats.org/drawingml/2006/main">
              <a:ext uri="{FF2B5EF4-FFF2-40B4-BE49-F238E27FC236}">
                <a16:creationId xmlns:a16="http://schemas.microsoft.com/office/drawing/2014/main" id="{20C572EC-5677-4400-B899-B8F048EE011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5"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571750"/>
                <a:gridCol w="1924050"/>
                <a:gridCol w="1924050"/>
                <a:gridCol w="1924050"/>
              </a:tblGrid>
              <a:tr h="357188">
                <a:tc>
                  <a:txBody>
                    <a:bodyPr/>
                    <a:lstStyle/>
                    <a:p>
                      <a:r>
                        <a:rPr sz="1275" b="1">
                          <a:solidFill>
                            <a:srgbClr val="FFFFFF"/>
                          </a:solidFill>
                          <a:latin typeface="Arial"/>
                          <a:ea typeface="Arial"/>
                          <a:cs typeface="Arial"/>
                        </a:rPr>
                        <a:t>Local portfolio</a:t>
                      </a:r>
                    </a:p>
                  </a:txBody>
                  <a:tcPr marL="91440" marR="91440" marT="45720" marB="45720">
                    <a:solidFill>
                      <a:srgbClr val="003262"/>
                    </a:solidFill>
                  </a:tcPr>
                </a:tc>
                <a:tc>
                  <a:txBody>
                    <a:bodyPr/>
                    <a:lstStyle/>
                    <a:p>
                      <a:r>
                        <a:rPr sz="1275" b="1">
                          <a:solidFill>
                            <a:srgbClr val="FFFFFF"/>
                          </a:solidFill>
                          <a:latin typeface="Arial"/>
                          <a:ea typeface="Arial"/>
                          <a:cs typeface="Arial"/>
                        </a:rPr>
                        <a:t>Test Sharpe</a:t>
                      </a:r>
                    </a:p>
                    <a:p>
                      <a:r>
                        <a:rPr sz="1275" b="1">
                          <a:solidFill>
                            <a:srgbClr val="FFFFFF"/>
                          </a:solidFill>
                          <a:latin typeface="Arial"/>
                          <a:ea typeface="Arial"/>
                          <a:cs typeface="Arial"/>
                        </a:rPr>
                        <a:t>monthly</a:t>
                      </a:r>
                    </a:p>
                  </a:txBody>
                  <a:tcPr marL="91440" marR="91440" marT="45720" marB="45720">
                    <a:solidFill>
                      <a:srgbClr val="003262"/>
                    </a:solidFill>
                  </a:tcPr>
                </a:tc>
                <a:tc>
                  <a:txBody>
                    <a:bodyPr/>
                    <a:lstStyle/>
                    <a:p>
                      <a:r>
                        <a:rPr sz="1275" b="1">
                          <a:solidFill>
                            <a:srgbClr val="FFFFFF"/>
                          </a:solidFill>
                          <a:latin typeface="Arial"/>
                          <a:ea typeface="Arial"/>
                          <a:cs typeface="Arial"/>
                        </a:rPr>
                        <a:t>36-month mean</a:t>
                      </a:r>
                    </a:p>
                    <a:p>
                      <a:r>
                        <a:rPr sz="1275" b="1">
                          <a:solidFill>
                            <a:srgbClr val="FFFFFF"/>
                          </a:solidFill>
                          <a:latin typeface="Arial"/>
                          <a:ea typeface="Arial"/>
                          <a:cs typeface="Arial"/>
                        </a:rPr>
                        <a:t>annualized</a:t>
                      </a:r>
                    </a:p>
                  </a:txBody>
                  <a:tcPr marL="91440" marR="91440" marT="45720" marB="45720">
                    <a:solidFill>
                      <a:srgbClr val="003262"/>
                    </a:solidFill>
                  </a:tcPr>
                </a:tc>
                <a:tc>
                  <a:txBody>
                    <a:bodyPr/>
                    <a:lstStyle/>
                    <a:p>
                      <a:r>
                        <a:rPr sz="1275" b="1">
                          <a:solidFill>
                            <a:srgbClr val="FFFFFF"/>
                          </a:solidFill>
                          <a:latin typeface="Arial"/>
                          <a:ea typeface="Arial"/>
                          <a:cs typeface="Arial"/>
                        </a:rPr>
                        <a:t>Recession Sharpe</a:t>
                      </a:r>
                    </a:p>
                    <a:p>
                      <a:r>
                        <a:rPr sz="1275" b="1">
                          <a:solidFill>
                            <a:srgbClr val="FFFFFF"/>
                          </a:solidFill>
                          <a:latin typeface="Arial"/>
                          <a:ea typeface="Arial"/>
                          <a:cs typeface="Arial"/>
                        </a:rPr>
                        <a:t>monthly</a:t>
                      </a:r>
                    </a:p>
                  </a:txBody>
                  <a:tcPr marL="91440" marR="91440" marT="45720" marB="45720">
                    <a:solidFill>
                      <a:srgbClr val="003262"/>
                    </a:solidFill>
                  </a:tcPr>
                </a:tc>
              </a:tr>
              <a:tr h="357188">
                <a:tc>
                  <a:txBody>
                    <a:bodyPr/>
                    <a:lstStyle/>
                    <a:p>
                      <a:r>
                        <a:rPr sz="1350" b="0">
                          <a:solidFill>
                            <a:srgbClr val="1F2A37"/>
                          </a:solidFill>
                          <a:latin typeface="Arial"/>
                          <a:ea typeface="Arial"/>
                          <a:cs typeface="Arial"/>
                        </a:rPr>
                        <a:t>Replicated GAN</a:t>
                      </a:r>
                    </a:p>
                  </a:txBody>
                  <a:tcPr marL="91440" marR="91440" marT="45720" marB="45720">
                    <a:solidFill>
                      <a:srgbClr val="EEF3F8"/>
                    </a:solidFill>
                  </a:tcPr>
                </a:tc>
                <a:tc>
                  <a:txBody>
                    <a:bodyPr/>
                    <a:lstStyle/>
                    <a:p>
                      <a:r>
                        <a:rPr sz="1350" b="0">
                          <a:solidFill>
                            <a:srgbClr val="1F2A37"/>
                          </a:solidFill>
                          <a:latin typeface="Arial"/>
                          <a:ea typeface="Arial"/>
                          <a:cs typeface="Arial"/>
                        </a:rPr>
                        <a:t>0.612</a:t>
                      </a:r>
                    </a:p>
                  </a:txBody>
                  <a:tcPr marL="91440" marR="91440" marT="45720" marB="45720">
                    <a:solidFill>
                      <a:srgbClr val="EEF3F8"/>
                    </a:solidFill>
                  </a:tcPr>
                </a:tc>
                <a:tc>
                  <a:txBody>
                    <a:bodyPr/>
                    <a:lstStyle/>
                    <a:p>
                      <a:r>
                        <a:rPr sz="1350" b="0">
                          <a:solidFill>
                            <a:srgbClr val="1F2A37"/>
                          </a:solidFill>
                          <a:latin typeface="Arial"/>
                          <a:ea typeface="Arial"/>
                          <a:cs typeface="Arial"/>
                        </a:rPr>
                        <a:t>2.890</a:t>
                      </a:r>
                    </a:p>
                  </a:txBody>
                  <a:tcPr marL="91440" marR="91440" marT="45720" marB="45720">
                    <a:solidFill>
                      <a:srgbClr val="EEF3F8"/>
                    </a:solidFill>
                  </a:tcPr>
                </a:tc>
                <a:tc>
                  <a:txBody>
                    <a:bodyPr/>
                    <a:lstStyle/>
                    <a:p>
                      <a:r>
                        <a:rPr sz="1350" b="0">
                          <a:solidFill>
                            <a:srgbClr val="1F2A37"/>
                          </a:solidFill>
                          <a:latin typeface="Arial"/>
                          <a:ea typeface="Arial"/>
                          <a:cs typeface="Arial"/>
                        </a:rPr>
                        <a:t>0.455</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Feedforward</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c>
                  <a:txBody>
                    <a:bodyPr/>
                    <a:lstStyle/>
                    <a:p>
                      <a:r>
                        <a:rPr sz="1350" b="0">
                          <a:solidFill>
                            <a:srgbClr val="1F2A37"/>
                          </a:solidFill>
                          <a:latin typeface="Arial"/>
                          <a:ea typeface="Arial"/>
                          <a:cs typeface="Arial"/>
                        </a:rPr>
                        <a:t>2.620</a:t>
                      </a:r>
                    </a:p>
                  </a:txBody>
                  <a:tcPr marL="91440" marR="91440" marT="45720" marB="45720">
                    <a:solidFill>
                      <a:srgbClr val="FFFFFF"/>
                    </a:solidFill>
                  </a:tcPr>
                </a:tc>
                <a:tc>
                  <a:txBody>
                    <a:bodyPr/>
                    <a:lstStyle/>
                    <a:p>
                      <a:r>
                        <a:rPr sz="1350" b="0">
                          <a:solidFill>
                            <a:srgbClr val="1F2A37"/>
                          </a:solidFill>
                          <a:latin typeface="Arial"/>
                          <a:ea typeface="Arial"/>
                          <a:cs typeface="Arial"/>
                        </a:rPr>
                        <a:t>0.570</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Equal-weight blend</a:t>
                      </a:r>
                    </a:p>
                  </a:txBody>
                  <a:tcPr marL="91440" marR="91440" marT="45720" marB="45720">
                    <a:solidFill>
                      <a:srgbClr val="EEF3F8"/>
                    </a:solidFill>
                  </a:tcPr>
                </a:tc>
                <a:tc>
                  <a:txBody>
                    <a:bodyPr/>
                    <a:lstStyle/>
                    <a:p>
                      <a:r>
                        <a:rPr sz="1350" b="0">
                          <a:solidFill>
                            <a:srgbClr val="1F2A37"/>
                          </a:solidFill>
                          <a:latin typeface="Arial"/>
                          <a:ea typeface="Arial"/>
                          <a:cs typeface="Arial"/>
                        </a:rPr>
                        <a:t>0.463</a:t>
                      </a:r>
                    </a:p>
                  </a:txBody>
                  <a:tcPr marL="91440" marR="91440" marT="45720" marB="45720">
                    <a:solidFill>
                      <a:srgbClr val="EEF3F8"/>
                    </a:solidFill>
                  </a:tcPr>
                </a:tc>
                <a:tc>
                  <a:txBody>
                    <a:bodyPr/>
                    <a:lstStyle/>
                    <a:p>
                      <a:r>
                        <a:rPr sz="1350" b="0">
                          <a:solidFill>
                            <a:srgbClr val="1F2A37"/>
                          </a:solidFill>
                          <a:latin typeface="Arial"/>
                          <a:ea typeface="Arial"/>
                          <a:cs typeface="Arial"/>
                        </a:rPr>
                        <a:t>2.166</a:t>
                      </a:r>
                    </a:p>
                  </a:txBody>
                  <a:tcPr marL="91440" marR="91440" marT="45720" marB="45720">
                    <a:solidFill>
                      <a:srgbClr val="EEF3F8"/>
                    </a:solidFill>
                  </a:tcPr>
                </a:tc>
                <a:tc>
                  <a:txBody>
                    <a:bodyPr/>
                    <a:lstStyle/>
                    <a:p>
                      <a:r>
                        <a:rPr sz="1350" b="0">
                          <a:solidFill>
                            <a:srgbClr val="1F2A37"/>
                          </a:solidFill>
                          <a:latin typeface="Arial"/>
                          <a:ea typeface="Arial"/>
                          <a:cs typeface="Arial"/>
                        </a:rPr>
                        <a:t>0.076</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Extension LSTM</a:t>
                      </a:r>
                    </a:p>
                  </a:txBody>
                  <a:tcPr marL="91440" marR="91440" marT="45720" marB="45720">
                    <a:solidFill>
                      <a:srgbClr val="FFFFFF"/>
                    </a:solidFill>
                  </a:tcPr>
                </a:tc>
                <a:tc>
                  <a:txBody>
                    <a:bodyPr/>
                    <a:lstStyle/>
                    <a:p>
                      <a:r>
                        <a:rPr sz="1350" b="0">
                          <a:solidFill>
                            <a:srgbClr val="1F2A37"/>
                          </a:solidFill>
                          <a:latin typeface="Arial"/>
                          <a:ea typeface="Arial"/>
                          <a:cs typeface="Arial"/>
                        </a:rPr>
                        <a:t>0.459</a:t>
                      </a:r>
                    </a:p>
                  </a:txBody>
                  <a:tcPr marL="91440" marR="91440" marT="45720" marB="45720">
                    <a:solidFill>
                      <a:srgbClr val="FFFFFF"/>
                    </a:solidFill>
                  </a:tcPr>
                </a:tc>
                <a:tc>
                  <a:txBody>
                    <a:bodyPr/>
                    <a:lstStyle/>
                    <a:p>
                      <a:r>
                        <a:rPr sz="1350" b="0">
                          <a:solidFill>
                            <a:srgbClr val="1F2A37"/>
                          </a:solidFill>
                          <a:latin typeface="Arial"/>
                          <a:ea typeface="Arial"/>
                          <a:cs typeface="Arial"/>
                        </a:rPr>
                        <a:t>1.992</a:t>
                      </a:r>
                    </a:p>
                  </a:txBody>
                  <a:tcPr marL="91440" marR="91440" marT="45720" marB="45720">
                    <a:solidFill>
                      <a:srgbClr val="FFFFFF"/>
                    </a:solidFill>
                  </a:tcPr>
                </a:tc>
                <a:tc>
                  <a:txBody>
                    <a:bodyPr/>
                    <a:lstStyle/>
                    <a:p>
                      <a:r>
                        <a:rPr sz="1350" b="0">
                          <a:solidFill>
                            <a:srgbClr val="1F2A37"/>
                          </a:solidFill>
                          <a:latin typeface="Arial"/>
                          <a:ea typeface="Arial"/>
                          <a:cs typeface="Arial"/>
                        </a:rPr>
                        <a:t>0.264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Elastic Net</a:t>
                      </a:r>
                    </a:p>
                  </a:txBody>
                  <a:tcPr marL="91440" marR="91440" marT="45720" marB="45720">
                    <a:solidFill>
                      <a:srgbClr val="EEF3F8"/>
                    </a:solidFill>
                  </a:tcPr>
                </a:tc>
                <a:tc>
                  <a:txBody>
                    <a:bodyPr/>
                    <a:lstStyle/>
                    <a:p>
                      <a:r>
                        <a:rPr sz="1350" b="0">
                          <a:solidFill>
                            <a:srgbClr val="1F2A37"/>
                          </a:solidFill>
                          <a:latin typeface="Arial"/>
                          <a:ea typeface="Arial"/>
                          <a:cs typeface="Arial"/>
                        </a:rPr>
                        <a:t>0.412</a:t>
                      </a:r>
                    </a:p>
                  </a:txBody>
                  <a:tcPr marL="91440" marR="91440" marT="45720" marB="45720">
                    <a:solidFill>
                      <a:srgbClr val="EEF3F8"/>
                    </a:solidFill>
                  </a:tcPr>
                </a:tc>
                <a:tc>
                  <a:txBody>
                    <a:bodyPr/>
                    <a:lstStyle/>
                    <a:p>
                      <a:r>
                        <a:rPr sz="1350" b="0">
                          <a:solidFill>
                            <a:srgbClr val="1F2A37"/>
                          </a:solidFill>
                          <a:latin typeface="Arial"/>
                          <a:ea typeface="Arial"/>
                          <a:cs typeface="Arial"/>
                        </a:rPr>
                        <a:t>2.074</a:t>
                      </a:r>
                    </a:p>
                  </a:txBody>
                  <a:tcPr marL="91440" marR="91440" marT="45720" marB="45720">
                    <a:solidFill>
                      <a:srgbClr val="EEF3F8"/>
                    </a:solidFill>
                  </a:tcPr>
                </a:tc>
                <a:tc>
                  <a:txBody>
                    <a:bodyPr/>
                    <a:lstStyle/>
                    <a:p>
                      <a:r>
                        <a:rPr sz="1350" b="0">
                          <a:solidFill>
                            <a:srgbClr val="1F2A37"/>
                          </a:solidFill>
                          <a:latin typeface="Arial"/>
                          <a:ea typeface="Arial"/>
                          <a:cs typeface="Arial"/>
                        </a:rPr>
                        <a:t>0.254</a:t>
                      </a:r>
                    </a:p>
                  </a:txBody>
                  <a:tcPr marL="91440" marR="91440" marT="45720" marB="45720">
                    <a:solidFill>
                      <a:srgbClr val="EEF3F8"/>
                    </a:solidFill>
                  </a:tcPr>
                </a:tc>
              </a:tr>
              <a:tr h="357188">
                <a:tc>
                  <a:txBody>
                    <a:bodyPr/>
                    <a:lstStyle/>
                    <a:p>
                      <a:r>
                        <a:rPr sz="1350" b="0">
                          <a:solidFill>
                            <a:srgbClr val="1F2A37"/>
                          </a:solidFill>
                          <a:latin typeface="Arial"/>
                          <a:ea typeface="Arial"/>
                          <a:cs typeface="Arial"/>
                        </a:rPr>
                        <a:t>Linear</a:t>
                      </a:r>
                    </a:p>
                  </a:txBody>
                  <a:tcPr marL="91440" marR="91440" marT="45720" marB="45720">
                    <a:solidFill>
                      <a:srgbClr val="FFFFFF"/>
                    </a:solidFill>
                  </a:tcPr>
                </a:tc>
                <a:tc>
                  <a:txBody>
                    <a:bodyPr/>
                    <a:lstStyle/>
                    <a:p>
                      <a:r>
                        <a:rPr sz="1350" b="0">
                          <a:solidFill>
                            <a:srgbClr val="1F2A37"/>
                          </a:solidFill>
                          <a:latin typeface="Arial"/>
                          <a:ea typeface="Arial"/>
                          <a:cs typeface="Arial"/>
                        </a:rPr>
                        <a:t>0.406</a:t>
                      </a:r>
                    </a:p>
                  </a:txBody>
                  <a:tcPr marL="91440" marR="91440" marT="45720" marB="45720">
                    <a:solidFill>
                      <a:srgbClr val="FFFFFF"/>
                    </a:solidFill>
                  </a:tcPr>
                </a:tc>
                <a:tc>
                  <a:txBody>
                    <a:bodyPr/>
                    <a:lstStyle/>
                    <a:p>
                      <a:r>
                        <a:rPr sz="1350" b="0">
                          <a:solidFill>
                            <a:srgbClr val="1F2A37"/>
                          </a:solidFill>
                          <a:latin typeface="Arial"/>
                          <a:ea typeface="Arial"/>
                          <a:cs typeface="Arial"/>
                        </a:rPr>
                        <a:t>1.740</a:t>
                      </a:r>
                    </a:p>
                  </a:txBody>
                  <a:tcPr marL="91440" marR="91440" marT="45720" marB="45720">
                    <a:solidFill>
                      <a:srgbClr val="FFFFFF"/>
                    </a:solidFill>
                  </a:tcPr>
                </a:tc>
                <a:tc>
                  <a:txBody>
                    <a:bodyPr/>
                    <a:lstStyle/>
                    <a:p>
                      <a:r>
                        <a:rPr sz="1350" b="0">
                          <a:solidFill>
                            <a:srgbClr val="1F2A37"/>
                          </a:solidFill>
                          <a:latin typeface="Arial"/>
                          <a:ea typeface="Arial"/>
                          <a:cs typeface="Arial"/>
                        </a:rPr>
                        <a:t>0.404</a:t>
                      </a:r>
                    </a:p>
                  </a:txBody>
                  <a:tcPr marL="91440" marR="91440" marT="45720" marB="45720">
                    <a:solidFill>
                      <a:srgbClr val="FFFFFF"/>
                    </a:solidFill>
                  </a:tcPr>
                </a:tc>
              </a:tr>
              <a:tr h="357188">
                <a:tc>
                  <a:txBody>
                    <a:bodyPr/>
                    <a:lstStyle/>
                    <a:p>
                      <a:r>
                        <a:rPr sz="1350" b="0">
                          <a:solidFill>
                            <a:srgbClr val="1F2A37"/>
                          </a:solidFill>
                          <a:latin typeface="Arial"/>
                          <a:ea typeface="Arial"/>
                          <a:cs typeface="Arial"/>
                        </a:rPr>
                        <a:t>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0.304</a:t>
                      </a:r>
                    </a:p>
                  </a:txBody>
                  <a:tcPr marL="91440" marR="91440" marT="45720" marB="45720">
                    <a:solidFill>
                      <a:srgbClr val="EEF3F8"/>
                    </a:solidFill>
                  </a:tcPr>
                </a:tc>
                <a:tc>
                  <a:txBody>
                    <a:bodyPr/>
                    <a:lstStyle/>
                    <a:p>
                      <a:r>
                        <a:rPr sz="1350" b="0">
                          <a:solidFill>
                            <a:srgbClr val="1F2A37"/>
                          </a:solidFill>
                          <a:latin typeface="Arial"/>
                          <a:ea typeface="Arial"/>
                          <a:cs typeface="Arial"/>
                        </a:rPr>
                        <a:t>1.467</a:t>
                      </a:r>
                    </a:p>
                  </a:txBody>
                  <a:tcPr marL="91440" marR="91440" marT="45720" marB="45720">
                    <a:solidFill>
                      <a:srgbClr val="EEF3F8"/>
                    </a:solidFill>
                  </a:tcPr>
                </a:tc>
                <a:tc>
                  <a:txBody>
                    <a:bodyPr/>
                    <a:lstStyle/>
                    <a:p>
                      <a:r>
                        <a:rPr sz="1350" b="0">
                          <a:solidFill>
                            <a:srgbClr val="1F2A37"/>
                          </a:solidFill>
                          <a:latin typeface="Arial"/>
                          <a:ea typeface="Arial"/>
                          <a:cs typeface="Arial"/>
                        </a:rPr>
                        <a:t>-0.071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31206935-53F7-4ABA-8DD8-91909E420DB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paper benchmark remains in earlier comparisons. This adds seven local portfolios.</a:t>
            </a:r>
          </a:p>
        </p:txBody>
      </p:sp>
    </p:spTree>
    <p:extLst>
      <p:ext uri="{BB962C8B-B14F-4D97-AF65-F5344CB8AC3E}">
        <p14:creationId xmlns:p14="http://schemas.microsoft.com/office/powerpoint/2010/main" val="56163358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7901E8C3-1DCC-4E85-92A6-66CC0CBFEE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974995C-121F-414F-B645-644EDF71B69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6FF864F-D740-4428-953A-32F614C80A9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3262"/>
                </a:solidFill>
                <a:latin typeface="Arial"/>
                <a:ea typeface="Arial"/>
                <a:cs typeface="Arial"/>
              </a:defRPr>
            </a:pPr>
            <a:r>
              <a:rPr sz="2175" b="1">
                <a:solidFill>
                  <a:srgbClr val="003262"/>
                </a:solidFill>
                <a:latin typeface="Arial"/>
                <a:ea typeface="Arial"/>
                <a:cs typeface="Arial"/>
              </a:rPr>
              <a:t>Summary: findings and next steps</a:t>
            </a:r>
          </a:p>
        </p:txBody>
      </p:sp>
      <p:sp>
        <p:nvSpPr>
          <p:cNvPr id="4" name="">
            <a:extLst xmlns:a="http://schemas.openxmlformats.org/drawingml/2006/main">
              <a:ext uri="{FF2B5EF4-FFF2-40B4-BE49-F238E27FC236}">
                <a16:creationId xmlns:a16="http://schemas.microsoft.com/office/drawing/2014/main" id="{6DDDBBEA-F23A-4ADB-972A-F61DC40B7068}"/>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Part 8. Summary</a:t>
            </a:r>
          </a:p>
        </p:txBody>
      </p:sp>
      <p:sp>
        <p:nvSpPr>
          <p:cNvPr id="5" name="">
            <a:extLst xmlns:a="http://schemas.openxmlformats.org/drawingml/2006/main">
              <a:ext uri="{FF2B5EF4-FFF2-40B4-BE49-F238E27FC236}">
                <a16:creationId xmlns:a16="http://schemas.microsoft.com/office/drawing/2014/main" id="{73145E81-73FE-42B4-8FA2-7F83EDB2382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00" b="0">
                <a:solidFill>
                  <a:srgbClr val="5B6770"/>
                </a:solidFill>
                <a:latin typeface="Arial"/>
                <a:ea typeface="Arial"/>
                <a:cs typeface="Arial"/>
              </a:defRPr>
            </a:pPr>
            <a:r>
              <a:rPr sz="900" b="0">
                <a:solidFill>
                  <a:srgbClr val="5B6770"/>
                </a:solidFill>
                <a:latin typeface="Arial"/>
                <a:ea typeface="Arial"/>
                <a:cs typeface="Arial"/>
              </a:rPr>
              <a:t>20</a:t>
            </a:r>
          </a:p>
        </p:txBody>
      </p:sp>
      <p:sp>
        <p:nvSpPr>
          <p:cNvPr id="6" name="">
            <a:extLst xmlns:a="http://schemas.openxmlformats.org/drawingml/2006/main">
              <a:ext uri="{FF2B5EF4-FFF2-40B4-BE49-F238E27FC236}">
                <a16:creationId xmlns:a16="http://schemas.microsoft.com/office/drawing/2014/main" id="{2BF1B0E0-CB9C-4205-84CE-FADFDA20B85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we add</a:t>
            </a:r>
          </a:p>
        </p:txBody>
      </p:sp>
      <p:sp>
        <p:nvSpPr>
          <p:cNvPr id="7" name="">
            <a:extLst xmlns:a="http://schemas.openxmlformats.org/drawingml/2006/main">
              <a:ext uri="{FF2B5EF4-FFF2-40B4-BE49-F238E27FC236}">
                <a16:creationId xmlns:a16="http://schemas.microsoft.com/office/drawing/2014/main" id="{6A78B5E2-A11D-40F2-B58B-7C3EE8B62B11}"/>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A common-budget encoder comparison, rolling and regime evaluation, a fixed combination, and paired uncertainty.</a:t>
            </a:r>
          </a:p>
        </p:txBody>
      </p:sp>
      <p:sp>
        <p:nvSpPr>
          <p:cNvPr id="8" name="">
            <a:extLst xmlns:a="http://schemas.openxmlformats.org/drawingml/2006/main">
              <a:ext uri="{FF2B5EF4-FFF2-40B4-BE49-F238E27FC236}">
                <a16:creationId xmlns:a16="http://schemas.microsoft.com/office/drawing/2014/main" id="{CDCA378D-6329-481B-A219-8273096AF7CE}"/>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the evidence supports</a:t>
            </a:r>
          </a:p>
        </p:txBody>
      </p:sp>
      <p:sp>
        <p:nvSpPr>
          <p:cNvPr id="9" name="">
            <a:extLst xmlns:a="http://schemas.openxmlformats.org/drawingml/2006/main">
              <a:ext uri="{FF2B5EF4-FFF2-40B4-BE49-F238E27FC236}">
                <a16:creationId xmlns:a16="http://schemas.microsoft.com/office/drawing/2014/main" id="{B114AB3E-811C-4B4C-9233-EB852CC9840B}"/>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LSTM has higher observed test Sharpe. Bootstrap intervals leave its advantage over Transformer unresolved.</a:t>
            </a:r>
          </a:p>
        </p:txBody>
      </p:sp>
      <p:sp>
        <p:nvSpPr>
          <p:cNvPr id="10" name="">
            <a:extLst xmlns:a="http://schemas.openxmlformats.org/drawingml/2006/main">
              <a:ext uri="{FF2B5EF4-FFF2-40B4-BE49-F238E27FC236}">
                <a16:creationId xmlns:a16="http://schemas.microsoft.com/office/drawing/2014/main" id="{23138FAA-5FB2-4EA1-A541-B08A503D5A01}"/>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3262"/>
                </a:solidFill>
                <a:latin typeface="Arial"/>
                <a:ea typeface="Arial"/>
                <a:cs typeface="Arial"/>
              </a:defRPr>
            </a:pPr>
            <a:r>
              <a:rPr sz="1800" b="1">
                <a:solidFill>
                  <a:srgbClr val="003262"/>
                </a:solidFill>
                <a:latin typeface="Arial"/>
                <a:ea typeface="Arial"/>
                <a:cs typeface="Arial"/>
              </a:rPr>
              <a:t>What remains open</a:t>
            </a:r>
          </a:p>
        </p:txBody>
      </p:sp>
      <p:sp>
        <p:nvSpPr>
          <p:cNvPr id="11" name="">
            <a:extLst xmlns:a="http://schemas.openxmlformats.org/drawingml/2006/main">
              <a:ext uri="{FF2B5EF4-FFF2-40B4-BE49-F238E27FC236}">
                <a16:creationId xmlns:a16="http://schemas.microsoft.com/office/drawing/2014/main" id="{975CC6A3-F469-4177-8B8E-F3299805EBF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1F2A37"/>
                </a:solidFill>
                <a:latin typeface="Arial"/>
                <a:ea typeface="Arial"/>
                <a:cs typeface="Arial"/>
              </a:defRPr>
            </a:pPr>
            <a:r>
              <a:rPr sz="1575" b="0">
                <a:solidFill>
                  <a:srgbClr val="1F2A37"/>
                </a:solidFill>
                <a:latin typeface="Arial"/>
                <a:ea typeface="Arial"/>
                <a:cs typeface="Arial"/>
              </a:rPr>
              <a:t>Full author-schedule GPU training, a new holdout, transaction costs and uncertainty across training runs.</a:t>
            </a:r>
          </a:p>
        </p:txBody>
      </p:sp>
      <p:sp>
        <p:nvSpPr>
          <p:cNvPr id="12" name="">
            <a:extLst xmlns:a="http://schemas.openxmlformats.org/drawingml/2006/main">
              <a:ext uri="{FF2B5EF4-FFF2-40B4-BE49-F238E27FC236}">
                <a16:creationId xmlns:a16="http://schemas.microsoft.com/office/drawing/2014/main" id="{7041D236-D17B-4DE1-93D2-11EA9292527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1">
                <a:solidFill>
                  <a:srgbClr val="003262"/>
                </a:solidFill>
                <a:latin typeface="Arial"/>
                <a:ea typeface="Arial"/>
                <a:cs typeface="Arial"/>
              </a:defRPr>
            </a:pPr>
            <a:r>
              <a:rPr sz="1425" b="1">
                <a:solidFill>
                  <a:srgbClr val="003262"/>
                </a:solidFill>
                <a:latin typeface="Arial"/>
                <a:ea typeface="Arial"/>
                <a:cs typeface="Arial"/>
              </a:rPr>
              <a:t>The extensions explain performance differences and the limits of those conclusions.</a:t>
            </a:r>
          </a:p>
        </p:txBody>
      </p:sp>
    </p:spTree>
    <p:extLst>
      <p:ext uri="{BB962C8B-B14F-4D97-AF65-F5344CB8AC3E}">
        <p14:creationId xmlns:p14="http://schemas.microsoft.com/office/powerpoint/2010/main" val="111821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2026-10-06T23:49:03.4240000Z</dcterms:created>
  <dcterms:modified xsi:type="dcterms:W3CDTF">2026-10-06T23:49:03.4240000Z</dcterms:modified>
</coreProperties>
</file>