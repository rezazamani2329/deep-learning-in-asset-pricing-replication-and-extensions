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3.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4.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5.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6.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slides/charts/chart7.xml" ContentType="application/vnd.openxmlformats-officedocument.drawingml.chart+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8.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9.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slides/charts/chart10.xml" ContentType="application/vnd.openxmlformats-officedocument.drawingml.chart+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d4c62d0ad9941d4" /><Relationship Type="http://schemas.openxmlformats.org/officeDocument/2006/relationships/extended-properties" Target="/docProps/app.xml" Id="R1a9e1dcc14a24f2c" /><Relationship Type="http://schemas.openxmlformats.org/officeDocument/2006/relationships/officeDocument" Target="/ppt/presentation.xml" Id="Rd6ddda11ed9c4494" /></Relationships>
</file>

<file path=ppt/presentation.xml><?xml version="1.0" encoding="utf-8"?>
<p:presentation xmlns:p="http://schemas.openxmlformats.org/presentationml/2006/main">
  <p:sldMasterIdLst>
    <p:sldMasterId xmlns:r="http://schemas.openxmlformats.org/officeDocument/2006/relationships" id="2147483648" r:id="Rbbafa9d859ff4c1c"/>
  </p:sldMasterIdLst>
  <p:notesMasterIdLst>
    <p:notesMasterId xmlns:r="http://schemas.openxmlformats.org/officeDocument/2006/relationships" r:id="R6cfe0720d3584c62"/>
  </p:notesMasterIdLst>
  <p:sldIdLst>
    <p:sldId xmlns:r="http://schemas.openxmlformats.org/officeDocument/2006/relationships" id="256" r:id="Rbfec65ad149f4246"/>
    <p:sldId xmlns:r="http://schemas.openxmlformats.org/officeDocument/2006/relationships" id="257" r:id="R86c668521cf54aae"/>
    <p:sldId xmlns:r="http://schemas.openxmlformats.org/officeDocument/2006/relationships" id="258" r:id="R78a8d8929cba4b2c"/>
    <p:sldId xmlns:r="http://schemas.openxmlformats.org/officeDocument/2006/relationships" id="259" r:id="Rdc7b1e5159a1444c"/>
    <p:sldId xmlns:r="http://schemas.openxmlformats.org/officeDocument/2006/relationships" id="260" r:id="R403b28ab21d84822"/>
    <p:sldId xmlns:r="http://schemas.openxmlformats.org/officeDocument/2006/relationships" id="261" r:id="R247ca9af2c0641a4"/>
    <p:sldId xmlns:r="http://schemas.openxmlformats.org/officeDocument/2006/relationships" id="262" r:id="R7289c50af70342e1"/>
    <p:sldId xmlns:r="http://schemas.openxmlformats.org/officeDocument/2006/relationships" id="263" r:id="R0ee5e227c7c349b1"/>
    <p:sldId xmlns:r="http://schemas.openxmlformats.org/officeDocument/2006/relationships" id="264" r:id="R94c1d592563241f2"/>
    <p:sldId xmlns:r="http://schemas.openxmlformats.org/officeDocument/2006/relationships" id="265" r:id="R1822dec7219e42a5"/>
    <p:sldId xmlns:r="http://schemas.openxmlformats.org/officeDocument/2006/relationships" id="266" r:id="R856d93aa5320467a"/>
    <p:sldId xmlns:r="http://schemas.openxmlformats.org/officeDocument/2006/relationships" id="267" r:id="Rdc2f0181df934145"/>
    <p:sldId xmlns:r="http://schemas.openxmlformats.org/officeDocument/2006/relationships" id="268" r:id="Ra5de27eb56c544cd"/>
    <p:sldId xmlns:r="http://schemas.openxmlformats.org/officeDocument/2006/relationships" id="269" r:id="R1727ba3004a04ee6"/>
    <p:sldId xmlns:r="http://schemas.openxmlformats.org/officeDocument/2006/relationships" id="270" r:id="R30234f6acd71408e"/>
    <p:sldId xmlns:r="http://schemas.openxmlformats.org/officeDocument/2006/relationships" id="271" r:id="R4e0258d6df4e40e5"/>
    <p:sldId xmlns:r="http://schemas.openxmlformats.org/officeDocument/2006/relationships" id="272" r:id="R4791cb2402ee47d8"/>
    <p:sldId xmlns:r="http://schemas.openxmlformats.org/officeDocument/2006/relationships" id="273" r:id="R97a5430992ae4ced"/>
    <p:sldId xmlns:r="http://schemas.openxmlformats.org/officeDocument/2006/relationships" id="274" r:id="Rcb95c7f5dd044ff7"/>
    <p:sldId xmlns:r="http://schemas.openxmlformats.org/officeDocument/2006/relationships" id="275" r:id="R1815911a23f04a64"/>
    <p:sldId xmlns:r="http://schemas.openxmlformats.org/officeDocument/2006/relationships" id="276" r:id="R483dbc95c49c4d4f"/>
    <p:sldId xmlns:r="http://schemas.openxmlformats.org/officeDocument/2006/relationships" id="277" r:id="R74200a00097c4c5b"/>
    <p:sldId xmlns:r="http://schemas.openxmlformats.org/officeDocument/2006/relationships" id="278" r:id="Ra4f63dc6d82647b3"/>
    <p:sldId xmlns:r="http://schemas.openxmlformats.org/officeDocument/2006/relationships" id="279" r:id="R4326f7c232ca4440"/>
    <p:sldId xmlns:r="http://schemas.openxmlformats.org/officeDocument/2006/relationships" id="280" r:id="R86d8bfe233254649"/>
    <p:sldId xmlns:r="http://schemas.openxmlformats.org/officeDocument/2006/relationships" id="281" r:id="R6ce261f270c7442a"/>
    <p:sldId xmlns:r="http://schemas.openxmlformats.org/officeDocument/2006/relationships" id="282" r:id="R6529d9bee4974cee"/>
    <p:sldId xmlns:r="http://schemas.openxmlformats.org/officeDocument/2006/relationships" id="283" r:id="R6f8edf38d6a9440a"/>
    <p:sldId xmlns:r="http://schemas.openxmlformats.org/officeDocument/2006/relationships" id="284" r:id="Raed9561acc664d74"/>
    <p:sldId xmlns:r="http://schemas.openxmlformats.org/officeDocument/2006/relationships" id="285" r:id="R4bfd2250a1b943bf"/>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95ed959adbf4c1a" /><Relationship Type="http://schemas.openxmlformats.org/officeDocument/2006/relationships/slideMaster" Target="/ppt/slideMasters/slideMaster1.xml" Id="Rbbafa9d859ff4c1c" /><Relationship Type="http://schemas.openxmlformats.org/officeDocument/2006/relationships/notesMaster" Target="/ppt/notesMasters/notesMaster1.xml" Id="R6cfe0720d3584c62" /><Relationship Type="http://schemas.openxmlformats.org/officeDocument/2006/relationships/presProps" Target="/ppt/presProps.xml" Id="R8eb57baf97074603" /><Relationship Type="http://schemas.openxmlformats.org/officeDocument/2006/relationships/tableStyles" Target="/ppt/tableStyles.xml" Id="R4ba3278b804e41f7" /><Relationship Type="http://schemas.openxmlformats.org/officeDocument/2006/relationships/slide" Target="/ppt/slides/slide1.xml" Id="Rbfec65ad149f4246" /><Relationship Type="http://schemas.openxmlformats.org/officeDocument/2006/relationships/slide" Target="/ppt/slides/slide2.xml" Id="R86c668521cf54aae" /><Relationship Type="http://schemas.openxmlformats.org/officeDocument/2006/relationships/slide" Target="/ppt/slides/slide3.xml" Id="R78a8d8929cba4b2c" /><Relationship Type="http://schemas.openxmlformats.org/officeDocument/2006/relationships/slide" Target="/ppt/slides/slide4.xml" Id="Rdc7b1e5159a1444c" /><Relationship Type="http://schemas.openxmlformats.org/officeDocument/2006/relationships/slide" Target="/ppt/slides/slide5.xml" Id="R403b28ab21d84822" /><Relationship Type="http://schemas.openxmlformats.org/officeDocument/2006/relationships/slide" Target="/ppt/slides/slide6.xml" Id="R247ca9af2c0641a4" /><Relationship Type="http://schemas.openxmlformats.org/officeDocument/2006/relationships/slide" Target="/ppt/slides/slide7.xml" Id="R7289c50af70342e1" /><Relationship Type="http://schemas.openxmlformats.org/officeDocument/2006/relationships/slide" Target="/ppt/slides/slide8.xml" Id="R0ee5e227c7c349b1" /><Relationship Type="http://schemas.openxmlformats.org/officeDocument/2006/relationships/slide" Target="/ppt/slides/slide9.xml" Id="R94c1d592563241f2" /><Relationship Type="http://schemas.openxmlformats.org/officeDocument/2006/relationships/slide" Target="/ppt/slides/slide10.xml" Id="R1822dec7219e42a5" /><Relationship Type="http://schemas.openxmlformats.org/officeDocument/2006/relationships/slide" Target="/ppt/slides/slide11.xml" Id="R856d93aa5320467a" /><Relationship Type="http://schemas.openxmlformats.org/officeDocument/2006/relationships/slide" Target="/ppt/slides/slide12.xml" Id="Rdc2f0181df934145" /><Relationship Type="http://schemas.openxmlformats.org/officeDocument/2006/relationships/slide" Target="/ppt/slides/slide13.xml" Id="Ra5de27eb56c544cd" /><Relationship Type="http://schemas.openxmlformats.org/officeDocument/2006/relationships/slide" Target="/ppt/slides/slide14.xml" Id="R1727ba3004a04ee6" /><Relationship Type="http://schemas.openxmlformats.org/officeDocument/2006/relationships/slide" Target="/ppt/slides/slide15.xml" Id="R30234f6acd71408e" /><Relationship Type="http://schemas.openxmlformats.org/officeDocument/2006/relationships/slide" Target="/ppt/slides/slide16.xml" Id="R4e0258d6df4e40e5" /><Relationship Type="http://schemas.openxmlformats.org/officeDocument/2006/relationships/slide" Target="/ppt/slides/slide17.xml" Id="R4791cb2402ee47d8" /><Relationship Type="http://schemas.openxmlformats.org/officeDocument/2006/relationships/slide" Target="/ppt/slides/slide18.xml" Id="R97a5430992ae4ced" /><Relationship Type="http://schemas.openxmlformats.org/officeDocument/2006/relationships/slide" Target="/ppt/slides/slide19.xml" Id="Rcb95c7f5dd044ff7" /><Relationship Type="http://schemas.openxmlformats.org/officeDocument/2006/relationships/slide" Target="/ppt/slides/slide20.xml" Id="R1815911a23f04a64" /><Relationship Type="http://schemas.openxmlformats.org/officeDocument/2006/relationships/slide" Target="/ppt/slides/slide21.xml" Id="R483dbc95c49c4d4f" /><Relationship Type="http://schemas.openxmlformats.org/officeDocument/2006/relationships/slide" Target="/ppt/slides/slide22.xml" Id="R74200a00097c4c5b" /><Relationship Type="http://schemas.openxmlformats.org/officeDocument/2006/relationships/slide" Target="/ppt/slides/slide23.xml" Id="Ra4f63dc6d82647b3" /><Relationship Type="http://schemas.openxmlformats.org/officeDocument/2006/relationships/slide" Target="/ppt/slides/slide24.xml" Id="R4326f7c232ca4440" /><Relationship Type="http://schemas.openxmlformats.org/officeDocument/2006/relationships/slide" Target="/ppt/slides/slide25.xml" Id="R86d8bfe233254649" /><Relationship Type="http://schemas.openxmlformats.org/officeDocument/2006/relationships/slide" Target="/ppt/slides/slide26.xml" Id="R6ce261f270c7442a" /><Relationship Type="http://schemas.openxmlformats.org/officeDocument/2006/relationships/slide" Target="/ppt/slides/slide27.xml" Id="R6529d9bee4974cee" /><Relationship Type="http://schemas.openxmlformats.org/officeDocument/2006/relationships/slide" Target="/ppt/slides/slide28.xml" Id="R6f8edf38d6a9440a" /><Relationship Type="http://schemas.openxmlformats.org/officeDocument/2006/relationships/slide" Target="/ppt/slides/slide29.xml" Id="Raed9561acc664d74" /><Relationship Type="http://schemas.openxmlformats.org/officeDocument/2006/relationships/slide" Target="/ppt/slides/slide30.xml" Id="R4bfd2250a1b943b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6d940250b47489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39902492df3494a" /><Relationship Type="http://schemas.openxmlformats.org/officeDocument/2006/relationships/notesMaster" Target="/ppt/notesMasters/notesMaster1.xml" Id="R54567b6e83694f57" /></Relationships>
</file>

<file path=ppt/notesSlides/_rels/notesSlide2.xml.rels>&#65279;<?xml version="1.0" encoding="utf-8"?><Relationships xmlns="http://schemas.openxmlformats.org/package/2006/relationships"><Relationship Type="http://schemas.openxmlformats.org/officeDocument/2006/relationships/slide" Target="/ppt/slides/slide2.xml" Id="R1876a40c0c1f4bba" /><Relationship Type="http://schemas.openxmlformats.org/officeDocument/2006/relationships/notesMaster" Target="/ppt/notesMasters/notesMaster1.xml" Id="Rcce8707e43ae4342"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77a8df18314525" /><Relationship Type="http://schemas.openxmlformats.org/officeDocument/2006/relationships/notesMaster" Target="/ppt/notesMasters/notesMaster1.xml" Id="Rffb6513c88804db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dc56846ab54cae" /><Relationship Type="http://schemas.openxmlformats.org/officeDocument/2006/relationships/notesMaster" Target="/ppt/notesMasters/notesMaster1.xml" Id="Rdc6babdde7fc4183"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bc6e864d4d48e5" /><Relationship Type="http://schemas.openxmlformats.org/officeDocument/2006/relationships/notesMaster" Target="/ppt/notesMasters/notesMaster1.xml" Id="Rdffe836290514c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25fbf58ad5b6402a" /><Relationship Type="http://schemas.openxmlformats.org/officeDocument/2006/relationships/notesMaster" Target="/ppt/notesMasters/notesMaster1.xml" Id="R280219a430074781" /></Relationships>
</file>

<file path=ppt/notesSlides/_rels/notesSlide7.xml.rels>&#65279;<?xml version="1.0" encoding="utf-8"?><Relationships xmlns="http://schemas.openxmlformats.org/package/2006/relationships"><Relationship Type="http://schemas.openxmlformats.org/officeDocument/2006/relationships/slide" Target="/ppt/slides/slide7.xml" Id="R50c6ff2142ea492d" /><Relationship Type="http://schemas.openxmlformats.org/officeDocument/2006/relationships/notesMaster" Target="/ppt/notesMasters/notesMaster1.xml" Id="R93d68fe3980f4e10" /></Relationships>
</file>

<file path=ppt/notesSlides/_rels/notesSlide8.xml.rels>&#65279;<?xml version="1.0" encoding="utf-8"?><Relationships xmlns="http://schemas.openxmlformats.org/package/2006/relationships"><Relationship Type="http://schemas.openxmlformats.org/officeDocument/2006/relationships/slide" Target="/ppt/slides/slide8.xml" Id="R028bc27a2ead4ec0" /><Relationship Type="http://schemas.openxmlformats.org/officeDocument/2006/relationships/notesMaster" Target="/ppt/notesMasters/notesMaster1.xml" Id="R6fa67e525c14414b" /></Relationships>
</file>

<file path=ppt/notesSlides/_rels/notesSlide9.xml.rels>&#65279;<?xml version="1.0" encoding="utf-8"?><Relationships xmlns="http://schemas.openxmlformats.org/package/2006/relationships"><Relationship Type="http://schemas.openxmlformats.org/officeDocument/2006/relationships/slide" Target="/ppt/slides/slide9.xml" Id="R598706a8a263420e" /><Relationship Type="http://schemas.openxmlformats.org/officeDocument/2006/relationships/notesMaster" Target="/ppt/notesMasters/notesMaster1.xml" Id="Rb2a67ad87a484bc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a4cc654748f4ebe" /><Relationship Type="http://schemas.openxmlformats.org/officeDocument/2006/relationships/notesMaster" Target="/ppt/notesMasters/notesMaster1.xml" Id="R358c14b56769441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3793e39470e42c5" /><Relationship Type="http://schemas.openxmlformats.org/officeDocument/2006/relationships/notesMaster" Target="/ppt/notesMasters/notesMaster1.xml" Id="R887a709b049b4fc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69f46c2465242d2" /><Relationship Type="http://schemas.openxmlformats.org/officeDocument/2006/relationships/notesMaster" Target="/ppt/notesMasters/notesMaster1.xml" Id="R8a37dad97531419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6eb64e328b64b24" /><Relationship Type="http://schemas.openxmlformats.org/officeDocument/2006/relationships/notesMaster" Target="/ppt/notesMasters/notesMaster1.xml" Id="Rf539d55d4d92458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0d77980ddb743dd" /><Relationship Type="http://schemas.openxmlformats.org/officeDocument/2006/relationships/notesMaster" Target="/ppt/notesMasters/notesMaster1.xml" Id="R2813ae88286b44c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e936e75222840c1" /><Relationship Type="http://schemas.openxmlformats.org/officeDocument/2006/relationships/notesMaster" Target="/ppt/notesMasters/notesMaster1.xml" Id="R5cec89d7091c4b0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25c95f5c3c8436a" /><Relationship Type="http://schemas.openxmlformats.org/officeDocument/2006/relationships/notesMaster" Target="/ppt/notesMasters/notesMaster1.xml" Id="Ra2dca8686b9b4e4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d1051cce40f4add" /><Relationship Type="http://schemas.openxmlformats.org/officeDocument/2006/relationships/notesMaster" Target="/ppt/notesMasters/notesMaster1.xml" Id="R1b9fba52a5134cd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06d0df6c6cb4fa4" /><Relationship Type="http://schemas.openxmlformats.org/officeDocument/2006/relationships/notesMaster" Target="/ppt/notesMasters/notesMaster1.xml" Id="Rd7f28067be8745c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1396eb4238a42d7" /><Relationship Type="http://schemas.openxmlformats.org/officeDocument/2006/relationships/notesMaster" Target="/ppt/notesMasters/notesMaster1.xml" Id="R7fa6beea9cd24be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75c9b9aca9b4e1f" /><Relationship Type="http://schemas.openxmlformats.org/officeDocument/2006/relationships/notesMaster" Target="/ppt/notesMasters/notesMaster1.xml" Id="Rafc662c708b3483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7364baa118164c3f" /><Relationship Type="http://schemas.openxmlformats.org/officeDocument/2006/relationships/notesMaster" Target="/ppt/notesMasters/notesMaster1.xml" Id="Rf98e695046c64b5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bbcfc32f3104987" /><Relationship Type="http://schemas.openxmlformats.org/officeDocument/2006/relationships/notesMaster" Target="/ppt/notesMasters/notesMaster1.xml" Id="R17f986f12b3a45b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40949bad78e4072" /><Relationship Type="http://schemas.openxmlformats.org/officeDocument/2006/relationships/notesMaster" Target="/ppt/notesMasters/notesMaster1.xml" Id="R7ed3d27f09104a0e"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814d6ffa86f4833" /><Relationship Type="http://schemas.openxmlformats.org/officeDocument/2006/relationships/notesMaster" Target="/ppt/notesMasters/notesMaster1.xml" Id="R6cc6ed750c5949c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48bd54c390743d8" /><Relationship Type="http://schemas.openxmlformats.org/officeDocument/2006/relationships/notesMaster" Target="/ppt/notesMasters/notesMaster1.xml" Id="R60e97e0b4a2b41e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8dccccdbe884e9e" /><Relationship Type="http://schemas.openxmlformats.org/officeDocument/2006/relationships/notesMaster" Target="/ppt/notesMasters/notesMaster1.xml" Id="Rbb5ebc19c7b84bb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781303f96314d4e" /><Relationship Type="http://schemas.openxmlformats.org/officeDocument/2006/relationships/notesMaster" Target="/ppt/notesMasters/notesMaster1.xml" Id="Rcaa8be5db7b0475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d9afad7779d44cff" /><Relationship Type="http://schemas.openxmlformats.org/officeDocument/2006/relationships/notesMaster" Target="/ppt/notesMasters/notesMaster1.xml" Id="R24910e7fb23147ec"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d9db3049b4a4073" /><Relationship Type="http://schemas.openxmlformats.org/officeDocument/2006/relationships/notesMaster" Target="/ppt/notesMasters/notesMaster1.xml" Id="Rd9dd1d3369ea49c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1ff202fe1d743eb" /><Relationship Type="http://schemas.openxmlformats.org/officeDocument/2006/relationships/notesMaster" Target="/ppt/notesMasters/notesMaster1.xml" Id="Rdc36cd178ff642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Combined presentation. Slides 1–10 summarize the two previous decks. Slides 11–30 cover Codes 08–11. Source images come from the user-supplied replication deck.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Chen, Pelger and Zhu, Deep Learning in Asset Pricing, arXiv:1904.00745v6, https://arxiv.org/pdf/1904.00745. Published results use Table 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Chen, Pelger and Zhu, Deep Learning in Asset Pricing, arXiv:1904.00745v6, https://arxiv.org/pdf/1904.00745. Published results use Table I. The SDF branch combines macroeconomic states with firm characteristics to produce portfolio weights. The instrument branch has its own macro encoder and conditional network. The branches optimize opposing sides of the conditional pricing-moment objective.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Chen, Pelger and Zhu, Deep Learning in Asset Pricing, arXiv:1904.00745v6, https://arxiv.org/pdf/1904.00745. Published results use Table I. Corrected the earlier slides: 46 firm characteristics, 64 hidden units, and 0.95 dropout retention (0.05 dropout probability).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Chen, Pelger and Zhu, Deep Learning in Asset Pricing, arXiv:1904.00745v6, https://arxiv.org/pdf/1904.00745. Published results use Table I. Local split calendar verified against saved factor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Chen, Pelger and Zhu, Deep Learning in Asset Pricing, arXiv:1904.00745v6, https://arxiv.org/pdf/1904.00745. Published results use Table I. All numbers on this slide are monthly Table I Sharpe ratios. Annualized values multiply by square root of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Chen, Pelger and Zhu, Deep Learning in Asset Pricing, arXiv:1904.00745v6, https://arxiv.org/pdf/1904.00745. Published results use Table I. Local values recomputed with population standard deviation for consistency. This changes the earlier presentation’s GAN test 0.611 to 0.612 after rounding. Source results/rolling_oos_reduced_schedule/tables/all_models_vs_paper_monthly_sharpe.csv.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previous replication deck slides 11, 14, 15. results/tables/gan_official_sdf_comparison.csv. Fama–French benchmark values retain the earlier deck’s displayed convention.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second presentation suggested improvements and first presentation potential extensions. We correct the scope: current rolling work evaluates fixed models and does not implement expanding-window refits.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Author training repository commit 6c26b9dad01e76b214ab8f5566c42a29e99677c9, https://github.com/LouisChen1992/Deep_Learning_Asset_Pricing. Schedule is from audited executable configuration, not a claim that every source detail matches.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Source configuration in results/paper_matched_reduced_schedule/manifest.json.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Chen, Pelger and Zhu, Deep Learning in Asset Pricing, arXiv:1904.00745v6, https://arxiv.org/pdf/1904.00745. Published results use Table I. Source results/rolling_oos_reduced_schedule/tables/all_models_vs_paper_monthly_sharpe.csv. Original paper and Code 07 use different estimation procedures from the matched new pair.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Sources: published GAN 0.75; supplied author series 0.749920; results/consolidated_comparison/tables/official_extended_test_returns.csv. The blend is exploratory.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Source recomputed risks from aligned saved test returns. Trading costs omitted. Drawdown includes initial wealth of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Source results/paper_matched_reduced_schedule/tables/member_performance.csv. Same-numbered seeds are descriptive pairs, not identical random draws. Seed dispersion shares one market history.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Complete windows: 265 for 36 months and 241 for 60 months. Annualized Sharpe equals monthly mean / monthly population std multiplied by sqrt(12).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Authors monthly series verified to match published rounded split Sharpes. Source results/consolidated_comparison/tables/official_extended_rolling_series.csv. Every monthly value retained. Sparse year labels are displayed on the category axis.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Authors monthly series verified to match published rounded split Sharpes. Source results/consolidated_comparison/tables/official_extended_rolling_series.csv. Every monthly value retained. Sparse year labels are displayed on the category axis.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Source results/consolidated_comparison/tables/official_extended_rolling_summary.csv. Means of overlapping rolling ratios are not full-period Sharpe ratios.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Source results/regime_analysis/tables/monthly_regime_labels.csv. https://fred.stlouisfed.org/series/USREC. Fama–French market returns define lagged volatility with training median threshold 0.039783.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Source results/consolidated_comparison/tables/official_extended_regime_comparison.csv. Author GAN regime statistics are newly computed from the supplied monthly series, not published regime table entries.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Source results/consolidated_comparison/tables/official_extended_regime_comparison.csv. Author GAN regime statistics are newly computed from the supplied monthly series, not published regime table entries.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Endpoint labels group completed trailing statistics. A recession-ending window may contain expansion months. No regime switching rule is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Source results/consolidated_comparison/tables/official_extended_endpoint_regimes.csv. These are mean annualized trailing Sharpes classified by end-month state. They are not Sharpe ratios of regime-only returns. Window observations overlap.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Source results/consolidated_comparison/tables/official_extended_endpoint_regimes.csv. These are mean annualized trailing Sharpes classified by end-month state. They are not Sharpe ratios of regime-only returns. Window observations overlap.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Source results/consolidated_comparison/tables/architecture_blend_split_comparison.csv. Blend returns equal 0.5*LSTM+0.5*Transformer, without additional gross renormalization. Added after prior test review. Weights are fixed and not optimized.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Findings are descriptive. Transformer test underperformance is not evidence of universal architecture inferiority.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Saved replication and extension returns. New models use nine seeds, a shortened 16/4/48 schedule, four optimizer passes, and validation checkpoint selection. No formal significance claim. Codes 09–11 evaluate saved models without retraining. No full-training run has completed under the final matched conventions. No costs, independent significance test, or real-time macro-vintage validation. Source primary paper https://arxiv.org/pdf/1904.00745 and author code repository https://github.com/LouisChen1992/Deep_Learning_Asset_Pricing.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f7320e3a87454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f94a156c0704800" /><Relationship Type="http://schemas.openxmlformats.org/officeDocument/2006/relationships/slideLayout" Target="/ppt/slideLayouts/slideLayout1.xml" Id="Rce818a8ceb5046d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e818a8ceb5046d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83bc89b6ff1474f" /><Relationship Type="http://schemas.openxmlformats.org/officeDocument/2006/relationships/image" Target="/ppt/media/image.png" Id="R7740d04734be46e2" /><Relationship Type="http://schemas.openxmlformats.org/officeDocument/2006/relationships/image" Target="/ppt/media/image2.png" Id="R9ef49380aea34ed1" /><Relationship Type="http://schemas.openxmlformats.org/officeDocument/2006/relationships/notesSlide" Target="/ppt/notesSlides/notesSlide1.xml" Id="R23e36999fa5143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6c96f4f49054f94" /><Relationship Type="http://schemas.openxmlformats.org/officeDocument/2006/relationships/notesSlide" Target="/ppt/notesSlides/notesSlide2.xml" Id="Rc2db50b1493542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d7a68284db14ab3" /><Relationship Type="http://schemas.openxmlformats.org/officeDocument/2006/relationships/notesSlide" Target="/ppt/notesSlides/notesSlide3.xml" Id="Rbfe1902c853645d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c38c7645e984f89" /><Relationship Type="http://schemas.openxmlformats.org/officeDocument/2006/relationships/notesSlide" Target="/ppt/notesSlides/notesSlide4.xml" Id="R49eda1b7de1248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adeb828236c45f9" /><Relationship Type="http://schemas.openxmlformats.org/officeDocument/2006/relationships/notesSlide" Target="/ppt/notesSlides/notesSlide5.xml" Id="Rf2a8a67123bf443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2754518fc614819" /><Relationship Type="http://schemas.openxmlformats.org/officeDocument/2006/relationships/notesSlide" Target="/ppt/notesSlides/notesSlide6.xml" Id="R464015c27373451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8605f6c857247a8" /><Relationship Type="http://schemas.openxmlformats.org/officeDocument/2006/relationships/notesSlide" Target="/ppt/notesSlides/notesSlide7.xml" Id="R2bca5aaed3834dd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d1df868a0654bb7" /><Relationship Type="http://schemas.openxmlformats.org/officeDocument/2006/relationships/chart" Target="/ppt/slides/charts/chart1.xml" Id="R1923bf7de11142af" /><Relationship Type="http://schemas.openxmlformats.org/officeDocument/2006/relationships/notesSlide" Target="/ppt/notesSlides/notesSlide8.xml" Id="Re41f95f36a5a4b4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1e72cb6788342f8" /><Relationship Type="http://schemas.openxmlformats.org/officeDocument/2006/relationships/notesSlide" Target="/ppt/notesSlides/notesSlide9.xml" Id="Re23cfd99b0f44dc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09b3d593da34525" /><Relationship Type="http://schemas.openxmlformats.org/officeDocument/2006/relationships/notesSlide" Target="/ppt/notesSlides/notesSlide10.xml" Id="Radb693500d6f484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41845bb32224455" /><Relationship Type="http://schemas.openxmlformats.org/officeDocument/2006/relationships/notesSlide" Target="/ppt/notesSlides/notesSlide11.xml" Id="R48effcd93bdd4fd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b83d9404991443c" /><Relationship Type="http://schemas.openxmlformats.org/officeDocument/2006/relationships/notesSlide" Target="/ppt/notesSlides/notesSlide12.xml" Id="R6b122659920b4e7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30abb4d714642b8" /><Relationship Type="http://schemas.openxmlformats.org/officeDocument/2006/relationships/notesSlide" Target="/ppt/notesSlides/notesSlide13.xml" Id="R9f780a84e0c146c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14f60faa37a4d96" /><Relationship Type="http://schemas.openxmlformats.org/officeDocument/2006/relationships/chart" Target="/ppt/slides/charts/chart2.xml" Id="R11b70196d7864b18" /><Relationship Type="http://schemas.openxmlformats.org/officeDocument/2006/relationships/notesSlide" Target="/ppt/notesSlides/notesSlide14.xml" Id="R37a76a8f423f4b0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92d66ea19fe4713" /><Relationship Type="http://schemas.openxmlformats.org/officeDocument/2006/relationships/chart" Target="/ppt/slides/charts/chart3.xml" Id="Rb9895cf919d04b9b" /><Relationship Type="http://schemas.openxmlformats.org/officeDocument/2006/relationships/notesSlide" Target="/ppt/notesSlides/notesSlide15.xml" Id="R4f9f23fd50b44b8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720710f8aad431e" /><Relationship Type="http://schemas.openxmlformats.org/officeDocument/2006/relationships/notesSlide" Target="/ppt/notesSlides/notesSlide16.xml" Id="Rfdb1ff9f914a49b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8dec136d28b40a8" /><Relationship Type="http://schemas.openxmlformats.org/officeDocument/2006/relationships/chart" Target="/ppt/slides/charts/chart4.xml" Id="R8a532e00e14342ca" /><Relationship Type="http://schemas.openxmlformats.org/officeDocument/2006/relationships/notesSlide" Target="/ppt/notesSlides/notesSlide17.xml" Id="R8212d2e82cd54ad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880a80393b24c29" /><Relationship Type="http://schemas.openxmlformats.org/officeDocument/2006/relationships/notesSlide" Target="/ppt/notesSlides/notesSlide18.xml" Id="Rcba39c60a0b8425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2a68cfd16f464669" /><Relationship Type="http://schemas.openxmlformats.org/officeDocument/2006/relationships/chart" Target="/ppt/slides/charts/chart5.xml" Id="Rf111500a7942484e" /><Relationship Type="http://schemas.openxmlformats.org/officeDocument/2006/relationships/notesSlide" Target="/ppt/notesSlides/notesSlide19.xml" Id="Rd224be08a76d4ad2"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769c1c898254da4" /><Relationship Type="http://schemas.openxmlformats.org/officeDocument/2006/relationships/chart" Target="/ppt/slides/charts/chart6.xml" Id="R18961a64ff67421e" /><Relationship Type="http://schemas.openxmlformats.org/officeDocument/2006/relationships/notesSlide" Target="/ppt/notesSlides/notesSlide20.xml" Id="R497a72b0279546d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1d8b2d435ce4452" /><Relationship Type="http://schemas.openxmlformats.org/officeDocument/2006/relationships/notesSlide" Target="/ppt/notesSlides/notesSlide21.xml" Id="R3a1d70690a0d4252"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a8875bf641a4afa" /><Relationship Type="http://schemas.openxmlformats.org/officeDocument/2006/relationships/notesSlide" Target="/ppt/notesSlides/notesSlide22.xml" Id="R98aea747b051405d"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08b1887b2ca4408" /><Relationship Type="http://schemas.openxmlformats.org/officeDocument/2006/relationships/chart" Target="/ppt/slides/charts/chart7.xml" Id="R9e9f33aad4234a3a" /><Relationship Type="http://schemas.openxmlformats.org/officeDocument/2006/relationships/notesSlide" Target="/ppt/notesSlides/notesSlide23.xml" Id="R0eab327c7b1d45c8"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3dc60859629417a" /><Relationship Type="http://schemas.openxmlformats.org/officeDocument/2006/relationships/chart" Target="/ppt/slides/charts/chart8.xml" Id="Rffc4f34f919a4481" /><Relationship Type="http://schemas.openxmlformats.org/officeDocument/2006/relationships/notesSlide" Target="/ppt/notesSlides/notesSlide24.xml" Id="Reeb6ac775c06431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7438b334c984048" /><Relationship Type="http://schemas.openxmlformats.org/officeDocument/2006/relationships/notesSlide" Target="/ppt/notesSlides/notesSlide25.xml" Id="Rcdf192d67a9a4cf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7fe1e6cdcfd445e9" /><Relationship Type="http://schemas.openxmlformats.org/officeDocument/2006/relationships/chart" Target="/ppt/slides/charts/chart9.xml" Id="R9cdf3b5d955f4a06" /><Relationship Type="http://schemas.openxmlformats.org/officeDocument/2006/relationships/notesSlide" Target="/ppt/notesSlides/notesSlide26.xml" Id="R6a3e1c136758473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a7a5808a051e49e9" /><Relationship Type="http://schemas.openxmlformats.org/officeDocument/2006/relationships/chart" Target="/ppt/slides/charts/chart10.xml" Id="Ra427c601c4cb4a63" /><Relationship Type="http://schemas.openxmlformats.org/officeDocument/2006/relationships/notesSlide" Target="/ppt/notesSlides/notesSlide27.xml" Id="R0fd32bf9fc3e4b4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4f58082aee4d4d89" /><Relationship Type="http://schemas.openxmlformats.org/officeDocument/2006/relationships/notesSlide" Target="/ppt/notesSlides/notesSlide28.xml" Id="R2f981c5468ea4e3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afaa7141a2cb444a" /><Relationship Type="http://schemas.openxmlformats.org/officeDocument/2006/relationships/notesSlide" Target="/ppt/notesSlides/notesSlide29.xml" Id="R77089515accb44c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8a9fa0b33c9249cb" /><Relationship Type="http://schemas.openxmlformats.org/officeDocument/2006/relationships/notesSlide" Target="/ppt/notesSlides/notesSlide30.xml" Id="R36cdba391af9485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_rels/chart9.xml.rels><Relationships xmlns="http://schemas.openxmlformats.org/package/2006/relationships"><Relationship Id="rIdChartSnapshot1" Type="http://schemas.openxmlformats.org/officeDocument/2006/relationships/package" Target="../../embeddings/chart-data-snapshot-009.xlsx"/></Relationships>
</file>

<file path=ppt/slides/charts/_rels/chart10.xml.rels><Relationships xmlns="http://schemas.openxmlformats.org/package/2006/relationships"><Relationship Id="rIdChartSnapshot1" Type="http://schemas.openxmlformats.org/officeDocument/2006/relationships/package" Target="../../embeddings/chart-data-snapshot-010.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Original paper</c:v>
          </c:tx>
          <c:spPr>
            <a:solidFill xmlns:a="http://schemas.openxmlformats.org/drawingml/2006/main">
              <a:srgbClr val="94A3B8"/>
            </a:solidFill>
          </c:spPr>
          <c:cat>
            <c:strRef>
              <c:f>'Chart Data'!$A$2:$A$5</c:f>
              <c:strCache>
                <c:ptCount val="4"/>
                <c:pt idx="0">
                  <c:v>LS</c:v>
                </c:pt>
                <c:pt idx="1">
                  <c:v>EN</c:v>
                </c:pt>
                <c:pt idx="2">
                  <c:v>FFN</c:v>
                </c:pt>
                <c:pt idx="3">
                  <c:v>GAN</c:v>
                </c:pt>
              </c:strCache>
            </c:strRef>
          </c:cat>
          <c:val>
            <c:numRef>
              <c:f>'Chart Data'!$B$2:$B$5</c:f>
              <c:numCache>
                <c:formatCode>0.000</c:formatCode>
                <c:ptCount val="4"/>
                <c:pt idx="0">
                  <c:v>0.42</c:v>
                </c:pt>
                <c:pt idx="1">
                  <c:v>0.5</c:v>
                </c:pt>
                <c:pt idx="2">
                  <c:v>0.44</c:v>
                </c:pt>
                <c:pt idx="3">
                  <c:v>0.75</c:v>
                </c:pt>
              </c:numCache>
            </c:numRef>
          </c:val>
        </c:ser>
        <c:ser>
          <c:idx val="1"/>
          <c:order val="1"/>
          <c:tx>
            <c:v>Code 07 replication</c:v>
          </c:tx>
          <c:spPr>
            <a:solidFill xmlns:a="http://schemas.openxmlformats.org/drawingml/2006/main">
              <a:srgbClr val="003262"/>
            </a:solidFill>
          </c:spPr>
          <c:cat>
            <c:strRef>
              <c:f>'Chart Data'!$C$2:$C$5</c:f>
              <c:strCache>
                <c:ptCount val="4"/>
                <c:pt idx="0">
                  <c:v>LS</c:v>
                </c:pt>
                <c:pt idx="1">
                  <c:v>EN</c:v>
                </c:pt>
                <c:pt idx="2">
                  <c:v>FFN</c:v>
                </c:pt>
                <c:pt idx="3">
                  <c:v>GAN</c:v>
                </c:pt>
              </c:strCache>
            </c:strRef>
          </c:cat>
          <c:val>
            <c:numRef>
              <c:f>'Chart Data'!$D$2:$D$5</c:f>
              <c:numCache>
                <c:formatCode>0.000</c:formatCode>
                <c:ptCount val="4"/>
                <c:pt idx="0">
                  <c:v>0.40639203</c:v>
                </c:pt>
                <c:pt idx="1">
                  <c:v>0.41150844</c:v>
                </c:pt>
                <c:pt idx="2">
                  <c:v>0.56952059</c:v>
                </c:pt>
                <c:pt idx="3">
                  <c:v>0.61188757</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0.9"/>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Paper GAN</c:v>
          </c:tx>
          <c:spPr>
            <a:solidFill xmlns:a="http://schemas.openxmlformats.org/drawingml/2006/main">
              <a:srgbClr val="94A3B8"/>
            </a:solidFill>
          </c:spPr>
          <c:cat>
            <c:strRef>
              <c:f>'Chart Data'!$A$2:$A$4</c:f>
              <c:strCache>
                <c:ptCount val="3"/>
                <c:pt idx="0">
                  <c:v>Train</c:v>
                </c:pt>
                <c:pt idx="1">
                  <c:v>Validation</c:v>
                </c:pt>
                <c:pt idx="2">
                  <c:v>Test</c:v>
                </c:pt>
              </c:strCache>
            </c:strRef>
          </c:cat>
          <c:val>
            <c:numRef>
              <c:f>'Chart Data'!$B$2:$B$4</c:f>
              <c:numCache>
                <c:formatCode>0.000</c:formatCode>
                <c:ptCount val="3"/>
                <c:pt idx="0">
                  <c:v>2.68</c:v>
                </c:pt>
                <c:pt idx="1">
                  <c:v>1.43</c:v>
                </c:pt>
                <c:pt idx="2">
                  <c:v>0.75</c:v>
                </c:pt>
              </c:numCache>
            </c:numRef>
          </c:val>
        </c:ser>
        <c:ser>
          <c:idx val="1"/>
          <c:order val="1"/>
          <c:tx>
            <c:v>Code 07 GAN</c:v>
          </c:tx>
          <c:spPr>
            <a:solidFill xmlns:a="http://schemas.openxmlformats.org/drawingml/2006/main">
              <a:srgbClr val="003262"/>
            </a:solidFill>
          </c:spPr>
          <c:cat>
            <c:strRef>
              <c:f>'Chart Data'!$C$2:$C$4</c:f>
              <c:strCache>
                <c:ptCount val="3"/>
                <c:pt idx="0">
                  <c:v>Train</c:v>
                </c:pt>
                <c:pt idx="1">
                  <c:v>Validation</c:v>
                </c:pt>
                <c:pt idx="2">
                  <c:v>Test</c:v>
                </c:pt>
              </c:strCache>
            </c:strRef>
          </c:cat>
          <c:val>
            <c:numRef>
              <c:f>'Chart Data'!$D$2:$D$4</c:f>
              <c:numCache>
                <c:formatCode>0.000</c:formatCode>
                <c:ptCount val="3"/>
                <c:pt idx="0">
                  <c:v>2.22351534</c:v>
                </c:pt>
                <c:pt idx="1">
                  <c:v>1.18540902</c:v>
                </c:pt>
                <c:pt idx="2">
                  <c:v>0.61188757</c:v>
                </c:pt>
              </c:numCache>
            </c:numRef>
          </c:val>
        </c:ser>
        <c:ser>
          <c:idx val="2"/>
          <c:order val="2"/>
          <c:tx>
            <c:v>New LSTM</c:v>
          </c:tx>
          <c:spPr>
            <a:solidFill xmlns:a="http://schemas.openxmlformats.org/drawingml/2006/main">
              <a:srgbClr val="2563EB"/>
            </a:solidFill>
          </c:spPr>
          <c:cat>
            <c:strRef>
              <c:f>'Chart Data'!$E$2:$E$4</c:f>
              <c:strCache>
                <c:ptCount val="3"/>
                <c:pt idx="0">
                  <c:v>Train</c:v>
                </c:pt>
                <c:pt idx="1">
                  <c:v>Validation</c:v>
                </c:pt>
                <c:pt idx="2">
                  <c:v>Test</c:v>
                </c:pt>
              </c:strCache>
            </c:strRef>
          </c:cat>
          <c:val>
            <c:numRef>
              <c:f>'Chart Data'!$F$2:$F$4</c:f>
              <c:numCache>
                <c:formatCode>0.000</c:formatCode>
                <c:ptCount val="3"/>
                <c:pt idx="0">
                  <c:v>1.30755655</c:v>
                </c:pt>
                <c:pt idx="1">
                  <c:v>0.75013562</c:v>
                </c:pt>
                <c:pt idx="2">
                  <c:v>0.45929328</c:v>
                </c:pt>
              </c:numCache>
            </c:numRef>
          </c:val>
        </c:ser>
        <c:ser>
          <c:idx val="3"/>
          <c:order val="3"/>
          <c:tx>
            <c:v>Transformer</c:v>
          </c:tx>
          <c:spPr>
            <a:solidFill xmlns:a="http://schemas.openxmlformats.org/drawingml/2006/main">
              <a:srgbClr val="B7790B"/>
            </a:solidFill>
          </c:spPr>
          <c:cat>
            <c:strRef>
              <c:f>'Chart Data'!$G$2:$G$4</c:f>
              <c:strCache>
                <c:ptCount val="3"/>
                <c:pt idx="0">
                  <c:v>Train</c:v>
                </c:pt>
                <c:pt idx="1">
                  <c:v>Validation</c:v>
                </c:pt>
                <c:pt idx="2">
                  <c:v>Test</c:v>
                </c:pt>
              </c:strCache>
            </c:strRef>
          </c:cat>
          <c:val>
            <c:numRef>
              <c:f>'Chart Data'!$H$2:$H$4</c:f>
              <c:numCache>
                <c:formatCode>0.000</c:formatCode>
                <c:ptCount val="3"/>
                <c:pt idx="0">
                  <c:v>1.04903636</c:v>
                </c:pt>
                <c:pt idx="1">
                  <c:v>0.58874548</c:v>
                </c:pt>
                <c:pt idx="2">
                  <c:v>0.3044769</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3.2"/>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Monthly test Sharpe</c:v>
          </c:tx>
          <c:spPr>
            <a:solidFill xmlns:a="http://schemas.openxmlformats.org/drawingml/2006/main">
              <a:srgbClr val="003262"/>
            </a:solidFill>
          </c:spPr>
          <c:cat>
            <c:strRef>
              <c:f>'Chart Data'!$A$2:$A$6</c:f>
              <c:strCache>
                <c:ptCount val="5"/>
                <c:pt idx="0">
                  <c:v>Authors GAN</c:v>
                </c:pt>
                <c:pt idx="1">
                  <c:v>Code 07 GAN</c:v>
                </c:pt>
                <c:pt idx="2">
                  <c:v>New LSTM</c:v>
                </c:pt>
                <c:pt idx="3">
                  <c:v>Transformer</c:v>
                </c:pt>
                <c:pt idx="4">
                  <c:v>50/50 blend</c:v>
                </c:pt>
              </c:strCache>
            </c:strRef>
          </c:cat>
          <c:val>
            <c:numRef>
              <c:f>'Chart Data'!$B$2:$B$6</c:f>
              <c:numCache>
                <c:formatCode>0.000</c:formatCode>
                <c:ptCount val="5"/>
                <c:pt idx="0">
                  <c:v>0.74992011</c:v>
                </c:pt>
                <c:pt idx="1">
                  <c:v>0.61188757</c:v>
                </c:pt>
                <c:pt idx="2">
                  <c:v>0.45929328</c:v>
                </c:pt>
                <c:pt idx="3">
                  <c:v>0.3044769</c:v>
                </c:pt>
                <c:pt idx="4">
                  <c:v>0.46310291</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0.9"/>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LSTM</c:v>
          </c:tx>
          <c:spPr>
            <a:solidFill xmlns:a="http://schemas.openxmlformats.org/drawingml/2006/main">
              <a:srgbClr val="2563EB"/>
            </a:solidFill>
          </c:spPr>
          <c:cat>
            <c:numRef>
              <c:f>'Chart Data'!$A$2:$A$10</c:f>
              <c:numCache>
                <c:formatCode>General</c:formatCode>
                <c:ptCount val="9"/>
                <c:pt idx="0">
                  <c:v>42</c:v>
                </c:pt>
                <c:pt idx="1">
                  <c:v>43</c:v>
                </c:pt>
                <c:pt idx="2">
                  <c:v>44</c:v>
                </c:pt>
                <c:pt idx="3">
                  <c:v>45</c:v>
                </c:pt>
                <c:pt idx="4">
                  <c:v>46</c:v>
                </c:pt>
                <c:pt idx="5">
                  <c:v>47</c:v>
                </c:pt>
                <c:pt idx="6">
                  <c:v>48</c:v>
                </c:pt>
                <c:pt idx="7">
                  <c:v>49</c:v>
                </c:pt>
                <c:pt idx="8">
                  <c:v>50</c:v>
                </c:pt>
              </c:numCache>
            </c:numRef>
          </c:cat>
          <c:val>
            <c:numRef>
              <c:f>'Chart Data'!$B$2:$B$10</c:f>
              <c:numCache>
                <c:formatCode>0.000</c:formatCode>
                <c:ptCount val="9"/>
                <c:pt idx="0">
                  <c:v>0.21084745</c:v>
                </c:pt>
                <c:pt idx="1">
                  <c:v>0.0446975</c:v>
                </c:pt>
                <c:pt idx="2">
                  <c:v>0.25841846</c:v>
                </c:pt>
                <c:pt idx="3">
                  <c:v>0.05875021</c:v>
                </c:pt>
                <c:pt idx="4">
                  <c:v>0.07713826</c:v>
                </c:pt>
                <c:pt idx="5">
                  <c:v>0.20549772</c:v>
                </c:pt>
                <c:pt idx="6">
                  <c:v>0.14048901</c:v>
                </c:pt>
                <c:pt idx="7">
                  <c:v>0.4116077</c:v>
                </c:pt>
                <c:pt idx="8">
                  <c:v>0.19885725</c:v>
                </c:pt>
              </c:numCache>
            </c:numRef>
          </c:val>
        </c:ser>
        <c:ser>
          <c:idx val="1"/>
          <c:order val="1"/>
          <c:tx>
            <c:v>Transformer</c:v>
          </c:tx>
          <c:spPr>
            <a:solidFill xmlns:a="http://schemas.openxmlformats.org/drawingml/2006/main">
              <a:srgbClr val="B7790B"/>
            </a:solidFill>
          </c:spPr>
          <c:invertIfNegative val="0"/>
          <c:cat>
            <c:numRef>
              <c:f>'Chart Data'!$C$2:$C$10</c:f>
              <c:numCache>
                <c:formatCode>General</c:formatCode>
                <c:ptCount val="9"/>
                <c:pt idx="0">
                  <c:v>42</c:v>
                </c:pt>
                <c:pt idx="1">
                  <c:v>43</c:v>
                </c:pt>
                <c:pt idx="2">
                  <c:v>44</c:v>
                </c:pt>
                <c:pt idx="3">
                  <c:v>45</c:v>
                </c:pt>
                <c:pt idx="4">
                  <c:v>46</c:v>
                </c:pt>
                <c:pt idx="5">
                  <c:v>47</c:v>
                </c:pt>
                <c:pt idx="6">
                  <c:v>48</c:v>
                </c:pt>
                <c:pt idx="7">
                  <c:v>49</c:v>
                </c:pt>
                <c:pt idx="8">
                  <c:v>50</c:v>
                </c:pt>
              </c:numCache>
            </c:numRef>
          </c:cat>
          <c:val>
            <c:numRef>
              <c:f>'Chart Data'!$D$2:$D$10</c:f>
              <c:numCache>
                <c:formatCode>0.000</c:formatCode>
                <c:ptCount val="9"/>
                <c:pt idx="0">
                  <c:v>0.26267458</c:v>
                </c:pt>
                <c:pt idx="1">
                  <c:v>0.03959994</c:v>
                </c:pt>
                <c:pt idx="2">
                  <c:v>0.35565899</c:v>
                </c:pt>
                <c:pt idx="3">
                  <c:v>0.02842386</c:v>
                </c:pt>
                <c:pt idx="4">
                  <c:v>0.07815787</c:v>
                </c:pt>
                <c:pt idx="5">
                  <c:v>0.11771104</c:v>
                </c:pt>
                <c:pt idx="6">
                  <c:v>0.14520252</c:v>
                </c:pt>
                <c:pt idx="7">
                  <c:v>0.29280523</c:v>
                </c:pt>
                <c:pt idx="8">
                  <c:v>-0.00583761</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0"/>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0.8"/>
          <c:min val="-0.1"/>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
        <c:ser>
          <c:idx val="0"/>
          <c:order val="0"/>
          <c:tx>
            <c:v>Authors GAN</c:v>
          </c:tx>
          <c:spPr>
            <a:solidFill xmlns:a="http://schemas.openxmlformats.org/drawingml/2006/main">
              <a:srgbClr val="94A3B8"/>
            </a:solidFill>
            <a:ln xmlns:a="http://schemas.openxmlformats.org/drawingml/2006/main" w="20003">
              <a:solidFill>
                <a:srgbClr val="94A3B8"/>
              </a:solidFill>
            </a:ln>
          </c:spPr>
          <c:marker>
            <c:symbol val="none"/>
          </c:marker>
          <c:xVal>
            <c:numRef>
              <c:f>'Chart Data'!$A$2:$A$266</c:f>
              <c:numCache>
                <c:formatCode>General</c:formatCode>
                <c:ptCount val="265"/>
                <c:pt idx="0">
                  <c:v>1994.916667</c:v>
                </c:pt>
                <c:pt idx="1">
                  <c:v>1995</c:v>
                </c:pt>
                <c:pt idx="2">
                  <c:v>1995.083333</c:v>
                </c:pt>
                <c:pt idx="3">
                  <c:v>1995.166667</c:v>
                </c:pt>
                <c:pt idx="4">
                  <c:v>1995.25</c:v>
                </c:pt>
                <c:pt idx="5">
                  <c:v>1995.333333</c:v>
                </c:pt>
                <c:pt idx="6">
                  <c:v>1995.416667</c:v>
                </c:pt>
                <c:pt idx="7">
                  <c:v>1995.5</c:v>
                </c:pt>
                <c:pt idx="8">
                  <c:v>1995.583333</c:v>
                </c:pt>
                <c:pt idx="9">
                  <c:v>1995.666667</c:v>
                </c:pt>
                <c:pt idx="10">
                  <c:v>1995.75</c:v>
                </c:pt>
                <c:pt idx="11">
                  <c:v>1995.833333</c:v>
                </c:pt>
                <c:pt idx="12">
                  <c:v>1995.916667</c:v>
                </c:pt>
                <c:pt idx="13">
                  <c:v>1996</c:v>
                </c:pt>
                <c:pt idx="14">
                  <c:v>1996.083333</c:v>
                </c:pt>
                <c:pt idx="15">
                  <c:v>1996.166667</c:v>
                </c:pt>
                <c:pt idx="16">
                  <c:v>1996.25</c:v>
                </c:pt>
                <c:pt idx="17">
                  <c:v>1996.333333</c:v>
                </c:pt>
                <c:pt idx="18">
                  <c:v>1996.416667</c:v>
                </c:pt>
                <c:pt idx="19">
                  <c:v>1996.5</c:v>
                </c:pt>
                <c:pt idx="20">
                  <c:v>1996.583333</c:v>
                </c:pt>
                <c:pt idx="21">
                  <c:v>1996.666667</c:v>
                </c:pt>
                <c:pt idx="22">
                  <c:v>1996.75</c:v>
                </c:pt>
                <c:pt idx="23">
                  <c:v>1996.833333</c:v>
                </c:pt>
                <c:pt idx="24">
                  <c:v>1996.916667</c:v>
                </c:pt>
                <c:pt idx="25">
                  <c:v>1997</c:v>
                </c:pt>
                <c:pt idx="26">
                  <c:v>1997.083333</c:v>
                </c:pt>
                <c:pt idx="27">
                  <c:v>1997.166667</c:v>
                </c:pt>
                <c:pt idx="28">
                  <c:v>1997.25</c:v>
                </c:pt>
                <c:pt idx="29">
                  <c:v>1997.333333</c:v>
                </c:pt>
                <c:pt idx="30">
                  <c:v>1997.416667</c:v>
                </c:pt>
                <c:pt idx="31">
                  <c:v>1997.5</c:v>
                </c:pt>
                <c:pt idx="32">
                  <c:v>1997.583333</c:v>
                </c:pt>
                <c:pt idx="33">
                  <c:v>1997.666667</c:v>
                </c:pt>
                <c:pt idx="34">
                  <c:v>1997.75</c:v>
                </c:pt>
                <c:pt idx="35">
                  <c:v>1997.833333</c:v>
                </c:pt>
                <c:pt idx="36">
                  <c:v>1997.916667</c:v>
                </c:pt>
                <c:pt idx="37">
                  <c:v>1998</c:v>
                </c:pt>
                <c:pt idx="38">
                  <c:v>1998.083333</c:v>
                </c:pt>
                <c:pt idx="39">
                  <c:v>1998.166667</c:v>
                </c:pt>
                <c:pt idx="40">
                  <c:v>1998.25</c:v>
                </c:pt>
                <c:pt idx="41">
                  <c:v>1998.333333</c:v>
                </c:pt>
                <c:pt idx="42">
                  <c:v>1998.416667</c:v>
                </c:pt>
                <c:pt idx="43">
                  <c:v>1998.5</c:v>
                </c:pt>
                <c:pt idx="44">
                  <c:v>1998.583333</c:v>
                </c:pt>
                <c:pt idx="45">
                  <c:v>1998.666667</c:v>
                </c:pt>
                <c:pt idx="46">
                  <c:v>1998.75</c:v>
                </c:pt>
                <c:pt idx="47">
                  <c:v>1998.833333</c:v>
                </c:pt>
                <c:pt idx="48">
                  <c:v>1998.916667</c:v>
                </c:pt>
                <c:pt idx="49">
                  <c:v>1999</c:v>
                </c:pt>
                <c:pt idx="50">
                  <c:v>1999.083333</c:v>
                </c:pt>
                <c:pt idx="51">
                  <c:v>1999.166667</c:v>
                </c:pt>
                <c:pt idx="52">
                  <c:v>1999.25</c:v>
                </c:pt>
                <c:pt idx="53">
                  <c:v>1999.333333</c:v>
                </c:pt>
                <c:pt idx="54">
                  <c:v>1999.416667</c:v>
                </c:pt>
                <c:pt idx="55">
                  <c:v>1999.5</c:v>
                </c:pt>
                <c:pt idx="56">
                  <c:v>1999.583333</c:v>
                </c:pt>
                <c:pt idx="57">
                  <c:v>1999.666667</c:v>
                </c:pt>
                <c:pt idx="58">
                  <c:v>1999.75</c:v>
                </c:pt>
                <c:pt idx="59">
                  <c:v>1999.833333</c:v>
                </c:pt>
                <c:pt idx="60">
                  <c:v>1999.916667</c:v>
                </c:pt>
                <c:pt idx="61">
                  <c:v>2000</c:v>
                </c:pt>
                <c:pt idx="62">
                  <c:v>2000.083333</c:v>
                </c:pt>
                <c:pt idx="63">
                  <c:v>2000.166667</c:v>
                </c:pt>
                <c:pt idx="64">
                  <c:v>2000.25</c:v>
                </c:pt>
                <c:pt idx="65">
                  <c:v>2000.333333</c:v>
                </c:pt>
                <c:pt idx="66">
                  <c:v>2000.416667</c:v>
                </c:pt>
                <c:pt idx="67">
                  <c:v>2000.5</c:v>
                </c:pt>
                <c:pt idx="68">
                  <c:v>2000.583333</c:v>
                </c:pt>
                <c:pt idx="69">
                  <c:v>2000.666667</c:v>
                </c:pt>
                <c:pt idx="70">
                  <c:v>2000.75</c:v>
                </c:pt>
                <c:pt idx="71">
                  <c:v>2000.833333</c:v>
                </c:pt>
                <c:pt idx="72">
                  <c:v>2000.916667</c:v>
                </c:pt>
                <c:pt idx="73">
                  <c:v>2001</c:v>
                </c:pt>
                <c:pt idx="74">
                  <c:v>2001.083333</c:v>
                </c:pt>
                <c:pt idx="75">
                  <c:v>2001.166667</c:v>
                </c:pt>
                <c:pt idx="76">
                  <c:v>2001.25</c:v>
                </c:pt>
                <c:pt idx="77">
                  <c:v>2001.333333</c:v>
                </c:pt>
                <c:pt idx="78">
                  <c:v>2001.416667</c:v>
                </c:pt>
                <c:pt idx="79">
                  <c:v>2001.5</c:v>
                </c:pt>
                <c:pt idx="80">
                  <c:v>2001.583333</c:v>
                </c:pt>
                <c:pt idx="81">
                  <c:v>2001.666667</c:v>
                </c:pt>
                <c:pt idx="82">
                  <c:v>2001.75</c:v>
                </c:pt>
                <c:pt idx="83">
                  <c:v>2001.833333</c:v>
                </c:pt>
                <c:pt idx="84">
                  <c:v>2001.916667</c:v>
                </c:pt>
                <c:pt idx="85">
                  <c:v>2002</c:v>
                </c:pt>
                <c:pt idx="86">
                  <c:v>2002.083333</c:v>
                </c:pt>
                <c:pt idx="87">
                  <c:v>2002.166667</c:v>
                </c:pt>
                <c:pt idx="88">
                  <c:v>2002.25</c:v>
                </c:pt>
                <c:pt idx="89">
                  <c:v>2002.333333</c:v>
                </c:pt>
                <c:pt idx="90">
                  <c:v>2002.416667</c:v>
                </c:pt>
                <c:pt idx="91">
                  <c:v>2002.5</c:v>
                </c:pt>
                <c:pt idx="92">
                  <c:v>2002.583333</c:v>
                </c:pt>
                <c:pt idx="93">
                  <c:v>2002.666667</c:v>
                </c:pt>
                <c:pt idx="94">
                  <c:v>2002.75</c:v>
                </c:pt>
                <c:pt idx="95">
                  <c:v>2002.833333</c:v>
                </c:pt>
                <c:pt idx="96">
                  <c:v>2002.916667</c:v>
                </c:pt>
                <c:pt idx="97">
                  <c:v>2003</c:v>
                </c:pt>
                <c:pt idx="98">
                  <c:v>2003.083333</c:v>
                </c:pt>
                <c:pt idx="99">
                  <c:v>2003.166667</c:v>
                </c:pt>
                <c:pt idx="100">
                  <c:v>2003.25</c:v>
                </c:pt>
                <c:pt idx="101">
                  <c:v>2003.333333</c:v>
                </c:pt>
                <c:pt idx="102">
                  <c:v>2003.416667</c:v>
                </c:pt>
                <c:pt idx="103">
                  <c:v>2003.5</c:v>
                </c:pt>
                <c:pt idx="104">
                  <c:v>2003.583333</c:v>
                </c:pt>
                <c:pt idx="105">
                  <c:v>2003.666667</c:v>
                </c:pt>
                <c:pt idx="106">
                  <c:v>2003.75</c:v>
                </c:pt>
                <c:pt idx="107">
                  <c:v>2003.833333</c:v>
                </c:pt>
                <c:pt idx="108">
                  <c:v>2003.916667</c:v>
                </c:pt>
                <c:pt idx="109">
                  <c:v>2004</c:v>
                </c:pt>
                <c:pt idx="110">
                  <c:v>2004.083333</c:v>
                </c:pt>
                <c:pt idx="111">
                  <c:v>2004.166667</c:v>
                </c:pt>
                <c:pt idx="112">
                  <c:v>2004.25</c:v>
                </c:pt>
                <c:pt idx="113">
                  <c:v>2004.333333</c:v>
                </c:pt>
                <c:pt idx="114">
                  <c:v>2004.416667</c:v>
                </c:pt>
                <c:pt idx="115">
                  <c:v>2004.5</c:v>
                </c:pt>
                <c:pt idx="116">
                  <c:v>2004.583333</c:v>
                </c:pt>
                <c:pt idx="117">
                  <c:v>2004.666667</c:v>
                </c:pt>
                <c:pt idx="118">
                  <c:v>2004.75</c:v>
                </c:pt>
                <c:pt idx="119">
                  <c:v>2004.833333</c:v>
                </c:pt>
                <c:pt idx="120">
                  <c:v>2004.916667</c:v>
                </c:pt>
                <c:pt idx="121">
                  <c:v>2005</c:v>
                </c:pt>
                <c:pt idx="122">
                  <c:v>2005.083333</c:v>
                </c:pt>
                <c:pt idx="123">
                  <c:v>2005.166667</c:v>
                </c:pt>
                <c:pt idx="124">
                  <c:v>2005.25</c:v>
                </c:pt>
                <c:pt idx="125">
                  <c:v>2005.333333</c:v>
                </c:pt>
                <c:pt idx="126">
                  <c:v>2005.416667</c:v>
                </c:pt>
                <c:pt idx="127">
                  <c:v>2005.5</c:v>
                </c:pt>
                <c:pt idx="128">
                  <c:v>2005.583333</c:v>
                </c:pt>
                <c:pt idx="129">
                  <c:v>2005.666667</c:v>
                </c:pt>
                <c:pt idx="130">
                  <c:v>2005.75</c:v>
                </c:pt>
                <c:pt idx="131">
                  <c:v>2005.833333</c:v>
                </c:pt>
                <c:pt idx="132">
                  <c:v>2005.916667</c:v>
                </c:pt>
                <c:pt idx="133">
                  <c:v>2006</c:v>
                </c:pt>
                <c:pt idx="134">
                  <c:v>2006.083333</c:v>
                </c:pt>
                <c:pt idx="135">
                  <c:v>2006.166667</c:v>
                </c:pt>
                <c:pt idx="136">
                  <c:v>2006.25</c:v>
                </c:pt>
                <c:pt idx="137">
                  <c:v>2006.333333</c:v>
                </c:pt>
                <c:pt idx="138">
                  <c:v>2006.416667</c:v>
                </c:pt>
                <c:pt idx="139">
                  <c:v>2006.5</c:v>
                </c:pt>
                <c:pt idx="140">
                  <c:v>2006.583333</c:v>
                </c:pt>
                <c:pt idx="141">
                  <c:v>2006.666667</c:v>
                </c:pt>
                <c:pt idx="142">
                  <c:v>2006.75</c:v>
                </c:pt>
                <c:pt idx="143">
                  <c:v>2006.833333</c:v>
                </c:pt>
                <c:pt idx="144">
                  <c:v>2006.916667</c:v>
                </c:pt>
                <c:pt idx="145">
                  <c:v>2007</c:v>
                </c:pt>
                <c:pt idx="146">
                  <c:v>2007.083333</c:v>
                </c:pt>
                <c:pt idx="147">
                  <c:v>2007.166667</c:v>
                </c:pt>
                <c:pt idx="148">
                  <c:v>2007.25</c:v>
                </c:pt>
                <c:pt idx="149">
                  <c:v>2007.333333</c:v>
                </c:pt>
                <c:pt idx="150">
                  <c:v>2007.416667</c:v>
                </c:pt>
                <c:pt idx="151">
                  <c:v>2007.5</c:v>
                </c:pt>
                <c:pt idx="152">
                  <c:v>2007.583333</c:v>
                </c:pt>
                <c:pt idx="153">
                  <c:v>2007.666667</c:v>
                </c:pt>
                <c:pt idx="154">
                  <c:v>2007.75</c:v>
                </c:pt>
                <c:pt idx="155">
                  <c:v>2007.833333</c:v>
                </c:pt>
                <c:pt idx="156">
                  <c:v>2007.916667</c:v>
                </c:pt>
                <c:pt idx="157">
                  <c:v>2008</c:v>
                </c:pt>
                <c:pt idx="158">
                  <c:v>2008.083333</c:v>
                </c:pt>
                <c:pt idx="159">
                  <c:v>2008.166667</c:v>
                </c:pt>
                <c:pt idx="160">
                  <c:v>2008.25</c:v>
                </c:pt>
                <c:pt idx="161">
                  <c:v>2008.333333</c:v>
                </c:pt>
                <c:pt idx="162">
                  <c:v>2008.416667</c:v>
                </c:pt>
                <c:pt idx="163">
                  <c:v>2008.5</c:v>
                </c:pt>
                <c:pt idx="164">
                  <c:v>2008.583333</c:v>
                </c:pt>
                <c:pt idx="165">
                  <c:v>2008.666667</c:v>
                </c:pt>
                <c:pt idx="166">
                  <c:v>2008.75</c:v>
                </c:pt>
                <c:pt idx="167">
                  <c:v>2008.833333</c:v>
                </c:pt>
                <c:pt idx="168">
                  <c:v>2008.916667</c:v>
                </c:pt>
                <c:pt idx="169">
                  <c:v>2009</c:v>
                </c:pt>
                <c:pt idx="170">
                  <c:v>2009.083333</c:v>
                </c:pt>
                <c:pt idx="171">
                  <c:v>2009.166667</c:v>
                </c:pt>
                <c:pt idx="172">
                  <c:v>2009.25</c:v>
                </c:pt>
                <c:pt idx="173">
                  <c:v>2009.333333</c:v>
                </c:pt>
                <c:pt idx="174">
                  <c:v>2009.416667</c:v>
                </c:pt>
                <c:pt idx="175">
                  <c:v>2009.5</c:v>
                </c:pt>
                <c:pt idx="176">
                  <c:v>2009.583333</c:v>
                </c:pt>
                <c:pt idx="177">
                  <c:v>2009.666667</c:v>
                </c:pt>
                <c:pt idx="178">
                  <c:v>2009.75</c:v>
                </c:pt>
                <c:pt idx="179">
                  <c:v>2009.833333</c:v>
                </c:pt>
                <c:pt idx="180">
                  <c:v>2009.916667</c:v>
                </c:pt>
                <c:pt idx="181">
                  <c:v>2010</c:v>
                </c:pt>
                <c:pt idx="182">
                  <c:v>2010.083333</c:v>
                </c:pt>
                <c:pt idx="183">
                  <c:v>2010.166667</c:v>
                </c:pt>
                <c:pt idx="184">
                  <c:v>2010.25</c:v>
                </c:pt>
                <c:pt idx="185">
                  <c:v>2010.333333</c:v>
                </c:pt>
                <c:pt idx="186">
                  <c:v>2010.416667</c:v>
                </c:pt>
                <c:pt idx="187">
                  <c:v>2010.5</c:v>
                </c:pt>
                <c:pt idx="188">
                  <c:v>2010.583333</c:v>
                </c:pt>
                <c:pt idx="189">
                  <c:v>2010.666667</c:v>
                </c:pt>
                <c:pt idx="190">
                  <c:v>2010.75</c:v>
                </c:pt>
                <c:pt idx="191">
                  <c:v>2010.833333</c:v>
                </c:pt>
                <c:pt idx="192">
                  <c:v>2010.916667</c:v>
                </c:pt>
                <c:pt idx="193">
                  <c:v>2011</c:v>
                </c:pt>
                <c:pt idx="194">
                  <c:v>2011.083333</c:v>
                </c:pt>
                <c:pt idx="195">
                  <c:v>2011.166667</c:v>
                </c:pt>
                <c:pt idx="196">
                  <c:v>2011.25</c:v>
                </c:pt>
                <c:pt idx="197">
                  <c:v>2011.333333</c:v>
                </c:pt>
                <c:pt idx="198">
                  <c:v>2011.416667</c:v>
                </c:pt>
                <c:pt idx="199">
                  <c:v>2011.5</c:v>
                </c:pt>
                <c:pt idx="200">
                  <c:v>2011.583333</c:v>
                </c:pt>
                <c:pt idx="201">
                  <c:v>2011.666667</c:v>
                </c:pt>
                <c:pt idx="202">
                  <c:v>2011.75</c:v>
                </c:pt>
                <c:pt idx="203">
                  <c:v>2011.833333</c:v>
                </c:pt>
                <c:pt idx="204">
                  <c:v>2011.916667</c:v>
                </c:pt>
                <c:pt idx="205">
                  <c:v>2012</c:v>
                </c:pt>
                <c:pt idx="206">
                  <c:v>2012.083333</c:v>
                </c:pt>
                <c:pt idx="207">
                  <c:v>2012.166667</c:v>
                </c:pt>
                <c:pt idx="208">
                  <c:v>2012.25</c:v>
                </c:pt>
                <c:pt idx="209">
                  <c:v>2012.333333</c:v>
                </c:pt>
                <c:pt idx="210">
                  <c:v>2012.416667</c:v>
                </c:pt>
                <c:pt idx="211">
                  <c:v>2012.5</c:v>
                </c:pt>
                <c:pt idx="212">
                  <c:v>2012.583333</c:v>
                </c:pt>
                <c:pt idx="213">
                  <c:v>2012.666667</c:v>
                </c:pt>
                <c:pt idx="214">
                  <c:v>2012.75</c:v>
                </c:pt>
                <c:pt idx="215">
                  <c:v>2012.833333</c:v>
                </c:pt>
                <c:pt idx="216">
                  <c:v>2012.916667</c:v>
                </c:pt>
                <c:pt idx="217">
                  <c:v>2013</c:v>
                </c:pt>
                <c:pt idx="218">
                  <c:v>2013.083333</c:v>
                </c:pt>
                <c:pt idx="219">
                  <c:v>2013.166667</c:v>
                </c:pt>
                <c:pt idx="220">
                  <c:v>2013.25</c:v>
                </c:pt>
                <c:pt idx="221">
                  <c:v>2013.333333</c:v>
                </c:pt>
                <c:pt idx="222">
                  <c:v>2013.416667</c:v>
                </c:pt>
                <c:pt idx="223">
                  <c:v>2013.5</c:v>
                </c:pt>
                <c:pt idx="224">
                  <c:v>2013.583333</c:v>
                </c:pt>
                <c:pt idx="225">
                  <c:v>2013.666667</c:v>
                </c:pt>
                <c:pt idx="226">
                  <c:v>2013.75</c:v>
                </c:pt>
                <c:pt idx="227">
                  <c:v>2013.833333</c:v>
                </c:pt>
                <c:pt idx="228">
                  <c:v>2013.916667</c:v>
                </c:pt>
                <c:pt idx="229">
                  <c:v>2014</c:v>
                </c:pt>
                <c:pt idx="230">
                  <c:v>2014.083333</c:v>
                </c:pt>
                <c:pt idx="231">
                  <c:v>2014.166667</c:v>
                </c:pt>
                <c:pt idx="232">
                  <c:v>2014.25</c:v>
                </c:pt>
                <c:pt idx="233">
                  <c:v>2014.333333</c:v>
                </c:pt>
                <c:pt idx="234">
                  <c:v>2014.416667</c:v>
                </c:pt>
                <c:pt idx="235">
                  <c:v>2014.5</c:v>
                </c:pt>
                <c:pt idx="236">
                  <c:v>2014.583333</c:v>
                </c:pt>
                <c:pt idx="237">
                  <c:v>2014.666667</c:v>
                </c:pt>
                <c:pt idx="238">
                  <c:v>2014.75</c:v>
                </c:pt>
                <c:pt idx="239">
                  <c:v>2014.833333</c:v>
                </c:pt>
                <c:pt idx="240">
                  <c:v>2014.916667</c:v>
                </c:pt>
                <c:pt idx="241">
                  <c:v>2015</c:v>
                </c:pt>
                <c:pt idx="242">
                  <c:v>2015.083333</c:v>
                </c:pt>
                <c:pt idx="243">
                  <c:v>2015.166667</c:v>
                </c:pt>
                <c:pt idx="244">
                  <c:v>2015.25</c:v>
                </c:pt>
                <c:pt idx="245">
                  <c:v>2015.333333</c:v>
                </c:pt>
                <c:pt idx="246">
                  <c:v>2015.416667</c:v>
                </c:pt>
                <c:pt idx="247">
                  <c:v>2015.5</c:v>
                </c:pt>
                <c:pt idx="248">
                  <c:v>2015.583333</c:v>
                </c:pt>
                <c:pt idx="249">
                  <c:v>2015.666667</c:v>
                </c:pt>
                <c:pt idx="250">
                  <c:v>2015.75</c:v>
                </c:pt>
                <c:pt idx="251">
                  <c:v>2015.833333</c:v>
                </c:pt>
                <c:pt idx="252">
                  <c:v>2015.916667</c:v>
                </c:pt>
                <c:pt idx="253">
                  <c:v>2016</c:v>
                </c:pt>
                <c:pt idx="254">
                  <c:v>2016.083333</c:v>
                </c:pt>
                <c:pt idx="255">
                  <c:v>2016.166667</c:v>
                </c:pt>
                <c:pt idx="256">
                  <c:v>2016.25</c:v>
                </c:pt>
                <c:pt idx="257">
                  <c:v>2016.333333</c:v>
                </c:pt>
                <c:pt idx="258">
                  <c:v>2016.416667</c:v>
                </c:pt>
                <c:pt idx="259">
                  <c:v>2016.5</c:v>
                </c:pt>
                <c:pt idx="260">
                  <c:v>2016.583333</c:v>
                </c:pt>
                <c:pt idx="261">
                  <c:v>2016.666667</c:v>
                </c:pt>
                <c:pt idx="262">
                  <c:v>2016.75</c:v>
                </c:pt>
                <c:pt idx="263">
                  <c:v>2016.833333</c:v>
                </c:pt>
                <c:pt idx="264">
                  <c:v>2016.916667</c:v>
                </c:pt>
              </c:numCache>
            </c:numRef>
          </c:xVal>
          <c:yVal>
            <c:numRef>
              <c:f>'Chart Data'!$B$2:$B$266</c:f>
              <c:numCache>
                <c:formatCode>0.000</c:formatCode>
                <c:ptCount val="265"/>
                <c:pt idx="0">
                  <c:v>4.3622389</c:v>
                </c:pt>
                <c:pt idx="1">
                  <c:v>4.77971264</c:v>
                </c:pt>
                <c:pt idx="2">
                  <c:v>5.8243755</c:v>
                </c:pt>
                <c:pt idx="3">
                  <c:v>5.95470623</c:v>
                </c:pt>
                <c:pt idx="4">
                  <c:v>5.88456279</c:v>
                </c:pt>
                <c:pt idx="5">
                  <c:v>5.86484575</c:v>
                </c:pt>
                <c:pt idx="6">
                  <c:v>5.97513852</c:v>
                </c:pt>
                <c:pt idx="7">
                  <c:v>5.97580107</c:v>
                </c:pt>
                <c:pt idx="8">
                  <c:v>5.95880261</c:v>
                </c:pt>
                <c:pt idx="9">
                  <c:v>5.98327742</c:v>
                </c:pt>
                <c:pt idx="10">
                  <c:v>6.15180326</c:v>
                </c:pt>
                <c:pt idx="11">
                  <c:v>6.1288098</c:v>
                </c:pt>
                <c:pt idx="12">
                  <c:v>6.13804984</c:v>
                </c:pt>
                <c:pt idx="13">
                  <c:v>6.20989281</c:v>
                </c:pt>
                <c:pt idx="14">
                  <c:v>6.13882422</c:v>
                </c:pt>
                <c:pt idx="15">
                  <c:v>5.71777152</c:v>
                </c:pt>
                <c:pt idx="16">
                  <c:v>5.33514108</c:v>
                </c:pt>
                <c:pt idx="17">
                  <c:v>5.79384395</c:v>
                </c:pt>
                <c:pt idx="18">
                  <c:v>5.77127487</c:v>
                </c:pt>
                <c:pt idx="19">
                  <c:v>5.78103975</c:v>
                </c:pt>
                <c:pt idx="20">
                  <c:v>5.8745457</c:v>
                </c:pt>
                <c:pt idx="21">
                  <c:v>5.80194483</c:v>
                </c:pt>
                <c:pt idx="22">
                  <c:v>6.10921564</c:v>
                </c:pt>
                <c:pt idx="23">
                  <c:v>7.10385881</c:v>
                </c:pt>
                <c:pt idx="24">
                  <c:v>7.15027416</c:v>
                </c:pt>
                <c:pt idx="25">
                  <c:v>7.25006679</c:v>
                </c:pt>
                <c:pt idx="26">
                  <c:v>7.74193605</c:v>
                </c:pt>
                <c:pt idx="27">
                  <c:v>7.91253047</c:v>
                </c:pt>
                <c:pt idx="28">
                  <c:v>7.92443853</c:v>
                </c:pt>
                <c:pt idx="29">
                  <c:v>8.18155322</c:v>
                </c:pt>
                <c:pt idx="30">
                  <c:v>7.93203614</c:v>
                </c:pt>
                <c:pt idx="31">
                  <c:v>7.85611824</c:v>
                </c:pt>
                <c:pt idx="32">
                  <c:v>7.35706594</c:v>
                </c:pt>
                <c:pt idx="33">
                  <c:v>7.40418685</c:v>
                </c:pt>
                <c:pt idx="34">
                  <c:v>7.44218056</c:v>
                </c:pt>
                <c:pt idx="35">
                  <c:v>7.74430337</c:v>
                </c:pt>
                <c:pt idx="36">
                  <c:v>8.11409423</c:v>
                </c:pt>
                <c:pt idx="37">
                  <c:v>8.01935931</c:v>
                </c:pt>
                <c:pt idx="38">
                  <c:v>7.96500238</c:v>
                </c:pt>
                <c:pt idx="39">
                  <c:v>7.94113894</c:v>
                </c:pt>
                <c:pt idx="40">
                  <c:v>7.83263005</c:v>
                </c:pt>
                <c:pt idx="41">
                  <c:v>7.99941199</c:v>
                </c:pt>
                <c:pt idx="42">
                  <c:v>7.88913849</c:v>
                </c:pt>
                <c:pt idx="43">
                  <c:v>7.56340778</c:v>
                </c:pt>
                <c:pt idx="44">
                  <c:v>7.39396014</c:v>
                </c:pt>
                <c:pt idx="45">
                  <c:v>7.26457236</c:v>
                </c:pt>
                <c:pt idx="46">
                  <c:v>7.32433658</c:v>
                </c:pt>
                <c:pt idx="47">
                  <c:v>7.06112971</c:v>
                </c:pt>
                <c:pt idx="48">
                  <c:v>7.06334183</c:v>
                </c:pt>
                <c:pt idx="49">
                  <c:v>6.93309876</c:v>
                </c:pt>
                <c:pt idx="50">
                  <c:v>6.94357739</c:v>
                </c:pt>
                <c:pt idx="51">
                  <c:v>6.74787717</c:v>
                </c:pt>
                <c:pt idx="52">
                  <c:v>6.60904593</c:v>
                </c:pt>
                <c:pt idx="53">
                  <c:v>6.58682722</c:v>
                </c:pt>
                <c:pt idx="54">
                  <c:v>6.60273956</c:v>
                </c:pt>
                <c:pt idx="55">
                  <c:v>6.5622518</c:v>
                </c:pt>
                <c:pt idx="56">
                  <c:v>6.56176396</c:v>
                </c:pt>
                <c:pt idx="57">
                  <c:v>6.4886676</c:v>
                </c:pt>
                <c:pt idx="58">
                  <c:v>6.3329984</c:v>
                </c:pt>
                <c:pt idx="59">
                  <c:v>6.29847613</c:v>
                </c:pt>
                <c:pt idx="60">
                  <c:v>6.26345187</c:v>
                </c:pt>
                <c:pt idx="61">
                  <c:v>5.76821258</c:v>
                </c:pt>
                <c:pt idx="62">
                  <c:v>5.55221682</c:v>
                </c:pt>
                <c:pt idx="63">
                  <c:v>5.55794448</c:v>
                </c:pt>
                <c:pt idx="64">
                  <c:v>5.14928291</c:v>
                </c:pt>
                <c:pt idx="65">
                  <c:v>4.91092318</c:v>
                </c:pt>
                <c:pt idx="66">
                  <c:v>4.87499813</c:v>
                </c:pt>
                <c:pt idx="67">
                  <c:v>4.97445615</c:v>
                </c:pt>
                <c:pt idx="68">
                  <c:v>5.22200447</c:v>
                </c:pt>
                <c:pt idx="69">
                  <c:v>5.30084273</c:v>
                </c:pt>
                <c:pt idx="70">
                  <c:v>5.26482008</c:v>
                </c:pt>
                <c:pt idx="71">
                  <c:v>5.18075821</c:v>
                </c:pt>
                <c:pt idx="72">
                  <c:v>5.16855782</c:v>
                </c:pt>
                <c:pt idx="73">
                  <c:v>5.06970733</c:v>
                </c:pt>
                <c:pt idx="74">
                  <c:v>4.55603799</c:v>
                </c:pt>
                <c:pt idx="75">
                  <c:v>4.36787634</c:v>
                </c:pt>
                <c:pt idx="76">
                  <c:v>4.45557848</c:v>
                </c:pt>
                <c:pt idx="77">
                  <c:v>4.46097755</c:v>
                </c:pt>
                <c:pt idx="78">
                  <c:v>4.38159643</c:v>
                </c:pt>
                <c:pt idx="79">
                  <c:v>4.54114791</c:v>
                </c:pt>
                <c:pt idx="80">
                  <c:v>4.60647579</c:v>
                </c:pt>
                <c:pt idx="81">
                  <c:v>4.58007508</c:v>
                </c:pt>
                <c:pt idx="82">
                  <c:v>4.55464727</c:v>
                </c:pt>
                <c:pt idx="83">
                  <c:v>4.28125724</c:v>
                </c:pt>
                <c:pt idx="84">
                  <c:v>4.24738127</c:v>
                </c:pt>
                <c:pt idx="85">
                  <c:v>4.2433366</c:v>
                </c:pt>
                <c:pt idx="86">
                  <c:v>4.34672743</c:v>
                </c:pt>
                <c:pt idx="87">
                  <c:v>4.38873671</c:v>
                </c:pt>
                <c:pt idx="88">
                  <c:v>4.72762498</c:v>
                </c:pt>
                <c:pt idx="89">
                  <c:v>4.86511518</c:v>
                </c:pt>
                <c:pt idx="90">
                  <c:v>4.8757076</c:v>
                </c:pt>
                <c:pt idx="91">
                  <c:v>4.68222445</c:v>
                </c:pt>
                <c:pt idx="92">
                  <c:v>4.67565604</c:v>
                </c:pt>
                <c:pt idx="93">
                  <c:v>4.8295139</c:v>
                </c:pt>
                <c:pt idx="94">
                  <c:v>4.6899498</c:v>
                </c:pt>
                <c:pt idx="95">
                  <c:v>3.37639638</c:v>
                </c:pt>
                <c:pt idx="96">
                  <c:v>3.36287365</c:v>
                </c:pt>
                <c:pt idx="97">
                  <c:v>3.31063405</c:v>
                </c:pt>
                <c:pt idx="98">
                  <c:v>3.2761283</c:v>
                </c:pt>
                <c:pt idx="99">
                  <c:v>3.13135372</c:v>
                </c:pt>
                <c:pt idx="100">
                  <c:v>2.94158669</c:v>
                </c:pt>
                <c:pt idx="101">
                  <c:v>2.83077717</c:v>
                </c:pt>
                <c:pt idx="102">
                  <c:v>2.64612275</c:v>
                </c:pt>
                <c:pt idx="103">
                  <c:v>2.42027557</c:v>
                </c:pt>
                <c:pt idx="104">
                  <c:v>2.30046639</c:v>
                </c:pt>
                <c:pt idx="105">
                  <c:v>2.31556932</c:v>
                </c:pt>
                <c:pt idx="106">
                  <c:v>2.28495612</c:v>
                </c:pt>
                <c:pt idx="107">
                  <c:v>2.17287948</c:v>
                </c:pt>
                <c:pt idx="108">
                  <c:v>2.12821204</c:v>
                </c:pt>
                <c:pt idx="109">
                  <c:v>2.14682087</c:v>
                </c:pt>
                <c:pt idx="110">
                  <c:v>2.04005475</c:v>
                </c:pt>
                <c:pt idx="111">
                  <c:v>2.04403907</c:v>
                </c:pt>
                <c:pt idx="112">
                  <c:v>1.97916592</c:v>
                </c:pt>
                <c:pt idx="113">
                  <c:v>1.9196421</c:v>
                </c:pt>
                <c:pt idx="114">
                  <c:v>1.94995215</c:v>
                </c:pt>
                <c:pt idx="115">
                  <c:v>1.89886035</c:v>
                </c:pt>
                <c:pt idx="116">
                  <c:v>1.87929664</c:v>
                </c:pt>
                <c:pt idx="117">
                  <c:v>1.88865138</c:v>
                </c:pt>
                <c:pt idx="118">
                  <c:v>1.85093334</c:v>
                </c:pt>
                <c:pt idx="119">
                  <c:v>1.92130467</c:v>
                </c:pt>
                <c:pt idx="120">
                  <c:v>1.87819215</c:v>
                </c:pt>
                <c:pt idx="121">
                  <c:v>1.8526888</c:v>
                </c:pt>
                <c:pt idx="122">
                  <c:v>1.75961296</c:v>
                </c:pt>
                <c:pt idx="123">
                  <c:v>1.80992048</c:v>
                </c:pt>
                <c:pt idx="124">
                  <c:v>1.77035645</c:v>
                </c:pt>
                <c:pt idx="125">
                  <c:v>1.74786481</c:v>
                </c:pt>
                <c:pt idx="126">
                  <c:v>1.68331424</c:v>
                </c:pt>
                <c:pt idx="127">
                  <c:v>1.55324004</c:v>
                </c:pt>
                <c:pt idx="128">
                  <c:v>1.53167065</c:v>
                </c:pt>
                <c:pt idx="129">
                  <c:v>1.39273649</c:v>
                </c:pt>
                <c:pt idx="130">
                  <c:v>1.35585141</c:v>
                </c:pt>
                <c:pt idx="131">
                  <c:v>2.04709835</c:v>
                </c:pt>
                <c:pt idx="132">
                  <c:v>2.27460302</c:v>
                </c:pt>
                <c:pt idx="133">
                  <c:v>2.18901182</c:v>
                </c:pt>
                <c:pt idx="134">
                  <c:v>2.26755126</c:v>
                </c:pt>
                <c:pt idx="135">
                  <c:v>2.33361596</c:v>
                </c:pt>
                <c:pt idx="136">
                  <c:v>2.83783135</c:v>
                </c:pt>
                <c:pt idx="137">
                  <c:v>3.16296877</c:v>
                </c:pt>
                <c:pt idx="138">
                  <c:v>3.40025561</c:v>
                </c:pt>
                <c:pt idx="139">
                  <c:v>4.07391738</c:v>
                </c:pt>
                <c:pt idx="140">
                  <c:v>4.3184875</c:v>
                </c:pt>
                <c:pt idx="141">
                  <c:v>4.3475019</c:v>
                </c:pt>
                <c:pt idx="142">
                  <c:v>4.34059909</c:v>
                </c:pt>
                <c:pt idx="143">
                  <c:v>4.99829334</c:v>
                </c:pt>
                <c:pt idx="144">
                  <c:v>4.97796277</c:v>
                </c:pt>
                <c:pt idx="145">
                  <c:v>4.62409456</c:v>
                </c:pt>
                <c:pt idx="146">
                  <c:v>4.5620639</c:v>
                </c:pt>
                <c:pt idx="147">
                  <c:v>4.68624648</c:v>
                </c:pt>
                <c:pt idx="148">
                  <c:v>4.74836784</c:v>
                </c:pt>
                <c:pt idx="149">
                  <c:v>4.60487923</c:v>
                </c:pt>
                <c:pt idx="150">
                  <c:v>4.44474566</c:v>
                </c:pt>
                <c:pt idx="151">
                  <c:v>3.70845236</c:v>
                </c:pt>
                <c:pt idx="152">
                  <c:v>3.61628539</c:v>
                </c:pt>
                <c:pt idx="153">
                  <c:v>3.67962876</c:v>
                </c:pt>
                <c:pt idx="154">
                  <c:v>3.73022023</c:v>
                </c:pt>
                <c:pt idx="155">
                  <c:v>3.66908011</c:v>
                </c:pt>
                <c:pt idx="156">
                  <c:v>3.68655151</c:v>
                </c:pt>
                <c:pt idx="157">
                  <c:v>3.82547513</c:v>
                </c:pt>
                <c:pt idx="158">
                  <c:v>3.57853598</c:v>
                </c:pt>
                <c:pt idx="159">
                  <c:v>3.54811609</c:v>
                </c:pt>
                <c:pt idx="160">
                  <c:v>3.56364808</c:v>
                </c:pt>
                <c:pt idx="161">
                  <c:v>3.15017809</c:v>
                </c:pt>
                <c:pt idx="162">
                  <c:v>2.3477998</c:v>
                </c:pt>
                <c:pt idx="163">
                  <c:v>2.36955755</c:v>
                </c:pt>
                <c:pt idx="164">
                  <c:v>2.20385503</c:v>
                </c:pt>
                <c:pt idx="165">
                  <c:v>2.23140439</c:v>
                </c:pt>
                <c:pt idx="166">
                  <c:v>2.17402785</c:v>
                </c:pt>
                <c:pt idx="167">
                  <c:v>2.21432792</c:v>
                </c:pt>
                <c:pt idx="168">
                  <c:v>2.27578311</c:v>
                </c:pt>
                <c:pt idx="169">
                  <c:v>2.36866794</c:v>
                </c:pt>
                <c:pt idx="170">
                  <c:v>1.93893554</c:v>
                </c:pt>
                <c:pt idx="171">
                  <c:v>1.92510278</c:v>
                </c:pt>
                <c:pt idx="172">
                  <c:v>0.80886574</c:v>
                </c:pt>
                <c:pt idx="173">
                  <c:v>0.82189621</c:v>
                </c:pt>
                <c:pt idx="174">
                  <c:v>0.90726286</c:v>
                </c:pt>
                <c:pt idx="175">
                  <c:v>0.88889424</c:v>
                </c:pt>
                <c:pt idx="176">
                  <c:v>0.72332257</c:v>
                </c:pt>
                <c:pt idx="177">
                  <c:v>0.69125938</c:v>
                </c:pt>
                <c:pt idx="178">
                  <c:v>0.67697957</c:v>
                </c:pt>
                <c:pt idx="179">
                  <c:v>0.65461306</c:v>
                </c:pt>
                <c:pt idx="180">
                  <c:v>0.55359989</c:v>
                </c:pt>
                <c:pt idx="181">
                  <c:v>0.62525257</c:v>
                </c:pt>
                <c:pt idx="182">
                  <c:v>0.60996877</c:v>
                </c:pt>
                <c:pt idx="183">
                  <c:v>0.5994906</c:v>
                </c:pt>
                <c:pt idx="184">
                  <c:v>0.50778195</c:v>
                </c:pt>
                <c:pt idx="185">
                  <c:v>0.45052111</c:v>
                </c:pt>
                <c:pt idx="186">
                  <c:v>0.43980559</c:v>
                </c:pt>
                <c:pt idx="187">
                  <c:v>0.5423186</c:v>
                </c:pt>
                <c:pt idx="188">
                  <c:v>0.51891423</c:v>
                </c:pt>
                <c:pt idx="189">
                  <c:v>0.58748566</c:v>
                </c:pt>
                <c:pt idx="190">
                  <c:v>0.60543013</c:v>
                </c:pt>
                <c:pt idx="191">
                  <c:v>0.59062339</c:v>
                </c:pt>
                <c:pt idx="192">
                  <c:v>0.5939499</c:v>
                </c:pt>
                <c:pt idx="193">
                  <c:v>0.56224649</c:v>
                </c:pt>
                <c:pt idx="194">
                  <c:v>0.44846524</c:v>
                </c:pt>
                <c:pt idx="195">
                  <c:v>0.44123779</c:v>
                </c:pt>
                <c:pt idx="196">
                  <c:v>0.37767858</c:v>
                </c:pt>
                <c:pt idx="197">
                  <c:v>0.43791324</c:v>
                </c:pt>
                <c:pt idx="198">
                  <c:v>0.55356585</c:v>
                </c:pt>
                <c:pt idx="199">
                  <c:v>0.39999308</c:v>
                </c:pt>
                <c:pt idx="200">
                  <c:v>0.48964686</c:v>
                </c:pt>
                <c:pt idx="201">
                  <c:v>0.50033696</c:v>
                </c:pt>
                <c:pt idx="202">
                  <c:v>0.65211109</c:v>
                </c:pt>
                <c:pt idx="203">
                  <c:v>0.63785916</c:v>
                </c:pt>
                <c:pt idx="204">
                  <c:v>0.54210397</c:v>
                </c:pt>
                <c:pt idx="205">
                  <c:v>0.46589502</c:v>
                </c:pt>
                <c:pt idx="206">
                  <c:v>0.66293322</c:v>
                </c:pt>
                <c:pt idx="207">
                  <c:v>0.7174139</c:v>
                </c:pt>
                <c:pt idx="208">
                  <c:v>2.12915175</c:v>
                </c:pt>
                <c:pt idx="209">
                  <c:v>2.13075389</c:v>
                </c:pt>
                <c:pt idx="210">
                  <c:v>2.08953097</c:v>
                </c:pt>
                <c:pt idx="211">
                  <c:v>2.10758766</c:v>
                </c:pt>
                <c:pt idx="212">
                  <c:v>2.42132404</c:v>
                </c:pt>
                <c:pt idx="213">
                  <c:v>2.5212514</c:v>
                </c:pt>
                <c:pt idx="214">
                  <c:v>2.62477944</c:v>
                </c:pt>
                <c:pt idx="215">
                  <c:v>2.73447281</c:v>
                </c:pt>
                <c:pt idx="216">
                  <c:v>2.7819155</c:v>
                </c:pt>
                <c:pt idx="217">
                  <c:v>2.79036206</c:v>
                </c:pt>
                <c:pt idx="218">
                  <c:v>2.93812735</c:v>
                </c:pt>
                <c:pt idx="219">
                  <c:v>2.92857526</c:v>
                </c:pt>
                <c:pt idx="220">
                  <c:v>3.39599794</c:v>
                </c:pt>
                <c:pt idx="221">
                  <c:v>3.69725693</c:v>
                </c:pt>
                <c:pt idx="222">
                  <c:v>3.66027317</c:v>
                </c:pt>
                <c:pt idx="223">
                  <c:v>3.68232585</c:v>
                </c:pt>
                <c:pt idx="224">
                  <c:v>3.77233429</c:v>
                </c:pt>
                <c:pt idx="225">
                  <c:v>3.79629909</c:v>
                </c:pt>
                <c:pt idx="226">
                  <c:v>3.78971808</c:v>
                </c:pt>
                <c:pt idx="227">
                  <c:v>3.90867177</c:v>
                </c:pt>
                <c:pt idx="228">
                  <c:v>3.8593251</c:v>
                </c:pt>
                <c:pt idx="229">
                  <c:v>3.80005241</c:v>
                </c:pt>
                <c:pt idx="230">
                  <c:v>3.73185733</c:v>
                </c:pt>
                <c:pt idx="231">
                  <c:v>3.84520345</c:v>
                </c:pt>
                <c:pt idx="232">
                  <c:v>3.40946097</c:v>
                </c:pt>
                <c:pt idx="233">
                  <c:v>3.3449948</c:v>
                </c:pt>
                <c:pt idx="234">
                  <c:v>3.2622079</c:v>
                </c:pt>
                <c:pt idx="235">
                  <c:v>3.42358572</c:v>
                </c:pt>
                <c:pt idx="236">
                  <c:v>3.24669967</c:v>
                </c:pt>
                <c:pt idx="237">
                  <c:v>2.99494996</c:v>
                </c:pt>
                <c:pt idx="238">
                  <c:v>3.16127772</c:v>
                </c:pt>
                <c:pt idx="239">
                  <c:v>3.13994746</c:v>
                </c:pt>
                <c:pt idx="240">
                  <c:v>2.41745093</c:v>
                </c:pt>
                <c:pt idx="241">
                  <c:v>2.43059108</c:v>
                </c:pt>
                <c:pt idx="242">
                  <c:v>2.43652271</c:v>
                </c:pt>
                <c:pt idx="243">
                  <c:v>2.41972285</c:v>
                </c:pt>
                <c:pt idx="244">
                  <c:v>2.37886508</c:v>
                </c:pt>
                <c:pt idx="245">
                  <c:v>2.37059345</c:v>
                </c:pt>
                <c:pt idx="246">
                  <c:v>2.25307843</c:v>
                </c:pt>
                <c:pt idx="247">
                  <c:v>2.20984432</c:v>
                </c:pt>
                <c:pt idx="248">
                  <c:v>2.24277672</c:v>
                </c:pt>
                <c:pt idx="249">
                  <c:v>2.3037351</c:v>
                </c:pt>
                <c:pt idx="250">
                  <c:v>2.3212478</c:v>
                </c:pt>
                <c:pt idx="251">
                  <c:v>2.31549726</c:v>
                </c:pt>
                <c:pt idx="252">
                  <c:v>2.46764567</c:v>
                </c:pt>
                <c:pt idx="253">
                  <c:v>2.47023757</c:v>
                </c:pt>
                <c:pt idx="254">
                  <c:v>2.3092302</c:v>
                </c:pt>
                <c:pt idx="255">
                  <c:v>2.14499938</c:v>
                </c:pt>
                <c:pt idx="256">
                  <c:v>1.60743068</c:v>
                </c:pt>
                <c:pt idx="257">
                  <c:v>1.73403733</c:v>
                </c:pt>
                <c:pt idx="258">
                  <c:v>1.82058716</c:v>
                </c:pt>
                <c:pt idx="259">
                  <c:v>1.68675522</c:v>
                </c:pt>
                <c:pt idx="260">
                  <c:v>1.60790071</c:v>
                </c:pt>
                <c:pt idx="261">
                  <c:v>1.5958477</c:v>
                </c:pt>
                <c:pt idx="262">
                  <c:v>1.52249054</c:v>
                </c:pt>
                <c:pt idx="263">
                  <c:v>1.4457142</c:v>
                </c:pt>
                <c:pt idx="264">
                  <c:v>1.39765761</c:v>
                </c:pt>
              </c:numCache>
            </c:numRef>
          </c:yVal>
        </c:ser>
        <c:ser>
          <c:idx val="1"/>
          <c:order val="1"/>
          <c:tx>
            <c:v>Code 07 GAN</c:v>
          </c:tx>
          <c:spPr>
            <a:solidFill xmlns:a="http://schemas.openxmlformats.org/drawingml/2006/main">
              <a:srgbClr val="003262"/>
            </a:solidFill>
            <a:ln xmlns:a="http://schemas.openxmlformats.org/drawingml/2006/main" w="20003">
              <a:solidFill>
                <a:srgbClr val="003262"/>
              </a:solidFill>
            </a:ln>
          </c:spPr>
          <c:marker>
            <c:symbol val="none"/>
          </c:marker>
          <c:xVal>
            <c:numRef>
              <c:f>'Chart Data'!$C$2:$C$266</c:f>
              <c:numCache>
                <c:formatCode>General</c:formatCode>
                <c:ptCount val="265"/>
                <c:pt idx="0">
                  <c:v>1994.916667</c:v>
                </c:pt>
                <c:pt idx="1">
                  <c:v>1995</c:v>
                </c:pt>
                <c:pt idx="2">
                  <c:v>1995.083333</c:v>
                </c:pt>
                <c:pt idx="3">
                  <c:v>1995.166667</c:v>
                </c:pt>
                <c:pt idx="4">
                  <c:v>1995.25</c:v>
                </c:pt>
                <c:pt idx="5">
                  <c:v>1995.333333</c:v>
                </c:pt>
                <c:pt idx="6">
                  <c:v>1995.416667</c:v>
                </c:pt>
                <c:pt idx="7">
                  <c:v>1995.5</c:v>
                </c:pt>
                <c:pt idx="8">
                  <c:v>1995.583333</c:v>
                </c:pt>
                <c:pt idx="9">
                  <c:v>1995.666667</c:v>
                </c:pt>
                <c:pt idx="10">
                  <c:v>1995.75</c:v>
                </c:pt>
                <c:pt idx="11">
                  <c:v>1995.833333</c:v>
                </c:pt>
                <c:pt idx="12">
                  <c:v>1995.916667</c:v>
                </c:pt>
                <c:pt idx="13">
                  <c:v>1996</c:v>
                </c:pt>
                <c:pt idx="14">
                  <c:v>1996.083333</c:v>
                </c:pt>
                <c:pt idx="15">
                  <c:v>1996.166667</c:v>
                </c:pt>
                <c:pt idx="16">
                  <c:v>1996.25</c:v>
                </c:pt>
                <c:pt idx="17">
                  <c:v>1996.333333</c:v>
                </c:pt>
                <c:pt idx="18">
                  <c:v>1996.416667</c:v>
                </c:pt>
                <c:pt idx="19">
                  <c:v>1996.5</c:v>
                </c:pt>
                <c:pt idx="20">
                  <c:v>1996.583333</c:v>
                </c:pt>
                <c:pt idx="21">
                  <c:v>1996.666667</c:v>
                </c:pt>
                <c:pt idx="22">
                  <c:v>1996.75</c:v>
                </c:pt>
                <c:pt idx="23">
                  <c:v>1996.833333</c:v>
                </c:pt>
                <c:pt idx="24">
                  <c:v>1996.916667</c:v>
                </c:pt>
                <c:pt idx="25">
                  <c:v>1997</c:v>
                </c:pt>
                <c:pt idx="26">
                  <c:v>1997.083333</c:v>
                </c:pt>
                <c:pt idx="27">
                  <c:v>1997.166667</c:v>
                </c:pt>
                <c:pt idx="28">
                  <c:v>1997.25</c:v>
                </c:pt>
                <c:pt idx="29">
                  <c:v>1997.333333</c:v>
                </c:pt>
                <c:pt idx="30">
                  <c:v>1997.416667</c:v>
                </c:pt>
                <c:pt idx="31">
                  <c:v>1997.5</c:v>
                </c:pt>
                <c:pt idx="32">
                  <c:v>1997.583333</c:v>
                </c:pt>
                <c:pt idx="33">
                  <c:v>1997.666667</c:v>
                </c:pt>
                <c:pt idx="34">
                  <c:v>1997.75</c:v>
                </c:pt>
                <c:pt idx="35">
                  <c:v>1997.833333</c:v>
                </c:pt>
                <c:pt idx="36">
                  <c:v>1997.916667</c:v>
                </c:pt>
                <c:pt idx="37">
                  <c:v>1998</c:v>
                </c:pt>
                <c:pt idx="38">
                  <c:v>1998.083333</c:v>
                </c:pt>
                <c:pt idx="39">
                  <c:v>1998.166667</c:v>
                </c:pt>
                <c:pt idx="40">
                  <c:v>1998.25</c:v>
                </c:pt>
                <c:pt idx="41">
                  <c:v>1998.333333</c:v>
                </c:pt>
                <c:pt idx="42">
                  <c:v>1998.416667</c:v>
                </c:pt>
                <c:pt idx="43">
                  <c:v>1998.5</c:v>
                </c:pt>
                <c:pt idx="44">
                  <c:v>1998.583333</c:v>
                </c:pt>
                <c:pt idx="45">
                  <c:v>1998.666667</c:v>
                </c:pt>
                <c:pt idx="46">
                  <c:v>1998.75</c:v>
                </c:pt>
                <c:pt idx="47">
                  <c:v>1998.833333</c:v>
                </c:pt>
                <c:pt idx="48">
                  <c:v>1998.916667</c:v>
                </c:pt>
                <c:pt idx="49">
                  <c:v>1999</c:v>
                </c:pt>
                <c:pt idx="50">
                  <c:v>1999.083333</c:v>
                </c:pt>
                <c:pt idx="51">
                  <c:v>1999.166667</c:v>
                </c:pt>
                <c:pt idx="52">
                  <c:v>1999.25</c:v>
                </c:pt>
                <c:pt idx="53">
                  <c:v>1999.333333</c:v>
                </c:pt>
                <c:pt idx="54">
                  <c:v>1999.416667</c:v>
                </c:pt>
                <c:pt idx="55">
                  <c:v>1999.5</c:v>
                </c:pt>
                <c:pt idx="56">
                  <c:v>1999.583333</c:v>
                </c:pt>
                <c:pt idx="57">
                  <c:v>1999.666667</c:v>
                </c:pt>
                <c:pt idx="58">
                  <c:v>1999.75</c:v>
                </c:pt>
                <c:pt idx="59">
                  <c:v>1999.833333</c:v>
                </c:pt>
                <c:pt idx="60">
                  <c:v>1999.916667</c:v>
                </c:pt>
                <c:pt idx="61">
                  <c:v>2000</c:v>
                </c:pt>
                <c:pt idx="62">
                  <c:v>2000.083333</c:v>
                </c:pt>
                <c:pt idx="63">
                  <c:v>2000.166667</c:v>
                </c:pt>
                <c:pt idx="64">
                  <c:v>2000.25</c:v>
                </c:pt>
                <c:pt idx="65">
                  <c:v>2000.333333</c:v>
                </c:pt>
                <c:pt idx="66">
                  <c:v>2000.416667</c:v>
                </c:pt>
                <c:pt idx="67">
                  <c:v>2000.5</c:v>
                </c:pt>
                <c:pt idx="68">
                  <c:v>2000.583333</c:v>
                </c:pt>
                <c:pt idx="69">
                  <c:v>2000.666667</c:v>
                </c:pt>
                <c:pt idx="70">
                  <c:v>2000.75</c:v>
                </c:pt>
                <c:pt idx="71">
                  <c:v>2000.833333</c:v>
                </c:pt>
                <c:pt idx="72">
                  <c:v>2000.916667</c:v>
                </c:pt>
                <c:pt idx="73">
                  <c:v>2001</c:v>
                </c:pt>
                <c:pt idx="74">
                  <c:v>2001.083333</c:v>
                </c:pt>
                <c:pt idx="75">
                  <c:v>2001.166667</c:v>
                </c:pt>
                <c:pt idx="76">
                  <c:v>2001.25</c:v>
                </c:pt>
                <c:pt idx="77">
                  <c:v>2001.333333</c:v>
                </c:pt>
                <c:pt idx="78">
                  <c:v>2001.416667</c:v>
                </c:pt>
                <c:pt idx="79">
                  <c:v>2001.5</c:v>
                </c:pt>
                <c:pt idx="80">
                  <c:v>2001.583333</c:v>
                </c:pt>
                <c:pt idx="81">
                  <c:v>2001.666667</c:v>
                </c:pt>
                <c:pt idx="82">
                  <c:v>2001.75</c:v>
                </c:pt>
                <c:pt idx="83">
                  <c:v>2001.833333</c:v>
                </c:pt>
                <c:pt idx="84">
                  <c:v>2001.916667</c:v>
                </c:pt>
                <c:pt idx="85">
                  <c:v>2002</c:v>
                </c:pt>
                <c:pt idx="86">
                  <c:v>2002.083333</c:v>
                </c:pt>
                <c:pt idx="87">
                  <c:v>2002.166667</c:v>
                </c:pt>
                <c:pt idx="88">
                  <c:v>2002.25</c:v>
                </c:pt>
                <c:pt idx="89">
                  <c:v>2002.333333</c:v>
                </c:pt>
                <c:pt idx="90">
                  <c:v>2002.416667</c:v>
                </c:pt>
                <c:pt idx="91">
                  <c:v>2002.5</c:v>
                </c:pt>
                <c:pt idx="92">
                  <c:v>2002.583333</c:v>
                </c:pt>
                <c:pt idx="93">
                  <c:v>2002.666667</c:v>
                </c:pt>
                <c:pt idx="94">
                  <c:v>2002.75</c:v>
                </c:pt>
                <c:pt idx="95">
                  <c:v>2002.833333</c:v>
                </c:pt>
                <c:pt idx="96">
                  <c:v>2002.916667</c:v>
                </c:pt>
                <c:pt idx="97">
                  <c:v>2003</c:v>
                </c:pt>
                <c:pt idx="98">
                  <c:v>2003.083333</c:v>
                </c:pt>
                <c:pt idx="99">
                  <c:v>2003.166667</c:v>
                </c:pt>
                <c:pt idx="100">
                  <c:v>2003.25</c:v>
                </c:pt>
                <c:pt idx="101">
                  <c:v>2003.333333</c:v>
                </c:pt>
                <c:pt idx="102">
                  <c:v>2003.416667</c:v>
                </c:pt>
                <c:pt idx="103">
                  <c:v>2003.5</c:v>
                </c:pt>
                <c:pt idx="104">
                  <c:v>2003.583333</c:v>
                </c:pt>
                <c:pt idx="105">
                  <c:v>2003.666667</c:v>
                </c:pt>
                <c:pt idx="106">
                  <c:v>2003.75</c:v>
                </c:pt>
                <c:pt idx="107">
                  <c:v>2003.833333</c:v>
                </c:pt>
                <c:pt idx="108">
                  <c:v>2003.916667</c:v>
                </c:pt>
                <c:pt idx="109">
                  <c:v>2004</c:v>
                </c:pt>
                <c:pt idx="110">
                  <c:v>2004.083333</c:v>
                </c:pt>
                <c:pt idx="111">
                  <c:v>2004.166667</c:v>
                </c:pt>
                <c:pt idx="112">
                  <c:v>2004.25</c:v>
                </c:pt>
                <c:pt idx="113">
                  <c:v>2004.333333</c:v>
                </c:pt>
                <c:pt idx="114">
                  <c:v>2004.416667</c:v>
                </c:pt>
                <c:pt idx="115">
                  <c:v>2004.5</c:v>
                </c:pt>
                <c:pt idx="116">
                  <c:v>2004.583333</c:v>
                </c:pt>
                <c:pt idx="117">
                  <c:v>2004.666667</c:v>
                </c:pt>
                <c:pt idx="118">
                  <c:v>2004.75</c:v>
                </c:pt>
                <c:pt idx="119">
                  <c:v>2004.833333</c:v>
                </c:pt>
                <c:pt idx="120">
                  <c:v>2004.916667</c:v>
                </c:pt>
                <c:pt idx="121">
                  <c:v>2005</c:v>
                </c:pt>
                <c:pt idx="122">
                  <c:v>2005.083333</c:v>
                </c:pt>
                <c:pt idx="123">
                  <c:v>2005.166667</c:v>
                </c:pt>
                <c:pt idx="124">
                  <c:v>2005.25</c:v>
                </c:pt>
                <c:pt idx="125">
                  <c:v>2005.333333</c:v>
                </c:pt>
                <c:pt idx="126">
                  <c:v>2005.416667</c:v>
                </c:pt>
                <c:pt idx="127">
                  <c:v>2005.5</c:v>
                </c:pt>
                <c:pt idx="128">
                  <c:v>2005.583333</c:v>
                </c:pt>
                <c:pt idx="129">
                  <c:v>2005.666667</c:v>
                </c:pt>
                <c:pt idx="130">
                  <c:v>2005.75</c:v>
                </c:pt>
                <c:pt idx="131">
                  <c:v>2005.833333</c:v>
                </c:pt>
                <c:pt idx="132">
                  <c:v>2005.916667</c:v>
                </c:pt>
                <c:pt idx="133">
                  <c:v>2006</c:v>
                </c:pt>
                <c:pt idx="134">
                  <c:v>2006.083333</c:v>
                </c:pt>
                <c:pt idx="135">
                  <c:v>2006.166667</c:v>
                </c:pt>
                <c:pt idx="136">
                  <c:v>2006.25</c:v>
                </c:pt>
                <c:pt idx="137">
                  <c:v>2006.333333</c:v>
                </c:pt>
                <c:pt idx="138">
                  <c:v>2006.416667</c:v>
                </c:pt>
                <c:pt idx="139">
                  <c:v>2006.5</c:v>
                </c:pt>
                <c:pt idx="140">
                  <c:v>2006.583333</c:v>
                </c:pt>
                <c:pt idx="141">
                  <c:v>2006.666667</c:v>
                </c:pt>
                <c:pt idx="142">
                  <c:v>2006.75</c:v>
                </c:pt>
                <c:pt idx="143">
                  <c:v>2006.833333</c:v>
                </c:pt>
                <c:pt idx="144">
                  <c:v>2006.916667</c:v>
                </c:pt>
                <c:pt idx="145">
                  <c:v>2007</c:v>
                </c:pt>
                <c:pt idx="146">
                  <c:v>2007.083333</c:v>
                </c:pt>
                <c:pt idx="147">
                  <c:v>2007.166667</c:v>
                </c:pt>
                <c:pt idx="148">
                  <c:v>2007.25</c:v>
                </c:pt>
                <c:pt idx="149">
                  <c:v>2007.333333</c:v>
                </c:pt>
                <c:pt idx="150">
                  <c:v>2007.416667</c:v>
                </c:pt>
                <c:pt idx="151">
                  <c:v>2007.5</c:v>
                </c:pt>
                <c:pt idx="152">
                  <c:v>2007.583333</c:v>
                </c:pt>
                <c:pt idx="153">
                  <c:v>2007.666667</c:v>
                </c:pt>
                <c:pt idx="154">
                  <c:v>2007.75</c:v>
                </c:pt>
                <c:pt idx="155">
                  <c:v>2007.833333</c:v>
                </c:pt>
                <c:pt idx="156">
                  <c:v>2007.916667</c:v>
                </c:pt>
                <c:pt idx="157">
                  <c:v>2008</c:v>
                </c:pt>
                <c:pt idx="158">
                  <c:v>2008.083333</c:v>
                </c:pt>
                <c:pt idx="159">
                  <c:v>2008.166667</c:v>
                </c:pt>
                <c:pt idx="160">
                  <c:v>2008.25</c:v>
                </c:pt>
                <c:pt idx="161">
                  <c:v>2008.333333</c:v>
                </c:pt>
                <c:pt idx="162">
                  <c:v>2008.416667</c:v>
                </c:pt>
                <c:pt idx="163">
                  <c:v>2008.5</c:v>
                </c:pt>
                <c:pt idx="164">
                  <c:v>2008.583333</c:v>
                </c:pt>
                <c:pt idx="165">
                  <c:v>2008.666667</c:v>
                </c:pt>
                <c:pt idx="166">
                  <c:v>2008.75</c:v>
                </c:pt>
                <c:pt idx="167">
                  <c:v>2008.833333</c:v>
                </c:pt>
                <c:pt idx="168">
                  <c:v>2008.916667</c:v>
                </c:pt>
                <c:pt idx="169">
                  <c:v>2009</c:v>
                </c:pt>
                <c:pt idx="170">
                  <c:v>2009.083333</c:v>
                </c:pt>
                <c:pt idx="171">
                  <c:v>2009.166667</c:v>
                </c:pt>
                <c:pt idx="172">
                  <c:v>2009.25</c:v>
                </c:pt>
                <c:pt idx="173">
                  <c:v>2009.333333</c:v>
                </c:pt>
                <c:pt idx="174">
                  <c:v>2009.416667</c:v>
                </c:pt>
                <c:pt idx="175">
                  <c:v>2009.5</c:v>
                </c:pt>
                <c:pt idx="176">
                  <c:v>2009.583333</c:v>
                </c:pt>
                <c:pt idx="177">
                  <c:v>2009.666667</c:v>
                </c:pt>
                <c:pt idx="178">
                  <c:v>2009.75</c:v>
                </c:pt>
                <c:pt idx="179">
                  <c:v>2009.833333</c:v>
                </c:pt>
                <c:pt idx="180">
                  <c:v>2009.916667</c:v>
                </c:pt>
                <c:pt idx="181">
                  <c:v>2010</c:v>
                </c:pt>
                <c:pt idx="182">
                  <c:v>2010.083333</c:v>
                </c:pt>
                <c:pt idx="183">
                  <c:v>2010.166667</c:v>
                </c:pt>
                <c:pt idx="184">
                  <c:v>2010.25</c:v>
                </c:pt>
                <c:pt idx="185">
                  <c:v>2010.333333</c:v>
                </c:pt>
                <c:pt idx="186">
                  <c:v>2010.416667</c:v>
                </c:pt>
                <c:pt idx="187">
                  <c:v>2010.5</c:v>
                </c:pt>
                <c:pt idx="188">
                  <c:v>2010.583333</c:v>
                </c:pt>
                <c:pt idx="189">
                  <c:v>2010.666667</c:v>
                </c:pt>
                <c:pt idx="190">
                  <c:v>2010.75</c:v>
                </c:pt>
                <c:pt idx="191">
                  <c:v>2010.833333</c:v>
                </c:pt>
                <c:pt idx="192">
                  <c:v>2010.916667</c:v>
                </c:pt>
                <c:pt idx="193">
                  <c:v>2011</c:v>
                </c:pt>
                <c:pt idx="194">
                  <c:v>2011.083333</c:v>
                </c:pt>
                <c:pt idx="195">
                  <c:v>2011.166667</c:v>
                </c:pt>
                <c:pt idx="196">
                  <c:v>2011.25</c:v>
                </c:pt>
                <c:pt idx="197">
                  <c:v>2011.333333</c:v>
                </c:pt>
                <c:pt idx="198">
                  <c:v>2011.416667</c:v>
                </c:pt>
                <c:pt idx="199">
                  <c:v>2011.5</c:v>
                </c:pt>
                <c:pt idx="200">
                  <c:v>2011.583333</c:v>
                </c:pt>
                <c:pt idx="201">
                  <c:v>2011.666667</c:v>
                </c:pt>
                <c:pt idx="202">
                  <c:v>2011.75</c:v>
                </c:pt>
                <c:pt idx="203">
                  <c:v>2011.833333</c:v>
                </c:pt>
                <c:pt idx="204">
                  <c:v>2011.916667</c:v>
                </c:pt>
                <c:pt idx="205">
                  <c:v>2012</c:v>
                </c:pt>
                <c:pt idx="206">
                  <c:v>2012.083333</c:v>
                </c:pt>
                <c:pt idx="207">
                  <c:v>2012.166667</c:v>
                </c:pt>
                <c:pt idx="208">
                  <c:v>2012.25</c:v>
                </c:pt>
                <c:pt idx="209">
                  <c:v>2012.333333</c:v>
                </c:pt>
                <c:pt idx="210">
                  <c:v>2012.416667</c:v>
                </c:pt>
                <c:pt idx="211">
                  <c:v>2012.5</c:v>
                </c:pt>
                <c:pt idx="212">
                  <c:v>2012.583333</c:v>
                </c:pt>
                <c:pt idx="213">
                  <c:v>2012.666667</c:v>
                </c:pt>
                <c:pt idx="214">
                  <c:v>2012.75</c:v>
                </c:pt>
                <c:pt idx="215">
                  <c:v>2012.833333</c:v>
                </c:pt>
                <c:pt idx="216">
                  <c:v>2012.916667</c:v>
                </c:pt>
                <c:pt idx="217">
                  <c:v>2013</c:v>
                </c:pt>
                <c:pt idx="218">
                  <c:v>2013.083333</c:v>
                </c:pt>
                <c:pt idx="219">
                  <c:v>2013.166667</c:v>
                </c:pt>
                <c:pt idx="220">
                  <c:v>2013.25</c:v>
                </c:pt>
                <c:pt idx="221">
                  <c:v>2013.333333</c:v>
                </c:pt>
                <c:pt idx="222">
                  <c:v>2013.416667</c:v>
                </c:pt>
                <c:pt idx="223">
                  <c:v>2013.5</c:v>
                </c:pt>
                <c:pt idx="224">
                  <c:v>2013.583333</c:v>
                </c:pt>
                <c:pt idx="225">
                  <c:v>2013.666667</c:v>
                </c:pt>
                <c:pt idx="226">
                  <c:v>2013.75</c:v>
                </c:pt>
                <c:pt idx="227">
                  <c:v>2013.833333</c:v>
                </c:pt>
                <c:pt idx="228">
                  <c:v>2013.916667</c:v>
                </c:pt>
                <c:pt idx="229">
                  <c:v>2014</c:v>
                </c:pt>
                <c:pt idx="230">
                  <c:v>2014.083333</c:v>
                </c:pt>
                <c:pt idx="231">
                  <c:v>2014.166667</c:v>
                </c:pt>
                <c:pt idx="232">
                  <c:v>2014.25</c:v>
                </c:pt>
                <c:pt idx="233">
                  <c:v>2014.333333</c:v>
                </c:pt>
                <c:pt idx="234">
                  <c:v>2014.416667</c:v>
                </c:pt>
                <c:pt idx="235">
                  <c:v>2014.5</c:v>
                </c:pt>
                <c:pt idx="236">
                  <c:v>2014.583333</c:v>
                </c:pt>
                <c:pt idx="237">
                  <c:v>2014.666667</c:v>
                </c:pt>
                <c:pt idx="238">
                  <c:v>2014.75</c:v>
                </c:pt>
                <c:pt idx="239">
                  <c:v>2014.833333</c:v>
                </c:pt>
                <c:pt idx="240">
                  <c:v>2014.916667</c:v>
                </c:pt>
                <c:pt idx="241">
                  <c:v>2015</c:v>
                </c:pt>
                <c:pt idx="242">
                  <c:v>2015.083333</c:v>
                </c:pt>
                <c:pt idx="243">
                  <c:v>2015.166667</c:v>
                </c:pt>
                <c:pt idx="244">
                  <c:v>2015.25</c:v>
                </c:pt>
                <c:pt idx="245">
                  <c:v>2015.333333</c:v>
                </c:pt>
                <c:pt idx="246">
                  <c:v>2015.416667</c:v>
                </c:pt>
                <c:pt idx="247">
                  <c:v>2015.5</c:v>
                </c:pt>
                <c:pt idx="248">
                  <c:v>2015.583333</c:v>
                </c:pt>
                <c:pt idx="249">
                  <c:v>2015.666667</c:v>
                </c:pt>
                <c:pt idx="250">
                  <c:v>2015.75</c:v>
                </c:pt>
                <c:pt idx="251">
                  <c:v>2015.833333</c:v>
                </c:pt>
                <c:pt idx="252">
                  <c:v>2015.916667</c:v>
                </c:pt>
                <c:pt idx="253">
                  <c:v>2016</c:v>
                </c:pt>
                <c:pt idx="254">
                  <c:v>2016.083333</c:v>
                </c:pt>
                <c:pt idx="255">
                  <c:v>2016.166667</c:v>
                </c:pt>
                <c:pt idx="256">
                  <c:v>2016.25</c:v>
                </c:pt>
                <c:pt idx="257">
                  <c:v>2016.333333</c:v>
                </c:pt>
                <c:pt idx="258">
                  <c:v>2016.416667</c:v>
                </c:pt>
                <c:pt idx="259">
                  <c:v>2016.5</c:v>
                </c:pt>
                <c:pt idx="260">
                  <c:v>2016.583333</c:v>
                </c:pt>
                <c:pt idx="261">
                  <c:v>2016.666667</c:v>
                </c:pt>
                <c:pt idx="262">
                  <c:v>2016.75</c:v>
                </c:pt>
                <c:pt idx="263">
                  <c:v>2016.833333</c:v>
                </c:pt>
                <c:pt idx="264">
                  <c:v>2016.916667</c:v>
                </c:pt>
              </c:numCache>
            </c:numRef>
          </c:xVal>
          <c:yVal>
            <c:numRef>
              <c:f>'Chart Data'!$D$2:$D$266</c:f>
              <c:numCache>
                <c:formatCode>0.000</c:formatCode>
                <c:ptCount val="265"/>
                <c:pt idx="0">
                  <c:v>4.35771524</c:v>
                </c:pt>
                <c:pt idx="1">
                  <c:v>4.73571406</c:v>
                </c:pt>
                <c:pt idx="2">
                  <c:v>5.28731228</c:v>
                </c:pt>
                <c:pt idx="3">
                  <c:v>5.30956763</c:v>
                </c:pt>
                <c:pt idx="4">
                  <c:v>5.3558775</c:v>
                </c:pt>
                <c:pt idx="5">
                  <c:v>5.25664504</c:v>
                </c:pt>
                <c:pt idx="6">
                  <c:v>5.34332183</c:v>
                </c:pt>
                <c:pt idx="7">
                  <c:v>5.20960636</c:v>
                </c:pt>
                <c:pt idx="8">
                  <c:v>5.16620153</c:v>
                </c:pt>
                <c:pt idx="9">
                  <c:v>5.17611227</c:v>
                </c:pt>
                <c:pt idx="10">
                  <c:v>5.34710643</c:v>
                </c:pt>
                <c:pt idx="11">
                  <c:v>5.38377255</c:v>
                </c:pt>
                <c:pt idx="12">
                  <c:v>5.41034167</c:v>
                </c:pt>
                <c:pt idx="13">
                  <c:v>5.77722431</c:v>
                </c:pt>
                <c:pt idx="14">
                  <c:v>5.70614181</c:v>
                </c:pt>
                <c:pt idx="15">
                  <c:v>5.76194481</c:v>
                </c:pt>
                <c:pt idx="16">
                  <c:v>5.40963829</c:v>
                </c:pt>
                <c:pt idx="17">
                  <c:v>5.58896543</c:v>
                </c:pt>
                <c:pt idx="18">
                  <c:v>5.57373526</c:v>
                </c:pt>
                <c:pt idx="19">
                  <c:v>5.57862533</c:v>
                </c:pt>
                <c:pt idx="20">
                  <c:v>5.55278329</c:v>
                </c:pt>
                <c:pt idx="21">
                  <c:v>5.44990387</c:v>
                </c:pt>
                <c:pt idx="22">
                  <c:v>5.67969619</c:v>
                </c:pt>
                <c:pt idx="23">
                  <c:v>6.08305242</c:v>
                </c:pt>
                <c:pt idx="24">
                  <c:v>6.23295874</c:v>
                </c:pt>
                <c:pt idx="25">
                  <c:v>6.08651579</c:v>
                </c:pt>
                <c:pt idx="26">
                  <c:v>6.69779815</c:v>
                </c:pt>
                <c:pt idx="27">
                  <c:v>6.88678567</c:v>
                </c:pt>
                <c:pt idx="28">
                  <c:v>6.89781986</c:v>
                </c:pt>
                <c:pt idx="29">
                  <c:v>7.22008243</c:v>
                </c:pt>
                <c:pt idx="30">
                  <c:v>7.1434033</c:v>
                </c:pt>
                <c:pt idx="31">
                  <c:v>7.26464961</c:v>
                </c:pt>
                <c:pt idx="32">
                  <c:v>6.89354325</c:v>
                </c:pt>
                <c:pt idx="33">
                  <c:v>6.96879909</c:v>
                </c:pt>
                <c:pt idx="34">
                  <c:v>6.92695897</c:v>
                </c:pt>
                <c:pt idx="35">
                  <c:v>7.07944728</c:v>
                </c:pt>
                <c:pt idx="36">
                  <c:v>7.35294703</c:v>
                </c:pt>
                <c:pt idx="37">
                  <c:v>7.35047429</c:v>
                </c:pt>
                <c:pt idx="38">
                  <c:v>7.33989944</c:v>
                </c:pt>
                <c:pt idx="39">
                  <c:v>7.35881006</c:v>
                </c:pt>
                <c:pt idx="40">
                  <c:v>7.0519877</c:v>
                </c:pt>
                <c:pt idx="41">
                  <c:v>7.21673559</c:v>
                </c:pt>
                <c:pt idx="42">
                  <c:v>7.40709554</c:v>
                </c:pt>
                <c:pt idx="43">
                  <c:v>7.57868636</c:v>
                </c:pt>
                <c:pt idx="44">
                  <c:v>7.64936827</c:v>
                </c:pt>
                <c:pt idx="45">
                  <c:v>7.5873724</c:v>
                </c:pt>
                <c:pt idx="46">
                  <c:v>7.54879875</c:v>
                </c:pt>
                <c:pt idx="47">
                  <c:v>7.35713973</c:v>
                </c:pt>
                <c:pt idx="48">
                  <c:v>7.29691544</c:v>
                </c:pt>
                <c:pt idx="49">
                  <c:v>7.22934427</c:v>
                </c:pt>
                <c:pt idx="50">
                  <c:v>7.35832538</c:v>
                </c:pt>
                <c:pt idx="51">
                  <c:v>6.01325745</c:v>
                </c:pt>
                <c:pt idx="52">
                  <c:v>5.05297595</c:v>
                </c:pt>
                <c:pt idx="53">
                  <c:v>5.20560997</c:v>
                </c:pt>
                <c:pt idx="54">
                  <c:v>5.244057</c:v>
                </c:pt>
                <c:pt idx="55">
                  <c:v>5.2461493</c:v>
                </c:pt>
                <c:pt idx="56">
                  <c:v>5.09201122</c:v>
                </c:pt>
                <c:pt idx="57">
                  <c:v>5.03233495</c:v>
                </c:pt>
                <c:pt idx="58">
                  <c:v>5.01533124</c:v>
                </c:pt>
                <c:pt idx="59">
                  <c:v>5.16957517</c:v>
                </c:pt>
                <c:pt idx="60">
                  <c:v>4.39211982</c:v>
                </c:pt>
                <c:pt idx="61">
                  <c:v>4.37974183</c:v>
                </c:pt>
                <c:pt idx="62">
                  <c:v>2.29176415</c:v>
                </c:pt>
                <c:pt idx="63">
                  <c:v>2.30890098</c:v>
                </c:pt>
                <c:pt idx="64">
                  <c:v>2.30282231</c:v>
                </c:pt>
                <c:pt idx="65">
                  <c:v>2.20593314</c:v>
                </c:pt>
                <c:pt idx="66">
                  <c:v>2.23218721</c:v>
                </c:pt>
                <c:pt idx="67">
                  <c:v>2.25892021</c:v>
                </c:pt>
                <c:pt idx="68">
                  <c:v>2.33512605</c:v>
                </c:pt>
                <c:pt idx="69">
                  <c:v>2.38576804</c:v>
                </c:pt>
                <c:pt idx="70">
                  <c:v>2.38762084</c:v>
                </c:pt>
                <c:pt idx="71">
                  <c:v>2.38656336</c:v>
                </c:pt>
                <c:pt idx="72">
                  <c:v>2.37642521</c:v>
                </c:pt>
                <c:pt idx="73">
                  <c:v>2.35324208</c:v>
                </c:pt>
                <c:pt idx="74">
                  <c:v>2.30528223</c:v>
                </c:pt>
                <c:pt idx="75">
                  <c:v>2.31854475</c:v>
                </c:pt>
                <c:pt idx="76">
                  <c:v>2.36485265</c:v>
                </c:pt>
                <c:pt idx="77">
                  <c:v>2.3605959</c:v>
                </c:pt>
                <c:pt idx="78">
                  <c:v>2.31992907</c:v>
                </c:pt>
                <c:pt idx="79">
                  <c:v>2.38455992</c:v>
                </c:pt>
                <c:pt idx="80">
                  <c:v>2.37987592</c:v>
                </c:pt>
                <c:pt idx="81">
                  <c:v>2.3829419</c:v>
                </c:pt>
                <c:pt idx="82">
                  <c:v>2.33652237</c:v>
                </c:pt>
                <c:pt idx="83">
                  <c:v>2.08906465</c:v>
                </c:pt>
                <c:pt idx="84">
                  <c:v>2.04407067</c:v>
                </c:pt>
                <c:pt idx="85">
                  <c:v>2.11189335</c:v>
                </c:pt>
                <c:pt idx="86">
                  <c:v>2.15565496</c:v>
                </c:pt>
                <c:pt idx="87">
                  <c:v>2.32618889</c:v>
                </c:pt>
                <c:pt idx="88">
                  <c:v>2.60294185</c:v>
                </c:pt>
                <c:pt idx="89">
                  <c:v>2.65160779</c:v>
                </c:pt>
                <c:pt idx="90">
                  <c:v>2.6691663</c:v>
                </c:pt>
                <c:pt idx="91">
                  <c:v>2.72529545</c:v>
                </c:pt>
                <c:pt idx="92">
                  <c:v>2.79881537</c:v>
                </c:pt>
                <c:pt idx="93">
                  <c:v>2.90578234</c:v>
                </c:pt>
                <c:pt idx="94">
                  <c:v>2.81582337</c:v>
                </c:pt>
                <c:pt idx="95">
                  <c:v>2.29690651</c:v>
                </c:pt>
                <c:pt idx="96">
                  <c:v>2.52032823</c:v>
                </c:pt>
                <c:pt idx="97">
                  <c:v>2.42936803</c:v>
                </c:pt>
                <c:pt idx="98">
                  <c:v>3.11196213</c:v>
                </c:pt>
                <c:pt idx="99">
                  <c:v>2.94355865</c:v>
                </c:pt>
                <c:pt idx="100">
                  <c:v>2.73102346</c:v>
                </c:pt>
                <c:pt idx="101">
                  <c:v>2.3484632</c:v>
                </c:pt>
                <c:pt idx="102">
                  <c:v>2.18753979</c:v>
                </c:pt>
                <c:pt idx="103">
                  <c:v>2.02172472</c:v>
                </c:pt>
                <c:pt idx="104">
                  <c:v>1.96868264</c:v>
                </c:pt>
                <c:pt idx="105">
                  <c:v>1.96756149</c:v>
                </c:pt>
                <c:pt idx="106">
                  <c:v>1.94862026</c:v>
                </c:pt>
                <c:pt idx="107">
                  <c:v>1.8826364</c:v>
                </c:pt>
                <c:pt idx="108">
                  <c:v>1.87859563</c:v>
                </c:pt>
                <c:pt idx="109">
                  <c:v>1.88557082</c:v>
                </c:pt>
                <c:pt idx="110">
                  <c:v>1.79591917</c:v>
                </c:pt>
                <c:pt idx="111">
                  <c:v>1.72748291</c:v>
                </c:pt>
                <c:pt idx="112">
                  <c:v>1.66634497</c:v>
                </c:pt>
                <c:pt idx="113">
                  <c:v>1.61797951</c:v>
                </c:pt>
                <c:pt idx="114">
                  <c:v>1.67434069</c:v>
                </c:pt>
                <c:pt idx="115">
                  <c:v>1.60424494</c:v>
                </c:pt>
                <c:pt idx="116">
                  <c:v>1.54237126</c:v>
                </c:pt>
                <c:pt idx="117">
                  <c:v>1.55487988</c:v>
                </c:pt>
                <c:pt idx="118">
                  <c:v>1.54650066</c:v>
                </c:pt>
                <c:pt idx="119">
                  <c:v>1.76363516</c:v>
                </c:pt>
                <c:pt idx="120">
                  <c:v>1.75833207</c:v>
                </c:pt>
                <c:pt idx="121">
                  <c:v>1.74898656</c:v>
                </c:pt>
                <c:pt idx="122">
                  <c:v>1.69322104</c:v>
                </c:pt>
                <c:pt idx="123">
                  <c:v>1.64170761</c:v>
                </c:pt>
                <c:pt idx="124">
                  <c:v>1.47013764</c:v>
                </c:pt>
                <c:pt idx="125">
                  <c:v>1.4391042</c:v>
                </c:pt>
                <c:pt idx="126">
                  <c:v>1.3820806</c:v>
                </c:pt>
                <c:pt idx="127">
                  <c:v>1.17596048</c:v>
                </c:pt>
                <c:pt idx="128">
                  <c:v>1.12739318</c:v>
                </c:pt>
                <c:pt idx="129">
                  <c:v>1.0047989</c:v>
                </c:pt>
                <c:pt idx="130">
                  <c:v>1.00678067</c:v>
                </c:pt>
                <c:pt idx="131">
                  <c:v>1.47599821</c:v>
                </c:pt>
                <c:pt idx="132">
                  <c:v>1.41424931</c:v>
                </c:pt>
                <c:pt idx="133">
                  <c:v>1.44982354</c:v>
                </c:pt>
                <c:pt idx="134">
                  <c:v>1.54796855</c:v>
                </c:pt>
                <c:pt idx="135">
                  <c:v>1.59537218</c:v>
                </c:pt>
                <c:pt idx="136">
                  <c:v>1.84257811</c:v>
                </c:pt>
                <c:pt idx="137">
                  <c:v>3.03309187</c:v>
                </c:pt>
                <c:pt idx="138">
                  <c:v>3.21172203</c:v>
                </c:pt>
                <c:pt idx="139">
                  <c:v>3.63759713</c:v>
                </c:pt>
                <c:pt idx="140">
                  <c:v>3.68088627</c:v>
                </c:pt>
                <c:pt idx="141">
                  <c:v>3.65512312</c:v>
                </c:pt>
                <c:pt idx="142">
                  <c:v>3.66638214</c:v>
                </c:pt>
                <c:pt idx="143">
                  <c:v>3.50229378</c:v>
                </c:pt>
                <c:pt idx="144">
                  <c:v>3.53874226</c:v>
                </c:pt>
                <c:pt idx="145">
                  <c:v>3.36460666</c:v>
                </c:pt>
                <c:pt idx="146">
                  <c:v>3.30179906</c:v>
                </c:pt>
                <c:pt idx="147">
                  <c:v>3.40496586</c:v>
                </c:pt>
                <c:pt idx="148">
                  <c:v>3.47906408</c:v>
                </c:pt>
                <c:pt idx="149">
                  <c:v>3.40730425</c:v>
                </c:pt>
                <c:pt idx="150">
                  <c:v>3.2746444</c:v>
                </c:pt>
                <c:pt idx="151">
                  <c:v>2.93379305</c:v>
                </c:pt>
                <c:pt idx="152">
                  <c:v>2.92430628</c:v>
                </c:pt>
                <c:pt idx="153">
                  <c:v>2.88760891</c:v>
                </c:pt>
                <c:pt idx="154">
                  <c:v>2.90991585</c:v>
                </c:pt>
                <c:pt idx="155">
                  <c:v>2.56736296</c:v>
                </c:pt>
                <c:pt idx="156">
                  <c:v>2.68225853</c:v>
                </c:pt>
                <c:pt idx="157">
                  <c:v>2.77968192</c:v>
                </c:pt>
                <c:pt idx="158">
                  <c:v>2.60471756</c:v>
                </c:pt>
                <c:pt idx="159">
                  <c:v>2.66536305</c:v>
                </c:pt>
                <c:pt idx="160">
                  <c:v>2.98337943</c:v>
                </c:pt>
                <c:pt idx="161">
                  <c:v>2.86228806</c:v>
                </c:pt>
                <c:pt idx="162">
                  <c:v>2.43976122</c:v>
                </c:pt>
                <c:pt idx="163">
                  <c:v>2.73988383</c:v>
                </c:pt>
                <c:pt idx="164">
                  <c:v>2.62751433</c:v>
                </c:pt>
                <c:pt idx="165">
                  <c:v>2.72202915</c:v>
                </c:pt>
                <c:pt idx="166">
                  <c:v>2.55892164</c:v>
                </c:pt>
                <c:pt idx="167">
                  <c:v>2.65278481</c:v>
                </c:pt>
                <c:pt idx="168">
                  <c:v>2.6772221</c:v>
                </c:pt>
                <c:pt idx="169">
                  <c:v>2.63989644</c:v>
                </c:pt>
                <c:pt idx="170">
                  <c:v>2.56640479</c:v>
                </c:pt>
                <c:pt idx="171">
                  <c:v>2.57082835</c:v>
                </c:pt>
                <c:pt idx="172">
                  <c:v>1.25150391</c:v>
                </c:pt>
                <c:pt idx="173">
                  <c:v>1.238854</c:v>
                </c:pt>
                <c:pt idx="174">
                  <c:v>1.29385039</c:v>
                </c:pt>
                <c:pt idx="175">
                  <c:v>1.1162997</c:v>
                </c:pt>
                <c:pt idx="176">
                  <c:v>0.9344654</c:v>
                </c:pt>
                <c:pt idx="177">
                  <c:v>0.88427729</c:v>
                </c:pt>
                <c:pt idx="178">
                  <c:v>0.86138662</c:v>
                </c:pt>
                <c:pt idx="179">
                  <c:v>0.88588608</c:v>
                </c:pt>
                <c:pt idx="180">
                  <c:v>0.88642807</c:v>
                </c:pt>
                <c:pt idx="181">
                  <c:v>0.87403178</c:v>
                </c:pt>
                <c:pt idx="182">
                  <c:v>0.92161691</c:v>
                </c:pt>
                <c:pt idx="183">
                  <c:v>0.86071721</c:v>
                </c:pt>
                <c:pt idx="184">
                  <c:v>0.79017538</c:v>
                </c:pt>
                <c:pt idx="185">
                  <c:v>0.7224114</c:v>
                </c:pt>
                <c:pt idx="186">
                  <c:v>0.70929304</c:v>
                </c:pt>
                <c:pt idx="187">
                  <c:v>0.85524555</c:v>
                </c:pt>
                <c:pt idx="188">
                  <c:v>0.84742401</c:v>
                </c:pt>
                <c:pt idx="189">
                  <c:v>0.88642041</c:v>
                </c:pt>
                <c:pt idx="190">
                  <c:v>0.91047898</c:v>
                </c:pt>
                <c:pt idx="191">
                  <c:v>0.97785695</c:v>
                </c:pt>
                <c:pt idx="192">
                  <c:v>0.90064686</c:v>
                </c:pt>
                <c:pt idx="193">
                  <c:v>0.8338624</c:v>
                </c:pt>
                <c:pt idx="194">
                  <c:v>0.65510216</c:v>
                </c:pt>
                <c:pt idx="195">
                  <c:v>0.66852777</c:v>
                </c:pt>
                <c:pt idx="196">
                  <c:v>0.63447253</c:v>
                </c:pt>
                <c:pt idx="197">
                  <c:v>0.65715805</c:v>
                </c:pt>
                <c:pt idx="198">
                  <c:v>0.72522597</c:v>
                </c:pt>
                <c:pt idx="199">
                  <c:v>0.57651961</c:v>
                </c:pt>
                <c:pt idx="200">
                  <c:v>0.57396245</c:v>
                </c:pt>
                <c:pt idx="201">
                  <c:v>0.53609865</c:v>
                </c:pt>
                <c:pt idx="202">
                  <c:v>0.64900883</c:v>
                </c:pt>
                <c:pt idx="203">
                  <c:v>0.6444029</c:v>
                </c:pt>
                <c:pt idx="204">
                  <c:v>0.54142991</c:v>
                </c:pt>
                <c:pt idx="205">
                  <c:v>0.5938229</c:v>
                </c:pt>
                <c:pt idx="206">
                  <c:v>0.60384765</c:v>
                </c:pt>
                <c:pt idx="207">
                  <c:v>0.63295923</c:v>
                </c:pt>
                <c:pt idx="208">
                  <c:v>1.20627925</c:v>
                </c:pt>
                <c:pt idx="209">
                  <c:v>1.19627078</c:v>
                </c:pt>
                <c:pt idx="210">
                  <c:v>1.19013751</c:v>
                </c:pt>
                <c:pt idx="211">
                  <c:v>1.38372134</c:v>
                </c:pt>
                <c:pt idx="212">
                  <c:v>1.5266737</c:v>
                </c:pt>
                <c:pt idx="213">
                  <c:v>1.54033031</c:v>
                </c:pt>
                <c:pt idx="214">
                  <c:v>1.60574058</c:v>
                </c:pt>
                <c:pt idx="215">
                  <c:v>1.64895392</c:v>
                </c:pt>
                <c:pt idx="216">
                  <c:v>1.54139624</c:v>
                </c:pt>
                <c:pt idx="217">
                  <c:v>1.57957104</c:v>
                </c:pt>
                <c:pt idx="218">
                  <c:v>1.56509235</c:v>
                </c:pt>
                <c:pt idx="219">
                  <c:v>1.58787028</c:v>
                </c:pt>
                <c:pt idx="220">
                  <c:v>1.66565689</c:v>
                </c:pt>
                <c:pt idx="221">
                  <c:v>1.68439652</c:v>
                </c:pt>
                <c:pt idx="222">
                  <c:v>1.70019576</c:v>
                </c:pt>
                <c:pt idx="223">
                  <c:v>1.57801342</c:v>
                </c:pt>
                <c:pt idx="224">
                  <c:v>1.5483743</c:v>
                </c:pt>
                <c:pt idx="225">
                  <c:v>1.51915484</c:v>
                </c:pt>
                <c:pt idx="226">
                  <c:v>1.56244333</c:v>
                </c:pt>
                <c:pt idx="227">
                  <c:v>1.60760942</c:v>
                </c:pt>
                <c:pt idx="228">
                  <c:v>1.65442919</c:v>
                </c:pt>
                <c:pt idx="229">
                  <c:v>1.63810117</c:v>
                </c:pt>
                <c:pt idx="230">
                  <c:v>1.69404202</c:v>
                </c:pt>
                <c:pt idx="231">
                  <c:v>1.64906119</c:v>
                </c:pt>
                <c:pt idx="232">
                  <c:v>1.49295562</c:v>
                </c:pt>
                <c:pt idx="233">
                  <c:v>1.48203811</c:v>
                </c:pt>
                <c:pt idx="234">
                  <c:v>1.49708393</c:v>
                </c:pt>
                <c:pt idx="235">
                  <c:v>1.57935068</c:v>
                </c:pt>
                <c:pt idx="236">
                  <c:v>1.56673716</c:v>
                </c:pt>
                <c:pt idx="237">
                  <c:v>1.65496826</c:v>
                </c:pt>
                <c:pt idx="238">
                  <c:v>2.60183969</c:v>
                </c:pt>
                <c:pt idx="239">
                  <c:v>2.46866114</c:v>
                </c:pt>
                <c:pt idx="240">
                  <c:v>2.00142031</c:v>
                </c:pt>
                <c:pt idx="241">
                  <c:v>2.00102817</c:v>
                </c:pt>
                <c:pt idx="242">
                  <c:v>2.06876414</c:v>
                </c:pt>
                <c:pt idx="243">
                  <c:v>2.07844176</c:v>
                </c:pt>
                <c:pt idx="244">
                  <c:v>1.84434056</c:v>
                </c:pt>
                <c:pt idx="245">
                  <c:v>1.98264214</c:v>
                </c:pt>
                <c:pt idx="246">
                  <c:v>1.9043956</c:v>
                </c:pt>
                <c:pt idx="247">
                  <c:v>1.88835198</c:v>
                </c:pt>
                <c:pt idx="248">
                  <c:v>1.9929159</c:v>
                </c:pt>
                <c:pt idx="249">
                  <c:v>2.12853634</c:v>
                </c:pt>
                <c:pt idx="250">
                  <c:v>2.13787743</c:v>
                </c:pt>
                <c:pt idx="251">
                  <c:v>2.15470311</c:v>
                </c:pt>
                <c:pt idx="252">
                  <c:v>2.33389328</c:v>
                </c:pt>
                <c:pt idx="253">
                  <c:v>2.36931268</c:v>
                </c:pt>
                <c:pt idx="254">
                  <c:v>2.25332143</c:v>
                </c:pt>
                <c:pt idx="255">
                  <c:v>2.29065979</c:v>
                </c:pt>
                <c:pt idx="256">
                  <c:v>1.40343814</c:v>
                </c:pt>
                <c:pt idx="257">
                  <c:v>1.6122127</c:v>
                </c:pt>
                <c:pt idx="258">
                  <c:v>1.64836664</c:v>
                </c:pt>
                <c:pt idx="259">
                  <c:v>1.64804359</c:v>
                </c:pt>
                <c:pt idx="260">
                  <c:v>1.61261466</c:v>
                </c:pt>
                <c:pt idx="261">
                  <c:v>1.54408675</c:v>
                </c:pt>
                <c:pt idx="262">
                  <c:v>1.54076814</c:v>
                </c:pt>
                <c:pt idx="263">
                  <c:v>1.50170446</c:v>
                </c:pt>
                <c:pt idx="264">
                  <c:v>1.49852285</c:v>
                </c:pt>
              </c:numCache>
            </c:numRef>
          </c:yVal>
        </c:ser>
        <c:ser>
          <c:idx val="2"/>
          <c:order val="2"/>
          <c:tx>
            <c:v>New LSTM</c:v>
          </c:tx>
          <c:spPr>
            <a:solidFill xmlns:a="http://schemas.openxmlformats.org/drawingml/2006/main">
              <a:srgbClr val="2563EB"/>
            </a:solidFill>
            <a:ln xmlns:a="http://schemas.openxmlformats.org/drawingml/2006/main" w="20003">
              <a:solidFill>
                <a:srgbClr val="2563EB"/>
              </a:solidFill>
            </a:ln>
          </c:spPr>
          <c:marker>
            <c:symbol val="none"/>
          </c:marker>
          <c:xVal>
            <c:numRef>
              <c:f>'Chart Data'!$E$2:$E$266</c:f>
              <c:numCache>
                <c:formatCode>General</c:formatCode>
                <c:ptCount val="265"/>
                <c:pt idx="0">
                  <c:v>1994.916667</c:v>
                </c:pt>
                <c:pt idx="1">
                  <c:v>1995</c:v>
                </c:pt>
                <c:pt idx="2">
                  <c:v>1995.083333</c:v>
                </c:pt>
                <c:pt idx="3">
                  <c:v>1995.166667</c:v>
                </c:pt>
                <c:pt idx="4">
                  <c:v>1995.25</c:v>
                </c:pt>
                <c:pt idx="5">
                  <c:v>1995.333333</c:v>
                </c:pt>
                <c:pt idx="6">
                  <c:v>1995.416667</c:v>
                </c:pt>
                <c:pt idx="7">
                  <c:v>1995.5</c:v>
                </c:pt>
                <c:pt idx="8">
                  <c:v>1995.583333</c:v>
                </c:pt>
                <c:pt idx="9">
                  <c:v>1995.666667</c:v>
                </c:pt>
                <c:pt idx="10">
                  <c:v>1995.75</c:v>
                </c:pt>
                <c:pt idx="11">
                  <c:v>1995.833333</c:v>
                </c:pt>
                <c:pt idx="12">
                  <c:v>1995.916667</c:v>
                </c:pt>
                <c:pt idx="13">
                  <c:v>1996</c:v>
                </c:pt>
                <c:pt idx="14">
                  <c:v>1996.083333</c:v>
                </c:pt>
                <c:pt idx="15">
                  <c:v>1996.166667</c:v>
                </c:pt>
                <c:pt idx="16">
                  <c:v>1996.25</c:v>
                </c:pt>
                <c:pt idx="17">
                  <c:v>1996.333333</c:v>
                </c:pt>
                <c:pt idx="18">
                  <c:v>1996.416667</c:v>
                </c:pt>
                <c:pt idx="19">
                  <c:v>1996.5</c:v>
                </c:pt>
                <c:pt idx="20">
                  <c:v>1996.583333</c:v>
                </c:pt>
                <c:pt idx="21">
                  <c:v>1996.666667</c:v>
                </c:pt>
                <c:pt idx="22">
                  <c:v>1996.75</c:v>
                </c:pt>
                <c:pt idx="23">
                  <c:v>1996.833333</c:v>
                </c:pt>
                <c:pt idx="24">
                  <c:v>1996.916667</c:v>
                </c:pt>
                <c:pt idx="25">
                  <c:v>1997</c:v>
                </c:pt>
                <c:pt idx="26">
                  <c:v>1997.083333</c:v>
                </c:pt>
                <c:pt idx="27">
                  <c:v>1997.166667</c:v>
                </c:pt>
                <c:pt idx="28">
                  <c:v>1997.25</c:v>
                </c:pt>
                <c:pt idx="29">
                  <c:v>1997.333333</c:v>
                </c:pt>
                <c:pt idx="30">
                  <c:v>1997.416667</c:v>
                </c:pt>
                <c:pt idx="31">
                  <c:v>1997.5</c:v>
                </c:pt>
                <c:pt idx="32">
                  <c:v>1997.583333</c:v>
                </c:pt>
                <c:pt idx="33">
                  <c:v>1997.666667</c:v>
                </c:pt>
                <c:pt idx="34">
                  <c:v>1997.75</c:v>
                </c:pt>
                <c:pt idx="35">
                  <c:v>1997.833333</c:v>
                </c:pt>
                <c:pt idx="36">
                  <c:v>1997.916667</c:v>
                </c:pt>
                <c:pt idx="37">
                  <c:v>1998</c:v>
                </c:pt>
                <c:pt idx="38">
                  <c:v>1998.083333</c:v>
                </c:pt>
                <c:pt idx="39">
                  <c:v>1998.166667</c:v>
                </c:pt>
                <c:pt idx="40">
                  <c:v>1998.25</c:v>
                </c:pt>
                <c:pt idx="41">
                  <c:v>1998.333333</c:v>
                </c:pt>
                <c:pt idx="42">
                  <c:v>1998.416667</c:v>
                </c:pt>
                <c:pt idx="43">
                  <c:v>1998.5</c:v>
                </c:pt>
                <c:pt idx="44">
                  <c:v>1998.583333</c:v>
                </c:pt>
                <c:pt idx="45">
                  <c:v>1998.666667</c:v>
                </c:pt>
                <c:pt idx="46">
                  <c:v>1998.75</c:v>
                </c:pt>
                <c:pt idx="47">
                  <c:v>1998.833333</c:v>
                </c:pt>
                <c:pt idx="48">
                  <c:v>1998.916667</c:v>
                </c:pt>
                <c:pt idx="49">
                  <c:v>1999</c:v>
                </c:pt>
                <c:pt idx="50">
                  <c:v>1999.083333</c:v>
                </c:pt>
                <c:pt idx="51">
                  <c:v>1999.166667</c:v>
                </c:pt>
                <c:pt idx="52">
                  <c:v>1999.25</c:v>
                </c:pt>
                <c:pt idx="53">
                  <c:v>1999.333333</c:v>
                </c:pt>
                <c:pt idx="54">
                  <c:v>1999.416667</c:v>
                </c:pt>
                <c:pt idx="55">
                  <c:v>1999.5</c:v>
                </c:pt>
                <c:pt idx="56">
                  <c:v>1999.583333</c:v>
                </c:pt>
                <c:pt idx="57">
                  <c:v>1999.666667</c:v>
                </c:pt>
                <c:pt idx="58">
                  <c:v>1999.75</c:v>
                </c:pt>
                <c:pt idx="59">
                  <c:v>1999.833333</c:v>
                </c:pt>
                <c:pt idx="60">
                  <c:v>1999.916667</c:v>
                </c:pt>
                <c:pt idx="61">
                  <c:v>2000</c:v>
                </c:pt>
                <c:pt idx="62">
                  <c:v>2000.083333</c:v>
                </c:pt>
                <c:pt idx="63">
                  <c:v>2000.166667</c:v>
                </c:pt>
                <c:pt idx="64">
                  <c:v>2000.25</c:v>
                </c:pt>
                <c:pt idx="65">
                  <c:v>2000.333333</c:v>
                </c:pt>
                <c:pt idx="66">
                  <c:v>2000.416667</c:v>
                </c:pt>
                <c:pt idx="67">
                  <c:v>2000.5</c:v>
                </c:pt>
                <c:pt idx="68">
                  <c:v>2000.583333</c:v>
                </c:pt>
                <c:pt idx="69">
                  <c:v>2000.666667</c:v>
                </c:pt>
                <c:pt idx="70">
                  <c:v>2000.75</c:v>
                </c:pt>
                <c:pt idx="71">
                  <c:v>2000.833333</c:v>
                </c:pt>
                <c:pt idx="72">
                  <c:v>2000.916667</c:v>
                </c:pt>
                <c:pt idx="73">
                  <c:v>2001</c:v>
                </c:pt>
                <c:pt idx="74">
                  <c:v>2001.083333</c:v>
                </c:pt>
                <c:pt idx="75">
                  <c:v>2001.166667</c:v>
                </c:pt>
                <c:pt idx="76">
                  <c:v>2001.25</c:v>
                </c:pt>
                <c:pt idx="77">
                  <c:v>2001.333333</c:v>
                </c:pt>
                <c:pt idx="78">
                  <c:v>2001.416667</c:v>
                </c:pt>
                <c:pt idx="79">
                  <c:v>2001.5</c:v>
                </c:pt>
                <c:pt idx="80">
                  <c:v>2001.583333</c:v>
                </c:pt>
                <c:pt idx="81">
                  <c:v>2001.666667</c:v>
                </c:pt>
                <c:pt idx="82">
                  <c:v>2001.75</c:v>
                </c:pt>
                <c:pt idx="83">
                  <c:v>2001.833333</c:v>
                </c:pt>
                <c:pt idx="84">
                  <c:v>2001.916667</c:v>
                </c:pt>
                <c:pt idx="85">
                  <c:v>2002</c:v>
                </c:pt>
                <c:pt idx="86">
                  <c:v>2002.083333</c:v>
                </c:pt>
                <c:pt idx="87">
                  <c:v>2002.166667</c:v>
                </c:pt>
                <c:pt idx="88">
                  <c:v>2002.25</c:v>
                </c:pt>
                <c:pt idx="89">
                  <c:v>2002.333333</c:v>
                </c:pt>
                <c:pt idx="90">
                  <c:v>2002.416667</c:v>
                </c:pt>
                <c:pt idx="91">
                  <c:v>2002.5</c:v>
                </c:pt>
                <c:pt idx="92">
                  <c:v>2002.583333</c:v>
                </c:pt>
                <c:pt idx="93">
                  <c:v>2002.666667</c:v>
                </c:pt>
                <c:pt idx="94">
                  <c:v>2002.75</c:v>
                </c:pt>
                <c:pt idx="95">
                  <c:v>2002.833333</c:v>
                </c:pt>
                <c:pt idx="96">
                  <c:v>2002.916667</c:v>
                </c:pt>
                <c:pt idx="97">
                  <c:v>2003</c:v>
                </c:pt>
                <c:pt idx="98">
                  <c:v>2003.083333</c:v>
                </c:pt>
                <c:pt idx="99">
                  <c:v>2003.166667</c:v>
                </c:pt>
                <c:pt idx="100">
                  <c:v>2003.25</c:v>
                </c:pt>
                <c:pt idx="101">
                  <c:v>2003.333333</c:v>
                </c:pt>
                <c:pt idx="102">
                  <c:v>2003.416667</c:v>
                </c:pt>
                <c:pt idx="103">
                  <c:v>2003.5</c:v>
                </c:pt>
                <c:pt idx="104">
                  <c:v>2003.583333</c:v>
                </c:pt>
                <c:pt idx="105">
                  <c:v>2003.666667</c:v>
                </c:pt>
                <c:pt idx="106">
                  <c:v>2003.75</c:v>
                </c:pt>
                <c:pt idx="107">
                  <c:v>2003.833333</c:v>
                </c:pt>
                <c:pt idx="108">
                  <c:v>2003.916667</c:v>
                </c:pt>
                <c:pt idx="109">
                  <c:v>2004</c:v>
                </c:pt>
                <c:pt idx="110">
                  <c:v>2004.083333</c:v>
                </c:pt>
                <c:pt idx="111">
                  <c:v>2004.166667</c:v>
                </c:pt>
                <c:pt idx="112">
                  <c:v>2004.25</c:v>
                </c:pt>
                <c:pt idx="113">
                  <c:v>2004.333333</c:v>
                </c:pt>
                <c:pt idx="114">
                  <c:v>2004.416667</c:v>
                </c:pt>
                <c:pt idx="115">
                  <c:v>2004.5</c:v>
                </c:pt>
                <c:pt idx="116">
                  <c:v>2004.583333</c:v>
                </c:pt>
                <c:pt idx="117">
                  <c:v>2004.666667</c:v>
                </c:pt>
                <c:pt idx="118">
                  <c:v>2004.75</c:v>
                </c:pt>
                <c:pt idx="119">
                  <c:v>2004.833333</c:v>
                </c:pt>
                <c:pt idx="120">
                  <c:v>2004.916667</c:v>
                </c:pt>
                <c:pt idx="121">
                  <c:v>2005</c:v>
                </c:pt>
                <c:pt idx="122">
                  <c:v>2005.083333</c:v>
                </c:pt>
                <c:pt idx="123">
                  <c:v>2005.166667</c:v>
                </c:pt>
                <c:pt idx="124">
                  <c:v>2005.25</c:v>
                </c:pt>
                <c:pt idx="125">
                  <c:v>2005.333333</c:v>
                </c:pt>
                <c:pt idx="126">
                  <c:v>2005.416667</c:v>
                </c:pt>
                <c:pt idx="127">
                  <c:v>2005.5</c:v>
                </c:pt>
                <c:pt idx="128">
                  <c:v>2005.583333</c:v>
                </c:pt>
                <c:pt idx="129">
                  <c:v>2005.666667</c:v>
                </c:pt>
                <c:pt idx="130">
                  <c:v>2005.75</c:v>
                </c:pt>
                <c:pt idx="131">
                  <c:v>2005.833333</c:v>
                </c:pt>
                <c:pt idx="132">
                  <c:v>2005.916667</c:v>
                </c:pt>
                <c:pt idx="133">
                  <c:v>2006</c:v>
                </c:pt>
                <c:pt idx="134">
                  <c:v>2006.083333</c:v>
                </c:pt>
                <c:pt idx="135">
                  <c:v>2006.166667</c:v>
                </c:pt>
                <c:pt idx="136">
                  <c:v>2006.25</c:v>
                </c:pt>
                <c:pt idx="137">
                  <c:v>2006.333333</c:v>
                </c:pt>
                <c:pt idx="138">
                  <c:v>2006.416667</c:v>
                </c:pt>
                <c:pt idx="139">
                  <c:v>2006.5</c:v>
                </c:pt>
                <c:pt idx="140">
                  <c:v>2006.583333</c:v>
                </c:pt>
                <c:pt idx="141">
                  <c:v>2006.666667</c:v>
                </c:pt>
                <c:pt idx="142">
                  <c:v>2006.75</c:v>
                </c:pt>
                <c:pt idx="143">
                  <c:v>2006.833333</c:v>
                </c:pt>
                <c:pt idx="144">
                  <c:v>2006.916667</c:v>
                </c:pt>
                <c:pt idx="145">
                  <c:v>2007</c:v>
                </c:pt>
                <c:pt idx="146">
                  <c:v>2007.083333</c:v>
                </c:pt>
                <c:pt idx="147">
                  <c:v>2007.166667</c:v>
                </c:pt>
                <c:pt idx="148">
                  <c:v>2007.25</c:v>
                </c:pt>
                <c:pt idx="149">
                  <c:v>2007.333333</c:v>
                </c:pt>
                <c:pt idx="150">
                  <c:v>2007.416667</c:v>
                </c:pt>
                <c:pt idx="151">
                  <c:v>2007.5</c:v>
                </c:pt>
                <c:pt idx="152">
                  <c:v>2007.583333</c:v>
                </c:pt>
                <c:pt idx="153">
                  <c:v>2007.666667</c:v>
                </c:pt>
                <c:pt idx="154">
                  <c:v>2007.75</c:v>
                </c:pt>
                <c:pt idx="155">
                  <c:v>2007.833333</c:v>
                </c:pt>
                <c:pt idx="156">
                  <c:v>2007.916667</c:v>
                </c:pt>
                <c:pt idx="157">
                  <c:v>2008</c:v>
                </c:pt>
                <c:pt idx="158">
                  <c:v>2008.083333</c:v>
                </c:pt>
                <c:pt idx="159">
                  <c:v>2008.166667</c:v>
                </c:pt>
                <c:pt idx="160">
                  <c:v>2008.25</c:v>
                </c:pt>
                <c:pt idx="161">
                  <c:v>2008.333333</c:v>
                </c:pt>
                <c:pt idx="162">
                  <c:v>2008.416667</c:v>
                </c:pt>
                <c:pt idx="163">
                  <c:v>2008.5</c:v>
                </c:pt>
                <c:pt idx="164">
                  <c:v>2008.583333</c:v>
                </c:pt>
                <c:pt idx="165">
                  <c:v>2008.666667</c:v>
                </c:pt>
                <c:pt idx="166">
                  <c:v>2008.75</c:v>
                </c:pt>
                <c:pt idx="167">
                  <c:v>2008.833333</c:v>
                </c:pt>
                <c:pt idx="168">
                  <c:v>2008.916667</c:v>
                </c:pt>
                <c:pt idx="169">
                  <c:v>2009</c:v>
                </c:pt>
                <c:pt idx="170">
                  <c:v>2009.083333</c:v>
                </c:pt>
                <c:pt idx="171">
                  <c:v>2009.166667</c:v>
                </c:pt>
                <c:pt idx="172">
                  <c:v>2009.25</c:v>
                </c:pt>
                <c:pt idx="173">
                  <c:v>2009.333333</c:v>
                </c:pt>
                <c:pt idx="174">
                  <c:v>2009.416667</c:v>
                </c:pt>
                <c:pt idx="175">
                  <c:v>2009.5</c:v>
                </c:pt>
                <c:pt idx="176">
                  <c:v>2009.583333</c:v>
                </c:pt>
                <c:pt idx="177">
                  <c:v>2009.666667</c:v>
                </c:pt>
                <c:pt idx="178">
                  <c:v>2009.75</c:v>
                </c:pt>
                <c:pt idx="179">
                  <c:v>2009.833333</c:v>
                </c:pt>
                <c:pt idx="180">
                  <c:v>2009.916667</c:v>
                </c:pt>
                <c:pt idx="181">
                  <c:v>2010</c:v>
                </c:pt>
                <c:pt idx="182">
                  <c:v>2010.083333</c:v>
                </c:pt>
                <c:pt idx="183">
                  <c:v>2010.166667</c:v>
                </c:pt>
                <c:pt idx="184">
                  <c:v>2010.25</c:v>
                </c:pt>
                <c:pt idx="185">
                  <c:v>2010.333333</c:v>
                </c:pt>
                <c:pt idx="186">
                  <c:v>2010.416667</c:v>
                </c:pt>
                <c:pt idx="187">
                  <c:v>2010.5</c:v>
                </c:pt>
                <c:pt idx="188">
                  <c:v>2010.583333</c:v>
                </c:pt>
                <c:pt idx="189">
                  <c:v>2010.666667</c:v>
                </c:pt>
                <c:pt idx="190">
                  <c:v>2010.75</c:v>
                </c:pt>
                <c:pt idx="191">
                  <c:v>2010.833333</c:v>
                </c:pt>
                <c:pt idx="192">
                  <c:v>2010.916667</c:v>
                </c:pt>
                <c:pt idx="193">
                  <c:v>2011</c:v>
                </c:pt>
                <c:pt idx="194">
                  <c:v>2011.083333</c:v>
                </c:pt>
                <c:pt idx="195">
                  <c:v>2011.166667</c:v>
                </c:pt>
                <c:pt idx="196">
                  <c:v>2011.25</c:v>
                </c:pt>
                <c:pt idx="197">
                  <c:v>2011.333333</c:v>
                </c:pt>
                <c:pt idx="198">
                  <c:v>2011.416667</c:v>
                </c:pt>
                <c:pt idx="199">
                  <c:v>2011.5</c:v>
                </c:pt>
                <c:pt idx="200">
                  <c:v>2011.583333</c:v>
                </c:pt>
                <c:pt idx="201">
                  <c:v>2011.666667</c:v>
                </c:pt>
                <c:pt idx="202">
                  <c:v>2011.75</c:v>
                </c:pt>
                <c:pt idx="203">
                  <c:v>2011.833333</c:v>
                </c:pt>
                <c:pt idx="204">
                  <c:v>2011.916667</c:v>
                </c:pt>
                <c:pt idx="205">
                  <c:v>2012</c:v>
                </c:pt>
                <c:pt idx="206">
                  <c:v>2012.083333</c:v>
                </c:pt>
                <c:pt idx="207">
                  <c:v>2012.166667</c:v>
                </c:pt>
                <c:pt idx="208">
                  <c:v>2012.25</c:v>
                </c:pt>
                <c:pt idx="209">
                  <c:v>2012.333333</c:v>
                </c:pt>
                <c:pt idx="210">
                  <c:v>2012.416667</c:v>
                </c:pt>
                <c:pt idx="211">
                  <c:v>2012.5</c:v>
                </c:pt>
                <c:pt idx="212">
                  <c:v>2012.583333</c:v>
                </c:pt>
                <c:pt idx="213">
                  <c:v>2012.666667</c:v>
                </c:pt>
                <c:pt idx="214">
                  <c:v>2012.75</c:v>
                </c:pt>
                <c:pt idx="215">
                  <c:v>2012.833333</c:v>
                </c:pt>
                <c:pt idx="216">
                  <c:v>2012.916667</c:v>
                </c:pt>
                <c:pt idx="217">
                  <c:v>2013</c:v>
                </c:pt>
                <c:pt idx="218">
                  <c:v>2013.083333</c:v>
                </c:pt>
                <c:pt idx="219">
                  <c:v>2013.166667</c:v>
                </c:pt>
                <c:pt idx="220">
                  <c:v>2013.25</c:v>
                </c:pt>
                <c:pt idx="221">
                  <c:v>2013.333333</c:v>
                </c:pt>
                <c:pt idx="222">
                  <c:v>2013.416667</c:v>
                </c:pt>
                <c:pt idx="223">
                  <c:v>2013.5</c:v>
                </c:pt>
                <c:pt idx="224">
                  <c:v>2013.583333</c:v>
                </c:pt>
                <c:pt idx="225">
                  <c:v>2013.666667</c:v>
                </c:pt>
                <c:pt idx="226">
                  <c:v>2013.75</c:v>
                </c:pt>
                <c:pt idx="227">
                  <c:v>2013.833333</c:v>
                </c:pt>
                <c:pt idx="228">
                  <c:v>2013.916667</c:v>
                </c:pt>
                <c:pt idx="229">
                  <c:v>2014</c:v>
                </c:pt>
                <c:pt idx="230">
                  <c:v>2014.083333</c:v>
                </c:pt>
                <c:pt idx="231">
                  <c:v>2014.166667</c:v>
                </c:pt>
                <c:pt idx="232">
                  <c:v>2014.25</c:v>
                </c:pt>
                <c:pt idx="233">
                  <c:v>2014.333333</c:v>
                </c:pt>
                <c:pt idx="234">
                  <c:v>2014.416667</c:v>
                </c:pt>
                <c:pt idx="235">
                  <c:v>2014.5</c:v>
                </c:pt>
                <c:pt idx="236">
                  <c:v>2014.583333</c:v>
                </c:pt>
                <c:pt idx="237">
                  <c:v>2014.666667</c:v>
                </c:pt>
                <c:pt idx="238">
                  <c:v>2014.75</c:v>
                </c:pt>
                <c:pt idx="239">
                  <c:v>2014.833333</c:v>
                </c:pt>
                <c:pt idx="240">
                  <c:v>2014.916667</c:v>
                </c:pt>
                <c:pt idx="241">
                  <c:v>2015</c:v>
                </c:pt>
                <c:pt idx="242">
                  <c:v>2015.083333</c:v>
                </c:pt>
                <c:pt idx="243">
                  <c:v>2015.166667</c:v>
                </c:pt>
                <c:pt idx="244">
                  <c:v>2015.25</c:v>
                </c:pt>
                <c:pt idx="245">
                  <c:v>2015.333333</c:v>
                </c:pt>
                <c:pt idx="246">
                  <c:v>2015.416667</c:v>
                </c:pt>
                <c:pt idx="247">
                  <c:v>2015.5</c:v>
                </c:pt>
                <c:pt idx="248">
                  <c:v>2015.583333</c:v>
                </c:pt>
                <c:pt idx="249">
                  <c:v>2015.666667</c:v>
                </c:pt>
                <c:pt idx="250">
                  <c:v>2015.75</c:v>
                </c:pt>
                <c:pt idx="251">
                  <c:v>2015.833333</c:v>
                </c:pt>
                <c:pt idx="252">
                  <c:v>2015.916667</c:v>
                </c:pt>
                <c:pt idx="253">
                  <c:v>2016</c:v>
                </c:pt>
                <c:pt idx="254">
                  <c:v>2016.083333</c:v>
                </c:pt>
                <c:pt idx="255">
                  <c:v>2016.166667</c:v>
                </c:pt>
                <c:pt idx="256">
                  <c:v>2016.25</c:v>
                </c:pt>
                <c:pt idx="257">
                  <c:v>2016.333333</c:v>
                </c:pt>
                <c:pt idx="258">
                  <c:v>2016.416667</c:v>
                </c:pt>
                <c:pt idx="259">
                  <c:v>2016.5</c:v>
                </c:pt>
                <c:pt idx="260">
                  <c:v>2016.583333</c:v>
                </c:pt>
                <c:pt idx="261">
                  <c:v>2016.666667</c:v>
                </c:pt>
                <c:pt idx="262">
                  <c:v>2016.75</c:v>
                </c:pt>
                <c:pt idx="263">
                  <c:v>2016.833333</c:v>
                </c:pt>
                <c:pt idx="264">
                  <c:v>2016.916667</c:v>
                </c:pt>
              </c:numCache>
            </c:numRef>
          </c:xVal>
          <c:yVal>
            <c:numRef>
              <c:f>'Chart Data'!$F$2:$F$266</c:f>
              <c:numCache>
                <c:formatCode>0.000</c:formatCode>
                <c:ptCount val="265"/>
                <c:pt idx="0">
                  <c:v>3.57005753</c:v>
                </c:pt>
                <c:pt idx="1">
                  <c:v>3.56325638</c:v>
                </c:pt>
                <c:pt idx="2">
                  <c:v>4.00284057</c:v>
                </c:pt>
                <c:pt idx="3">
                  <c:v>3.94281431</c:v>
                </c:pt>
                <c:pt idx="4">
                  <c:v>3.94063262</c:v>
                </c:pt>
                <c:pt idx="5">
                  <c:v>3.79557105</c:v>
                </c:pt>
                <c:pt idx="6">
                  <c:v>3.43992865</c:v>
                </c:pt>
                <c:pt idx="7">
                  <c:v>3.37854014</c:v>
                </c:pt>
                <c:pt idx="8">
                  <c:v>3.24872415</c:v>
                </c:pt>
                <c:pt idx="9">
                  <c:v>3.17685283</c:v>
                </c:pt>
                <c:pt idx="10">
                  <c:v>3.30152104</c:v>
                </c:pt>
                <c:pt idx="11">
                  <c:v>3.2913142</c:v>
                </c:pt>
                <c:pt idx="12">
                  <c:v>3.27393206</c:v>
                </c:pt>
                <c:pt idx="13">
                  <c:v>3.27664982</c:v>
                </c:pt>
                <c:pt idx="14">
                  <c:v>3.25182899</c:v>
                </c:pt>
                <c:pt idx="15">
                  <c:v>3.12043734</c:v>
                </c:pt>
                <c:pt idx="16">
                  <c:v>2.97418527</c:v>
                </c:pt>
                <c:pt idx="17">
                  <c:v>3.03997401</c:v>
                </c:pt>
                <c:pt idx="18">
                  <c:v>3.24272106</c:v>
                </c:pt>
                <c:pt idx="19">
                  <c:v>3.24165658</c:v>
                </c:pt>
                <c:pt idx="20">
                  <c:v>3.34759598</c:v>
                </c:pt>
                <c:pt idx="21">
                  <c:v>3.29142857</c:v>
                </c:pt>
                <c:pt idx="22">
                  <c:v>3.57004112</c:v>
                </c:pt>
                <c:pt idx="23">
                  <c:v>3.85067996</c:v>
                </c:pt>
                <c:pt idx="24">
                  <c:v>3.78134366</c:v>
                </c:pt>
                <c:pt idx="25">
                  <c:v>3.79263366</c:v>
                </c:pt>
                <c:pt idx="26">
                  <c:v>3.86283096</c:v>
                </c:pt>
                <c:pt idx="27">
                  <c:v>3.8882576</c:v>
                </c:pt>
                <c:pt idx="28">
                  <c:v>3.83476454</c:v>
                </c:pt>
                <c:pt idx="29">
                  <c:v>4.03622021</c:v>
                </c:pt>
                <c:pt idx="30">
                  <c:v>4.1371851</c:v>
                </c:pt>
                <c:pt idx="31">
                  <c:v>4.01414389</c:v>
                </c:pt>
                <c:pt idx="32">
                  <c:v>3.80964153</c:v>
                </c:pt>
                <c:pt idx="33">
                  <c:v>3.85683586</c:v>
                </c:pt>
                <c:pt idx="34">
                  <c:v>3.85771423</c:v>
                </c:pt>
                <c:pt idx="35">
                  <c:v>3.8689801</c:v>
                </c:pt>
                <c:pt idx="36">
                  <c:v>3.63272208</c:v>
                </c:pt>
                <c:pt idx="37">
                  <c:v>3.64172551</c:v>
                </c:pt>
                <c:pt idx="38">
                  <c:v>3.62596522</c:v>
                </c:pt>
                <c:pt idx="39">
                  <c:v>3.68152449</c:v>
                </c:pt>
                <c:pt idx="40">
                  <c:v>3.58497768</c:v>
                </c:pt>
                <c:pt idx="41">
                  <c:v>3.73545869</c:v>
                </c:pt>
                <c:pt idx="42">
                  <c:v>3.95157995</c:v>
                </c:pt>
                <c:pt idx="43">
                  <c:v>3.9457339</c:v>
                </c:pt>
                <c:pt idx="44">
                  <c:v>4.01884856</c:v>
                </c:pt>
                <c:pt idx="45">
                  <c:v>4.17498731</c:v>
                </c:pt>
                <c:pt idx="46">
                  <c:v>4.18224198</c:v>
                </c:pt>
                <c:pt idx="47">
                  <c:v>4.24467382</c:v>
                </c:pt>
                <c:pt idx="48">
                  <c:v>4.16737514</c:v>
                </c:pt>
                <c:pt idx="49">
                  <c:v>3.97348293</c:v>
                </c:pt>
                <c:pt idx="50">
                  <c:v>3.77533385</c:v>
                </c:pt>
                <c:pt idx="51">
                  <c:v>3.8286306</c:v>
                </c:pt>
                <c:pt idx="52">
                  <c:v>4.05543046</c:v>
                </c:pt>
                <c:pt idx="53">
                  <c:v>4.1144247</c:v>
                </c:pt>
                <c:pt idx="54">
                  <c:v>4.08772989</c:v>
                </c:pt>
                <c:pt idx="55">
                  <c:v>4.0929857</c:v>
                </c:pt>
                <c:pt idx="56">
                  <c:v>3.88671299</c:v>
                </c:pt>
                <c:pt idx="57">
                  <c:v>3.70863643</c:v>
                </c:pt>
                <c:pt idx="58">
                  <c:v>3.61713208</c:v>
                </c:pt>
                <c:pt idx="59">
                  <c:v>3.20259854</c:v>
                </c:pt>
                <c:pt idx="60">
                  <c:v>2.27163063</c:v>
                </c:pt>
                <c:pt idx="61">
                  <c:v>2.21426654</c:v>
                </c:pt>
                <c:pt idx="62">
                  <c:v>0.7296847</c:v>
                </c:pt>
                <c:pt idx="63">
                  <c:v>0.82458568</c:v>
                </c:pt>
                <c:pt idx="64">
                  <c:v>0.9384165</c:v>
                </c:pt>
                <c:pt idx="65">
                  <c:v>0.86581492</c:v>
                </c:pt>
                <c:pt idx="66">
                  <c:v>0.83192814</c:v>
                </c:pt>
                <c:pt idx="67">
                  <c:v>0.96928462</c:v>
                </c:pt>
                <c:pt idx="68">
                  <c:v>0.88167408</c:v>
                </c:pt>
                <c:pt idx="69">
                  <c:v>0.91249435</c:v>
                </c:pt>
                <c:pt idx="70">
                  <c:v>0.99027427</c:v>
                </c:pt>
                <c:pt idx="71">
                  <c:v>1.10618977</c:v>
                </c:pt>
                <c:pt idx="72">
                  <c:v>1.19650037</c:v>
                </c:pt>
                <c:pt idx="73">
                  <c:v>1.21977605</c:v>
                </c:pt>
                <c:pt idx="74">
                  <c:v>1.3049818</c:v>
                </c:pt>
                <c:pt idx="75">
                  <c:v>1.34198319</c:v>
                </c:pt>
                <c:pt idx="76">
                  <c:v>1.38266294</c:v>
                </c:pt>
                <c:pt idx="77">
                  <c:v>1.39913709</c:v>
                </c:pt>
                <c:pt idx="78">
                  <c:v>1.40206276</c:v>
                </c:pt>
                <c:pt idx="79">
                  <c:v>1.42291695</c:v>
                </c:pt>
                <c:pt idx="80">
                  <c:v>1.31437007</c:v>
                </c:pt>
                <c:pt idx="81">
                  <c:v>1.18708282</c:v>
                </c:pt>
                <c:pt idx="82">
                  <c:v>1.19627953</c:v>
                </c:pt>
                <c:pt idx="83">
                  <c:v>1.22762584</c:v>
                </c:pt>
                <c:pt idx="84">
                  <c:v>1.23383536</c:v>
                </c:pt>
                <c:pt idx="85">
                  <c:v>1.32140658</c:v>
                </c:pt>
                <c:pt idx="86">
                  <c:v>1.36427012</c:v>
                </c:pt>
                <c:pt idx="87">
                  <c:v>1.40364344</c:v>
                </c:pt>
                <c:pt idx="88">
                  <c:v>1.37579825</c:v>
                </c:pt>
                <c:pt idx="89">
                  <c:v>1.36350927</c:v>
                </c:pt>
                <c:pt idx="90">
                  <c:v>1.26434106</c:v>
                </c:pt>
                <c:pt idx="91">
                  <c:v>1.09024637</c:v>
                </c:pt>
                <c:pt idx="92">
                  <c:v>1.12295003</c:v>
                </c:pt>
                <c:pt idx="93">
                  <c:v>1.09511333</c:v>
                </c:pt>
                <c:pt idx="94">
                  <c:v>1.11008654</c:v>
                </c:pt>
                <c:pt idx="95">
                  <c:v>1.1503935</c:v>
                </c:pt>
                <c:pt idx="96">
                  <c:v>1.46255119</c:v>
                </c:pt>
                <c:pt idx="97">
                  <c:v>1.45780571</c:v>
                </c:pt>
                <c:pt idx="98">
                  <c:v>2.50538134</c:v>
                </c:pt>
                <c:pt idx="99">
                  <c:v>2.26700091</c:v>
                </c:pt>
                <c:pt idx="100">
                  <c:v>2.22217991</c:v>
                </c:pt>
                <c:pt idx="101">
                  <c:v>2.37365763</c:v>
                </c:pt>
                <c:pt idx="102">
                  <c:v>2.46366013</c:v>
                </c:pt>
                <c:pt idx="103">
                  <c:v>2.43143693</c:v>
                </c:pt>
                <c:pt idx="104">
                  <c:v>2.7708803</c:v>
                </c:pt>
                <c:pt idx="105">
                  <c:v>2.66299455</c:v>
                </c:pt>
                <c:pt idx="106">
                  <c:v>2.55385745</c:v>
                </c:pt>
                <c:pt idx="107">
                  <c:v>2.36398686</c:v>
                </c:pt>
                <c:pt idx="108">
                  <c:v>2.34629674</c:v>
                </c:pt>
                <c:pt idx="109">
                  <c:v>2.32657649</c:v>
                </c:pt>
                <c:pt idx="110">
                  <c:v>2.46856147</c:v>
                </c:pt>
                <c:pt idx="111">
                  <c:v>2.42703959</c:v>
                </c:pt>
                <c:pt idx="112">
                  <c:v>2.33834497</c:v>
                </c:pt>
                <c:pt idx="113">
                  <c:v>2.24991614</c:v>
                </c:pt>
                <c:pt idx="114">
                  <c:v>2.34041553</c:v>
                </c:pt>
                <c:pt idx="115">
                  <c:v>2.39341474</c:v>
                </c:pt>
                <c:pt idx="116">
                  <c:v>2.52038576</c:v>
                </c:pt>
                <c:pt idx="117">
                  <c:v>2.7702092</c:v>
                </c:pt>
                <c:pt idx="118">
                  <c:v>2.653174</c:v>
                </c:pt>
                <c:pt idx="119">
                  <c:v>2.643962</c:v>
                </c:pt>
                <c:pt idx="120">
                  <c:v>2.39454158</c:v>
                </c:pt>
                <c:pt idx="121">
                  <c:v>2.35629853</c:v>
                </c:pt>
                <c:pt idx="122">
                  <c:v>2.34973692</c:v>
                </c:pt>
                <c:pt idx="123">
                  <c:v>2.28110426</c:v>
                </c:pt>
                <c:pt idx="124">
                  <c:v>2.3419777</c:v>
                </c:pt>
                <c:pt idx="125">
                  <c:v>2.19282863</c:v>
                </c:pt>
                <c:pt idx="126">
                  <c:v>2.33136319</c:v>
                </c:pt>
                <c:pt idx="127">
                  <c:v>2.67072231</c:v>
                </c:pt>
                <c:pt idx="128">
                  <c:v>2.70321023</c:v>
                </c:pt>
                <c:pt idx="129">
                  <c:v>2.95922954</c:v>
                </c:pt>
                <c:pt idx="130">
                  <c:v>2.88257783</c:v>
                </c:pt>
                <c:pt idx="131">
                  <c:v>2.91726913</c:v>
                </c:pt>
                <c:pt idx="132">
                  <c:v>2.84521084</c:v>
                </c:pt>
                <c:pt idx="133">
                  <c:v>2.81872861</c:v>
                </c:pt>
                <c:pt idx="134">
                  <c:v>3.06396266</c:v>
                </c:pt>
                <c:pt idx="135">
                  <c:v>3.34879314</c:v>
                </c:pt>
                <c:pt idx="136">
                  <c:v>3.30198137</c:v>
                </c:pt>
                <c:pt idx="137">
                  <c:v>3.47410325</c:v>
                </c:pt>
                <c:pt idx="138">
                  <c:v>3.35559353</c:v>
                </c:pt>
                <c:pt idx="139">
                  <c:v>3.34412355</c:v>
                </c:pt>
                <c:pt idx="140">
                  <c:v>3.26519986</c:v>
                </c:pt>
                <c:pt idx="141">
                  <c:v>3.01852884</c:v>
                </c:pt>
                <c:pt idx="142">
                  <c:v>2.96307323</c:v>
                </c:pt>
                <c:pt idx="143">
                  <c:v>3.14328439</c:v>
                </c:pt>
                <c:pt idx="144">
                  <c:v>3.10348485</c:v>
                </c:pt>
                <c:pt idx="145">
                  <c:v>2.77823195</c:v>
                </c:pt>
                <c:pt idx="146">
                  <c:v>2.75654607</c:v>
                </c:pt>
                <c:pt idx="147">
                  <c:v>2.61032688</c:v>
                </c:pt>
                <c:pt idx="148">
                  <c:v>2.59292486</c:v>
                </c:pt>
                <c:pt idx="149">
                  <c:v>2.38366008</c:v>
                </c:pt>
                <c:pt idx="150">
                  <c:v>2.32377738</c:v>
                </c:pt>
                <c:pt idx="151">
                  <c:v>2.31529783</c:v>
                </c:pt>
                <c:pt idx="152">
                  <c:v>2.09204455</c:v>
                </c:pt>
                <c:pt idx="153">
                  <c:v>1.97461306</c:v>
                </c:pt>
                <c:pt idx="154">
                  <c:v>1.98126964</c:v>
                </c:pt>
                <c:pt idx="155">
                  <c:v>1.95648186</c:v>
                </c:pt>
                <c:pt idx="156">
                  <c:v>2.42656736</c:v>
                </c:pt>
                <c:pt idx="157">
                  <c:v>2.36215772</c:v>
                </c:pt>
                <c:pt idx="158">
                  <c:v>2.37845244</c:v>
                </c:pt>
                <c:pt idx="159">
                  <c:v>2.31377931</c:v>
                </c:pt>
                <c:pt idx="160">
                  <c:v>2.39036558</c:v>
                </c:pt>
                <c:pt idx="161">
                  <c:v>2.57373355</c:v>
                </c:pt>
                <c:pt idx="162">
                  <c:v>1.45611674</c:v>
                </c:pt>
                <c:pt idx="163">
                  <c:v>1.53115043</c:v>
                </c:pt>
                <c:pt idx="164">
                  <c:v>1.15652209</c:v>
                </c:pt>
                <c:pt idx="165">
                  <c:v>0.74118043</c:v>
                </c:pt>
                <c:pt idx="166">
                  <c:v>0.82173416</c:v>
                </c:pt>
                <c:pt idx="167">
                  <c:v>1.02960485</c:v>
                </c:pt>
                <c:pt idx="168">
                  <c:v>1.15470237</c:v>
                </c:pt>
                <c:pt idx="169">
                  <c:v>1.26380155</c:v>
                </c:pt>
                <c:pt idx="170">
                  <c:v>1.1513543</c:v>
                </c:pt>
                <c:pt idx="171">
                  <c:v>1.10752433</c:v>
                </c:pt>
                <c:pt idx="172">
                  <c:v>0.64557452</c:v>
                </c:pt>
                <c:pt idx="173">
                  <c:v>0.64183598</c:v>
                </c:pt>
                <c:pt idx="174">
                  <c:v>0.69447395</c:v>
                </c:pt>
                <c:pt idx="175">
                  <c:v>0.77842632</c:v>
                </c:pt>
                <c:pt idx="176">
                  <c:v>0.63296349</c:v>
                </c:pt>
                <c:pt idx="177">
                  <c:v>0.7701059</c:v>
                </c:pt>
                <c:pt idx="178">
                  <c:v>0.76807806</c:v>
                </c:pt>
                <c:pt idx="179">
                  <c:v>0.72768282</c:v>
                </c:pt>
                <c:pt idx="180">
                  <c:v>0.65641608</c:v>
                </c:pt>
                <c:pt idx="181">
                  <c:v>0.76064291</c:v>
                </c:pt>
                <c:pt idx="182">
                  <c:v>0.73421899</c:v>
                </c:pt>
                <c:pt idx="183">
                  <c:v>0.79529135</c:v>
                </c:pt>
                <c:pt idx="184">
                  <c:v>0.73412778</c:v>
                </c:pt>
                <c:pt idx="185">
                  <c:v>0.80190126</c:v>
                </c:pt>
                <c:pt idx="186">
                  <c:v>0.73546984</c:v>
                </c:pt>
                <c:pt idx="187">
                  <c:v>0.67081394</c:v>
                </c:pt>
                <c:pt idx="188">
                  <c:v>0.77660012</c:v>
                </c:pt>
                <c:pt idx="189">
                  <c:v>0.74098413</c:v>
                </c:pt>
                <c:pt idx="190">
                  <c:v>0.71220037</c:v>
                </c:pt>
                <c:pt idx="191">
                  <c:v>0.63581966</c:v>
                </c:pt>
                <c:pt idx="192">
                  <c:v>0.48940021</c:v>
                </c:pt>
                <c:pt idx="193">
                  <c:v>0.48682302</c:v>
                </c:pt>
                <c:pt idx="194">
                  <c:v>0.3387549</c:v>
                </c:pt>
                <c:pt idx="195">
                  <c:v>0.35355752</c:v>
                </c:pt>
                <c:pt idx="196">
                  <c:v>0.24925989</c:v>
                </c:pt>
                <c:pt idx="197">
                  <c:v>0.22198346</c:v>
                </c:pt>
                <c:pt idx="198">
                  <c:v>0.44127689</c:v>
                </c:pt>
                <c:pt idx="199">
                  <c:v>0.45107834</c:v>
                </c:pt>
                <c:pt idx="200">
                  <c:v>0.71827051</c:v>
                </c:pt>
                <c:pt idx="201">
                  <c:v>1.03982042</c:v>
                </c:pt>
                <c:pt idx="202">
                  <c:v>1.11779173</c:v>
                </c:pt>
                <c:pt idx="203">
                  <c:v>1.00490623</c:v>
                </c:pt>
                <c:pt idx="204">
                  <c:v>0.85019782</c:v>
                </c:pt>
                <c:pt idx="205">
                  <c:v>0.73321337</c:v>
                </c:pt>
                <c:pt idx="206">
                  <c:v>0.77139183</c:v>
                </c:pt>
                <c:pt idx="207">
                  <c:v>0.75384315</c:v>
                </c:pt>
                <c:pt idx="208">
                  <c:v>1.27343172</c:v>
                </c:pt>
                <c:pt idx="209">
                  <c:v>1.2450667</c:v>
                </c:pt>
                <c:pt idx="210">
                  <c:v>1.04953946</c:v>
                </c:pt>
                <c:pt idx="211">
                  <c:v>0.95634289</c:v>
                </c:pt>
                <c:pt idx="212">
                  <c:v>1.22570237</c:v>
                </c:pt>
                <c:pt idx="213">
                  <c:v>1.08274629</c:v>
                </c:pt>
                <c:pt idx="214">
                  <c:v>1.2283189</c:v>
                </c:pt>
                <c:pt idx="215">
                  <c:v>1.28957956</c:v>
                </c:pt>
                <c:pt idx="216">
                  <c:v>1.25449527</c:v>
                </c:pt>
                <c:pt idx="217">
                  <c:v>1.28938154</c:v>
                </c:pt>
                <c:pt idx="218">
                  <c:v>1.3390064</c:v>
                </c:pt>
                <c:pt idx="219">
                  <c:v>1.16633723</c:v>
                </c:pt>
                <c:pt idx="220">
                  <c:v>1.19169619</c:v>
                </c:pt>
                <c:pt idx="221">
                  <c:v>1.13523021</c:v>
                </c:pt>
                <c:pt idx="222">
                  <c:v>1.17689642</c:v>
                </c:pt>
                <c:pt idx="223">
                  <c:v>1.2111293</c:v>
                </c:pt>
                <c:pt idx="224">
                  <c:v>1.10697572</c:v>
                </c:pt>
                <c:pt idx="225">
                  <c:v>1.07926942</c:v>
                </c:pt>
                <c:pt idx="226">
                  <c:v>1.23784835</c:v>
                </c:pt>
                <c:pt idx="227">
                  <c:v>1.1479908</c:v>
                </c:pt>
                <c:pt idx="228">
                  <c:v>1.24228814</c:v>
                </c:pt>
                <c:pt idx="229">
                  <c:v>1.22795496</c:v>
                </c:pt>
                <c:pt idx="230">
                  <c:v>1.29019319</c:v>
                </c:pt>
                <c:pt idx="231">
                  <c:v>1.3040283</c:v>
                </c:pt>
                <c:pt idx="232">
                  <c:v>1.38016549</c:v>
                </c:pt>
                <c:pt idx="233">
                  <c:v>1.4107804</c:v>
                </c:pt>
                <c:pt idx="234">
                  <c:v>1.33973542</c:v>
                </c:pt>
                <c:pt idx="235">
                  <c:v>1.40565775</c:v>
                </c:pt>
                <c:pt idx="236">
                  <c:v>1.15470056</c:v>
                </c:pt>
                <c:pt idx="237">
                  <c:v>1.13315642</c:v>
                </c:pt>
                <c:pt idx="238">
                  <c:v>0.83477618</c:v>
                </c:pt>
                <c:pt idx="239">
                  <c:v>0.72790108</c:v>
                </c:pt>
                <c:pt idx="240">
                  <c:v>0.58531735</c:v>
                </c:pt>
                <c:pt idx="241">
                  <c:v>0.66999669</c:v>
                </c:pt>
                <c:pt idx="242">
                  <c:v>0.83262337</c:v>
                </c:pt>
                <c:pt idx="243">
                  <c:v>0.92480189</c:v>
                </c:pt>
                <c:pt idx="244">
                  <c:v>0.82988285</c:v>
                </c:pt>
                <c:pt idx="245">
                  <c:v>0.8608495</c:v>
                </c:pt>
                <c:pt idx="246">
                  <c:v>0.96318998</c:v>
                </c:pt>
                <c:pt idx="247">
                  <c:v>0.73266286</c:v>
                </c:pt>
                <c:pt idx="248">
                  <c:v>0.85170899</c:v>
                </c:pt>
                <c:pt idx="249">
                  <c:v>0.96197971</c:v>
                </c:pt>
                <c:pt idx="250">
                  <c:v>0.66484987</c:v>
                </c:pt>
                <c:pt idx="251">
                  <c:v>0.58844286</c:v>
                </c:pt>
                <c:pt idx="252">
                  <c:v>0.86653201</c:v>
                </c:pt>
                <c:pt idx="253">
                  <c:v>0.8477876</c:v>
                </c:pt>
                <c:pt idx="254">
                  <c:v>0.83868549</c:v>
                </c:pt>
                <c:pt idx="255">
                  <c:v>0.97779513</c:v>
                </c:pt>
                <c:pt idx="256">
                  <c:v>0.4785447</c:v>
                </c:pt>
                <c:pt idx="257">
                  <c:v>0.66510423</c:v>
                </c:pt>
                <c:pt idx="258">
                  <c:v>0.80536385</c:v>
                </c:pt>
                <c:pt idx="259">
                  <c:v>0.68702778</c:v>
                </c:pt>
                <c:pt idx="260">
                  <c:v>0.69534266</c:v>
                </c:pt>
                <c:pt idx="261">
                  <c:v>0.68273595</c:v>
                </c:pt>
                <c:pt idx="262">
                  <c:v>0.7261901</c:v>
                </c:pt>
                <c:pt idx="263">
                  <c:v>0.74456139</c:v>
                </c:pt>
                <c:pt idx="264">
                  <c:v>0.82025394</c:v>
                </c:pt>
              </c:numCache>
            </c:numRef>
          </c:yVal>
        </c:ser>
        <c:ser>
          <c:idx val="3"/>
          <c:order val="3"/>
          <c:tx>
            <c:v>Transformer</c:v>
          </c:tx>
          <c:spPr>
            <a:solidFill xmlns:a="http://schemas.openxmlformats.org/drawingml/2006/main">
              <a:srgbClr val="B7790B"/>
            </a:solidFill>
            <a:ln xmlns:a="http://schemas.openxmlformats.org/drawingml/2006/main" w="20003">
              <a:solidFill>
                <a:srgbClr val="B7790B"/>
              </a:solidFill>
            </a:ln>
          </c:spPr>
          <c:marker>
            <c:symbol val="none"/>
          </c:marker>
          <c:xVal>
            <c:numRef>
              <c:f>'Chart Data'!$G$2:$G$266</c:f>
              <c:numCache>
                <c:formatCode>General</c:formatCode>
                <c:ptCount val="265"/>
                <c:pt idx="0">
                  <c:v>1994.916667</c:v>
                </c:pt>
                <c:pt idx="1">
                  <c:v>1995</c:v>
                </c:pt>
                <c:pt idx="2">
                  <c:v>1995.083333</c:v>
                </c:pt>
                <c:pt idx="3">
                  <c:v>1995.166667</c:v>
                </c:pt>
                <c:pt idx="4">
                  <c:v>1995.25</c:v>
                </c:pt>
                <c:pt idx="5">
                  <c:v>1995.333333</c:v>
                </c:pt>
                <c:pt idx="6">
                  <c:v>1995.416667</c:v>
                </c:pt>
                <c:pt idx="7">
                  <c:v>1995.5</c:v>
                </c:pt>
                <c:pt idx="8">
                  <c:v>1995.583333</c:v>
                </c:pt>
                <c:pt idx="9">
                  <c:v>1995.666667</c:v>
                </c:pt>
                <c:pt idx="10">
                  <c:v>1995.75</c:v>
                </c:pt>
                <c:pt idx="11">
                  <c:v>1995.833333</c:v>
                </c:pt>
                <c:pt idx="12">
                  <c:v>1995.916667</c:v>
                </c:pt>
                <c:pt idx="13">
                  <c:v>1996</c:v>
                </c:pt>
                <c:pt idx="14">
                  <c:v>1996.083333</c:v>
                </c:pt>
                <c:pt idx="15">
                  <c:v>1996.166667</c:v>
                </c:pt>
                <c:pt idx="16">
                  <c:v>1996.25</c:v>
                </c:pt>
                <c:pt idx="17">
                  <c:v>1996.333333</c:v>
                </c:pt>
                <c:pt idx="18">
                  <c:v>1996.416667</c:v>
                </c:pt>
                <c:pt idx="19">
                  <c:v>1996.5</c:v>
                </c:pt>
                <c:pt idx="20">
                  <c:v>1996.583333</c:v>
                </c:pt>
                <c:pt idx="21">
                  <c:v>1996.666667</c:v>
                </c:pt>
                <c:pt idx="22">
                  <c:v>1996.75</c:v>
                </c:pt>
                <c:pt idx="23">
                  <c:v>1996.833333</c:v>
                </c:pt>
                <c:pt idx="24">
                  <c:v>1996.916667</c:v>
                </c:pt>
                <c:pt idx="25">
                  <c:v>1997</c:v>
                </c:pt>
                <c:pt idx="26">
                  <c:v>1997.083333</c:v>
                </c:pt>
                <c:pt idx="27">
                  <c:v>1997.166667</c:v>
                </c:pt>
                <c:pt idx="28">
                  <c:v>1997.25</c:v>
                </c:pt>
                <c:pt idx="29">
                  <c:v>1997.333333</c:v>
                </c:pt>
                <c:pt idx="30">
                  <c:v>1997.416667</c:v>
                </c:pt>
                <c:pt idx="31">
                  <c:v>1997.5</c:v>
                </c:pt>
                <c:pt idx="32">
                  <c:v>1997.583333</c:v>
                </c:pt>
                <c:pt idx="33">
                  <c:v>1997.666667</c:v>
                </c:pt>
                <c:pt idx="34">
                  <c:v>1997.75</c:v>
                </c:pt>
                <c:pt idx="35">
                  <c:v>1997.833333</c:v>
                </c:pt>
                <c:pt idx="36">
                  <c:v>1997.916667</c:v>
                </c:pt>
                <c:pt idx="37">
                  <c:v>1998</c:v>
                </c:pt>
                <c:pt idx="38">
                  <c:v>1998.083333</c:v>
                </c:pt>
                <c:pt idx="39">
                  <c:v>1998.166667</c:v>
                </c:pt>
                <c:pt idx="40">
                  <c:v>1998.25</c:v>
                </c:pt>
                <c:pt idx="41">
                  <c:v>1998.333333</c:v>
                </c:pt>
                <c:pt idx="42">
                  <c:v>1998.416667</c:v>
                </c:pt>
                <c:pt idx="43">
                  <c:v>1998.5</c:v>
                </c:pt>
                <c:pt idx="44">
                  <c:v>1998.583333</c:v>
                </c:pt>
                <c:pt idx="45">
                  <c:v>1998.666667</c:v>
                </c:pt>
                <c:pt idx="46">
                  <c:v>1998.75</c:v>
                </c:pt>
                <c:pt idx="47">
                  <c:v>1998.833333</c:v>
                </c:pt>
                <c:pt idx="48">
                  <c:v>1998.916667</c:v>
                </c:pt>
                <c:pt idx="49">
                  <c:v>1999</c:v>
                </c:pt>
                <c:pt idx="50">
                  <c:v>1999.083333</c:v>
                </c:pt>
                <c:pt idx="51">
                  <c:v>1999.166667</c:v>
                </c:pt>
                <c:pt idx="52">
                  <c:v>1999.25</c:v>
                </c:pt>
                <c:pt idx="53">
                  <c:v>1999.333333</c:v>
                </c:pt>
                <c:pt idx="54">
                  <c:v>1999.416667</c:v>
                </c:pt>
                <c:pt idx="55">
                  <c:v>1999.5</c:v>
                </c:pt>
                <c:pt idx="56">
                  <c:v>1999.583333</c:v>
                </c:pt>
                <c:pt idx="57">
                  <c:v>1999.666667</c:v>
                </c:pt>
                <c:pt idx="58">
                  <c:v>1999.75</c:v>
                </c:pt>
                <c:pt idx="59">
                  <c:v>1999.833333</c:v>
                </c:pt>
                <c:pt idx="60">
                  <c:v>1999.916667</c:v>
                </c:pt>
                <c:pt idx="61">
                  <c:v>2000</c:v>
                </c:pt>
                <c:pt idx="62">
                  <c:v>2000.083333</c:v>
                </c:pt>
                <c:pt idx="63">
                  <c:v>2000.166667</c:v>
                </c:pt>
                <c:pt idx="64">
                  <c:v>2000.25</c:v>
                </c:pt>
                <c:pt idx="65">
                  <c:v>2000.333333</c:v>
                </c:pt>
                <c:pt idx="66">
                  <c:v>2000.416667</c:v>
                </c:pt>
                <c:pt idx="67">
                  <c:v>2000.5</c:v>
                </c:pt>
                <c:pt idx="68">
                  <c:v>2000.583333</c:v>
                </c:pt>
                <c:pt idx="69">
                  <c:v>2000.666667</c:v>
                </c:pt>
                <c:pt idx="70">
                  <c:v>2000.75</c:v>
                </c:pt>
                <c:pt idx="71">
                  <c:v>2000.833333</c:v>
                </c:pt>
                <c:pt idx="72">
                  <c:v>2000.916667</c:v>
                </c:pt>
                <c:pt idx="73">
                  <c:v>2001</c:v>
                </c:pt>
                <c:pt idx="74">
                  <c:v>2001.083333</c:v>
                </c:pt>
                <c:pt idx="75">
                  <c:v>2001.166667</c:v>
                </c:pt>
                <c:pt idx="76">
                  <c:v>2001.25</c:v>
                </c:pt>
                <c:pt idx="77">
                  <c:v>2001.333333</c:v>
                </c:pt>
                <c:pt idx="78">
                  <c:v>2001.416667</c:v>
                </c:pt>
                <c:pt idx="79">
                  <c:v>2001.5</c:v>
                </c:pt>
                <c:pt idx="80">
                  <c:v>2001.583333</c:v>
                </c:pt>
                <c:pt idx="81">
                  <c:v>2001.666667</c:v>
                </c:pt>
                <c:pt idx="82">
                  <c:v>2001.75</c:v>
                </c:pt>
                <c:pt idx="83">
                  <c:v>2001.833333</c:v>
                </c:pt>
                <c:pt idx="84">
                  <c:v>2001.916667</c:v>
                </c:pt>
                <c:pt idx="85">
                  <c:v>2002</c:v>
                </c:pt>
                <c:pt idx="86">
                  <c:v>2002.083333</c:v>
                </c:pt>
                <c:pt idx="87">
                  <c:v>2002.166667</c:v>
                </c:pt>
                <c:pt idx="88">
                  <c:v>2002.25</c:v>
                </c:pt>
                <c:pt idx="89">
                  <c:v>2002.333333</c:v>
                </c:pt>
                <c:pt idx="90">
                  <c:v>2002.416667</c:v>
                </c:pt>
                <c:pt idx="91">
                  <c:v>2002.5</c:v>
                </c:pt>
                <c:pt idx="92">
                  <c:v>2002.583333</c:v>
                </c:pt>
                <c:pt idx="93">
                  <c:v>2002.666667</c:v>
                </c:pt>
                <c:pt idx="94">
                  <c:v>2002.75</c:v>
                </c:pt>
                <c:pt idx="95">
                  <c:v>2002.833333</c:v>
                </c:pt>
                <c:pt idx="96">
                  <c:v>2002.916667</c:v>
                </c:pt>
                <c:pt idx="97">
                  <c:v>2003</c:v>
                </c:pt>
                <c:pt idx="98">
                  <c:v>2003.083333</c:v>
                </c:pt>
                <c:pt idx="99">
                  <c:v>2003.166667</c:v>
                </c:pt>
                <c:pt idx="100">
                  <c:v>2003.25</c:v>
                </c:pt>
                <c:pt idx="101">
                  <c:v>2003.333333</c:v>
                </c:pt>
                <c:pt idx="102">
                  <c:v>2003.416667</c:v>
                </c:pt>
                <c:pt idx="103">
                  <c:v>2003.5</c:v>
                </c:pt>
                <c:pt idx="104">
                  <c:v>2003.583333</c:v>
                </c:pt>
                <c:pt idx="105">
                  <c:v>2003.666667</c:v>
                </c:pt>
                <c:pt idx="106">
                  <c:v>2003.75</c:v>
                </c:pt>
                <c:pt idx="107">
                  <c:v>2003.833333</c:v>
                </c:pt>
                <c:pt idx="108">
                  <c:v>2003.916667</c:v>
                </c:pt>
                <c:pt idx="109">
                  <c:v>2004</c:v>
                </c:pt>
                <c:pt idx="110">
                  <c:v>2004.083333</c:v>
                </c:pt>
                <c:pt idx="111">
                  <c:v>2004.166667</c:v>
                </c:pt>
                <c:pt idx="112">
                  <c:v>2004.25</c:v>
                </c:pt>
                <c:pt idx="113">
                  <c:v>2004.333333</c:v>
                </c:pt>
                <c:pt idx="114">
                  <c:v>2004.416667</c:v>
                </c:pt>
                <c:pt idx="115">
                  <c:v>2004.5</c:v>
                </c:pt>
                <c:pt idx="116">
                  <c:v>2004.583333</c:v>
                </c:pt>
                <c:pt idx="117">
                  <c:v>2004.666667</c:v>
                </c:pt>
                <c:pt idx="118">
                  <c:v>2004.75</c:v>
                </c:pt>
                <c:pt idx="119">
                  <c:v>2004.833333</c:v>
                </c:pt>
                <c:pt idx="120">
                  <c:v>2004.916667</c:v>
                </c:pt>
                <c:pt idx="121">
                  <c:v>2005</c:v>
                </c:pt>
                <c:pt idx="122">
                  <c:v>2005.083333</c:v>
                </c:pt>
                <c:pt idx="123">
                  <c:v>2005.166667</c:v>
                </c:pt>
                <c:pt idx="124">
                  <c:v>2005.25</c:v>
                </c:pt>
                <c:pt idx="125">
                  <c:v>2005.333333</c:v>
                </c:pt>
                <c:pt idx="126">
                  <c:v>2005.416667</c:v>
                </c:pt>
                <c:pt idx="127">
                  <c:v>2005.5</c:v>
                </c:pt>
                <c:pt idx="128">
                  <c:v>2005.583333</c:v>
                </c:pt>
                <c:pt idx="129">
                  <c:v>2005.666667</c:v>
                </c:pt>
                <c:pt idx="130">
                  <c:v>2005.75</c:v>
                </c:pt>
                <c:pt idx="131">
                  <c:v>2005.833333</c:v>
                </c:pt>
                <c:pt idx="132">
                  <c:v>2005.916667</c:v>
                </c:pt>
                <c:pt idx="133">
                  <c:v>2006</c:v>
                </c:pt>
                <c:pt idx="134">
                  <c:v>2006.083333</c:v>
                </c:pt>
                <c:pt idx="135">
                  <c:v>2006.166667</c:v>
                </c:pt>
                <c:pt idx="136">
                  <c:v>2006.25</c:v>
                </c:pt>
                <c:pt idx="137">
                  <c:v>2006.333333</c:v>
                </c:pt>
                <c:pt idx="138">
                  <c:v>2006.416667</c:v>
                </c:pt>
                <c:pt idx="139">
                  <c:v>2006.5</c:v>
                </c:pt>
                <c:pt idx="140">
                  <c:v>2006.583333</c:v>
                </c:pt>
                <c:pt idx="141">
                  <c:v>2006.666667</c:v>
                </c:pt>
                <c:pt idx="142">
                  <c:v>2006.75</c:v>
                </c:pt>
                <c:pt idx="143">
                  <c:v>2006.833333</c:v>
                </c:pt>
                <c:pt idx="144">
                  <c:v>2006.916667</c:v>
                </c:pt>
                <c:pt idx="145">
                  <c:v>2007</c:v>
                </c:pt>
                <c:pt idx="146">
                  <c:v>2007.083333</c:v>
                </c:pt>
                <c:pt idx="147">
                  <c:v>2007.166667</c:v>
                </c:pt>
                <c:pt idx="148">
                  <c:v>2007.25</c:v>
                </c:pt>
                <c:pt idx="149">
                  <c:v>2007.333333</c:v>
                </c:pt>
                <c:pt idx="150">
                  <c:v>2007.416667</c:v>
                </c:pt>
                <c:pt idx="151">
                  <c:v>2007.5</c:v>
                </c:pt>
                <c:pt idx="152">
                  <c:v>2007.583333</c:v>
                </c:pt>
                <c:pt idx="153">
                  <c:v>2007.666667</c:v>
                </c:pt>
                <c:pt idx="154">
                  <c:v>2007.75</c:v>
                </c:pt>
                <c:pt idx="155">
                  <c:v>2007.833333</c:v>
                </c:pt>
                <c:pt idx="156">
                  <c:v>2007.916667</c:v>
                </c:pt>
                <c:pt idx="157">
                  <c:v>2008</c:v>
                </c:pt>
                <c:pt idx="158">
                  <c:v>2008.083333</c:v>
                </c:pt>
                <c:pt idx="159">
                  <c:v>2008.166667</c:v>
                </c:pt>
                <c:pt idx="160">
                  <c:v>2008.25</c:v>
                </c:pt>
                <c:pt idx="161">
                  <c:v>2008.333333</c:v>
                </c:pt>
                <c:pt idx="162">
                  <c:v>2008.416667</c:v>
                </c:pt>
                <c:pt idx="163">
                  <c:v>2008.5</c:v>
                </c:pt>
                <c:pt idx="164">
                  <c:v>2008.583333</c:v>
                </c:pt>
                <c:pt idx="165">
                  <c:v>2008.666667</c:v>
                </c:pt>
                <c:pt idx="166">
                  <c:v>2008.75</c:v>
                </c:pt>
                <c:pt idx="167">
                  <c:v>2008.833333</c:v>
                </c:pt>
                <c:pt idx="168">
                  <c:v>2008.916667</c:v>
                </c:pt>
                <c:pt idx="169">
                  <c:v>2009</c:v>
                </c:pt>
                <c:pt idx="170">
                  <c:v>2009.083333</c:v>
                </c:pt>
                <c:pt idx="171">
                  <c:v>2009.166667</c:v>
                </c:pt>
                <c:pt idx="172">
                  <c:v>2009.25</c:v>
                </c:pt>
                <c:pt idx="173">
                  <c:v>2009.333333</c:v>
                </c:pt>
                <c:pt idx="174">
                  <c:v>2009.416667</c:v>
                </c:pt>
                <c:pt idx="175">
                  <c:v>2009.5</c:v>
                </c:pt>
                <c:pt idx="176">
                  <c:v>2009.583333</c:v>
                </c:pt>
                <c:pt idx="177">
                  <c:v>2009.666667</c:v>
                </c:pt>
                <c:pt idx="178">
                  <c:v>2009.75</c:v>
                </c:pt>
                <c:pt idx="179">
                  <c:v>2009.833333</c:v>
                </c:pt>
                <c:pt idx="180">
                  <c:v>2009.916667</c:v>
                </c:pt>
                <c:pt idx="181">
                  <c:v>2010</c:v>
                </c:pt>
                <c:pt idx="182">
                  <c:v>2010.083333</c:v>
                </c:pt>
                <c:pt idx="183">
                  <c:v>2010.166667</c:v>
                </c:pt>
                <c:pt idx="184">
                  <c:v>2010.25</c:v>
                </c:pt>
                <c:pt idx="185">
                  <c:v>2010.333333</c:v>
                </c:pt>
                <c:pt idx="186">
                  <c:v>2010.416667</c:v>
                </c:pt>
                <c:pt idx="187">
                  <c:v>2010.5</c:v>
                </c:pt>
                <c:pt idx="188">
                  <c:v>2010.583333</c:v>
                </c:pt>
                <c:pt idx="189">
                  <c:v>2010.666667</c:v>
                </c:pt>
                <c:pt idx="190">
                  <c:v>2010.75</c:v>
                </c:pt>
                <c:pt idx="191">
                  <c:v>2010.833333</c:v>
                </c:pt>
                <c:pt idx="192">
                  <c:v>2010.916667</c:v>
                </c:pt>
                <c:pt idx="193">
                  <c:v>2011</c:v>
                </c:pt>
                <c:pt idx="194">
                  <c:v>2011.083333</c:v>
                </c:pt>
                <c:pt idx="195">
                  <c:v>2011.166667</c:v>
                </c:pt>
                <c:pt idx="196">
                  <c:v>2011.25</c:v>
                </c:pt>
                <c:pt idx="197">
                  <c:v>2011.333333</c:v>
                </c:pt>
                <c:pt idx="198">
                  <c:v>2011.416667</c:v>
                </c:pt>
                <c:pt idx="199">
                  <c:v>2011.5</c:v>
                </c:pt>
                <c:pt idx="200">
                  <c:v>2011.583333</c:v>
                </c:pt>
                <c:pt idx="201">
                  <c:v>2011.666667</c:v>
                </c:pt>
                <c:pt idx="202">
                  <c:v>2011.75</c:v>
                </c:pt>
                <c:pt idx="203">
                  <c:v>2011.833333</c:v>
                </c:pt>
                <c:pt idx="204">
                  <c:v>2011.916667</c:v>
                </c:pt>
                <c:pt idx="205">
                  <c:v>2012</c:v>
                </c:pt>
                <c:pt idx="206">
                  <c:v>2012.083333</c:v>
                </c:pt>
                <c:pt idx="207">
                  <c:v>2012.166667</c:v>
                </c:pt>
                <c:pt idx="208">
                  <c:v>2012.25</c:v>
                </c:pt>
                <c:pt idx="209">
                  <c:v>2012.333333</c:v>
                </c:pt>
                <c:pt idx="210">
                  <c:v>2012.416667</c:v>
                </c:pt>
                <c:pt idx="211">
                  <c:v>2012.5</c:v>
                </c:pt>
                <c:pt idx="212">
                  <c:v>2012.583333</c:v>
                </c:pt>
                <c:pt idx="213">
                  <c:v>2012.666667</c:v>
                </c:pt>
                <c:pt idx="214">
                  <c:v>2012.75</c:v>
                </c:pt>
                <c:pt idx="215">
                  <c:v>2012.833333</c:v>
                </c:pt>
                <c:pt idx="216">
                  <c:v>2012.916667</c:v>
                </c:pt>
                <c:pt idx="217">
                  <c:v>2013</c:v>
                </c:pt>
                <c:pt idx="218">
                  <c:v>2013.083333</c:v>
                </c:pt>
                <c:pt idx="219">
                  <c:v>2013.166667</c:v>
                </c:pt>
                <c:pt idx="220">
                  <c:v>2013.25</c:v>
                </c:pt>
                <c:pt idx="221">
                  <c:v>2013.333333</c:v>
                </c:pt>
                <c:pt idx="222">
                  <c:v>2013.416667</c:v>
                </c:pt>
                <c:pt idx="223">
                  <c:v>2013.5</c:v>
                </c:pt>
                <c:pt idx="224">
                  <c:v>2013.583333</c:v>
                </c:pt>
                <c:pt idx="225">
                  <c:v>2013.666667</c:v>
                </c:pt>
                <c:pt idx="226">
                  <c:v>2013.75</c:v>
                </c:pt>
                <c:pt idx="227">
                  <c:v>2013.833333</c:v>
                </c:pt>
                <c:pt idx="228">
                  <c:v>2013.916667</c:v>
                </c:pt>
                <c:pt idx="229">
                  <c:v>2014</c:v>
                </c:pt>
                <c:pt idx="230">
                  <c:v>2014.083333</c:v>
                </c:pt>
                <c:pt idx="231">
                  <c:v>2014.166667</c:v>
                </c:pt>
                <c:pt idx="232">
                  <c:v>2014.25</c:v>
                </c:pt>
                <c:pt idx="233">
                  <c:v>2014.333333</c:v>
                </c:pt>
                <c:pt idx="234">
                  <c:v>2014.416667</c:v>
                </c:pt>
                <c:pt idx="235">
                  <c:v>2014.5</c:v>
                </c:pt>
                <c:pt idx="236">
                  <c:v>2014.583333</c:v>
                </c:pt>
                <c:pt idx="237">
                  <c:v>2014.666667</c:v>
                </c:pt>
                <c:pt idx="238">
                  <c:v>2014.75</c:v>
                </c:pt>
                <c:pt idx="239">
                  <c:v>2014.833333</c:v>
                </c:pt>
                <c:pt idx="240">
                  <c:v>2014.916667</c:v>
                </c:pt>
                <c:pt idx="241">
                  <c:v>2015</c:v>
                </c:pt>
                <c:pt idx="242">
                  <c:v>2015.083333</c:v>
                </c:pt>
                <c:pt idx="243">
                  <c:v>2015.166667</c:v>
                </c:pt>
                <c:pt idx="244">
                  <c:v>2015.25</c:v>
                </c:pt>
                <c:pt idx="245">
                  <c:v>2015.333333</c:v>
                </c:pt>
                <c:pt idx="246">
                  <c:v>2015.416667</c:v>
                </c:pt>
                <c:pt idx="247">
                  <c:v>2015.5</c:v>
                </c:pt>
                <c:pt idx="248">
                  <c:v>2015.583333</c:v>
                </c:pt>
                <c:pt idx="249">
                  <c:v>2015.666667</c:v>
                </c:pt>
                <c:pt idx="250">
                  <c:v>2015.75</c:v>
                </c:pt>
                <c:pt idx="251">
                  <c:v>2015.833333</c:v>
                </c:pt>
                <c:pt idx="252">
                  <c:v>2015.916667</c:v>
                </c:pt>
                <c:pt idx="253">
                  <c:v>2016</c:v>
                </c:pt>
                <c:pt idx="254">
                  <c:v>2016.083333</c:v>
                </c:pt>
                <c:pt idx="255">
                  <c:v>2016.166667</c:v>
                </c:pt>
                <c:pt idx="256">
                  <c:v>2016.25</c:v>
                </c:pt>
                <c:pt idx="257">
                  <c:v>2016.333333</c:v>
                </c:pt>
                <c:pt idx="258">
                  <c:v>2016.416667</c:v>
                </c:pt>
                <c:pt idx="259">
                  <c:v>2016.5</c:v>
                </c:pt>
                <c:pt idx="260">
                  <c:v>2016.583333</c:v>
                </c:pt>
                <c:pt idx="261">
                  <c:v>2016.666667</c:v>
                </c:pt>
                <c:pt idx="262">
                  <c:v>2016.75</c:v>
                </c:pt>
                <c:pt idx="263">
                  <c:v>2016.833333</c:v>
                </c:pt>
                <c:pt idx="264">
                  <c:v>2016.916667</c:v>
                </c:pt>
              </c:numCache>
            </c:numRef>
          </c:xVal>
          <c:yVal>
            <c:numRef>
              <c:f>'Chart Data'!$H$2:$H$266</c:f>
              <c:numCache>
                <c:formatCode>0.000</c:formatCode>
                <c:ptCount val="265"/>
                <c:pt idx="0">
                  <c:v>1.36684231</c:v>
                </c:pt>
                <c:pt idx="1">
                  <c:v>1.27596507</c:v>
                </c:pt>
                <c:pt idx="2">
                  <c:v>1.6666648</c:v>
                </c:pt>
                <c:pt idx="3">
                  <c:v>1.74614131</c:v>
                </c:pt>
                <c:pt idx="4">
                  <c:v>1.74749784</c:v>
                </c:pt>
                <c:pt idx="5">
                  <c:v>1.75552827</c:v>
                </c:pt>
                <c:pt idx="6">
                  <c:v>1.81232416</c:v>
                </c:pt>
                <c:pt idx="7">
                  <c:v>1.86829283</c:v>
                </c:pt>
                <c:pt idx="8">
                  <c:v>1.95426198</c:v>
                </c:pt>
                <c:pt idx="9">
                  <c:v>1.81444463</c:v>
                </c:pt>
                <c:pt idx="10">
                  <c:v>2.00839776</c:v>
                </c:pt>
                <c:pt idx="11">
                  <c:v>2.1098099</c:v>
                </c:pt>
                <c:pt idx="12">
                  <c:v>2.1247695</c:v>
                </c:pt>
                <c:pt idx="13">
                  <c:v>2.04367197</c:v>
                </c:pt>
                <c:pt idx="14">
                  <c:v>2.08534879</c:v>
                </c:pt>
                <c:pt idx="15">
                  <c:v>1.91235083</c:v>
                </c:pt>
                <c:pt idx="16">
                  <c:v>1.64561436</c:v>
                </c:pt>
                <c:pt idx="17">
                  <c:v>1.54953345</c:v>
                </c:pt>
                <c:pt idx="18">
                  <c:v>1.71277011</c:v>
                </c:pt>
                <c:pt idx="19">
                  <c:v>1.86585646</c:v>
                </c:pt>
                <c:pt idx="20">
                  <c:v>1.81669066</c:v>
                </c:pt>
                <c:pt idx="21">
                  <c:v>1.82410825</c:v>
                </c:pt>
                <c:pt idx="22">
                  <c:v>2.04111283</c:v>
                </c:pt>
                <c:pt idx="23">
                  <c:v>2.27235047</c:v>
                </c:pt>
                <c:pt idx="24">
                  <c:v>2.26871535</c:v>
                </c:pt>
                <c:pt idx="25">
                  <c:v>2.02619885</c:v>
                </c:pt>
                <c:pt idx="26">
                  <c:v>2.3716007</c:v>
                </c:pt>
                <c:pt idx="27">
                  <c:v>2.63194839</c:v>
                </c:pt>
                <c:pt idx="28">
                  <c:v>2.60678034</c:v>
                </c:pt>
                <c:pt idx="29">
                  <c:v>2.76445319</c:v>
                </c:pt>
                <c:pt idx="30">
                  <c:v>2.78802559</c:v>
                </c:pt>
                <c:pt idx="31">
                  <c:v>2.62111334</c:v>
                </c:pt>
                <c:pt idx="32">
                  <c:v>2.2973943</c:v>
                </c:pt>
                <c:pt idx="33">
                  <c:v>2.33616484</c:v>
                </c:pt>
                <c:pt idx="34">
                  <c:v>2.15132868</c:v>
                </c:pt>
                <c:pt idx="35">
                  <c:v>2.15956268</c:v>
                </c:pt>
                <c:pt idx="36">
                  <c:v>2.2131038</c:v>
                </c:pt>
                <c:pt idx="37">
                  <c:v>1.99322866</c:v>
                </c:pt>
                <c:pt idx="38">
                  <c:v>1.98588432</c:v>
                </c:pt>
                <c:pt idx="39">
                  <c:v>1.97872142</c:v>
                </c:pt>
                <c:pt idx="40">
                  <c:v>1.79145168</c:v>
                </c:pt>
                <c:pt idx="41">
                  <c:v>1.85266666</c:v>
                </c:pt>
                <c:pt idx="42">
                  <c:v>1.73794383</c:v>
                </c:pt>
                <c:pt idx="43">
                  <c:v>1.68518162</c:v>
                </c:pt>
                <c:pt idx="44">
                  <c:v>1.56412533</c:v>
                </c:pt>
                <c:pt idx="45">
                  <c:v>1.59950764</c:v>
                </c:pt>
                <c:pt idx="46">
                  <c:v>1.45283107</c:v>
                </c:pt>
                <c:pt idx="47">
                  <c:v>1.47186549</c:v>
                </c:pt>
                <c:pt idx="48">
                  <c:v>1.37435082</c:v>
                </c:pt>
                <c:pt idx="49">
                  <c:v>1.25178716</c:v>
                </c:pt>
                <c:pt idx="50">
                  <c:v>1.25637533</c:v>
                </c:pt>
                <c:pt idx="51">
                  <c:v>1.11047583</c:v>
                </c:pt>
                <c:pt idx="52">
                  <c:v>1.34733646</c:v>
                </c:pt>
                <c:pt idx="53">
                  <c:v>1.49837002</c:v>
                </c:pt>
                <c:pt idx="54">
                  <c:v>1.57058097</c:v>
                </c:pt>
                <c:pt idx="55">
                  <c:v>1.49093475</c:v>
                </c:pt>
                <c:pt idx="56">
                  <c:v>1.42046046</c:v>
                </c:pt>
                <c:pt idx="57">
                  <c:v>1.3900461</c:v>
                </c:pt>
                <c:pt idx="58">
                  <c:v>1.22025703</c:v>
                </c:pt>
                <c:pt idx="59">
                  <c:v>1.14589176</c:v>
                </c:pt>
                <c:pt idx="60">
                  <c:v>0.94497434</c:v>
                </c:pt>
                <c:pt idx="61">
                  <c:v>1.14007573</c:v>
                </c:pt>
                <c:pt idx="62">
                  <c:v>0.67217805</c:v>
                </c:pt>
                <c:pt idx="63">
                  <c:v>0.79086655</c:v>
                </c:pt>
                <c:pt idx="64">
                  <c:v>0.78125351</c:v>
                </c:pt>
                <c:pt idx="65">
                  <c:v>0.77447063</c:v>
                </c:pt>
                <c:pt idx="66">
                  <c:v>0.70887926</c:v>
                </c:pt>
                <c:pt idx="67">
                  <c:v>0.88434315</c:v>
                </c:pt>
                <c:pt idx="68">
                  <c:v>1.12407615</c:v>
                </c:pt>
                <c:pt idx="69">
                  <c:v>1.30506041</c:v>
                </c:pt>
                <c:pt idx="70">
                  <c:v>1.4074864</c:v>
                </c:pt>
                <c:pt idx="71">
                  <c:v>1.47286852</c:v>
                </c:pt>
                <c:pt idx="72">
                  <c:v>1.47444285</c:v>
                </c:pt>
                <c:pt idx="73">
                  <c:v>0.61421246</c:v>
                </c:pt>
                <c:pt idx="74">
                  <c:v>0.77280209</c:v>
                </c:pt>
                <c:pt idx="75">
                  <c:v>0.80943237</c:v>
                </c:pt>
                <c:pt idx="76">
                  <c:v>0.84668952</c:v>
                </c:pt>
                <c:pt idx="77">
                  <c:v>0.89149321</c:v>
                </c:pt>
                <c:pt idx="78">
                  <c:v>0.9195997</c:v>
                </c:pt>
                <c:pt idx="79">
                  <c:v>1.03723149</c:v>
                </c:pt>
                <c:pt idx="80">
                  <c:v>1.1726142</c:v>
                </c:pt>
                <c:pt idx="81">
                  <c:v>1.27245964</c:v>
                </c:pt>
                <c:pt idx="82">
                  <c:v>1.10052829</c:v>
                </c:pt>
                <c:pt idx="83">
                  <c:v>0.87227021</c:v>
                </c:pt>
                <c:pt idx="84">
                  <c:v>0.88163859</c:v>
                </c:pt>
                <c:pt idx="85">
                  <c:v>1.0259192</c:v>
                </c:pt>
                <c:pt idx="86">
                  <c:v>1.14621693</c:v>
                </c:pt>
                <c:pt idx="87">
                  <c:v>1.23030153</c:v>
                </c:pt>
                <c:pt idx="88">
                  <c:v>1.33085812</c:v>
                </c:pt>
                <c:pt idx="89">
                  <c:v>1.38554905</c:v>
                </c:pt>
                <c:pt idx="90">
                  <c:v>1.44929027</c:v>
                </c:pt>
                <c:pt idx="91">
                  <c:v>1.51156845</c:v>
                </c:pt>
                <c:pt idx="92">
                  <c:v>1.50437671</c:v>
                </c:pt>
                <c:pt idx="93">
                  <c:v>1.53696842</c:v>
                </c:pt>
                <c:pt idx="94">
                  <c:v>1.42607387</c:v>
                </c:pt>
                <c:pt idx="95">
                  <c:v>1.15900363</c:v>
                </c:pt>
                <c:pt idx="96">
                  <c:v>1.27664099</c:v>
                </c:pt>
                <c:pt idx="97">
                  <c:v>1.22045373</c:v>
                </c:pt>
                <c:pt idx="98">
                  <c:v>1.32211158</c:v>
                </c:pt>
                <c:pt idx="99">
                  <c:v>1.25459</c:v>
                </c:pt>
                <c:pt idx="100">
                  <c:v>1.25596444</c:v>
                </c:pt>
                <c:pt idx="101">
                  <c:v>1.18342398</c:v>
                </c:pt>
                <c:pt idx="102">
                  <c:v>1.14607514</c:v>
                </c:pt>
                <c:pt idx="103">
                  <c:v>1.09609416</c:v>
                </c:pt>
                <c:pt idx="104">
                  <c:v>0.99470271</c:v>
                </c:pt>
                <c:pt idx="105">
                  <c:v>0.9455208</c:v>
                </c:pt>
                <c:pt idx="106">
                  <c:v>0.98052162</c:v>
                </c:pt>
                <c:pt idx="107">
                  <c:v>0.92765686</c:v>
                </c:pt>
                <c:pt idx="108">
                  <c:v>0.85156671</c:v>
                </c:pt>
                <c:pt idx="109">
                  <c:v>1.52543817</c:v>
                </c:pt>
                <c:pt idx="110">
                  <c:v>1.43923448</c:v>
                </c:pt>
                <c:pt idx="111">
                  <c:v>1.33280094</c:v>
                </c:pt>
                <c:pt idx="112">
                  <c:v>1.32675718</c:v>
                </c:pt>
                <c:pt idx="113">
                  <c:v>1.24061137</c:v>
                </c:pt>
                <c:pt idx="114">
                  <c:v>1.29278936</c:v>
                </c:pt>
                <c:pt idx="115">
                  <c:v>1.21940719</c:v>
                </c:pt>
                <c:pt idx="116">
                  <c:v>1.14185661</c:v>
                </c:pt>
                <c:pt idx="117">
                  <c:v>1.10594965</c:v>
                </c:pt>
                <c:pt idx="118">
                  <c:v>1.3876465</c:v>
                </c:pt>
                <c:pt idx="119">
                  <c:v>1.69755978</c:v>
                </c:pt>
                <c:pt idx="120">
                  <c:v>1.66568025</c:v>
                </c:pt>
                <c:pt idx="121">
                  <c:v>1.62307645</c:v>
                </c:pt>
                <c:pt idx="122">
                  <c:v>1.56219557</c:v>
                </c:pt>
                <c:pt idx="123">
                  <c:v>1.52747758</c:v>
                </c:pt>
                <c:pt idx="124">
                  <c:v>1.36494755</c:v>
                </c:pt>
                <c:pt idx="125">
                  <c:v>1.27640462</c:v>
                </c:pt>
                <c:pt idx="126">
                  <c:v>1.16696992</c:v>
                </c:pt>
                <c:pt idx="127">
                  <c:v>1.07189261</c:v>
                </c:pt>
                <c:pt idx="128">
                  <c:v>1.15196389</c:v>
                </c:pt>
                <c:pt idx="129">
                  <c:v>1.11888483</c:v>
                </c:pt>
                <c:pt idx="130">
                  <c:v>1.35751218</c:v>
                </c:pt>
                <c:pt idx="131">
                  <c:v>2.66706003</c:v>
                </c:pt>
                <c:pt idx="132">
                  <c:v>2.72076178</c:v>
                </c:pt>
                <c:pt idx="133">
                  <c:v>3.01596599</c:v>
                </c:pt>
                <c:pt idx="134">
                  <c:v>3.19229704</c:v>
                </c:pt>
                <c:pt idx="135">
                  <c:v>3.2311374</c:v>
                </c:pt>
                <c:pt idx="136">
                  <c:v>3.14926382</c:v>
                </c:pt>
                <c:pt idx="137">
                  <c:v>3.03976994</c:v>
                </c:pt>
                <c:pt idx="138">
                  <c:v>3.28959949</c:v>
                </c:pt>
                <c:pt idx="139">
                  <c:v>3.26017045</c:v>
                </c:pt>
                <c:pt idx="140">
                  <c:v>3.68380407</c:v>
                </c:pt>
                <c:pt idx="141">
                  <c:v>3.6258319</c:v>
                </c:pt>
                <c:pt idx="142">
                  <c:v>3.62603616</c:v>
                </c:pt>
                <c:pt idx="143">
                  <c:v>3.56038801</c:v>
                </c:pt>
                <c:pt idx="144">
                  <c:v>3.56650057</c:v>
                </c:pt>
                <c:pt idx="145">
                  <c:v>3.49259578</c:v>
                </c:pt>
                <c:pt idx="146">
                  <c:v>3.44725073</c:v>
                </c:pt>
                <c:pt idx="147">
                  <c:v>3.62022758</c:v>
                </c:pt>
                <c:pt idx="148">
                  <c:v>3.76881826</c:v>
                </c:pt>
                <c:pt idx="149">
                  <c:v>3.89110058</c:v>
                </c:pt>
                <c:pt idx="150">
                  <c:v>3.55138702</c:v>
                </c:pt>
                <c:pt idx="151">
                  <c:v>3.1318945</c:v>
                </c:pt>
                <c:pt idx="152">
                  <c:v>3.09139191</c:v>
                </c:pt>
                <c:pt idx="153">
                  <c:v>3.11039172</c:v>
                </c:pt>
                <c:pt idx="154">
                  <c:v>3.20322472</c:v>
                </c:pt>
                <c:pt idx="155">
                  <c:v>3.11333757</c:v>
                </c:pt>
                <c:pt idx="156">
                  <c:v>3.22033396</c:v>
                </c:pt>
                <c:pt idx="157">
                  <c:v>2.48390605</c:v>
                </c:pt>
                <c:pt idx="158">
                  <c:v>2.48390113</c:v>
                </c:pt>
                <c:pt idx="159">
                  <c:v>2.61085063</c:v>
                </c:pt>
                <c:pt idx="160">
                  <c:v>2.77421374</c:v>
                </c:pt>
                <c:pt idx="161">
                  <c:v>2.89575333</c:v>
                </c:pt>
                <c:pt idx="162">
                  <c:v>2.13646849</c:v>
                </c:pt>
                <c:pt idx="163">
                  <c:v>2.19866512</c:v>
                </c:pt>
                <c:pt idx="164">
                  <c:v>2.18261156</c:v>
                </c:pt>
                <c:pt idx="165">
                  <c:v>2.20878603</c:v>
                </c:pt>
                <c:pt idx="166">
                  <c:v>1.42454101</c:v>
                </c:pt>
                <c:pt idx="167">
                  <c:v>1.23408543</c:v>
                </c:pt>
                <c:pt idx="168">
                  <c:v>1.32948873</c:v>
                </c:pt>
                <c:pt idx="169">
                  <c:v>0.85798044</c:v>
                </c:pt>
                <c:pt idx="170">
                  <c:v>0.539912</c:v>
                </c:pt>
                <c:pt idx="171">
                  <c:v>0.41679037</c:v>
                </c:pt>
                <c:pt idx="172">
                  <c:v>0.17788708</c:v>
                </c:pt>
                <c:pt idx="173">
                  <c:v>0.28923507</c:v>
                </c:pt>
                <c:pt idx="174">
                  <c:v>0.2832743</c:v>
                </c:pt>
                <c:pt idx="175">
                  <c:v>0.29957071</c:v>
                </c:pt>
                <c:pt idx="176">
                  <c:v>-0.01160774</c:v>
                </c:pt>
                <c:pt idx="177">
                  <c:v>0.00938419</c:v>
                </c:pt>
                <c:pt idx="178">
                  <c:v>-0.00147819</c:v>
                </c:pt>
                <c:pt idx="179">
                  <c:v>0.05971296</c:v>
                </c:pt>
                <c:pt idx="180">
                  <c:v>0.03727963</c:v>
                </c:pt>
                <c:pt idx="181">
                  <c:v>-0.05213494</c:v>
                </c:pt>
                <c:pt idx="182">
                  <c:v>-0.03874021</c:v>
                </c:pt>
                <c:pt idx="183">
                  <c:v>-0.10138256</c:v>
                </c:pt>
                <c:pt idx="184">
                  <c:v>-0.30319413</c:v>
                </c:pt>
                <c:pt idx="185">
                  <c:v>-0.46271055</c:v>
                </c:pt>
                <c:pt idx="186">
                  <c:v>-0.43006013</c:v>
                </c:pt>
                <c:pt idx="187">
                  <c:v>-0.37541834</c:v>
                </c:pt>
                <c:pt idx="188">
                  <c:v>-0.37701068</c:v>
                </c:pt>
                <c:pt idx="189">
                  <c:v>-0.29980597</c:v>
                </c:pt>
                <c:pt idx="190">
                  <c:v>-0.32162976</c:v>
                </c:pt>
                <c:pt idx="191">
                  <c:v>-0.33847993</c:v>
                </c:pt>
                <c:pt idx="192">
                  <c:v>-0.37061024</c:v>
                </c:pt>
                <c:pt idx="193">
                  <c:v>-0.31500172</c:v>
                </c:pt>
                <c:pt idx="194">
                  <c:v>-0.47046248</c:v>
                </c:pt>
                <c:pt idx="195">
                  <c:v>-0.46715193</c:v>
                </c:pt>
                <c:pt idx="196">
                  <c:v>-0.50107181</c:v>
                </c:pt>
                <c:pt idx="197">
                  <c:v>-0.51807386</c:v>
                </c:pt>
                <c:pt idx="198">
                  <c:v>-0.37854668</c:v>
                </c:pt>
                <c:pt idx="199">
                  <c:v>-0.61413854</c:v>
                </c:pt>
                <c:pt idx="200">
                  <c:v>-0.6102357</c:v>
                </c:pt>
                <c:pt idx="201">
                  <c:v>-0.62812435</c:v>
                </c:pt>
                <c:pt idx="202">
                  <c:v>-0.27366858</c:v>
                </c:pt>
                <c:pt idx="203">
                  <c:v>-0.07877636</c:v>
                </c:pt>
                <c:pt idx="204">
                  <c:v>-0.11880501</c:v>
                </c:pt>
                <c:pt idx="205">
                  <c:v>0.13002954</c:v>
                </c:pt>
                <c:pt idx="206">
                  <c:v>0.35147697</c:v>
                </c:pt>
                <c:pt idx="207">
                  <c:v>0.46199134</c:v>
                </c:pt>
                <c:pt idx="208">
                  <c:v>0.86866262</c:v>
                </c:pt>
                <c:pt idx="209">
                  <c:v>0.78523814</c:v>
                </c:pt>
                <c:pt idx="210">
                  <c:v>0.87601583</c:v>
                </c:pt>
                <c:pt idx="211">
                  <c:v>0.90522303</c:v>
                </c:pt>
                <c:pt idx="212">
                  <c:v>1.51994992</c:v>
                </c:pt>
                <c:pt idx="213">
                  <c:v>1.42047697</c:v>
                </c:pt>
                <c:pt idx="214">
                  <c:v>1.41733986</c:v>
                </c:pt>
                <c:pt idx="215">
                  <c:v>1.38385456</c:v>
                </c:pt>
                <c:pt idx="216">
                  <c:v>1.27899835</c:v>
                </c:pt>
                <c:pt idx="217">
                  <c:v>1.54215002</c:v>
                </c:pt>
                <c:pt idx="218">
                  <c:v>1.53738617</c:v>
                </c:pt>
                <c:pt idx="219">
                  <c:v>1.58327992</c:v>
                </c:pt>
                <c:pt idx="220">
                  <c:v>2.03802685</c:v>
                </c:pt>
                <c:pt idx="221">
                  <c:v>1.92401709</c:v>
                </c:pt>
                <c:pt idx="222">
                  <c:v>1.94834225</c:v>
                </c:pt>
                <c:pt idx="223">
                  <c:v>1.77310149</c:v>
                </c:pt>
                <c:pt idx="224">
                  <c:v>1.65168987</c:v>
                </c:pt>
                <c:pt idx="225">
                  <c:v>1.54146017</c:v>
                </c:pt>
                <c:pt idx="226">
                  <c:v>1.52895507</c:v>
                </c:pt>
                <c:pt idx="227">
                  <c:v>1.65864704</c:v>
                </c:pt>
                <c:pt idx="228">
                  <c:v>1.57484744</c:v>
                </c:pt>
                <c:pt idx="229">
                  <c:v>1.33825169</c:v>
                </c:pt>
                <c:pt idx="230">
                  <c:v>1.48962383</c:v>
                </c:pt>
                <c:pt idx="231">
                  <c:v>1.48057736</c:v>
                </c:pt>
                <c:pt idx="232">
                  <c:v>1.49735365</c:v>
                </c:pt>
                <c:pt idx="233">
                  <c:v>1.5566345</c:v>
                </c:pt>
                <c:pt idx="234">
                  <c:v>1.55709813</c:v>
                </c:pt>
                <c:pt idx="235">
                  <c:v>1.78798325</c:v>
                </c:pt>
                <c:pt idx="236">
                  <c:v>1.7709198</c:v>
                </c:pt>
                <c:pt idx="237">
                  <c:v>1.79236391</c:v>
                </c:pt>
                <c:pt idx="238">
                  <c:v>1.7934856</c:v>
                </c:pt>
                <c:pt idx="239">
                  <c:v>1.79364057</c:v>
                </c:pt>
                <c:pt idx="240">
                  <c:v>1.79816076</c:v>
                </c:pt>
                <c:pt idx="241">
                  <c:v>1.85885718</c:v>
                </c:pt>
                <c:pt idx="242">
                  <c:v>1.84421873</c:v>
                </c:pt>
                <c:pt idx="243">
                  <c:v>1.92607034</c:v>
                </c:pt>
                <c:pt idx="244">
                  <c:v>1.54911647</c:v>
                </c:pt>
                <c:pt idx="245">
                  <c:v>1.72069912</c:v>
                </c:pt>
                <c:pt idx="246">
                  <c:v>1.6667419</c:v>
                </c:pt>
                <c:pt idx="247">
                  <c:v>1.67905384</c:v>
                </c:pt>
                <c:pt idx="248">
                  <c:v>1.65924771</c:v>
                </c:pt>
                <c:pt idx="249">
                  <c:v>1.78944217</c:v>
                </c:pt>
                <c:pt idx="250">
                  <c:v>1.78445813</c:v>
                </c:pt>
                <c:pt idx="251">
                  <c:v>1.82331403</c:v>
                </c:pt>
                <c:pt idx="252">
                  <c:v>1.92713307</c:v>
                </c:pt>
                <c:pt idx="253">
                  <c:v>2.00228328</c:v>
                </c:pt>
                <c:pt idx="254">
                  <c:v>1.87151652</c:v>
                </c:pt>
                <c:pt idx="255">
                  <c:v>1.63968587</c:v>
                </c:pt>
                <c:pt idx="256">
                  <c:v>0.99990549</c:v>
                </c:pt>
                <c:pt idx="257">
                  <c:v>1.27499255</c:v>
                </c:pt>
                <c:pt idx="258">
                  <c:v>1.20534603</c:v>
                </c:pt>
                <c:pt idx="259">
                  <c:v>1.15274064</c:v>
                </c:pt>
                <c:pt idx="260">
                  <c:v>1.13903894</c:v>
                </c:pt>
                <c:pt idx="261">
                  <c:v>1.09261354</c:v>
                </c:pt>
                <c:pt idx="262">
                  <c:v>1.12116389</c:v>
                </c:pt>
                <c:pt idx="263">
                  <c:v>1.0227361</c:v>
                </c:pt>
                <c:pt idx="264">
                  <c:v>1.07184396</c:v>
                </c:pt>
              </c:numCache>
            </c:numRef>
          </c:yVal>
        </c:ser>
        <c:ser>
          <c:idx val="4"/>
          <c:order val="4"/>
          <c:tx>
            <c:v>50/50 blend</c:v>
          </c:tx>
          <c:spPr>
            <a:solidFill xmlns:a="http://schemas.openxmlformats.org/drawingml/2006/main">
              <a:srgbClr val="16816B"/>
            </a:solidFill>
            <a:ln xmlns:a="http://schemas.openxmlformats.org/drawingml/2006/main" w="20003">
              <a:solidFill>
                <a:srgbClr val="16816B"/>
              </a:solidFill>
            </a:ln>
          </c:spPr>
          <c:marker>
            <c:symbol val="none"/>
          </c:marker>
          <c:xVal>
            <c:numRef>
              <c:f>'Chart Data'!$I$2:$I$266</c:f>
              <c:numCache>
                <c:formatCode>General</c:formatCode>
                <c:ptCount val="265"/>
                <c:pt idx="0">
                  <c:v>1994.916667</c:v>
                </c:pt>
                <c:pt idx="1">
                  <c:v>1995</c:v>
                </c:pt>
                <c:pt idx="2">
                  <c:v>1995.083333</c:v>
                </c:pt>
                <c:pt idx="3">
                  <c:v>1995.166667</c:v>
                </c:pt>
                <c:pt idx="4">
                  <c:v>1995.25</c:v>
                </c:pt>
                <c:pt idx="5">
                  <c:v>1995.333333</c:v>
                </c:pt>
                <c:pt idx="6">
                  <c:v>1995.416667</c:v>
                </c:pt>
                <c:pt idx="7">
                  <c:v>1995.5</c:v>
                </c:pt>
                <c:pt idx="8">
                  <c:v>1995.583333</c:v>
                </c:pt>
                <c:pt idx="9">
                  <c:v>1995.666667</c:v>
                </c:pt>
                <c:pt idx="10">
                  <c:v>1995.75</c:v>
                </c:pt>
                <c:pt idx="11">
                  <c:v>1995.833333</c:v>
                </c:pt>
                <c:pt idx="12">
                  <c:v>1995.916667</c:v>
                </c:pt>
                <c:pt idx="13">
                  <c:v>1996</c:v>
                </c:pt>
                <c:pt idx="14">
                  <c:v>1996.083333</c:v>
                </c:pt>
                <c:pt idx="15">
                  <c:v>1996.166667</c:v>
                </c:pt>
                <c:pt idx="16">
                  <c:v>1996.25</c:v>
                </c:pt>
                <c:pt idx="17">
                  <c:v>1996.333333</c:v>
                </c:pt>
                <c:pt idx="18">
                  <c:v>1996.416667</c:v>
                </c:pt>
                <c:pt idx="19">
                  <c:v>1996.5</c:v>
                </c:pt>
                <c:pt idx="20">
                  <c:v>1996.583333</c:v>
                </c:pt>
                <c:pt idx="21">
                  <c:v>1996.666667</c:v>
                </c:pt>
                <c:pt idx="22">
                  <c:v>1996.75</c:v>
                </c:pt>
                <c:pt idx="23">
                  <c:v>1996.833333</c:v>
                </c:pt>
                <c:pt idx="24">
                  <c:v>1996.916667</c:v>
                </c:pt>
                <c:pt idx="25">
                  <c:v>1997</c:v>
                </c:pt>
                <c:pt idx="26">
                  <c:v>1997.083333</c:v>
                </c:pt>
                <c:pt idx="27">
                  <c:v>1997.166667</c:v>
                </c:pt>
                <c:pt idx="28">
                  <c:v>1997.25</c:v>
                </c:pt>
                <c:pt idx="29">
                  <c:v>1997.333333</c:v>
                </c:pt>
                <c:pt idx="30">
                  <c:v>1997.416667</c:v>
                </c:pt>
                <c:pt idx="31">
                  <c:v>1997.5</c:v>
                </c:pt>
                <c:pt idx="32">
                  <c:v>1997.583333</c:v>
                </c:pt>
                <c:pt idx="33">
                  <c:v>1997.666667</c:v>
                </c:pt>
                <c:pt idx="34">
                  <c:v>1997.75</c:v>
                </c:pt>
                <c:pt idx="35">
                  <c:v>1997.833333</c:v>
                </c:pt>
                <c:pt idx="36">
                  <c:v>1997.916667</c:v>
                </c:pt>
                <c:pt idx="37">
                  <c:v>1998</c:v>
                </c:pt>
                <c:pt idx="38">
                  <c:v>1998.083333</c:v>
                </c:pt>
                <c:pt idx="39">
                  <c:v>1998.166667</c:v>
                </c:pt>
                <c:pt idx="40">
                  <c:v>1998.25</c:v>
                </c:pt>
                <c:pt idx="41">
                  <c:v>1998.333333</c:v>
                </c:pt>
                <c:pt idx="42">
                  <c:v>1998.416667</c:v>
                </c:pt>
                <c:pt idx="43">
                  <c:v>1998.5</c:v>
                </c:pt>
                <c:pt idx="44">
                  <c:v>1998.583333</c:v>
                </c:pt>
                <c:pt idx="45">
                  <c:v>1998.666667</c:v>
                </c:pt>
                <c:pt idx="46">
                  <c:v>1998.75</c:v>
                </c:pt>
                <c:pt idx="47">
                  <c:v>1998.833333</c:v>
                </c:pt>
                <c:pt idx="48">
                  <c:v>1998.916667</c:v>
                </c:pt>
                <c:pt idx="49">
                  <c:v>1999</c:v>
                </c:pt>
                <c:pt idx="50">
                  <c:v>1999.083333</c:v>
                </c:pt>
                <c:pt idx="51">
                  <c:v>1999.166667</c:v>
                </c:pt>
                <c:pt idx="52">
                  <c:v>1999.25</c:v>
                </c:pt>
                <c:pt idx="53">
                  <c:v>1999.333333</c:v>
                </c:pt>
                <c:pt idx="54">
                  <c:v>1999.416667</c:v>
                </c:pt>
                <c:pt idx="55">
                  <c:v>1999.5</c:v>
                </c:pt>
                <c:pt idx="56">
                  <c:v>1999.583333</c:v>
                </c:pt>
                <c:pt idx="57">
                  <c:v>1999.666667</c:v>
                </c:pt>
                <c:pt idx="58">
                  <c:v>1999.75</c:v>
                </c:pt>
                <c:pt idx="59">
                  <c:v>1999.833333</c:v>
                </c:pt>
                <c:pt idx="60">
                  <c:v>1999.916667</c:v>
                </c:pt>
                <c:pt idx="61">
                  <c:v>2000</c:v>
                </c:pt>
                <c:pt idx="62">
                  <c:v>2000.083333</c:v>
                </c:pt>
                <c:pt idx="63">
                  <c:v>2000.166667</c:v>
                </c:pt>
                <c:pt idx="64">
                  <c:v>2000.25</c:v>
                </c:pt>
                <c:pt idx="65">
                  <c:v>2000.333333</c:v>
                </c:pt>
                <c:pt idx="66">
                  <c:v>2000.416667</c:v>
                </c:pt>
                <c:pt idx="67">
                  <c:v>2000.5</c:v>
                </c:pt>
                <c:pt idx="68">
                  <c:v>2000.583333</c:v>
                </c:pt>
                <c:pt idx="69">
                  <c:v>2000.666667</c:v>
                </c:pt>
                <c:pt idx="70">
                  <c:v>2000.75</c:v>
                </c:pt>
                <c:pt idx="71">
                  <c:v>2000.833333</c:v>
                </c:pt>
                <c:pt idx="72">
                  <c:v>2000.916667</c:v>
                </c:pt>
                <c:pt idx="73">
                  <c:v>2001</c:v>
                </c:pt>
                <c:pt idx="74">
                  <c:v>2001.083333</c:v>
                </c:pt>
                <c:pt idx="75">
                  <c:v>2001.166667</c:v>
                </c:pt>
                <c:pt idx="76">
                  <c:v>2001.25</c:v>
                </c:pt>
                <c:pt idx="77">
                  <c:v>2001.333333</c:v>
                </c:pt>
                <c:pt idx="78">
                  <c:v>2001.416667</c:v>
                </c:pt>
                <c:pt idx="79">
                  <c:v>2001.5</c:v>
                </c:pt>
                <c:pt idx="80">
                  <c:v>2001.583333</c:v>
                </c:pt>
                <c:pt idx="81">
                  <c:v>2001.666667</c:v>
                </c:pt>
                <c:pt idx="82">
                  <c:v>2001.75</c:v>
                </c:pt>
                <c:pt idx="83">
                  <c:v>2001.833333</c:v>
                </c:pt>
                <c:pt idx="84">
                  <c:v>2001.916667</c:v>
                </c:pt>
                <c:pt idx="85">
                  <c:v>2002</c:v>
                </c:pt>
                <c:pt idx="86">
                  <c:v>2002.083333</c:v>
                </c:pt>
                <c:pt idx="87">
                  <c:v>2002.166667</c:v>
                </c:pt>
                <c:pt idx="88">
                  <c:v>2002.25</c:v>
                </c:pt>
                <c:pt idx="89">
                  <c:v>2002.333333</c:v>
                </c:pt>
                <c:pt idx="90">
                  <c:v>2002.416667</c:v>
                </c:pt>
                <c:pt idx="91">
                  <c:v>2002.5</c:v>
                </c:pt>
                <c:pt idx="92">
                  <c:v>2002.583333</c:v>
                </c:pt>
                <c:pt idx="93">
                  <c:v>2002.666667</c:v>
                </c:pt>
                <c:pt idx="94">
                  <c:v>2002.75</c:v>
                </c:pt>
                <c:pt idx="95">
                  <c:v>2002.833333</c:v>
                </c:pt>
                <c:pt idx="96">
                  <c:v>2002.916667</c:v>
                </c:pt>
                <c:pt idx="97">
                  <c:v>2003</c:v>
                </c:pt>
                <c:pt idx="98">
                  <c:v>2003.083333</c:v>
                </c:pt>
                <c:pt idx="99">
                  <c:v>2003.166667</c:v>
                </c:pt>
                <c:pt idx="100">
                  <c:v>2003.25</c:v>
                </c:pt>
                <c:pt idx="101">
                  <c:v>2003.333333</c:v>
                </c:pt>
                <c:pt idx="102">
                  <c:v>2003.416667</c:v>
                </c:pt>
                <c:pt idx="103">
                  <c:v>2003.5</c:v>
                </c:pt>
                <c:pt idx="104">
                  <c:v>2003.583333</c:v>
                </c:pt>
                <c:pt idx="105">
                  <c:v>2003.666667</c:v>
                </c:pt>
                <c:pt idx="106">
                  <c:v>2003.75</c:v>
                </c:pt>
                <c:pt idx="107">
                  <c:v>2003.833333</c:v>
                </c:pt>
                <c:pt idx="108">
                  <c:v>2003.916667</c:v>
                </c:pt>
                <c:pt idx="109">
                  <c:v>2004</c:v>
                </c:pt>
                <c:pt idx="110">
                  <c:v>2004.083333</c:v>
                </c:pt>
                <c:pt idx="111">
                  <c:v>2004.166667</c:v>
                </c:pt>
                <c:pt idx="112">
                  <c:v>2004.25</c:v>
                </c:pt>
                <c:pt idx="113">
                  <c:v>2004.333333</c:v>
                </c:pt>
                <c:pt idx="114">
                  <c:v>2004.416667</c:v>
                </c:pt>
                <c:pt idx="115">
                  <c:v>2004.5</c:v>
                </c:pt>
                <c:pt idx="116">
                  <c:v>2004.583333</c:v>
                </c:pt>
                <c:pt idx="117">
                  <c:v>2004.666667</c:v>
                </c:pt>
                <c:pt idx="118">
                  <c:v>2004.75</c:v>
                </c:pt>
                <c:pt idx="119">
                  <c:v>2004.833333</c:v>
                </c:pt>
                <c:pt idx="120">
                  <c:v>2004.916667</c:v>
                </c:pt>
                <c:pt idx="121">
                  <c:v>2005</c:v>
                </c:pt>
                <c:pt idx="122">
                  <c:v>2005.083333</c:v>
                </c:pt>
                <c:pt idx="123">
                  <c:v>2005.166667</c:v>
                </c:pt>
                <c:pt idx="124">
                  <c:v>2005.25</c:v>
                </c:pt>
                <c:pt idx="125">
                  <c:v>2005.333333</c:v>
                </c:pt>
                <c:pt idx="126">
                  <c:v>2005.416667</c:v>
                </c:pt>
                <c:pt idx="127">
                  <c:v>2005.5</c:v>
                </c:pt>
                <c:pt idx="128">
                  <c:v>2005.583333</c:v>
                </c:pt>
                <c:pt idx="129">
                  <c:v>2005.666667</c:v>
                </c:pt>
                <c:pt idx="130">
                  <c:v>2005.75</c:v>
                </c:pt>
                <c:pt idx="131">
                  <c:v>2005.833333</c:v>
                </c:pt>
                <c:pt idx="132">
                  <c:v>2005.916667</c:v>
                </c:pt>
                <c:pt idx="133">
                  <c:v>2006</c:v>
                </c:pt>
                <c:pt idx="134">
                  <c:v>2006.083333</c:v>
                </c:pt>
                <c:pt idx="135">
                  <c:v>2006.166667</c:v>
                </c:pt>
                <c:pt idx="136">
                  <c:v>2006.25</c:v>
                </c:pt>
                <c:pt idx="137">
                  <c:v>2006.333333</c:v>
                </c:pt>
                <c:pt idx="138">
                  <c:v>2006.416667</c:v>
                </c:pt>
                <c:pt idx="139">
                  <c:v>2006.5</c:v>
                </c:pt>
                <c:pt idx="140">
                  <c:v>2006.583333</c:v>
                </c:pt>
                <c:pt idx="141">
                  <c:v>2006.666667</c:v>
                </c:pt>
                <c:pt idx="142">
                  <c:v>2006.75</c:v>
                </c:pt>
                <c:pt idx="143">
                  <c:v>2006.833333</c:v>
                </c:pt>
                <c:pt idx="144">
                  <c:v>2006.916667</c:v>
                </c:pt>
                <c:pt idx="145">
                  <c:v>2007</c:v>
                </c:pt>
                <c:pt idx="146">
                  <c:v>2007.083333</c:v>
                </c:pt>
                <c:pt idx="147">
                  <c:v>2007.166667</c:v>
                </c:pt>
                <c:pt idx="148">
                  <c:v>2007.25</c:v>
                </c:pt>
                <c:pt idx="149">
                  <c:v>2007.333333</c:v>
                </c:pt>
                <c:pt idx="150">
                  <c:v>2007.416667</c:v>
                </c:pt>
                <c:pt idx="151">
                  <c:v>2007.5</c:v>
                </c:pt>
                <c:pt idx="152">
                  <c:v>2007.583333</c:v>
                </c:pt>
                <c:pt idx="153">
                  <c:v>2007.666667</c:v>
                </c:pt>
                <c:pt idx="154">
                  <c:v>2007.75</c:v>
                </c:pt>
                <c:pt idx="155">
                  <c:v>2007.833333</c:v>
                </c:pt>
                <c:pt idx="156">
                  <c:v>2007.916667</c:v>
                </c:pt>
                <c:pt idx="157">
                  <c:v>2008</c:v>
                </c:pt>
                <c:pt idx="158">
                  <c:v>2008.083333</c:v>
                </c:pt>
                <c:pt idx="159">
                  <c:v>2008.166667</c:v>
                </c:pt>
                <c:pt idx="160">
                  <c:v>2008.25</c:v>
                </c:pt>
                <c:pt idx="161">
                  <c:v>2008.333333</c:v>
                </c:pt>
                <c:pt idx="162">
                  <c:v>2008.416667</c:v>
                </c:pt>
                <c:pt idx="163">
                  <c:v>2008.5</c:v>
                </c:pt>
                <c:pt idx="164">
                  <c:v>2008.583333</c:v>
                </c:pt>
                <c:pt idx="165">
                  <c:v>2008.666667</c:v>
                </c:pt>
                <c:pt idx="166">
                  <c:v>2008.75</c:v>
                </c:pt>
                <c:pt idx="167">
                  <c:v>2008.833333</c:v>
                </c:pt>
                <c:pt idx="168">
                  <c:v>2008.916667</c:v>
                </c:pt>
                <c:pt idx="169">
                  <c:v>2009</c:v>
                </c:pt>
                <c:pt idx="170">
                  <c:v>2009.083333</c:v>
                </c:pt>
                <c:pt idx="171">
                  <c:v>2009.166667</c:v>
                </c:pt>
                <c:pt idx="172">
                  <c:v>2009.25</c:v>
                </c:pt>
                <c:pt idx="173">
                  <c:v>2009.333333</c:v>
                </c:pt>
                <c:pt idx="174">
                  <c:v>2009.416667</c:v>
                </c:pt>
                <c:pt idx="175">
                  <c:v>2009.5</c:v>
                </c:pt>
                <c:pt idx="176">
                  <c:v>2009.583333</c:v>
                </c:pt>
                <c:pt idx="177">
                  <c:v>2009.666667</c:v>
                </c:pt>
                <c:pt idx="178">
                  <c:v>2009.75</c:v>
                </c:pt>
                <c:pt idx="179">
                  <c:v>2009.833333</c:v>
                </c:pt>
                <c:pt idx="180">
                  <c:v>2009.916667</c:v>
                </c:pt>
                <c:pt idx="181">
                  <c:v>2010</c:v>
                </c:pt>
                <c:pt idx="182">
                  <c:v>2010.083333</c:v>
                </c:pt>
                <c:pt idx="183">
                  <c:v>2010.166667</c:v>
                </c:pt>
                <c:pt idx="184">
                  <c:v>2010.25</c:v>
                </c:pt>
                <c:pt idx="185">
                  <c:v>2010.333333</c:v>
                </c:pt>
                <c:pt idx="186">
                  <c:v>2010.416667</c:v>
                </c:pt>
                <c:pt idx="187">
                  <c:v>2010.5</c:v>
                </c:pt>
                <c:pt idx="188">
                  <c:v>2010.583333</c:v>
                </c:pt>
                <c:pt idx="189">
                  <c:v>2010.666667</c:v>
                </c:pt>
                <c:pt idx="190">
                  <c:v>2010.75</c:v>
                </c:pt>
                <c:pt idx="191">
                  <c:v>2010.833333</c:v>
                </c:pt>
                <c:pt idx="192">
                  <c:v>2010.916667</c:v>
                </c:pt>
                <c:pt idx="193">
                  <c:v>2011</c:v>
                </c:pt>
                <c:pt idx="194">
                  <c:v>2011.083333</c:v>
                </c:pt>
                <c:pt idx="195">
                  <c:v>2011.166667</c:v>
                </c:pt>
                <c:pt idx="196">
                  <c:v>2011.25</c:v>
                </c:pt>
                <c:pt idx="197">
                  <c:v>2011.333333</c:v>
                </c:pt>
                <c:pt idx="198">
                  <c:v>2011.416667</c:v>
                </c:pt>
                <c:pt idx="199">
                  <c:v>2011.5</c:v>
                </c:pt>
                <c:pt idx="200">
                  <c:v>2011.583333</c:v>
                </c:pt>
                <c:pt idx="201">
                  <c:v>2011.666667</c:v>
                </c:pt>
                <c:pt idx="202">
                  <c:v>2011.75</c:v>
                </c:pt>
                <c:pt idx="203">
                  <c:v>2011.833333</c:v>
                </c:pt>
                <c:pt idx="204">
                  <c:v>2011.916667</c:v>
                </c:pt>
                <c:pt idx="205">
                  <c:v>2012</c:v>
                </c:pt>
                <c:pt idx="206">
                  <c:v>2012.083333</c:v>
                </c:pt>
                <c:pt idx="207">
                  <c:v>2012.166667</c:v>
                </c:pt>
                <c:pt idx="208">
                  <c:v>2012.25</c:v>
                </c:pt>
                <c:pt idx="209">
                  <c:v>2012.333333</c:v>
                </c:pt>
                <c:pt idx="210">
                  <c:v>2012.416667</c:v>
                </c:pt>
                <c:pt idx="211">
                  <c:v>2012.5</c:v>
                </c:pt>
                <c:pt idx="212">
                  <c:v>2012.583333</c:v>
                </c:pt>
                <c:pt idx="213">
                  <c:v>2012.666667</c:v>
                </c:pt>
                <c:pt idx="214">
                  <c:v>2012.75</c:v>
                </c:pt>
                <c:pt idx="215">
                  <c:v>2012.833333</c:v>
                </c:pt>
                <c:pt idx="216">
                  <c:v>2012.916667</c:v>
                </c:pt>
                <c:pt idx="217">
                  <c:v>2013</c:v>
                </c:pt>
                <c:pt idx="218">
                  <c:v>2013.083333</c:v>
                </c:pt>
                <c:pt idx="219">
                  <c:v>2013.166667</c:v>
                </c:pt>
                <c:pt idx="220">
                  <c:v>2013.25</c:v>
                </c:pt>
                <c:pt idx="221">
                  <c:v>2013.333333</c:v>
                </c:pt>
                <c:pt idx="222">
                  <c:v>2013.416667</c:v>
                </c:pt>
                <c:pt idx="223">
                  <c:v>2013.5</c:v>
                </c:pt>
                <c:pt idx="224">
                  <c:v>2013.583333</c:v>
                </c:pt>
                <c:pt idx="225">
                  <c:v>2013.666667</c:v>
                </c:pt>
                <c:pt idx="226">
                  <c:v>2013.75</c:v>
                </c:pt>
                <c:pt idx="227">
                  <c:v>2013.833333</c:v>
                </c:pt>
                <c:pt idx="228">
                  <c:v>2013.916667</c:v>
                </c:pt>
                <c:pt idx="229">
                  <c:v>2014</c:v>
                </c:pt>
                <c:pt idx="230">
                  <c:v>2014.083333</c:v>
                </c:pt>
                <c:pt idx="231">
                  <c:v>2014.166667</c:v>
                </c:pt>
                <c:pt idx="232">
                  <c:v>2014.25</c:v>
                </c:pt>
                <c:pt idx="233">
                  <c:v>2014.333333</c:v>
                </c:pt>
                <c:pt idx="234">
                  <c:v>2014.416667</c:v>
                </c:pt>
                <c:pt idx="235">
                  <c:v>2014.5</c:v>
                </c:pt>
                <c:pt idx="236">
                  <c:v>2014.583333</c:v>
                </c:pt>
                <c:pt idx="237">
                  <c:v>2014.666667</c:v>
                </c:pt>
                <c:pt idx="238">
                  <c:v>2014.75</c:v>
                </c:pt>
                <c:pt idx="239">
                  <c:v>2014.833333</c:v>
                </c:pt>
                <c:pt idx="240">
                  <c:v>2014.916667</c:v>
                </c:pt>
                <c:pt idx="241">
                  <c:v>2015</c:v>
                </c:pt>
                <c:pt idx="242">
                  <c:v>2015.083333</c:v>
                </c:pt>
                <c:pt idx="243">
                  <c:v>2015.166667</c:v>
                </c:pt>
                <c:pt idx="244">
                  <c:v>2015.25</c:v>
                </c:pt>
                <c:pt idx="245">
                  <c:v>2015.333333</c:v>
                </c:pt>
                <c:pt idx="246">
                  <c:v>2015.416667</c:v>
                </c:pt>
                <c:pt idx="247">
                  <c:v>2015.5</c:v>
                </c:pt>
                <c:pt idx="248">
                  <c:v>2015.583333</c:v>
                </c:pt>
                <c:pt idx="249">
                  <c:v>2015.666667</c:v>
                </c:pt>
                <c:pt idx="250">
                  <c:v>2015.75</c:v>
                </c:pt>
                <c:pt idx="251">
                  <c:v>2015.833333</c:v>
                </c:pt>
                <c:pt idx="252">
                  <c:v>2015.916667</c:v>
                </c:pt>
                <c:pt idx="253">
                  <c:v>2016</c:v>
                </c:pt>
                <c:pt idx="254">
                  <c:v>2016.083333</c:v>
                </c:pt>
                <c:pt idx="255">
                  <c:v>2016.166667</c:v>
                </c:pt>
                <c:pt idx="256">
                  <c:v>2016.25</c:v>
                </c:pt>
                <c:pt idx="257">
                  <c:v>2016.333333</c:v>
                </c:pt>
                <c:pt idx="258">
                  <c:v>2016.416667</c:v>
                </c:pt>
                <c:pt idx="259">
                  <c:v>2016.5</c:v>
                </c:pt>
                <c:pt idx="260">
                  <c:v>2016.583333</c:v>
                </c:pt>
                <c:pt idx="261">
                  <c:v>2016.666667</c:v>
                </c:pt>
                <c:pt idx="262">
                  <c:v>2016.75</c:v>
                </c:pt>
                <c:pt idx="263">
                  <c:v>2016.833333</c:v>
                </c:pt>
                <c:pt idx="264">
                  <c:v>2016.916667</c:v>
                </c:pt>
              </c:numCache>
            </c:numRef>
          </c:xVal>
          <c:yVal>
            <c:numRef>
              <c:f>'Chart Data'!$J$2:$J$266</c:f>
              <c:numCache>
                <c:formatCode>0.000</c:formatCode>
                <c:ptCount val="265"/>
                <c:pt idx="0">
                  <c:v>2.82311996</c:v>
                </c:pt>
                <c:pt idx="1">
                  <c:v>2.7652166</c:v>
                </c:pt>
                <c:pt idx="2">
                  <c:v>3.31144537</c:v>
                </c:pt>
                <c:pt idx="3">
                  <c:v>3.33067411</c:v>
                </c:pt>
                <c:pt idx="4">
                  <c:v>3.32916859</c:v>
                </c:pt>
                <c:pt idx="5">
                  <c:v>3.25745119</c:v>
                </c:pt>
                <c:pt idx="6">
                  <c:v>3.14980273</c:v>
                </c:pt>
                <c:pt idx="7">
                  <c:v>3.140979</c:v>
                </c:pt>
                <c:pt idx="8">
                  <c:v>3.05782287</c:v>
                </c:pt>
                <c:pt idx="9">
                  <c:v>2.9228538</c:v>
                </c:pt>
                <c:pt idx="10">
                  <c:v>3.12307907</c:v>
                </c:pt>
                <c:pt idx="11">
                  <c:v>3.19985219</c:v>
                </c:pt>
                <c:pt idx="12">
                  <c:v>3.19212593</c:v>
                </c:pt>
                <c:pt idx="13">
                  <c:v>3.09803792</c:v>
                </c:pt>
                <c:pt idx="14">
                  <c:v>3.05599689</c:v>
                </c:pt>
                <c:pt idx="15">
                  <c:v>2.90744515</c:v>
                </c:pt>
                <c:pt idx="16">
                  <c:v>2.54124752</c:v>
                </c:pt>
                <c:pt idx="17">
                  <c:v>2.52565231</c:v>
                </c:pt>
                <c:pt idx="18">
                  <c:v>2.77979383</c:v>
                </c:pt>
                <c:pt idx="19">
                  <c:v>2.83028151</c:v>
                </c:pt>
                <c:pt idx="20">
                  <c:v>2.83491773</c:v>
                </c:pt>
                <c:pt idx="21">
                  <c:v>2.82023677</c:v>
                </c:pt>
                <c:pt idx="22">
                  <c:v>3.07814905</c:v>
                </c:pt>
                <c:pt idx="23">
                  <c:v>3.39258472</c:v>
                </c:pt>
                <c:pt idx="24">
                  <c:v>3.43909599</c:v>
                </c:pt>
                <c:pt idx="25">
                  <c:v>3.30759164</c:v>
                </c:pt>
                <c:pt idx="26">
                  <c:v>3.68157501</c:v>
                </c:pt>
                <c:pt idx="27">
                  <c:v>3.87630637</c:v>
                </c:pt>
                <c:pt idx="28">
                  <c:v>3.80662708</c:v>
                </c:pt>
                <c:pt idx="29">
                  <c:v>4.02789152</c:v>
                </c:pt>
                <c:pt idx="30">
                  <c:v>4.07847521</c:v>
                </c:pt>
                <c:pt idx="31">
                  <c:v>3.86204072</c:v>
                </c:pt>
                <c:pt idx="32">
                  <c:v>3.5178701</c:v>
                </c:pt>
                <c:pt idx="33">
                  <c:v>3.70652131</c:v>
                </c:pt>
                <c:pt idx="34">
                  <c:v>3.52377433</c:v>
                </c:pt>
                <c:pt idx="35">
                  <c:v>3.53805182</c:v>
                </c:pt>
                <c:pt idx="36">
                  <c:v>3.54260419</c:v>
                </c:pt>
                <c:pt idx="37">
                  <c:v>3.36993138</c:v>
                </c:pt>
                <c:pt idx="38">
                  <c:v>3.3712059</c:v>
                </c:pt>
                <c:pt idx="39">
                  <c:v>3.37611743</c:v>
                </c:pt>
                <c:pt idx="40">
                  <c:v>3.16911329</c:v>
                </c:pt>
                <c:pt idx="41">
                  <c:v>3.28910305</c:v>
                </c:pt>
                <c:pt idx="42">
                  <c:v>3.22048752</c:v>
                </c:pt>
                <c:pt idx="43">
                  <c:v>3.16797222</c:v>
                </c:pt>
                <c:pt idx="44">
                  <c:v>3.24574512</c:v>
                </c:pt>
                <c:pt idx="45">
                  <c:v>3.39847146</c:v>
                </c:pt>
                <c:pt idx="46">
                  <c:v>3.28946572</c:v>
                </c:pt>
                <c:pt idx="47">
                  <c:v>3.29516722</c:v>
                </c:pt>
                <c:pt idx="48">
                  <c:v>3.23090111</c:v>
                </c:pt>
                <c:pt idx="49">
                  <c:v>2.98287721</c:v>
                </c:pt>
                <c:pt idx="50">
                  <c:v>2.90286635</c:v>
                </c:pt>
                <c:pt idx="51">
                  <c:v>2.77359905</c:v>
                </c:pt>
                <c:pt idx="52">
                  <c:v>3.14239793</c:v>
                </c:pt>
                <c:pt idx="53">
                  <c:v>3.34975991</c:v>
                </c:pt>
                <c:pt idx="54">
                  <c:v>3.34862324</c:v>
                </c:pt>
                <c:pt idx="55">
                  <c:v>3.3422461</c:v>
                </c:pt>
                <c:pt idx="56">
                  <c:v>3.18189408</c:v>
                </c:pt>
                <c:pt idx="57">
                  <c:v>3.07098531</c:v>
                </c:pt>
                <c:pt idx="58">
                  <c:v>2.9426817</c:v>
                </c:pt>
                <c:pt idx="59">
                  <c:v>2.71983213</c:v>
                </c:pt>
                <c:pt idx="60">
                  <c:v>2.08482601</c:v>
                </c:pt>
                <c:pt idx="61">
                  <c:v>2.15100198</c:v>
                </c:pt>
                <c:pt idx="62">
                  <c:v>0.81768806</c:v>
                </c:pt>
                <c:pt idx="63">
                  <c:v>0.92356059</c:v>
                </c:pt>
                <c:pt idx="64">
                  <c:v>1.00707724</c:v>
                </c:pt>
                <c:pt idx="65">
                  <c:v>0.95639075</c:v>
                </c:pt>
                <c:pt idx="66">
                  <c:v>0.90475184</c:v>
                </c:pt>
                <c:pt idx="67">
                  <c:v>1.06767292</c:v>
                </c:pt>
                <c:pt idx="68">
                  <c:v>1.12712924</c:v>
                </c:pt>
                <c:pt idx="69">
                  <c:v>1.2138136</c:v>
                </c:pt>
                <c:pt idx="70">
                  <c:v>1.3120569</c:v>
                </c:pt>
                <c:pt idx="71">
                  <c:v>1.41640457</c:v>
                </c:pt>
                <c:pt idx="72">
                  <c:v>1.47954466</c:v>
                </c:pt>
                <c:pt idx="73">
                  <c:v>1.13854149</c:v>
                </c:pt>
                <c:pt idx="74">
                  <c:v>1.23838663</c:v>
                </c:pt>
                <c:pt idx="75">
                  <c:v>1.27803474</c:v>
                </c:pt>
                <c:pt idx="76">
                  <c:v>1.32593808</c:v>
                </c:pt>
                <c:pt idx="77">
                  <c:v>1.36102692</c:v>
                </c:pt>
                <c:pt idx="78">
                  <c:v>1.38061157</c:v>
                </c:pt>
                <c:pt idx="79">
                  <c:v>1.4644529</c:v>
                </c:pt>
                <c:pt idx="80">
                  <c:v>1.48263505</c:v>
                </c:pt>
                <c:pt idx="81">
                  <c:v>1.47978691</c:v>
                </c:pt>
                <c:pt idx="82">
                  <c:v>1.3910635</c:v>
                </c:pt>
                <c:pt idx="83">
                  <c:v>1.27599238</c:v>
                </c:pt>
                <c:pt idx="84">
                  <c:v>1.28564984</c:v>
                </c:pt>
                <c:pt idx="85">
                  <c:v>1.42718216</c:v>
                </c:pt>
                <c:pt idx="86">
                  <c:v>1.53203935</c:v>
                </c:pt>
                <c:pt idx="87">
                  <c:v>1.61157851</c:v>
                </c:pt>
                <c:pt idx="88">
                  <c:v>1.66336704</c:v>
                </c:pt>
                <c:pt idx="89">
                  <c:v>1.68845624</c:v>
                </c:pt>
                <c:pt idx="90">
                  <c:v>1.68786114</c:v>
                </c:pt>
                <c:pt idx="91">
                  <c:v>1.63246991</c:v>
                </c:pt>
                <c:pt idx="92">
                  <c:v>1.64958028</c:v>
                </c:pt>
                <c:pt idx="93">
                  <c:v>1.65691349</c:v>
                </c:pt>
                <c:pt idx="94">
                  <c:v>1.60062009</c:v>
                </c:pt>
                <c:pt idx="95">
                  <c:v>1.44185727</c:v>
                </c:pt>
                <c:pt idx="96">
                  <c:v>1.68913648</c:v>
                </c:pt>
                <c:pt idx="97">
                  <c:v>1.64575771</c:v>
                </c:pt>
                <c:pt idx="98">
                  <c:v>2.20090084</c:v>
                </c:pt>
                <c:pt idx="99">
                  <c:v>2.0436283</c:v>
                </c:pt>
                <c:pt idx="100">
                  <c:v>1.99474933</c:v>
                </c:pt>
                <c:pt idx="101">
                  <c:v>2.03023646</c:v>
                </c:pt>
                <c:pt idx="102">
                  <c:v>2.04535997</c:v>
                </c:pt>
                <c:pt idx="103">
                  <c:v>1.98541542</c:v>
                </c:pt>
                <c:pt idx="104">
                  <c:v>2.01190884</c:v>
                </c:pt>
                <c:pt idx="105">
                  <c:v>1.93075381</c:v>
                </c:pt>
                <c:pt idx="106">
                  <c:v>1.91430579</c:v>
                </c:pt>
                <c:pt idx="107">
                  <c:v>1.79933135</c:v>
                </c:pt>
                <c:pt idx="108">
                  <c:v>1.75058329</c:v>
                </c:pt>
                <c:pt idx="109">
                  <c:v>2.34733911</c:v>
                </c:pt>
                <c:pt idx="110">
                  <c:v>2.51699334</c:v>
                </c:pt>
                <c:pt idx="111">
                  <c:v>2.43260104</c:v>
                </c:pt>
                <c:pt idx="112">
                  <c:v>2.37202522</c:v>
                </c:pt>
                <c:pt idx="113">
                  <c:v>2.25855516</c:v>
                </c:pt>
                <c:pt idx="114">
                  <c:v>2.34816126</c:v>
                </c:pt>
                <c:pt idx="115">
                  <c:v>2.33156389</c:v>
                </c:pt>
                <c:pt idx="116">
                  <c:v>2.30542695</c:v>
                </c:pt>
                <c:pt idx="117">
                  <c:v>2.32881247</c:v>
                </c:pt>
                <c:pt idx="118">
                  <c:v>2.53889472</c:v>
                </c:pt>
                <c:pt idx="119">
                  <c:v>2.76801535</c:v>
                </c:pt>
                <c:pt idx="120">
                  <c:v>2.61356047</c:v>
                </c:pt>
                <c:pt idx="121">
                  <c:v>2.58951976</c:v>
                </c:pt>
                <c:pt idx="122">
                  <c:v>2.56044128</c:v>
                </c:pt>
                <c:pt idx="123">
                  <c:v>2.48562789</c:v>
                </c:pt>
                <c:pt idx="124">
                  <c:v>2.44835144</c:v>
                </c:pt>
                <c:pt idx="125">
                  <c:v>2.29549895</c:v>
                </c:pt>
                <c:pt idx="126">
                  <c:v>2.25697098</c:v>
                </c:pt>
                <c:pt idx="127">
                  <c:v>2.27382865</c:v>
                </c:pt>
                <c:pt idx="128">
                  <c:v>2.34780294</c:v>
                </c:pt>
                <c:pt idx="129">
                  <c:v>2.41254921</c:v>
                </c:pt>
                <c:pt idx="130">
                  <c:v>2.55003907</c:v>
                </c:pt>
                <c:pt idx="131">
                  <c:v>3.61392752</c:v>
                </c:pt>
                <c:pt idx="132">
                  <c:v>3.96344673</c:v>
                </c:pt>
                <c:pt idx="133">
                  <c:v>4.18067335</c:v>
                </c:pt>
                <c:pt idx="134">
                  <c:v>4.6482461</c:v>
                </c:pt>
                <c:pt idx="135">
                  <c:v>4.98039882</c:v>
                </c:pt>
                <c:pt idx="136">
                  <c:v>4.8565948</c:v>
                </c:pt>
                <c:pt idx="137">
                  <c:v>4.648819</c:v>
                </c:pt>
                <c:pt idx="138">
                  <c:v>4.57503947</c:v>
                </c:pt>
                <c:pt idx="139">
                  <c:v>4.54599639</c:v>
                </c:pt>
                <c:pt idx="140">
                  <c:v>4.5225574</c:v>
                </c:pt>
                <c:pt idx="141">
                  <c:v>4.306889</c:v>
                </c:pt>
                <c:pt idx="142">
                  <c:v>4.26986082</c:v>
                </c:pt>
                <c:pt idx="143">
                  <c:v>4.3321774</c:v>
                </c:pt>
                <c:pt idx="144">
                  <c:v>4.39569597</c:v>
                </c:pt>
                <c:pt idx="145">
                  <c:v>4.12771352</c:v>
                </c:pt>
                <c:pt idx="146">
                  <c:v>4.20163014</c:v>
                </c:pt>
                <c:pt idx="147">
                  <c:v>4.18552866</c:v>
                </c:pt>
                <c:pt idx="148">
                  <c:v>4.34305592</c:v>
                </c:pt>
                <c:pt idx="149">
                  <c:v>4.48195375</c:v>
                </c:pt>
                <c:pt idx="150">
                  <c:v>4.28510183</c:v>
                </c:pt>
                <c:pt idx="151">
                  <c:v>4.11388743</c:v>
                </c:pt>
                <c:pt idx="152">
                  <c:v>3.9442857</c:v>
                </c:pt>
                <c:pt idx="153">
                  <c:v>3.96041771</c:v>
                </c:pt>
                <c:pt idx="154">
                  <c:v>4.07882474</c:v>
                </c:pt>
                <c:pt idx="155">
                  <c:v>4.102426</c:v>
                </c:pt>
                <c:pt idx="156">
                  <c:v>4.6745157</c:v>
                </c:pt>
                <c:pt idx="157">
                  <c:v>3.98267135</c:v>
                </c:pt>
                <c:pt idx="158">
                  <c:v>3.89385871</c:v>
                </c:pt>
                <c:pt idx="159">
                  <c:v>3.97856196</c:v>
                </c:pt>
                <c:pt idx="160">
                  <c:v>3.93213169</c:v>
                </c:pt>
                <c:pt idx="161">
                  <c:v>4.21608838</c:v>
                </c:pt>
                <c:pt idx="162">
                  <c:v>2.34101433</c:v>
                </c:pt>
                <c:pt idx="163">
                  <c:v>2.4335192</c:v>
                </c:pt>
                <c:pt idx="164">
                  <c:v>2.24458231</c:v>
                </c:pt>
                <c:pt idx="165">
                  <c:v>2.00775995</c:v>
                </c:pt>
                <c:pt idx="166">
                  <c:v>1.61827719</c:v>
                </c:pt>
                <c:pt idx="167">
                  <c:v>1.65597823</c:v>
                </c:pt>
                <c:pt idx="168">
                  <c:v>1.78319405</c:v>
                </c:pt>
                <c:pt idx="169">
                  <c:v>1.52159236</c:v>
                </c:pt>
                <c:pt idx="170">
                  <c:v>1.10905995</c:v>
                </c:pt>
                <c:pt idx="171">
                  <c:v>0.97167622</c:v>
                </c:pt>
                <c:pt idx="172">
                  <c:v>0.47849087</c:v>
                </c:pt>
                <c:pt idx="173">
                  <c:v>0.55597789</c:v>
                </c:pt>
                <c:pt idx="174">
                  <c:v>0.57971593</c:v>
                </c:pt>
                <c:pt idx="175">
                  <c:v>0.64142779</c:v>
                </c:pt>
                <c:pt idx="176">
                  <c:v>0.30896754</c:v>
                </c:pt>
                <c:pt idx="177">
                  <c:v>0.39210126</c:v>
                </c:pt>
                <c:pt idx="178">
                  <c:v>0.38344296</c:v>
                </c:pt>
                <c:pt idx="179">
                  <c:v>0.40826969</c:v>
                </c:pt>
                <c:pt idx="180">
                  <c:v>0.35856694</c:v>
                </c:pt>
                <c:pt idx="181">
                  <c:v>0.34241804</c:v>
                </c:pt>
                <c:pt idx="182">
                  <c:v>0.33852012</c:v>
                </c:pt>
                <c:pt idx="183">
                  <c:v>0.32386917</c:v>
                </c:pt>
                <c:pt idx="184">
                  <c:v>0.14142342</c:v>
                </c:pt>
                <c:pt idx="185">
                  <c:v>0.05945247</c:v>
                </c:pt>
                <c:pt idx="186">
                  <c:v>0.05129383</c:v>
                </c:pt>
                <c:pt idx="187">
                  <c:v>0.05889239</c:v>
                </c:pt>
                <c:pt idx="188">
                  <c:v>0.11069972</c:v>
                </c:pt>
                <c:pt idx="189">
                  <c:v>0.14482806</c:v>
                </c:pt>
                <c:pt idx="190">
                  <c:v>0.1163527</c:v>
                </c:pt>
                <c:pt idx="191">
                  <c:v>0.06572721</c:v>
                </c:pt>
                <c:pt idx="192">
                  <c:v>-0.02668474</c:v>
                </c:pt>
                <c:pt idx="193">
                  <c:v>0.01519029</c:v>
                </c:pt>
                <c:pt idx="194">
                  <c:v>-0.17560786</c:v>
                </c:pt>
                <c:pt idx="195">
                  <c:v>-0.16550396</c:v>
                </c:pt>
                <c:pt idx="196">
                  <c:v>-0.246764</c:v>
                </c:pt>
                <c:pt idx="197">
                  <c:v>-0.27363125</c:v>
                </c:pt>
                <c:pt idx="198">
                  <c:v>-0.06862427</c:v>
                </c:pt>
                <c:pt idx="199">
                  <c:v>-0.23075655</c:v>
                </c:pt>
                <c:pt idx="200">
                  <c:v>-0.07361317</c:v>
                </c:pt>
                <c:pt idx="201">
                  <c:v>0.05824194</c:v>
                </c:pt>
                <c:pt idx="202">
                  <c:v>0.38294208</c:v>
                </c:pt>
                <c:pt idx="203">
                  <c:v>0.40979661</c:v>
                </c:pt>
                <c:pt idx="204">
                  <c:v>0.31184567</c:v>
                </c:pt>
                <c:pt idx="205">
                  <c:v>0.42476312</c:v>
                </c:pt>
                <c:pt idx="206">
                  <c:v>0.6008148</c:v>
                </c:pt>
                <c:pt idx="207">
                  <c:v>0.6671799</c:v>
                </c:pt>
                <c:pt idx="208">
                  <c:v>1.23745054</c:v>
                </c:pt>
                <c:pt idx="209">
                  <c:v>1.17054074</c:v>
                </c:pt>
                <c:pt idx="210">
                  <c:v>1.15537757</c:v>
                </c:pt>
                <c:pt idx="211">
                  <c:v>1.1180386</c:v>
                </c:pt>
                <c:pt idx="212">
                  <c:v>1.80578976</c:v>
                </c:pt>
                <c:pt idx="213">
                  <c:v>1.661425</c:v>
                </c:pt>
                <c:pt idx="214">
                  <c:v>1.72525096</c:v>
                </c:pt>
                <c:pt idx="215">
                  <c:v>1.72104351</c:v>
                </c:pt>
                <c:pt idx="216">
                  <c:v>1.61070758</c:v>
                </c:pt>
                <c:pt idx="217">
                  <c:v>1.78367083</c:v>
                </c:pt>
                <c:pt idx="218">
                  <c:v>1.8055575</c:v>
                </c:pt>
                <c:pt idx="219">
                  <c:v>1.72589372</c:v>
                </c:pt>
                <c:pt idx="220">
                  <c:v>2.04877115</c:v>
                </c:pt>
                <c:pt idx="221">
                  <c:v>1.92711566</c:v>
                </c:pt>
                <c:pt idx="222">
                  <c:v>1.97154981</c:v>
                </c:pt>
                <c:pt idx="223">
                  <c:v>1.88451264</c:v>
                </c:pt>
                <c:pt idx="224">
                  <c:v>1.74391172</c:v>
                </c:pt>
                <c:pt idx="225">
                  <c:v>1.58303933</c:v>
                </c:pt>
                <c:pt idx="226">
                  <c:v>1.65947302</c:v>
                </c:pt>
                <c:pt idx="227">
                  <c:v>1.72122264</c:v>
                </c:pt>
                <c:pt idx="228">
                  <c:v>1.70777731</c:v>
                </c:pt>
                <c:pt idx="229">
                  <c:v>1.56368391</c:v>
                </c:pt>
                <c:pt idx="230">
                  <c:v>1.7136477</c:v>
                </c:pt>
                <c:pt idx="231">
                  <c:v>1.7144039</c:v>
                </c:pt>
                <c:pt idx="232">
                  <c:v>1.76444725</c:v>
                </c:pt>
                <c:pt idx="233">
                  <c:v>1.82218662</c:v>
                </c:pt>
                <c:pt idx="234">
                  <c:v>1.78534022</c:v>
                </c:pt>
                <c:pt idx="235">
                  <c:v>1.93457671</c:v>
                </c:pt>
                <c:pt idx="236">
                  <c:v>1.79244571</c:v>
                </c:pt>
                <c:pt idx="237">
                  <c:v>1.78721533</c:v>
                </c:pt>
                <c:pt idx="238">
                  <c:v>1.79851185</c:v>
                </c:pt>
                <c:pt idx="239">
                  <c:v>1.78449557</c:v>
                </c:pt>
                <c:pt idx="240">
                  <c:v>1.71276021</c:v>
                </c:pt>
                <c:pt idx="241">
                  <c:v>1.78771928</c:v>
                </c:pt>
                <c:pt idx="242">
                  <c:v>1.9078237</c:v>
                </c:pt>
                <c:pt idx="243">
                  <c:v>2.02602081</c:v>
                </c:pt>
                <c:pt idx="244">
                  <c:v>1.67494548</c:v>
                </c:pt>
                <c:pt idx="245">
                  <c:v>1.76141013</c:v>
                </c:pt>
                <c:pt idx="246">
                  <c:v>1.7395213</c:v>
                </c:pt>
                <c:pt idx="247">
                  <c:v>1.76195468</c:v>
                </c:pt>
                <c:pt idx="248">
                  <c:v>1.83784598</c:v>
                </c:pt>
                <c:pt idx="249">
                  <c:v>1.98800325</c:v>
                </c:pt>
                <c:pt idx="250">
                  <c:v>1.84970932</c:v>
                </c:pt>
                <c:pt idx="251">
                  <c:v>1.85782361</c:v>
                </c:pt>
                <c:pt idx="252">
                  <c:v>2.06577564</c:v>
                </c:pt>
                <c:pt idx="253">
                  <c:v>2.08760438</c:v>
                </c:pt>
                <c:pt idx="254">
                  <c:v>2.00146646</c:v>
                </c:pt>
                <c:pt idx="255">
                  <c:v>1.91361459</c:v>
                </c:pt>
                <c:pt idx="256">
                  <c:v>0.9577319</c:v>
                </c:pt>
                <c:pt idx="257">
                  <c:v>1.22200924</c:v>
                </c:pt>
                <c:pt idx="258">
                  <c:v>1.25205386</c:v>
                </c:pt>
                <c:pt idx="259">
                  <c:v>1.14718717</c:v>
                </c:pt>
                <c:pt idx="260">
                  <c:v>1.14219281</c:v>
                </c:pt>
                <c:pt idx="261">
                  <c:v>1.09972289</c:v>
                </c:pt>
                <c:pt idx="262">
                  <c:v>1.13739135</c:v>
                </c:pt>
                <c:pt idx="263">
                  <c:v>1.06756159</c:v>
                </c:pt>
                <c:pt idx="264">
                  <c:v>1.1391027</c:v>
                </c:pt>
              </c:numCache>
            </c:numRef>
          </c:y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in val="-1"/>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Annualized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valAx>
      <c:valAx>
        <c:axId val="48650112"/>
        <c:scaling>
          <c:orientation val="minMax"/>
          <c:max val="2017"/>
          <c:min val="1992"/>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majorUnit val="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
        <c:ser>
          <c:idx val="0"/>
          <c:order val="0"/>
          <c:tx>
            <c:v>Authors GAN</c:v>
          </c:tx>
          <c:spPr>
            <a:solidFill xmlns:a="http://schemas.openxmlformats.org/drawingml/2006/main">
              <a:srgbClr val="94A3B8"/>
            </a:solidFill>
            <a:ln xmlns:a="http://schemas.openxmlformats.org/drawingml/2006/main" w="20003">
              <a:solidFill>
                <a:srgbClr val="94A3B8"/>
              </a:solidFill>
            </a:ln>
          </c:spPr>
          <c:marker>
            <c:symbol val="none"/>
          </c:marker>
          <c:xVal>
            <c:numRef>
              <c:f>'Chart Data'!$A$2:$A$242</c:f>
              <c:numCache>
                <c:formatCode>General</c:formatCode>
                <c:ptCount val="241"/>
                <c:pt idx="0">
                  <c:v>1996.916667</c:v>
                </c:pt>
                <c:pt idx="1">
                  <c:v>1997</c:v>
                </c:pt>
                <c:pt idx="2">
                  <c:v>1997.083333</c:v>
                </c:pt>
                <c:pt idx="3">
                  <c:v>1997.166667</c:v>
                </c:pt>
                <c:pt idx="4">
                  <c:v>1997.25</c:v>
                </c:pt>
                <c:pt idx="5">
                  <c:v>1997.333333</c:v>
                </c:pt>
                <c:pt idx="6">
                  <c:v>1997.416667</c:v>
                </c:pt>
                <c:pt idx="7">
                  <c:v>1997.5</c:v>
                </c:pt>
                <c:pt idx="8">
                  <c:v>1997.583333</c:v>
                </c:pt>
                <c:pt idx="9">
                  <c:v>1997.666667</c:v>
                </c:pt>
                <c:pt idx="10">
                  <c:v>1997.75</c:v>
                </c:pt>
                <c:pt idx="11">
                  <c:v>1997.833333</c:v>
                </c:pt>
                <c:pt idx="12">
                  <c:v>1997.916667</c:v>
                </c:pt>
                <c:pt idx="13">
                  <c:v>1998</c:v>
                </c:pt>
                <c:pt idx="14">
                  <c:v>1998.083333</c:v>
                </c:pt>
                <c:pt idx="15">
                  <c:v>1998.166667</c:v>
                </c:pt>
                <c:pt idx="16">
                  <c:v>1998.25</c:v>
                </c:pt>
                <c:pt idx="17">
                  <c:v>1998.333333</c:v>
                </c:pt>
                <c:pt idx="18">
                  <c:v>1998.416667</c:v>
                </c:pt>
                <c:pt idx="19">
                  <c:v>1998.5</c:v>
                </c:pt>
                <c:pt idx="20">
                  <c:v>1998.583333</c:v>
                </c:pt>
                <c:pt idx="21">
                  <c:v>1998.666667</c:v>
                </c:pt>
                <c:pt idx="22">
                  <c:v>1998.75</c:v>
                </c:pt>
                <c:pt idx="23">
                  <c:v>1998.833333</c:v>
                </c:pt>
                <c:pt idx="24">
                  <c:v>1998.916667</c:v>
                </c:pt>
                <c:pt idx="25">
                  <c:v>1999</c:v>
                </c:pt>
                <c:pt idx="26">
                  <c:v>1999.083333</c:v>
                </c:pt>
                <c:pt idx="27">
                  <c:v>1999.166667</c:v>
                </c:pt>
                <c:pt idx="28">
                  <c:v>1999.25</c:v>
                </c:pt>
                <c:pt idx="29">
                  <c:v>1999.333333</c:v>
                </c:pt>
                <c:pt idx="30">
                  <c:v>1999.416667</c:v>
                </c:pt>
                <c:pt idx="31">
                  <c:v>1999.5</c:v>
                </c:pt>
                <c:pt idx="32">
                  <c:v>1999.583333</c:v>
                </c:pt>
                <c:pt idx="33">
                  <c:v>1999.666667</c:v>
                </c:pt>
                <c:pt idx="34">
                  <c:v>1999.75</c:v>
                </c:pt>
                <c:pt idx="35">
                  <c:v>1999.833333</c:v>
                </c:pt>
                <c:pt idx="36">
                  <c:v>1999.916667</c:v>
                </c:pt>
                <c:pt idx="37">
                  <c:v>2000</c:v>
                </c:pt>
                <c:pt idx="38">
                  <c:v>2000.083333</c:v>
                </c:pt>
                <c:pt idx="39">
                  <c:v>2000.166667</c:v>
                </c:pt>
                <c:pt idx="40">
                  <c:v>2000.25</c:v>
                </c:pt>
                <c:pt idx="41">
                  <c:v>2000.333333</c:v>
                </c:pt>
                <c:pt idx="42">
                  <c:v>2000.416667</c:v>
                </c:pt>
                <c:pt idx="43">
                  <c:v>2000.5</c:v>
                </c:pt>
                <c:pt idx="44">
                  <c:v>2000.583333</c:v>
                </c:pt>
                <c:pt idx="45">
                  <c:v>2000.666667</c:v>
                </c:pt>
                <c:pt idx="46">
                  <c:v>2000.75</c:v>
                </c:pt>
                <c:pt idx="47">
                  <c:v>2000.833333</c:v>
                </c:pt>
                <c:pt idx="48">
                  <c:v>2000.916667</c:v>
                </c:pt>
                <c:pt idx="49">
                  <c:v>2001</c:v>
                </c:pt>
                <c:pt idx="50">
                  <c:v>2001.083333</c:v>
                </c:pt>
                <c:pt idx="51">
                  <c:v>2001.166667</c:v>
                </c:pt>
                <c:pt idx="52">
                  <c:v>2001.25</c:v>
                </c:pt>
                <c:pt idx="53">
                  <c:v>2001.333333</c:v>
                </c:pt>
                <c:pt idx="54">
                  <c:v>2001.416667</c:v>
                </c:pt>
                <c:pt idx="55">
                  <c:v>2001.5</c:v>
                </c:pt>
                <c:pt idx="56">
                  <c:v>2001.583333</c:v>
                </c:pt>
                <c:pt idx="57">
                  <c:v>2001.666667</c:v>
                </c:pt>
                <c:pt idx="58">
                  <c:v>2001.75</c:v>
                </c:pt>
                <c:pt idx="59">
                  <c:v>2001.833333</c:v>
                </c:pt>
                <c:pt idx="60">
                  <c:v>2001.916667</c:v>
                </c:pt>
                <c:pt idx="61">
                  <c:v>2002</c:v>
                </c:pt>
                <c:pt idx="62">
                  <c:v>2002.083333</c:v>
                </c:pt>
                <c:pt idx="63">
                  <c:v>2002.166667</c:v>
                </c:pt>
                <c:pt idx="64">
                  <c:v>2002.25</c:v>
                </c:pt>
                <c:pt idx="65">
                  <c:v>2002.333333</c:v>
                </c:pt>
                <c:pt idx="66">
                  <c:v>2002.416667</c:v>
                </c:pt>
                <c:pt idx="67">
                  <c:v>2002.5</c:v>
                </c:pt>
                <c:pt idx="68">
                  <c:v>2002.583333</c:v>
                </c:pt>
                <c:pt idx="69">
                  <c:v>2002.666667</c:v>
                </c:pt>
                <c:pt idx="70">
                  <c:v>2002.75</c:v>
                </c:pt>
                <c:pt idx="71">
                  <c:v>2002.833333</c:v>
                </c:pt>
                <c:pt idx="72">
                  <c:v>2002.916667</c:v>
                </c:pt>
                <c:pt idx="73">
                  <c:v>2003</c:v>
                </c:pt>
                <c:pt idx="74">
                  <c:v>2003.083333</c:v>
                </c:pt>
                <c:pt idx="75">
                  <c:v>2003.166667</c:v>
                </c:pt>
                <c:pt idx="76">
                  <c:v>2003.25</c:v>
                </c:pt>
                <c:pt idx="77">
                  <c:v>2003.333333</c:v>
                </c:pt>
                <c:pt idx="78">
                  <c:v>2003.416667</c:v>
                </c:pt>
                <c:pt idx="79">
                  <c:v>2003.5</c:v>
                </c:pt>
                <c:pt idx="80">
                  <c:v>2003.583333</c:v>
                </c:pt>
                <c:pt idx="81">
                  <c:v>2003.666667</c:v>
                </c:pt>
                <c:pt idx="82">
                  <c:v>2003.75</c:v>
                </c:pt>
                <c:pt idx="83">
                  <c:v>2003.833333</c:v>
                </c:pt>
                <c:pt idx="84">
                  <c:v>2003.916667</c:v>
                </c:pt>
                <c:pt idx="85">
                  <c:v>2004</c:v>
                </c:pt>
                <c:pt idx="86">
                  <c:v>2004.083333</c:v>
                </c:pt>
                <c:pt idx="87">
                  <c:v>2004.166667</c:v>
                </c:pt>
                <c:pt idx="88">
                  <c:v>2004.25</c:v>
                </c:pt>
                <c:pt idx="89">
                  <c:v>2004.333333</c:v>
                </c:pt>
                <c:pt idx="90">
                  <c:v>2004.416667</c:v>
                </c:pt>
                <c:pt idx="91">
                  <c:v>2004.5</c:v>
                </c:pt>
                <c:pt idx="92">
                  <c:v>2004.583333</c:v>
                </c:pt>
                <c:pt idx="93">
                  <c:v>2004.666667</c:v>
                </c:pt>
                <c:pt idx="94">
                  <c:v>2004.75</c:v>
                </c:pt>
                <c:pt idx="95">
                  <c:v>2004.833333</c:v>
                </c:pt>
                <c:pt idx="96">
                  <c:v>2004.916667</c:v>
                </c:pt>
                <c:pt idx="97">
                  <c:v>2005</c:v>
                </c:pt>
                <c:pt idx="98">
                  <c:v>2005.083333</c:v>
                </c:pt>
                <c:pt idx="99">
                  <c:v>2005.166667</c:v>
                </c:pt>
                <c:pt idx="100">
                  <c:v>2005.25</c:v>
                </c:pt>
                <c:pt idx="101">
                  <c:v>2005.333333</c:v>
                </c:pt>
                <c:pt idx="102">
                  <c:v>2005.416667</c:v>
                </c:pt>
                <c:pt idx="103">
                  <c:v>2005.5</c:v>
                </c:pt>
                <c:pt idx="104">
                  <c:v>2005.583333</c:v>
                </c:pt>
                <c:pt idx="105">
                  <c:v>2005.666667</c:v>
                </c:pt>
                <c:pt idx="106">
                  <c:v>2005.75</c:v>
                </c:pt>
                <c:pt idx="107">
                  <c:v>2005.833333</c:v>
                </c:pt>
                <c:pt idx="108">
                  <c:v>2005.916667</c:v>
                </c:pt>
                <c:pt idx="109">
                  <c:v>2006</c:v>
                </c:pt>
                <c:pt idx="110">
                  <c:v>2006.083333</c:v>
                </c:pt>
                <c:pt idx="111">
                  <c:v>2006.166667</c:v>
                </c:pt>
                <c:pt idx="112">
                  <c:v>2006.25</c:v>
                </c:pt>
                <c:pt idx="113">
                  <c:v>2006.333333</c:v>
                </c:pt>
                <c:pt idx="114">
                  <c:v>2006.416667</c:v>
                </c:pt>
                <c:pt idx="115">
                  <c:v>2006.5</c:v>
                </c:pt>
                <c:pt idx="116">
                  <c:v>2006.583333</c:v>
                </c:pt>
                <c:pt idx="117">
                  <c:v>2006.666667</c:v>
                </c:pt>
                <c:pt idx="118">
                  <c:v>2006.75</c:v>
                </c:pt>
                <c:pt idx="119">
                  <c:v>2006.833333</c:v>
                </c:pt>
                <c:pt idx="120">
                  <c:v>2006.916667</c:v>
                </c:pt>
                <c:pt idx="121">
                  <c:v>2007</c:v>
                </c:pt>
                <c:pt idx="122">
                  <c:v>2007.083333</c:v>
                </c:pt>
                <c:pt idx="123">
                  <c:v>2007.166667</c:v>
                </c:pt>
                <c:pt idx="124">
                  <c:v>2007.25</c:v>
                </c:pt>
                <c:pt idx="125">
                  <c:v>2007.333333</c:v>
                </c:pt>
                <c:pt idx="126">
                  <c:v>2007.416667</c:v>
                </c:pt>
                <c:pt idx="127">
                  <c:v>2007.5</c:v>
                </c:pt>
                <c:pt idx="128">
                  <c:v>2007.583333</c:v>
                </c:pt>
                <c:pt idx="129">
                  <c:v>2007.666667</c:v>
                </c:pt>
                <c:pt idx="130">
                  <c:v>2007.75</c:v>
                </c:pt>
                <c:pt idx="131">
                  <c:v>2007.833333</c:v>
                </c:pt>
                <c:pt idx="132">
                  <c:v>2007.916667</c:v>
                </c:pt>
                <c:pt idx="133">
                  <c:v>2008</c:v>
                </c:pt>
                <c:pt idx="134">
                  <c:v>2008.083333</c:v>
                </c:pt>
                <c:pt idx="135">
                  <c:v>2008.166667</c:v>
                </c:pt>
                <c:pt idx="136">
                  <c:v>2008.25</c:v>
                </c:pt>
                <c:pt idx="137">
                  <c:v>2008.333333</c:v>
                </c:pt>
                <c:pt idx="138">
                  <c:v>2008.416667</c:v>
                </c:pt>
                <c:pt idx="139">
                  <c:v>2008.5</c:v>
                </c:pt>
                <c:pt idx="140">
                  <c:v>2008.583333</c:v>
                </c:pt>
                <c:pt idx="141">
                  <c:v>2008.666667</c:v>
                </c:pt>
                <c:pt idx="142">
                  <c:v>2008.75</c:v>
                </c:pt>
                <c:pt idx="143">
                  <c:v>2008.833333</c:v>
                </c:pt>
                <c:pt idx="144">
                  <c:v>2008.916667</c:v>
                </c:pt>
                <c:pt idx="145">
                  <c:v>2009</c:v>
                </c:pt>
                <c:pt idx="146">
                  <c:v>2009.083333</c:v>
                </c:pt>
                <c:pt idx="147">
                  <c:v>2009.166667</c:v>
                </c:pt>
                <c:pt idx="148">
                  <c:v>2009.25</c:v>
                </c:pt>
                <c:pt idx="149">
                  <c:v>2009.333333</c:v>
                </c:pt>
                <c:pt idx="150">
                  <c:v>2009.416667</c:v>
                </c:pt>
                <c:pt idx="151">
                  <c:v>2009.5</c:v>
                </c:pt>
                <c:pt idx="152">
                  <c:v>2009.583333</c:v>
                </c:pt>
                <c:pt idx="153">
                  <c:v>2009.666667</c:v>
                </c:pt>
                <c:pt idx="154">
                  <c:v>2009.75</c:v>
                </c:pt>
                <c:pt idx="155">
                  <c:v>2009.833333</c:v>
                </c:pt>
                <c:pt idx="156">
                  <c:v>2009.916667</c:v>
                </c:pt>
                <c:pt idx="157">
                  <c:v>2010</c:v>
                </c:pt>
                <c:pt idx="158">
                  <c:v>2010.083333</c:v>
                </c:pt>
                <c:pt idx="159">
                  <c:v>2010.166667</c:v>
                </c:pt>
                <c:pt idx="160">
                  <c:v>2010.25</c:v>
                </c:pt>
                <c:pt idx="161">
                  <c:v>2010.333333</c:v>
                </c:pt>
                <c:pt idx="162">
                  <c:v>2010.416667</c:v>
                </c:pt>
                <c:pt idx="163">
                  <c:v>2010.5</c:v>
                </c:pt>
                <c:pt idx="164">
                  <c:v>2010.583333</c:v>
                </c:pt>
                <c:pt idx="165">
                  <c:v>2010.666667</c:v>
                </c:pt>
                <c:pt idx="166">
                  <c:v>2010.75</c:v>
                </c:pt>
                <c:pt idx="167">
                  <c:v>2010.833333</c:v>
                </c:pt>
                <c:pt idx="168">
                  <c:v>2010.916667</c:v>
                </c:pt>
                <c:pt idx="169">
                  <c:v>2011</c:v>
                </c:pt>
                <c:pt idx="170">
                  <c:v>2011.083333</c:v>
                </c:pt>
                <c:pt idx="171">
                  <c:v>2011.166667</c:v>
                </c:pt>
                <c:pt idx="172">
                  <c:v>2011.25</c:v>
                </c:pt>
                <c:pt idx="173">
                  <c:v>2011.333333</c:v>
                </c:pt>
                <c:pt idx="174">
                  <c:v>2011.416667</c:v>
                </c:pt>
                <c:pt idx="175">
                  <c:v>2011.5</c:v>
                </c:pt>
                <c:pt idx="176">
                  <c:v>2011.583333</c:v>
                </c:pt>
                <c:pt idx="177">
                  <c:v>2011.666667</c:v>
                </c:pt>
                <c:pt idx="178">
                  <c:v>2011.75</c:v>
                </c:pt>
                <c:pt idx="179">
                  <c:v>2011.833333</c:v>
                </c:pt>
                <c:pt idx="180">
                  <c:v>2011.916667</c:v>
                </c:pt>
                <c:pt idx="181">
                  <c:v>2012</c:v>
                </c:pt>
                <c:pt idx="182">
                  <c:v>2012.083333</c:v>
                </c:pt>
                <c:pt idx="183">
                  <c:v>2012.166667</c:v>
                </c:pt>
                <c:pt idx="184">
                  <c:v>2012.25</c:v>
                </c:pt>
                <c:pt idx="185">
                  <c:v>2012.333333</c:v>
                </c:pt>
                <c:pt idx="186">
                  <c:v>2012.416667</c:v>
                </c:pt>
                <c:pt idx="187">
                  <c:v>2012.5</c:v>
                </c:pt>
                <c:pt idx="188">
                  <c:v>2012.583333</c:v>
                </c:pt>
                <c:pt idx="189">
                  <c:v>2012.666667</c:v>
                </c:pt>
                <c:pt idx="190">
                  <c:v>2012.75</c:v>
                </c:pt>
                <c:pt idx="191">
                  <c:v>2012.833333</c:v>
                </c:pt>
                <c:pt idx="192">
                  <c:v>2012.916667</c:v>
                </c:pt>
                <c:pt idx="193">
                  <c:v>2013</c:v>
                </c:pt>
                <c:pt idx="194">
                  <c:v>2013.083333</c:v>
                </c:pt>
                <c:pt idx="195">
                  <c:v>2013.166667</c:v>
                </c:pt>
                <c:pt idx="196">
                  <c:v>2013.25</c:v>
                </c:pt>
                <c:pt idx="197">
                  <c:v>2013.333333</c:v>
                </c:pt>
                <c:pt idx="198">
                  <c:v>2013.416667</c:v>
                </c:pt>
                <c:pt idx="199">
                  <c:v>2013.5</c:v>
                </c:pt>
                <c:pt idx="200">
                  <c:v>2013.583333</c:v>
                </c:pt>
                <c:pt idx="201">
                  <c:v>2013.666667</c:v>
                </c:pt>
                <c:pt idx="202">
                  <c:v>2013.75</c:v>
                </c:pt>
                <c:pt idx="203">
                  <c:v>2013.833333</c:v>
                </c:pt>
                <c:pt idx="204">
                  <c:v>2013.916667</c:v>
                </c:pt>
                <c:pt idx="205">
                  <c:v>2014</c:v>
                </c:pt>
                <c:pt idx="206">
                  <c:v>2014.083333</c:v>
                </c:pt>
                <c:pt idx="207">
                  <c:v>2014.166667</c:v>
                </c:pt>
                <c:pt idx="208">
                  <c:v>2014.25</c:v>
                </c:pt>
                <c:pt idx="209">
                  <c:v>2014.333333</c:v>
                </c:pt>
                <c:pt idx="210">
                  <c:v>2014.416667</c:v>
                </c:pt>
                <c:pt idx="211">
                  <c:v>2014.5</c:v>
                </c:pt>
                <c:pt idx="212">
                  <c:v>2014.583333</c:v>
                </c:pt>
                <c:pt idx="213">
                  <c:v>2014.666667</c:v>
                </c:pt>
                <c:pt idx="214">
                  <c:v>2014.75</c:v>
                </c:pt>
                <c:pt idx="215">
                  <c:v>2014.833333</c:v>
                </c:pt>
                <c:pt idx="216">
                  <c:v>2014.916667</c:v>
                </c:pt>
                <c:pt idx="217">
                  <c:v>2015</c:v>
                </c:pt>
                <c:pt idx="218">
                  <c:v>2015.083333</c:v>
                </c:pt>
                <c:pt idx="219">
                  <c:v>2015.166667</c:v>
                </c:pt>
                <c:pt idx="220">
                  <c:v>2015.25</c:v>
                </c:pt>
                <c:pt idx="221">
                  <c:v>2015.333333</c:v>
                </c:pt>
                <c:pt idx="222">
                  <c:v>2015.416667</c:v>
                </c:pt>
                <c:pt idx="223">
                  <c:v>2015.5</c:v>
                </c:pt>
                <c:pt idx="224">
                  <c:v>2015.583333</c:v>
                </c:pt>
                <c:pt idx="225">
                  <c:v>2015.666667</c:v>
                </c:pt>
                <c:pt idx="226">
                  <c:v>2015.75</c:v>
                </c:pt>
                <c:pt idx="227">
                  <c:v>2015.833333</c:v>
                </c:pt>
                <c:pt idx="228">
                  <c:v>2015.916667</c:v>
                </c:pt>
                <c:pt idx="229">
                  <c:v>2016</c:v>
                </c:pt>
                <c:pt idx="230">
                  <c:v>2016.083333</c:v>
                </c:pt>
                <c:pt idx="231">
                  <c:v>2016.166667</c:v>
                </c:pt>
                <c:pt idx="232">
                  <c:v>2016.25</c:v>
                </c:pt>
                <c:pt idx="233">
                  <c:v>2016.333333</c:v>
                </c:pt>
                <c:pt idx="234">
                  <c:v>2016.416667</c:v>
                </c:pt>
                <c:pt idx="235">
                  <c:v>2016.5</c:v>
                </c:pt>
                <c:pt idx="236">
                  <c:v>2016.583333</c:v>
                </c:pt>
                <c:pt idx="237">
                  <c:v>2016.666667</c:v>
                </c:pt>
                <c:pt idx="238">
                  <c:v>2016.75</c:v>
                </c:pt>
                <c:pt idx="239">
                  <c:v>2016.833333</c:v>
                </c:pt>
                <c:pt idx="240">
                  <c:v>2016.916667</c:v>
                </c:pt>
              </c:numCache>
            </c:numRef>
          </c:xVal>
          <c:yVal>
            <c:numRef>
              <c:f>'Chart Data'!$B$2:$B$242</c:f>
              <c:numCache>
                <c:formatCode>0.000</c:formatCode>
                <c:ptCount val="241"/>
                <c:pt idx="0">
                  <c:v>5.14065271</c:v>
                </c:pt>
                <c:pt idx="1">
                  <c:v>5.59189431</c:v>
                </c:pt>
                <c:pt idx="2">
                  <c:v>6.42948066</c:v>
                </c:pt>
                <c:pt idx="3">
                  <c:v>6.51849932</c:v>
                </c:pt>
                <c:pt idx="4">
                  <c:v>6.55224867</c:v>
                </c:pt>
                <c:pt idx="5">
                  <c:v>6.54275915</c:v>
                </c:pt>
                <c:pt idx="6">
                  <c:v>6.56264383</c:v>
                </c:pt>
                <c:pt idx="7">
                  <c:v>6.49641713</c:v>
                </c:pt>
                <c:pt idx="8">
                  <c:v>6.28659746</c:v>
                </c:pt>
                <c:pt idx="9">
                  <c:v>6.25050476</c:v>
                </c:pt>
                <c:pt idx="10">
                  <c:v>6.34388987</c:v>
                </c:pt>
                <c:pt idx="11">
                  <c:v>6.33099288</c:v>
                </c:pt>
                <c:pt idx="12">
                  <c:v>6.3443321</c:v>
                </c:pt>
                <c:pt idx="13">
                  <c:v>6.39020023</c:v>
                </c:pt>
                <c:pt idx="14">
                  <c:v>6.40362432</c:v>
                </c:pt>
                <c:pt idx="15">
                  <c:v>6.46495168</c:v>
                </c:pt>
                <c:pt idx="16">
                  <c:v>6.3787665</c:v>
                </c:pt>
                <c:pt idx="17">
                  <c:v>6.90310164</c:v>
                </c:pt>
                <c:pt idx="18">
                  <c:v>6.84896442</c:v>
                </c:pt>
                <c:pt idx="19">
                  <c:v>6.70550164</c:v>
                </c:pt>
                <c:pt idx="20">
                  <c:v>6.70371629</c:v>
                </c:pt>
                <c:pt idx="21">
                  <c:v>6.64595638</c:v>
                </c:pt>
                <c:pt idx="22">
                  <c:v>6.87362689</c:v>
                </c:pt>
                <c:pt idx="23">
                  <c:v>7.45462075</c:v>
                </c:pt>
                <c:pt idx="24">
                  <c:v>7.47016479</c:v>
                </c:pt>
                <c:pt idx="25">
                  <c:v>7.43570829</c:v>
                </c:pt>
                <c:pt idx="26">
                  <c:v>7.64826227</c:v>
                </c:pt>
                <c:pt idx="27">
                  <c:v>7.12586735</c:v>
                </c:pt>
                <c:pt idx="28">
                  <c:v>6.63003319</c:v>
                </c:pt>
                <c:pt idx="29">
                  <c:v>6.66297462</c:v>
                </c:pt>
                <c:pt idx="30">
                  <c:v>6.6538892</c:v>
                </c:pt>
                <c:pt idx="31">
                  <c:v>6.65008953</c:v>
                </c:pt>
                <c:pt idx="32">
                  <c:v>6.647978</c:v>
                </c:pt>
                <c:pt idx="33">
                  <c:v>6.61651874</c:v>
                </c:pt>
                <c:pt idx="34">
                  <c:v>6.54071277</c:v>
                </c:pt>
                <c:pt idx="35">
                  <c:v>6.60256575</c:v>
                </c:pt>
                <c:pt idx="36">
                  <c:v>6.66438244</c:v>
                </c:pt>
                <c:pt idx="37">
                  <c:v>6.20421348</c:v>
                </c:pt>
                <c:pt idx="38">
                  <c:v>6.05364193</c:v>
                </c:pt>
                <c:pt idx="39">
                  <c:v>6.0400521</c:v>
                </c:pt>
                <c:pt idx="40">
                  <c:v>5.80790748</c:v>
                </c:pt>
                <c:pt idx="41">
                  <c:v>5.61727448</c:v>
                </c:pt>
                <c:pt idx="42">
                  <c:v>5.56721775</c:v>
                </c:pt>
                <c:pt idx="43">
                  <c:v>5.56080104</c:v>
                </c:pt>
                <c:pt idx="44">
                  <c:v>5.58046072</c:v>
                </c:pt>
                <c:pt idx="45">
                  <c:v>5.58037546</c:v>
                </c:pt>
                <c:pt idx="46">
                  <c:v>5.52727741</c:v>
                </c:pt>
                <c:pt idx="47">
                  <c:v>5.46994447</c:v>
                </c:pt>
                <c:pt idx="48">
                  <c:v>5.45899726</c:v>
                </c:pt>
                <c:pt idx="49">
                  <c:v>5.41023679</c:v>
                </c:pt>
                <c:pt idx="50">
                  <c:v>4.95593045</c:v>
                </c:pt>
                <c:pt idx="51">
                  <c:v>5.02786061</c:v>
                </c:pt>
                <c:pt idx="52">
                  <c:v>5.21748831</c:v>
                </c:pt>
                <c:pt idx="53">
                  <c:v>5.31909339</c:v>
                </c:pt>
                <c:pt idx="54">
                  <c:v>5.22495316</c:v>
                </c:pt>
                <c:pt idx="55">
                  <c:v>5.24206792</c:v>
                </c:pt>
                <c:pt idx="56">
                  <c:v>5.23253215</c:v>
                </c:pt>
                <c:pt idx="57">
                  <c:v>5.28903989</c:v>
                </c:pt>
                <c:pt idx="58">
                  <c:v>5.24665306</c:v>
                </c:pt>
                <c:pt idx="59">
                  <c:v>5.07628071</c:v>
                </c:pt>
                <c:pt idx="60">
                  <c:v>5.04363274</c:v>
                </c:pt>
                <c:pt idx="61">
                  <c:v>5.03110149</c:v>
                </c:pt>
                <c:pt idx="62">
                  <c:v>5.03133283</c:v>
                </c:pt>
                <c:pt idx="63">
                  <c:v>4.82562913</c:v>
                </c:pt>
                <c:pt idx="64">
                  <c:v>4.82872895</c:v>
                </c:pt>
                <c:pt idx="65">
                  <c:v>4.882349</c:v>
                </c:pt>
                <c:pt idx="66">
                  <c:v>4.88136304</c:v>
                </c:pt>
                <c:pt idx="67">
                  <c:v>4.75805251</c:v>
                </c:pt>
                <c:pt idx="68">
                  <c:v>4.86368736</c:v>
                </c:pt>
                <c:pt idx="69">
                  <c:v>4.92699498</c:v>
                </c:pt>
                <c:pt idx="70">
                  <c:v>4.89238611</c:v>
                </c:pt>
                <c:pt idx="71">
                  <c:v>3.89381127</c:v>
                </c:pt>
                <c:pt idx="72">
                  <c:v>3.79990777</c:v>
                </c:pt>
                <c:pt idx="73">
                  <c:v>3.77821092</c:v>
                </c:pt>
                <c:pt idx="74">
                  <c:v>3.67544902</c:v>
                </c:pt>
                <c:pt idx="75">
                  <c:v>3.5835432</c:v>
                </c:pt>
                <c:pt idx="76">
                  <c:v>3.37113977</c:v>
                </c:pt>
                <c:pt idx="77">
                  <c:v>3.18482176</c:v>
                </c:pt>
                <c:pt idx="78">
                  <c:v>3.10439028</c:v>
                </c:pt>
                <c:pt idx="79">
                  <c:v>2.9959503</c:v>
                </c:pt>
                <c:pt idx="80">
                  <c:v>2.95184167</c:v>
                </c:pt>
                <c:pt idx="81">
                  <c:v>2.94458632</c:v>
                </c:pt>
                <c:pt idx="82">
                  <c:v>2.90833563</c:v>
                </c:pt>
                <c:pt idx="83">
                  <c:v>2.765218</c:v>
                </c:pt>
                <c:pt idx="84">
                  <c:v>2.73306248</c:v>
                </c:pt>
                <c:pt idx="85">
                  <c:v>2.70567636</c:v>
                </c:pt>
                <c:pt idx="86">
                  <c:v>2.68184709</c:v>
                </c:pt>
                <c:pt idx="87">
                  <c:v>2.724272</c:v>
                </c:pt>
                <c:pt idx="88">
                  <c:v>2.75603427</c:v>
                </c:pt>
                <c:pt idx="89">
                  <c:v>2.76422373</c:v>
                </c:pt>
                <c:pt idx="90">
                  <c:v>2.72997623</c:v>
                </c:pt>
                <c:pt idx="91">
                  <c:v>2.69738999</c:v>
                </c:pt>
                <c:pt idx="92">
                  <c:v>2.67878983</c:v>
                </c:pt>
                <c:pt idx="93">
                  <c:v>2.72119172</c:v>
                </c:pt>
                <c:pt idx="94">
                  <c:v>2.65226536</c:v>
                </c:pt>
                <c:pt idx="95">
                  <c:v>2.60980066</c:v>
                </c:pt>
                <c:pt idx="96">
                  <c:v>2.57124334</c:v>
                </c:pt>
                <c:pt idx="97">
                  <c:v>2.56228976</c:v>
                </c:pt>
                <c:pt idx="98">
                  <c:v>2.56723969</c:v>
                </c:pt>
                <c:pt idx="99">
                  <c:v>2.50855528</c:v>
                </c:pt>
                <c:pt idx="100">
                  <c:v>2.59159237</c:v>
                </c:pt>
                <c:pt idx="101">
                  <c:v>2.6540629</c:v>
                </c:pt>
                <c:pt idx="102">
                  <c:v>2.61105987</c:v>
                </c:pt>
                <c:pt idx="103">
                  <c:v>2.53552264</c:v>
                </c:pt>
                <c:pt idx="104">
                  <c:v>2.50191088</c:v>
                </c:pt>
                <c:pt idx="105">
                  <c:v>2.4277202</c:v>
                </c:pt>
                <c:pt idx="106">
                  <c:v>2.39544092</c:v>
                </c:pt>
                <c:pt idx="107">
                  <c:v>2.39675728</c:v>
                </c:pt>
                <c:pt idx="108">
                  <c:v>2.35064248</c:v>
                </c:pt>
                <c:pt idx="109">
                  <c:v>2.32479548</c:v>
                </c:pt>
                <c:pt idx="110">
                  <c:v>2.32272397</c:v>
                </c:pt>
                <c:pt idx="111">
                  <c:v>2.34198011</c:v>
                </c:pt>
                <c:pt idx="112">
                  <c:v>2.27823892</c:v>
                </c:pt>
                <c:pt idx="113">
                  <c:v>2.18723357</c:v>
                </c:pt>
                <c:pt idx="114">
                  <c:v>2.19604377</c:v>
                </c:pt>
                <c:pt idx="115">
                  <c:v>2.16096938</c:v>
                </c:pt>
                <c:pt idx="116">
                  <c:v>2.15981942</c:v>
                </c:pt>
                <c:pt idx="117">
                  <c:v>2.11303624</c:v>
                </c:pt>
                <c:pt idx="118">
                  <c:v>2.08631673</c:v>
                </c:pt>
                <c:pt idx="119">
                  <c:v>2.11191205</c:v>
                </c:pt>
                <c:pt idx="120">
                  <c:v>2.12699014</c:v>
                </c:pt>
                <c:pt idx="121">
                  <c:v>2.03112716</c:v>
                </c:pt>
                <c:pt idx="122">
                  <c:v>1.95445615</c:v>
                </c:pt>
                <c:pt idx="123">
                  <c:v>2.01430278</c:v>
                </c:pt>
                <c:pt idx="124">
                  <c:v>1.9474119</c:v>
                </c:pt>
                <c:pt idx="125">
                  <c:v>1.89132383</c:v>
                </c:pt>
                <c:pt idx="126">
                  <c:v>1.81820553</c:v>
                </c:pt>
                <c:pt idx="127">
                  <c:v>1.69774126</c:v>
                </c:pt>
                <c:pt idx="128">
                  <c:v>1.65317604</c:v>
                </c:pt>
                <c:pt idx="129">
                  <c:v>1.60185749</c:v>
                </c:pt>
                <c:pt idx="130">
                  <c:v>1.59815189</c:v>
                </c:pt>
                <c:pt idx="131">
                  <c:v>2.16320424</c:v>
                </c:pt>
                <c:pt idx="132">
                  <c:v>2.4959639</c:v>
                </c:pt>
                <c:pt idx="133">
                  <c:v>2.46836502</c:v>
                </c:pt>
                <c:pt idx="134">
                  <c:v>2.51804713</c:v>
                </c:pt>
                <c:pt idx="135">
                  <c:v>2.53815516</c:v>
                </c:pt>
                <c:pt idx="136">
                  <c:v>2.99109217</c:v>
                </c:pt>
                <c:pt idx="137">
                  <c:v>3.1253119</c:v>
                </c:pt>
                <c:pt idx="138">
                  <c:v>2.80637148</c:v>
                </c:pt>
                <c:pt idx="139">
                  <c:v>3.01014341</c:v>
                </c:pt>
                <c:pt idx="140">
                  <c:v>2.97859222</c:v>
                </c:pt>
                <c:pt idx="141">
                  <c:v>2.90137721</c:v>
                </c:pt>
                <c:pt idx="142">
                  <c:v>2.8373745</c:v>
                </c:pt>
                <c:pt idx="143">
                  <c:v>3.05778347</c:v>
                </c:pt>
                <c:pt idx="144">
                  <c:v>3.01850746</c:v>
                </c:pt>
                <c:pt idx="145">
                  <c:v>3.00305719</c:v>
                </c:pt>
                <c:pt idx="146">
                  <c:v>2.65027779</c:v>
                </c:pt>
                <c:pt idx="147">
                  <c:v>2.66402952</c:v>
                </c:pt>
                <c:pt idx="148">
                  <c:v>1.44420779</c:v>
                </c:pt>
                <c:pt idx="149">
                  <c:v>1.40902129</c:v>
                </c:pt>
                <c:pt idx="150">
                  <c:v>1.44889476</c:v>
                </c:pt>
                <c:pt idx="151">
                  <c:v>1.43145486</c:v>
                </c:pt>
                <c:pt idx="152">
                  <c:v>1.30840352</c:v>
                </c:pt>
                <c:pt idx="153">
                  <c:v>1.23176499</c:v>
                </c:pt>
                <c:pt idx="154">
                  <c:v>1.2216098</c:v>
                </c:pt>
                <c:pt idx="155">
                  <c:v>1.17880251</c:v>
                </c:pt>
                <c:pt idx="156">
                  <c:v>1.14996105</c:v>
                </c:pt>
                <c:pt idx="157">
                  <c:v>1.12326501</c:v>
                </c:pt>
                <c:pt idx="158">
                  <c:v>1.09370426</c:v>
                </c:pt>
                <c:pt idx="159">
                  <c:v>1.10553081</c:v>
                </c:pt>
                <c:pt idx="160">
                  <c:v>0.98309381</c:v>
                </c:pt>
                <c:pt idx="161">
                  <c:v>0.89932952</c:v>
                </c:pt>
                <c:pt idx="162">
                  <c:v>0.85960397</c:v>
                </c:pt>
                <c:pt idx="163">
                  <c:v>0.88560505</c:v>
                </c:pt>
                <c:pt idx="164">
                  <c:v>0.8416424</c:v>
                </c:pt>
                <c:pt idx="165">
                  <c:v>0.92022999</c:v>
                </c:pt>
                <c:pt idx="166">
                  <c:v>0.95203262</c:v>
                </c:pt>
                <c:pt idx="167">
                  <c:v>0.92643085</c:v>
                </c:pt>
                <c:pt idx="168">
                  <c:v>0.93389692</c:v>
                </c:pt>
                <c:pt idx="169">
                  <c:v>0.92148716</c:v>
                </c:pt>
                <c:pt idx="170">
                  <c:v>0.89609929</c:v>
                </c:pt>
                <c:pt idx="171">
                  <c:v>0.87801284</c:v>
                </c:pt>
                <c:pt idx="172">
                  <c:v>0.89650801</c:v>
                </c:pt>
                <c:pt idx="173">
                  <c:v>0.92480362</c:v>
                </c:pt>
                <c:pt idx="174">
                  <c:v>0.90297112</c:v>
                </c:pt>
                <c:pt idx="175">
                  <c:v>0.86125026</c:v>
                </c:pt>
                <c:pt idx="176">
                  <c:v>0.86024847</c:v>
                </c:pt>
                <c:pt idx="177">
                  <c:v>0.85189087</c:v>
                </c:pt>
                <c:pt idx="178">
                  <c:v>0.92523455</c:v>
                </c:pt>
                <c:pt idx="179">
                  <c:v>0.96470616</c:v>
                </c:pt>
                <c:pt idx="180">
                  <c:v>0.9406617</c:v>
                </c:pt>
                <c:pt idx="181">
                  <c:v>0.98299495</c:v>
                </c:pt>
                <c:pt idx="182">
                  <c:v>1.0181002</c:v>
                </c:pt>
                <c:pt idx="183">
                  <c:v>1.03388346</c:v>
                </c:pt>
                <c:pt idx="184">
                  <c:v>1.03903058</c:v>
                </c:pt>
                <c:pt idx="185">
                  <c:v>1.02878974</c:v>
                </c:pt>
                <c:pt idx="186">
                  <c:v>1.0476662</c:v>
                </c:pt>
                <c:pt idx="187">
                  <c:v>1.12991983</c:v>
                </c:pt>
                <c:pt idx="188">
                  <c:v>1.1034338</c:v>
                </c:pt>
                <c:pt idx="189">
                  <c:v>1.09635906</c:v>
                </c:pt>
                <c:pt idx="190">
                  <c:v>1.11110294</c:v>
                </c:pt>
                <c:pt idx="191">
                  <c:v>1.11895261</c:v>
                </c:pt>
                <c:pt idx="192">
                  <c:v>1.09752194</c:v>
                </c:pt>
                <c:pt idx="193">
                  <c:v>1.12886306</c:v>
                </c:pt>
                <c:pt idx="194">
                  <c:v>1.08322201</c:v>
                </c:pt>
                <c:pt idx="195">
                  <c:v>1.09742904</c:v>
                </c:pt>
                <c:pt idx="196">
                  <c:v>1.053766</c:v>
                </c:pt>
                <c:pt idx="197">
                  <c:v>1.08608427</c:v>
                </c:pt>
                <c:pt idx="198">
                  <c:v>1.17569272</c:v>
                </c:pt>
                <c:pt idx="199">
                  <c:v>1.1409439</c:v>
                </c:pt>
                <c:pt idx="200">
                  <c:v>1.164648</c:v>
                </c:pt>
                <c:pt idx="201">
                  <c:v>1.18723156</c:v>
                </c:pt>
                <c:pt idx="202">
                  <c:v>1.25022682</c:v>
                </c:pt>
                <c:pt idx="203">
                  <c:v>1.21913249</c:v>
                </c:pt>
                <c:pt idx="204">
                  <c:v>1.14124675</c:v>
                </c:pt>
                <c:pt idx="205">
                  <c:v>1.05307025</c:v>
                </c:pt>
                <c:pt idx="206">
                  <c:v>1.16443503</c:v>
                </c:pt>
                <c:pt idx="207">
                  <c:v>1.17834943</c:v>
                </c:pt>
                <c:pt idx="208">
                  <c:v>2.38163004</c:v>
                </c:pt>
                <c:pt idx="209">
                  <c:v>2.39658957</c:v>
                </c:pt>
                <c:pt idx="210">
                  <c:v>2.31312429</c:v>
                </c:pt>
                <c:pt idx="211">
                  <c:v>2.32541755</c:v>
                </c:pt>
                <c:pt idx="212">
                  <c:v>2.58559704</c:v>
                </c:pt>
                <c:pt idx="213">
                  <c:v>2.49959905</c:v>
                </c:pt>
                <c:pt idx="214">
                  <c:v>2.53133425</c:v>
                </c:pt>
                <c:pt idx="215">
                  <c:v>2.59629211</c:v>
                </c:pt>
                <c:pt idx="216">
                  <c:v>2.36195812</c:v>
                </c:pt>
                <c:pt idx="217">
                  <c:v>2.36068454</c:v>
                </c:pt>
                <c:pt idx="218">
                  <c:v>2.45573214</c:v>
                </c:pt>
                <c:pt idx="219">
                  <c:v>2.46088586</c:v>
                </c:pt>
                <c:pt idx="220">
                  <c:v>2.68213713</c:v>
                </c:pt>
                <c:pt idx="221">
                  <c:v>2.78387546</c:v>
                </c:pt>
                <c:pt idx="222">
                  <c:v>2.76431224</c:v>
                </c:pt>
                <c:pt idx="223">
                  <c:v>2.73848314</c:v>
                </c:pt>
                <c:pt idx="224">
                  <c:v>2.73738425</c:v>
                </c:pt>
                <c:pt idx="225">
                  <c:v>2.72520215</c:v>
                </c:pt>
                <c:pt idx="226">
                  <c:v>2.72665711</c:v>
                </c:pt>
                <c:pt idx="227">
                  <c:v>2.76219479</c:v>
                </c:pt>
                <c:pt idx="228">
                  <c:v>2.80247618</c:v>
                </c:pt>
                <c:pt idx="229">
                  <c:v>2.88257055</c:v>
                </c:pt>
                <c:pt idx="230">
                  <c:v>2.82090961</c:v>
                </c:pt>
                <c:pt idx="231">
                  <c:v>2.73484967</c:v>
                </c:pt>
                <c:pt idx="232">
                  <c:v>2.26876461</c:v>
                </c:pt>
                <c:pt idx="233">
                  <c:v>2.32339301</c:v>
                </c:pt>
                <c:pt idx="234">
                  <c:v>2.37047229</c:v>
                </c:pt>
                <c:pt idx="235">
                  <c:v>2.35738163</c:v>
                </c:pt>
                <c:pt idx="236">
                  <c:v>2.23754672</c:v>
                </c:pt>
                <c:pt idx="237">
                  <c:v>2.25125619</c:v>
                </c:pt>
                <c:pt idx="238">
                  <c:v>2.20995298</c:v>
                </c:pt>
                <c:pt idx="239">
                  <c:v>2.12723349</c:v>
                </c:pt>
                <c:pt idx="240">
                  <c:v>2.05246514</c:v>
                </c:pt>
              </c:numCache>
            </c:numRef>
          </c:yVal>
        </c:ser>
        <c:ser>
          <c:idx val="1"/>
          <c:order val="1"/>
          <c:tx>
            <c:v>Code 07 GAN</c:v>
          </c:tx>
          <c:spPr>
            <a:solidFill xmlns:a="http://schemas.openxmlformats.org/drawingml/2006/main">
              <a:srgbClr val="003262"/>
            </a:solidFill>
            <a:ln xmlns:a="http://schemas.openxmlformats.org/drawingml/2006/main" w="20003">
              <a:solidFill>
                <a:srgbClr val="003262"/>
              </a:solidFill>
            </a:ln>
          </c:spPr>
          <c:marker>
            <c:symbol val="none"/>
          </c:marker>
          <c:xVal>
            <c:numRef>
              <c:f>'Chart Data'!$C$2:$C$242</c:f>
              <c:numCache>
                <c:formatCode>General</c:formatCode>
                <c:ptCount val="241"/>
                <c:pt idx="0">
                  <c:v>1996.916667</c:v>
                </c:pt>
                <c:pt idx="1">
                  <c:v>1997</c:v>
                </c:pt>
                <c:pt idx="2">
                  <c:v>1997.083333</c:v>
                </c:pt>
                <c:pt idx="3">
                  <c:v>1997.166667</c:v>
                </c:pt>
                <c:pt idx="4">
                  <c:v>1997.25</c:v>
                </c:pt>
                <c:pt idx="5">
                  <c:v>1997.333333</c:v>
                </c:pt>
                <c:pt idx="6">
                  <c:v>1997.416667</c:v>
                </c:pt>
                <c:pt idx="7">
                  <c:v>1997.5</c:v>
                </c:pt>
                <c:pt idx="8">
                  <c:v>1997.583333</c:v>
                </c:pt>
                <c:pt idx="9">
                  <c:v>1997.666667</c:v>
                </c:pt>
                <c:pt idx="10">
                  <c:v>1997.75</c:v>
                </c:pt>
                <c:pt idx="11">
                  <c:v>1997.833333</c:v>
                </c:pt>
                <c:pt idx="12">
                  <c:v>1997.916667</c:v>
                </c:pt>
                <c:pt idx="13">
                  <c:v>1998</c:v>
                </c:pt>
                <c:pt idx="14">
                  <c:v>1998.083333</c:v>
                </c:pt>
                <c:pt idx="15">
                  <c:v>1998.166667</c:v>
                </c:pt>
                <c:pt idx="16">
                  <c:v>1998.25</c:v>
                </c:pt>
                <c:pt idx="17">
                  <c:v>1998.333333</c:v>
                </c:pt>
                <c:pt idx="18">
                  <c:v>1998.416667</c:v>
                </c:pt>
                <c:pt idx="19">
                  <c:v>1998.5</c:v>
                </c:pt>
                <c:pt idx="20">
                  <c:v>1998.583333</c:v>
                </c:pt>
                <c:pt idx="21">
                  <c:v>1998.666667</c:v>
                </c:pt>
                <c:pt idx="22">
                  <c:v>1998.75</c:v>
                </c:pt>
                <c:pt idx="23">
                  <c:v>1998.833333</c:v>
                </c:pt>
                <c:pt idx="24">
                  <c:v>1998.916667</c:v>
                </c:pt>
                <c:pt idx="25">
                  <c:v>1999</c:v>
                </c:pt>
                <c:pt idx="26">
                  <c:v>1999.083333</c:v>
                </c:pt>
                <c:pt idx="27">
                  <c:v>1999.166667</c:v>
                </c:pt>
                <c:pt idx="28">
                  <c:v>1999.25</c:v>
                </c:pt>
                <c:pt idx="29">
                  <c:v>1999.333333</c:v>
                </c:pt>
                <c:pt idx="30">
                  <c:v>1999.416667</c:v>
                </c:pt>
                <c:pt idx="31">
                  <c:v>1999.5</c:v>
                </c:pt>
                <c:pt idx="32">
                  <c:v>1999.583333</c:v>
                </c:pt>
                <c:pt idx="33">
                  <c:v>1999.666667</c:v>
                </c:pt>
                <c:pt idx="34">
                  <c:v>1999.75</c:v>
                </c:pt>
                <c:pt idx="35">
                  <c:v>1999.833333</c:v>
                </c:pt>
                <c:pt idx="36">
                  <c:v>1999.916667</c:v>
                </c:pt>
                <c:pt idx="37">
                  <c:v>2000</c:v>
                </c:pt>
                <c:pt idx="38">
                  <c:v>2000.083333</c:v>
                </c:pt>
                <c:pt idx="39">
                  <c:v>2000.166667</c:v>
                </c:pt>
                <c:pt idx="40">
                  <c:v>2000.25</c:v>
                </c:pt>
                <c:pt idx="41">
                  <c:v>2000.333333</c:v>
                </c:pt>
                <c:pt idx="42">
                  <c:v>2000.416667</c:v>
                </c:pt>
                <c:pt idx="43">
                  <c:v>2000.5</c:v>
                </c:pt>
                <c:pt idx="44">
                  <c:v>2000.583333</c:v>
                </c:pt>
                <c:pt idx="45">
                  <c:v>2000.666667</c:v>
                </c:pt>
                <c:pt idx="46">
                  <c:v>2000.75</c:v>
                </c:pt>
                <c:pt idx="47">
                  <c:v>2000.833333</c:v>
                </c:pt>
                <c:pt idx="48">
                  <c:v>2000.916667</c:v>
                </c:pt>
                <c:pt idx="49">
                  <c:v>2001</c:v>
                </c:pt>
                <c:pt idx="50">
                  <c:v>2001.083333</c:v>
                </c:pt>
                <c:pt idx="51">
                  <c:v>2001.166667</c:v>
                </c:pt>
                <c:pt idx="52">
                  <c:v>2001.25</c:v>
                </c:pt>
                <c:pt idx="53">
                  <c:v>2001.333333</c:v>
                </c:pt>
                <c:pt idx="54">
                  <c:v>2001.416667</c:v>
                </c:pt>
                <c:pt idx="55">
                  <c:v>2001.5</c:v>
                </c:pt>
                <c:pt idx="56">
                  <c:v>2001.583333</c:v>
                </c:pt>
                <c:pt idx="57">
                  <c:v>2001.666667</c:v>
                </c:pt>
                <c:pt idx="58">
                  <c:v>2001.75</c:v>
                </c:pt>
                <c:pt idx="59">
                  <c:v>2001.833333</c:v>
                </c:pt>
                <c:pt idx="60">
                  <c:v>2001.916667</c:v>
                </c:pt>
                <c:pt idx="61">
                  <c:v>2002</c:v>
                </c:pt>
                <c:pt idx="62">
                  <c:v>2002.083333</c:v>
                </c:pt>
                <c:pt idx="63">
                  <c:v>2002.166667</c:v>
                </c:pt>
                <c:pt idx="64">
                  <c:v>2002.25</c:v>
                </c:pt>
                <c:pt idx="65">
                  <c:v>2002.333333</c:v>
                </c:pt>
                <c:pt idx="66">
                  <c:v>2002.416667</c:v>
                </c:pt>
                <c:pt idx="67">
                  <c:v>2002.5</c:v>
                </c:pt>
                <c:pt idx="68">
                  <c:v>2002.583333</c:v>
                </c:pt>
                <c:pt idx="69">
                  <c:v>2002.666667</c:v>
                </c:pt>
                <c:pt idx="70">
                  <c:v>2002.75</c:v>
                </c:pt>
                <c:pt idx="71">
                  <c:v>2002.833333</c:v>
                </c:pt>
                <c:pt idx="72">
                  <c:v>2002.916667</c:v>
                </c:pt>
                <c:pt idx="73">
                  <c:v>2003</c:v>
                </c:pt>
                <c:pt idx="74">
                  <c:v>2003.083333</c:v>
                </c:pt>
                <c:pt idx="75">
                  <c:v>2003.166667</c:v>
                </c:pt>
                <c:pt idx="76">
                  <c:v>2003.25</c:v>
                </c:pt>
                <c:pt idx="77">
                  <c:v>2003.333333</c:v>
                </c:pt>
                <c:pt idx="78">
                  <c:v>2003.416667</c:v>
                </c:pt>
                <c:pt idx="79">
                  <c:v>2003.5</c:v>
                </c:pt>
                <c:pt idx="80">
                  <c:v>2003.583333</c:v>
                </c:pt>
                <c:pt idx="81">
                  <c:v>2003.666667</c:v>
                </c:pt>
                <c:pt idx="82">
                  <c:v>2003.75</c:v>
                </c:pt>
                <c:pt idx="83">
                  <c:v>2003.833333</c:v>
                </c:pt>
                <c:pt idx="84">
                  <c:v>2003.916667</c:v>
                </c:pt>
                <c:pt idx="85">
                  <c:v>2004</c:v>
                </c:pt>
                <c:pt idx="86">
                  <c:v>2004.083333</c:v>
                </c:pt>
                <c:pt idx="87">
                  <c:v>2004.166667</c:v>
                </c:pt>
                <c:pt idx="88">
                  <c:v>2004.25</c:v>
                </c:pt>
                <c:pt idx="89">
                  <c:v>2004.333333</c:v>
                </c:pt>
                <c:pt idx="90">
                  <c:v>2004.416667</c:v>
                </c:pt>
                <c:pt idx="91">
                  <c:v>2004.5</c:v>
                </c:pt>
                <c:pt idx="92">
                  <c:v>2004.583333</c:v>
                </c:pt>
                <c:pt idx="93">
                  <c:v>2004.666667</c:v>
                </c:pt>
                <c:pt idx="94">
                  <c:v>2004.75</c:v>
                </c:pt>
                <c:pt idx="95">
                  <c:v>2004.833333</c:v>
                </c:pt>
                <c:pt idx="96">
                  <c:v>2004.916667</c:v>
                </c:pt>
                <c:pt idx="97">
                  <c:v>2005</c:v>
                </c:pt>
                <c:pt idx="98">
                  <c:v>2005.083333</c:v>
                </c:pt>
                <c:pt idx="99">
                  <c:v>2005.166667</c:v>
                </c:pt>
                <c:pt idx="100">
                  <c:v>2005.25</c:v>
                </c:pt>
                <c:pt idx="101">
                  <c:v>2005.333333</c:v>
                </c:pt>
                <c:pt idx="102">
                  <c:v>2005.416667</c:v>
                </c:pt>
                <c:pt idx="103">
                  <c:v>2005.5</c:v>
                </c:pt>
                <c:pt idx="104">
                  <c:v>2005.583333</c:v>
                </c:pt>
                <c:pt idx="105">
                  <c:v>2005.666667</c:v>
                </c:pt>
                <c:pt idx="106">
                  <c:v>2005.75</c:v>
                </c:pt>
                <c:pt idx="107">
                  <c:v>2005.833333</c:v>
                </c:pt>
                <c:pt idx="108">
                  <c:v>2005.916667</c:v>
                </c:pt>
                <c:pt idx="109">
                  <c:v>2006</c:v>
                </c:pt>
                <c:pt idx="110">
                  <c:v>2006.083333</c:v>
                </c:pt>
                <c:pt idx="111">
                  <c:v>2006.166667</c:v>
                </c:pt>
                <c:pt idx="112">
                  <c:v>2006.25</c:v>
                </c:pt>
                <c:pt idx="113">
                  <c:v>2006.333333</c:v>
                </c:pt>
                <c:pt idx="114">
                  <c:v>2006.416667</c:v>
                </c:pt>
                <c:pt idx="115">
                  <c:v>2006.5</c:v>
                </c:pt>
                <c:pt idx="116">
                  <c:v>2006.583333</c:v>
                </c:pt>
                <c:pt idx="117">
                  <c:v>2006.666667</c:v>
                </c:pt>
                <c:pt idx="118">
                  <c:v>2006.75</c:v>
                </c:pt>
                <c:pt idx="119">
                  <c:v>2006.833333</c:v>
                </c:pt>
                <c:pt idx="120">
                  <c:v>2006.916667</c:v>
                </c:pt>
                <c:pt idx="121">
                  <c:v>2007</c:v>
                </c:pt>
                <c:pt idx="122">
                  <c:v>2007.083333</c:v>
                </c:pt>
                <c:pt idx="123">
                  <c:v>2007.166667</c:v>
                </c:pt>
                <c:pt idx="124">
                  <c:v>2007.25</c:v>
                </c:pt>
                <c:pt idx="125">
                  <c:v>2007.333333</c:v>
                </c:pt>
                <c:pt idx="126">
                  <c:v>2007.416667</c:v>
                </c:pt>
                <c:pt idx="127">
                  <c:v>2007.5</c:v>
                </c:pt>
                <c:pt idx="128">
                  <c:v>2007.583333</c:v>
                </c:pt>
                <c:pt idx="129">
                  <c:v>2007.666667</c:v>
                </c:pt>
                <c:pt idx="130">
                  <c:v>2007.75</c:v>
                </c:pt>
                <c:pt idx="131">
                  <c:v>2007.833333</c:v>
                </c:pt>
                <c:pt idx="132">
                  <c:v>2007.916667</c:v>
                </c:pt>
                <c:pt idx="133">
                  <c:v>2008</c:v>
                </c:pt>
                <c:pt idx="134">
                  <c:v>2008.083333</c:v>
                </c:pt>
                <c:pt idx="135">
                  <c:v>2008.166667</c:v>
                </c:pt>
                <c:pt idx="136">
                  <c:v>2008.25</c:v>
                </c:pt>
                <c:pt idx="137">
                  <c:v>2008.333333</c:v>
                </c:pt>
                <c:pt idx="138">
                  <c:v>2008.416667</c:v>
                </c:pt>
                <c:pt idx="139">
                  <c:v>2008.5</c:v>
                </c:pt>
                <c:pt idx="140">
                  <c:v>2008.583333</c:v>
                </c:pt>
                <c:pt idx="141">
                  <c:v>2008.666667</c:v>
                </c:pt>
                <c:pt idx="142">
                  <c:v>2008.75</c:v>
                </c:pt>
                <c:pt idx="143">
                  <c:v>2008.833333</c:v>
                </c:pt>
                <c:pt idx="144">
                  <c:v>2008.916667</c:v>
                </c:pt>
                <c:pt idx="145">
                  <c:v>2009</c:v>
                </c:pt>
                <c:pt idx="146">
                  <c:v>2009.083333</c:v>
                </c:pt>
                <c:pt idx="147">
                  <c:v>2009.166667</c:v>
                </c:pt>
                <c:pt idx="148">
                  <c:v>2009.25</c:v>
                </c:pt>
                <c:pt idx="149">
                  <c:v>2009.333333</c:v>
                </c:pt>
                <c:pt idx="150">
                  <c:v>2009.416667</c:v>
                </c:pt>
                <c:pt idx="151">
                  <c:v>2009.5</c:v>
                </c:pt>
                <c:pt idx="152">
                  <c:v>2009.583333</c:v>
                </c:pt>
                <c:pt idx="153">
                  <c:v>2009.666667</c:v>
                </c:pt>
                <c:pt idx="154">
                  <c:v>2009.75</c:v>
                </c:pt>
                <c:pt idx="155">
                  <c:v>2009.833333</c:v>
                </c:pt>
                <c:pt idx="156">
                  <c:v>2009.916667</c:v>
                </c:pt>
                <c:pt idx="157">
                  <c:v>2010</c:v>
                </c:pt>
                <c:pt idx="158">
                  <c:v>2010.083333</c:v>
                </c:pt>
                <c:pt idx="159">
                  <c:v>2010.166667</c:v>
                </c:pt>
                <c:pt idx="160">
                  <c:v>2010.25</c:v>
                </c:pt>
                <c:pt idx="161">
                  <c:v>2010.333333</c:v>
                </c:pt>
                <c:pt idx="162">
                  <c:v>2010.416667</c:v>
                </c:pt>
                <c:pt idx="163">
                  <c:v>2010.5</c:v>
                </c:pt>
                <c:pt idx="164">
                  <c:v>2010.583333</c:v>
                </c:pt>
                <c:pt idx="165">
                  <c:v>2010.666667</c:v>
                </c:pt>
                <c:pt idx="166">
                  <c:v>2010.75</c:v>
                </c:pt>
                <c:pt idx="167">
                  <c:v>2010.833333</c:v>
                </c:pt>
                <c:pt idx="168">
                  <c:v>2010.916667</c:v>
                </c:pt>
                <c:pt idx="169">
                  <c:v>2011</c:v>
                </c:pt>
                <c:pt idx="170">
                  <c:v>2011.083333</c:v>
                </c:pt>
                <c:pt idx="171">
                  <c:v>2011.166667</c:v>
                </c:pt>
                <c:pt idx="172">
                  <c:v>2011.25</c:v>
                </c:pt>
                <c:pt idx="173">
                  <c:v>2011.333333</c:v>
                </c:pt>
                <c:pt idx="174">
                  <c:v>2011.416667</c:v>
                </c:pt>
                <c:pt idx="175">
                  <c:v>2011.5</c:v>
                </c:pt>
                <c:pt idx="176">
                  <c:v>2011.583333</c:v>
                </c:pt>
                <c:pt idx="177">
                  <c:v>2011.666667</c:v>
                </c:pt>
                <c:pt idx="178">
                  <c:v>2011.75</c:v>
                </c:pt>
                <c:pt idx="179">
                  <c:v>2011.833333</c:v>
                </c:pt>
                <c:pt idx="180">
                  <c:v>2011.916667</c:v>
                </c:pt>
                <c:pt idx="181">
                  <c:v>2012</c:v>
                </c:pt>
                <c:pt idx="182">
                  <c:v>2012.083333</c:v>
                </c:pt>
                <c:pt idx="183">
                  <c:v>2012.166667</c:v>
                </c:pt>
                <c:pt idx="184">
                  <c:v>2012.25</c:v>
                </c:pt>
                <c:pt idx="185">
                  <c:v>2012.333333</c:v>
                </c:pt>
                <c:pt idx="186">
                  <c:v>2012.416667</c:v>
                </c:pt>
                <c:pt idx="187">
                  <c:v>2012.5</c:v>
                </c:pt>
                <c:pt idx="188">
                  <c:v>2012.583333</c:v>
                </c:pt>
                <c:pt idx="189">
                  <c:v>2012.666667</c:v>
                </c:pt>
                <c:pt idx="190">
                  <c:v>2012.75</c:v>
                </c:pt>
                <c:pt idx="191">
                  <c:v>2012.833333</c:v>
                </c:pt>
                <c:pt idx="192">
                  <c:v>2012.916667</c:v>
                </c:pt>
                <c:pt idx="193">
                  <c:v>2013</c:v>
                </c:pt>
                <c:pt idx="194">
                  <c:v>2013.083333</c:v>
                </c:pt>
                <c:pt idx="195">
                  <c:v>2013.166667</c:v>
                </c:pt>
                <c:pt idx="196">
                  <c:v>2013.25</c:v>
                </c:pt>
                <c:pt idx="197">
                  <c:v>2013.333333</c:v>
                </c:pt>
                <c:pt idx="198">
                  <c:v>2013.416667</c:v>
                </c:pt>
                <c:pt idx="199">
                  <c:v>2013.5</c:v>
                </c:pt>
                <c:pt idx="200">
                  <c:v>2013.583333</c:v>
                </c:pt>
                <c:pt idx="201">
                  <c:v>2013.666667</c:v>
                </c:pt>
                <c:pt idx="202">
                  <c:v>2013.75</c:v>
                </c:pt>
                <c:pt idx="203">
                  <c:v>2013.833333</c:v>
                </c:pt>
                <c:pt idx="204">
                  <c:v>2013.916667</c:v>
                </c:pt>
                <c:pt idx="205">
                  <c:v>2014</c:v>
                </c:pt>
                <c:pt idx="206">
                  <c:v>2014.083333</c:v>
                </c:pt>
                <c:pt idx="207">
                  <c:v>2014.166667</c:v>
                </c:pt>
                <c:pt idx="208">
                  <c:v>2014.25</c:v>
                </c:pt>
                <c:pt idx="209">
                  <c:v>2014.333333</c:v>
                </c:pt>
                <c:pt idx="210">
                  <c:v>2014.416667</c:v>
                </c:pt>
                <c:pt idx="211">
                  <c:v>2014.5</c:v>
                </c:pt>
                <c:pt idx="212">
                  <c:v>2014.583333</c:v>
                </c:pt>
                <c:pt idx="213">
                  <c:v>2014.666667</c:v>
                </c:pt>
                <c:pt idx="214">
                  <c:v>2014.75</c:v>
                </c:pt>
                <c:pt idx="215">
                  <c:v>2014.833333</c:v>
                </c:pt>
                <c:pt idx="216">
                  <c:v>2014.916667</c:v>
                </c:pt>
                <c:pt idx="217">
                  <c:v>2015</c:v>
                </c:pt>
                <c:pt idx="218">
                  <c:v>2015.083333</c:v>
                </c:pt>
                <c:pt idx="219">
                  <c:v>2015.166667</c:v>
                </c:pt>
                <c:pt idx="220">
                  <c:v>2015.25</c:v>
                </c:pt>
                <c:pt idx="221">
                  <c:v>2015.333333</c:v>
                </c:pt>
                <c:pt idx="222">
                  <c:v>2015.416667</c:v>
                </c:pt>
                <c:pt idx="223">
                  <c:v>2015.5</c:v>
                </c:pt>
                <c:pt idx="224">
                  <c:v>2015.583333</c:v>
                </c:pt>
                <c:pt idx="225">
                  <c:v>2015.666667</c:v>
                </c:pt>
                <c:pt idx="226">
                  <c:v>2015.75</c:v>
                </c:pt>
                <c:pt idx="227">
                  <c:v>2015.833333</c:v>
                </c:pt>
                <c:pt idx="228">
                  <c:v>2015.916667</c:v>
                </c:pt>
                <c:pt idx="229">
                  <c:v>2016</c:v>
                </c:pt>
                <c:pt idx="230">
                  <c:v>2016.083333</c:v>
                </c:pt>
                <c:pt idx="231">
                  <c:v>2016.166667</c:v>
                </c:pt>
                <c:pt idx="232">
                  <c:v>2016.25</c:v>
                </c:pt>
                <c:pt idx="233">
                  <c:v>2016.333333</c:v>
                </c:pt>
                <c:pt idx="234">
                  <c:v>2016.416667</c:v>
                </c:pt>
                <c:pt idx="235">
                  <c:v>2016.5</c:v>
                </c:pt>
                <c:pt idx="236">
                  <c:v>2016.583333</c:v>
                </c:pt>
                <c:pt idx="237">
                  <c:v>2016.666667</c:v>
                </c:pt>
                <c:pt idx="238">
                  <c:v>2016.75</c:v>
                </c:pt>
                <c:pt idx="239">
                  <c:v>2016.833333</c:v>
                </c:pt>
                <c:pt idx="240">
                  <c:v>2016.916667</c:v>
                </c:pt>
              </c:numCache>
            </c:numRef>
          </c:xVal>
          <c:yVal>
            <c:numRef>
              <c:f>'Chart Data'!$D$2:$D$242</c:f>
              <c:numCache>
                <c:formatCode>0.000</c:formatCode>
                <c:ptCount val="241"/>
                <c:pt idx="0">
                  <c:v>4.87864504</c:v>
                </c:pt>
                <c:pt idx="1">
                  <c:v>5.26061749</c:v>
                </c:pt>
                <c:pt idx="2">
                  <c:v>5.65881088</c:v>
                </c:pt>
                <c:pt idx="3">
                  <c:v>5.68588701</c:v>
                </c:pt>
                <c:pt idx="4">
                  <c:v>5.70940999</c:v>
                </c:pt>
                <c:pt idx="5">
                  <c:v>5.73897084</c:v>
                </c:pt>
                <c:pt idx="6">
                  <c:v>5.89373413</c:v>
                </c:pt>
                <c:pt idx="7">
                  <c:v>5.89227633</c:v>
                </c:pt>
                <c:pt idx="8">
                  <c:v>5.74077056</c:v>
                </c:pt>
                <c:pt idx="9">
                  <c:v>5.70516275</c:v>
                </c:pt>
                <c:pt idx="10">
                  <c:v>5.77557521</c:v>
                </c:pt>
                <c:pt idx="11">
                  <c:v>5.80974041</c:v>
                </c:pt>
                <c:pt idx="12">
                  <c:v>5.81890205</c:v>
                </c:pt>
                <c:pt idx="13">
                  <c:v>6.09224731</c:v>
                </c:pt>
                <c:pt idx="14">
                  <c:v>6.08958857</c:v>
                </c:pt>
                <c:pt idx="15">
                  <c:v>6.21249071</c:v>
                </c:pt>
                <c:pt idx="16">
                  <c:v>6.08190132</c:v>
                </c:pt>
                <c:pt idx="17">
                  <c:v>6.33811951</c:v>
                </c:pt>
                <c:pt idx="18">
                  <c:v>6.30963268</c:v>
                </c:pt>
                <c:pt idx="19">
                  <c:v>6.29865255</c:v>
                </c:pt>
                <c:pt idx="20">
                  <c:v>6.29501577</c:v>
                </c:pt>
                <c:pt idx="21">
                  <c:v>6.27302026</c:v>
                </c:pt>
                <c:pt idx="22">
                  <c:v>6.48647021</c:v>
                </c:pt>
                <c:pt idx="23">
                  <c:v>6.95917769</c:v>
                </c:pt>
                <c:pt idx="24">
                  <c:v>7.04710144</c:v>
                </c:pt>
                <c:pt idx="25">
                  <c:v>6.99707143</c:v>
                </c:pt>
                <c:pt idx="26">
                  <c:v>7.47360174</c:v>
                </c:pt>
                <c:pt idx="27">
                  <c:v>6.48691911</c:v>
                </c:pt>
                <c:pt idx="28">
                  <c:v>5.48438927</c:v>
                </c:pt>
                <c:pt idx="29">
                  <c:v>5.58336321</c:v>
                </c:pt>
                <c:pt idx="30">
                  <c:v>5.57250268</c:v>
                </c:pt>
                <c:pt idx="31">
                  <c:v>5.63455792</c:v>
                </c:pt>
                <c:pt idx="32">
                  <c:v>5.54428298</c:v>
                </c:pt>
                <c:pt idx="33">
                  <c:v>5.49347015</c:v>
                </c:pt>
                <c:pt idx="34">
                  <c:v>5.49411561</c:v>
                </c:pt>
                <c:pt idx="35">
                  <c:v>5.48411144</c:v>
                </c:pt>
                <c:pt idx="36">
                  <c:v>4.94828763</c:v>
                </c:pt>
                <c:pt idx="37">
                  <c:v>4.92251356</c:v>
                </c:pt>
                <c:pt idx="38">
                  <c:v>2.98401271</c:v>
                </c:pt>
                <c:pt idx="39">
                  <c:v>2.95078745</c:v>
                </c:pt>
                <c:pt idx="40">
                  <c:v>2.94279419</c:v>
                </c:pt>
                <c:pt idx="41">
                  <c:v>2.89804222</c:v>
                </c:pt>
                <c:pt idx="42">
                  <c:v>2.93704819</c:v>
                </c:pt>
                <c:pt idx="43">
                  <c:v>2.99544427</c:v>
                </c:pt>
                <c:pt idx="44">
                  <c:v>3.01758882</c:v>
                </c:pt>
                <c:pt idx="45">
                  <c:v>3.03196172</c:v>
                </c:pt>
                <c:pt idx="46">
                  <c:v>3.00854817</c:v>
                </c:pt>
                <c:pt idx="47">
                  <c:v>3.02185452</c:v>
                </c:pt>
                <c:pt idx="48">
                  <c:v>3.00385509</c:v>
                </c:pt>
                <c:pt idx="49">
                  <c:v>3.00120955</c:v>
                </c:pt>
                <c:pt idx="50">
                  <c:v>2.86408618</c:v>
                </c:pt>
                <c:pt idx="51">
                  <c:v>2.9128901</c:v>
                </c:pt>
                <c:pt idx="52">
                  <c:v>2.97382688</c:v>
                </c:pt>
                <c:pt idx="53">
                  <c:v>3.04296571</c:v>
                </c:pt>
                <c:pt idx="54">
                  <c:v>3.00402228</c:v>
                </c:pt>
                <c:pt idx="55">
                  <c:v>3.02591519</c:v>
                </c:pt>
                <c:pt idx="56">
                  <c:v>3.01898168</c:v>
                </c:pt>
                <c:pt idx="57">
                  <c:v>3.07120231</c:v>
                </c:pt>
                <c:pt idx="58">
                  <c:v>3.00598259</c:v>
                </c:pt>
                <c:pt idx="59">
                  <c:v>2.87590351</c:v>
                </c:pt>
                <c:pt idx="60">
                  <c:v>2.80516647</c:v>
                </c:pt>
                <c:pt idx="61">
                  <c:v>2.81167101</c:v>
                </c:pt>
                <c:pt idx="62">
                  <c:v>2.83294361</c:v>
                </c:pt>
                <c:pt idx="63">
                  <c:v>2.82403162</c:v>
                </c:pt>
                <c:pt idx="64">
                  <c:v>2.86514265</c:v>
                </c:pt>
                <c:pt idx="65">
                  <c:v>2.88949884</c:v>
                </c:pt>
                <c:pt idx="66">
                  <c:v>2.90126843</c:v>
                </c:pt>
                <c:pt idx="67">
                  <c:v>2.91962295</c:v>
                </c:pt>
                <c:pt idx="68">
                  <c:v>2.98270661</c:v>
                </c:pt>
                <c:pt idx="69">
                  <c:v>3.02970475</c:v>
                </c:pt>
                <c:pt idx="70">
                  <c:v>3.01489875</c:v>
                </c:pt>
                <c:pt idx="71">
                  <c:v>2.54925506</c:v>
                </c:pt>
                <c:pt idx="72">
                  <c:v>2.56806816</c:v>
                </c:pt>
                <c:pt idx="73">
                  <c:v>2.52685339</c:v>
                </c:pt>
                <c:pt idx="74">
                  <c:v>2.45571817</c:v>
                </c:pt>
                <c:pt idx="75">
                  <c:v>2.40300081</c:v>
                </c:pt>
                <c:pt idx="76">
                  <c:v>2.31289334</c:v>
                </c:pt>
                <c:pt idx="77">
                  <c:v>2.03128718</c:v>
                </c:pt>
                <c:pt idx="78">
                  <c:v>1.98844011</c:v>
                </c:pt>
                <c:pt idx="79">
                  <c:v>1.92418135</c:v>
                </c:pt>
                <c:pt idx="80">
                  <c:v>1.88982258</c:v>
                </c:pt>
                <c:pt idx="81">
                  <c:v>1.88712505</c:v>
                </c:pt>
                <c:pt idx="82">
                  <c:v>1.86810122</c:v>
                </c:pt>
                <c:pt idx="83">
                  <c:v>1.81243372</c:v>
                </c:pt>
                <c:pt idx="84">
                  <c:v>1.80606925</c:v>
                </c:pt>
                <c:pt idx="85">
                  <c:v>1.81555349</c:v>
                </c:pt>
                <c:pt idx="86">
                  <c:v>1.78609377</c:v>
                </c:pt>
                <c:pt idx="87">
                  <c:v>1.84284432</c:v>
                </c:pt>
                <c:pt idx="88">
                  <c:v>1.908345</c:v>
                </c:pt>
                <c:pt idx="89">
                  <c:v>1.90526747</c:v>
                </c:pt>
                <c:pt idx="90">
                  <c:v>1.89081815</c:v>
                </c:pt>
                <c:pt idx="91">
                  <c:v>1.87014267</c:v>
                </c:pt>
                <c:pt idx="92">
                  <c:v>1.86118004</c:v>
                </c:pt>
                <c:pt idx="93">
                  <c:v>1.91307638</c:v>
                </c:pt>
                <c:pt idx="94">
                  <c:v>1.85830453</c:v>
                </c:pt>
                <c:pt idx="95">
                  <c:v>1.89932064</c:v>
                </c:pt>
                <c:pt idx="96">
                  <c:v>1.95325914</c:v>
                </c:pt>
                <c:pt idx="97">
                  <c:v>1.95198207</c:v>
                </c:pt>
                <c:pt idx="98">
                  <c:v>2.39975848</c:v>
                </c:pt>
                <c:pt idx="99">
                  <c:v>2.32873811</c:v>
                </c:pt>
                <c:pt idx="100">
                  <c:v>2.25859002</c:v>
                </c:pt>
                <c:pt idx="101">
                  <c:v>2.31218689</c:v>
                </c:pt>
                <c:pt idx="102">
                  <c:v>2.2696319</c:v>
                </c:pt>
                <c:pt idx="103">
                  <c:v>2.15217061</c:v>
                </c:pt>
                <c:pt idx="104">
                  <c:v>2.13066041</c:v>
                </c:pt>
                <c:pt idx="105">
                  <c:v>2.06583585</c:v>
                </c:pt>
                <c:pt idx="106">
                  <c:v>2.05503467</c:v>
                </c:pt>
                <c:pt idx="107">
                  <c:v>2.01214694</c:v>
                </c:pt>
                <c:pt idx="108">
                  <c:v>1.98815679</c:v>
                </c:pt>
                <c:pt idx="109">
                  <c:v>1.97833796</c:v>
                </c:pt>
                <c:pt idx="110">
                  <c:v>1.97424363</c:v>
                </c:pt>
                <c:pt idx="111">
                  <c:v>1.93319008</c:v>
                </c:pt>
                <c:pt idx="112">
                  <c:v>1.90681755</c:v>
                </c:pt>
                <c:pt idx="113">
                  <c:v>1.84213791</c:v>
                </c:pt>
                <c:pt idx="114">
                  <c:v>1.8550325</c:v>
                </c:pt>
                <c:pt idx="115">
                  <c:v>1.81908761</c:v>
                </c:pt>
                <c:pt idx="116">
                  <c:v>1.79101503</c:v>
                </c:pt>
                <c:pt idx="117">
                  <c:v>1.7513976</c:v>
                </c:pt>
                <c:pt idx="118">
                  <c:v>1.75951122</c:v>
                </c:pt>
                <c:pt idx="119">
                  <c:v>1.83174082</c:v>
                </c:pt>
                <c:pt idx="120">
                  <c:v>1.87595028</c:v>
                </c:pt>
                <c:pt idx="121">
                  <c:v>1.79648635</c:v>
                </c:pt>
                <c:pt idx="122">
                  <c:v>1.72189545</c:v>
                </c:pt>
                <c:pt idx="123">
                  <c:v>1.71417238</c:v>
                </c:pt>
                <c:pt idx="124">
                  <c:v>1.6444696</c:v>
                </c:pt>
                <c:pt idx="125">
                  <c:v>1.59218945</c:v>
                </c:pt>
                <c:pt idx="126">
                  <c:v>1.51818381</c:v>
                </c:pt>
                <c:pt idx="127">
                  <c:v>1.38795966</c:v>
                </c:pt>
                <c:pt idx="128">
                  <c:v>1.32883855</c:v>
                </c:pt>
                <c:pt idx="129">
                  <c:v>1.25558433</c:v>
                </c:pt>
                <c:pt idx="130">
                  <c:v>1.24660544</c:v>
                </c:pt>
                <c:pt idx="131">
                  <c:v>1.58228565</c:v>
                </c:pt>
                <c:pt idx="132">
                  <c:v>1.6896212</c:v>
                </c:pt>
                <c:pt idx="133">
                  <c:v>1.71476123</c:v>
                </c:pt>
                <c:pt idx="134">
                  <c:v>1.82026638</c:v>
                </c:pt>
                <c:pt idx="135">
                  <c:v>1.87688958</c:v>
                </c:pt>
                <c:pt idx="136">
                  <c:v>2.11253327</c:v>
                </c:pt>
                <c:pt idx="137">
                  <c:v>2.95549057</c:v>
                </c:pt>
                <c:pt idx="138">
                  <c:v>2.8393567</c:v>
                </c:pt>
                <c:pt idx="139">
                  <c:v>3.03478657</c:v>
                </c:pt>
                <c:pt idx="140">
                  <c:v>2.99651019</c:v>
                </c:pt>
                <c:pt idx="141">
                  <c:v>2.95605461</c:v>
                </c:pt>
                <c:pt idx="142">
                  <c:v>2.85598003</c:v>
                </c:pt>
                <c:pt idx="143">
                  <c:v>2.92450589</c:v>
                </c:pt>
                <c:pt idx="144">
                  <c:v>2.87357575</c:v>
                </c:pt>
                <c:pt idx="145">
                  <c:v>2.828452</c:v>
                </c:pt>
                <c:pt idx="146">
                  <c:v>2.79094477</c:v>
                </c:pt>
                <c:pt idx="147">
                  <c:v>2.80747303</c:v>
                </c:pt>
                <c:pt idx="148">
                  <c:v>1.72996146</c:v>
                </c:pt>
                <c:pt idx="149">
                  <c:v>1.6831728</c:v>
                </c:pt>
                <c:pt idx="150">
                  <c:v>1.68932095</c:v>
                </c:pt>
                <c:pt idx="151">
                  <c:v>1.55961834</c:v>
                </c:pt>
                <c:pt idx="152">
                  <c:v>1.42835301</c:v>
                </c:pt>
                <c:pt idx="153">
                  <c:v>1.34014823</c:v>
                </c:pt>
                <c:pt idx="154">
                  <c:v>1.33843816</c:v>
                </c:pt>
                <c:pt idx="155">
                  <c:v>1.26182668</c:v>
                </c:pt>
                <c:pt idx="156">
                  <c:v>1.31279204</c:v>
                </c:pt>
                <c:pt idx="157">
                  <c:v>1.22292245</c:v>
                </c:pt>
                <c:pt idx="158">
                  <c:v>1.21038987</c:v>
                </c:pt>
                <c:pt idx="159">
                  <c:v>1.19586426</c:v>
                </c:pt>
                <c:pt idx="160">
                  <c:v>1.18812482</c:v>
                </c:pt>
                <c:pt idx="161">
                  <c:v>1.10017606</c:v>
                </c:pt>
                <c:pt idx="162">
                  <c:v>1.04959367</c:v>
                </c:pt>
                <c:pt idx="163">
                  <c:v>1.16282322</c:v>
                </c:pt>
                <c:pt idx="164">
                  <c:v>1.1302116</c:v>
                </c:pt>
                <c:pt idx="165">
                  <c:v>1.17091995</c:v>
                </c:pt>
                <c:pt idx="166">
                  <c:v>1.17843326</c:v>
                </c:pt>
                <c:pt idx="167">
                  <c:v>1.17078058</c:v>
                </c:pt>
                <c:pt idx="168">
                  <c:v>1.14533644</c:v>
                </c:pt>
                <c:pt idx="169">
                  <c:v>1.0946619</c:v>
                </c:pt>
                <c:pt idx="170">
                  <c:v>1.02330444</c:v>
                </c:pt>
                <c:pt idx="171">
                  <c:v>1.04959818</c:v>
                </c:pt>
                <c:pt idx="172">
                  <c:v>1.07140309</c:v>
                </c:pt>
                <c:pt idx="173">
                  <c:v>1.09279962</c:v>
                </c:pt>
                <c:pt idx="174">
                  <c:v>1.06969302</c:v>
                </c:pt>
                <c:pt idx="175">
                  <c:v>1.00772479</c:v>
                </c:pt>
                <c:pt idx="176">
                  <c:v>0.97933997</c:v>
                </c:pt>
                <c:pt idx="177">
                  <c:v>0.9440164</c:v>
                </c:pt>
                <c:pt idx="178">
                  <c:v>1.01731968</c:v>
                </c:pt>
                <c:pt idx="179">
                  <c:v>1.07485749</c:v>
                </c:pt>
                <c:pt idx="180">
                  <c:v>1.06178038</c:v>
                </c:pt>
                <c:pt idx="181">
                  <c:v>1.11149922</c:v>
                </c:pt>
                <c:pt idx="182">
                  <c:v>1.11486988</c:v>
                </c:pt>
                <c:pt idx="183">
                  <c:v>1.11438224</c:v>
                </c:pt>
                <c:pt idx="184">
                  <c:v>1.11499357</c:v>
                </c:pt>
                <c:pt idx="185">
                  <c:v>1.09178737</c:v>
                </c:pt>
                <c:pt idx="186">
                  <c:v>1.13545354</c:v>
                </c:pt>
                <c:pt idx="187">
                  <c:v>1.20615795</c:v>
                </c:pt>
                <c:pt idx="188">
                  <c:v>1.18283232</c:v>
                </c:pt>
                <c:pt idx="189">
                  <c:v>1.17664915</c:v>
                </c:pt>
                <c:pt idx="190">
                  <c:v>1.20470237</c:v>
                </c:pt>
                <c:pt idx="191">
                  <c:v>1.26403006</c:v>
                </c:pt>
                <c:pt idx="192">
                  <c:v>1.22057259</c:v>
                </c:pt>
                <c:pt idx="193">
                  <c:v>1.20398112</c:v>
                </c:pt>
                <c:pt idx="194">
                  <c:v>1.15861605</c:v>
                </c:pt>
                <c:pt idx="195">
                  <c:v>1.1406906</c:v>
                </c:pt>
                <c:pt idx="196">
                  <c:v>1.09213259</c:v>
                </c:pt>
                <c:pt idx="197">
                  <c:v>1.06496505</c:v>
                </c:pt>
                <c:pt idx="198">
                  <c:v>1.10978361</c:v>
                </c:pt>
                <c:pt idx="199">
                  <c:v>1.03486212</c:v>
                </c:pt>
                <c:pt idx="200">
                  <c:v>1.02210028</c:v>
                </c:pt>
                <c:pt idx="201">
                  <c:v>1.02031174</c:v>
                </c:pt>
                <c:pt idx="202">
                  <c:v>0.97414501</c:v>
                </c:pt>
                <c:pt idx="203">
                  <c:v>0.95392898</c:v>
                </c:pt>
                <c:pt idx="204">
                  <c:v>0.86530978</c:v>
                </c:pt>
                <c:pt idx="205">
                  <c:v>0.82765786</c:v>
                </c:pt>
                <c:pt idx="206">
                  <c:v>0.8172467</c:v>
                </c:pt>
                <c:pt idx="207">
                  <c:v>0.81496775</c:v>
                </c:pt>
                <c:pt idx="208">
                  <c:v>1.22984962</c:v>
                </c:pt>
                <c:pt idx="209">
                  <c:v>1.25486302</c:v>
                </c:pt>
                <c:pt idx="210">
                  <c:v>1.20240864</c:v>
                </c:pt>
                <c:pt idx="211">
                  <c:v>1.32500433</c:v>
                </c:pt>
                <c:pt idx="212">
                  <c:v>1.44657484</c:v>
                </c:pt>
                <c:pt idx="213">
                  <c:v>1.50774425</c:v>
                </c:pt>
                <c:pt idx="214">
                  <c:v>1.55082112</c:v>
                </c:pt>
                <c:pt idx="215">
                  <c:v>1.55148419</c:v>
                </c:pt>
                <c:pt idx="216">
                  <c:v>1.41264362</c:v>
                </c:pt>
                <c:pt idx="217">
                  <c:v>1.48434338</c:v>
                </c:pt>
                <c:pt idx="218">
                  <c:v>1.48171744</c:v>
                </c:pt>
                <c:pt idx="219">
                  <c:v>1.54587841</c:v>
                </c:pt>
                <c:pt idx="220">
                  <c:v>1.54171967</c:v>
                </c:pt>
                <c:pt idx="221">
                  <c:v>1.67567074</c:v>
                </c:pt>
                <c:pt idx="222">
                  <c:v>1.70112955</c:v>
                </c:pt>
                <c:pt idx="223">
                  <c:v>1.67341895</c:v>
                </c:pt>
                <c:pt idx="224">
                  <c:v>1.68293109</c:v>
                </c:pt>
                <c:pt idx="225">
                  <c:v>1.71549449</c:v>
                </c:pt>
                <c:pt idx="226">
                  <c:v>1.7391265</c:v>
                </c:pt>
                <c:pt idx="227">
                  <c:v>1.77071863</c:v>
                </c:pt>
                <c:pt idx="228">
                  <c:v>1.86027909</c:v>
                </c:pt>
                <c:pt idx="229">
                  <c:v>1.91276958</c:v>
                </c:pt>
                <c:pt idx="230">
                  <c:v>1.95670926</c:v>
                </c:pt>
                <c:pt idx="231">
                  <c:v>1.9386261</c:v>
                </c:pt>
                <c:pt idx="232">
                  <c:v>1.55410572</c:v>
                </c:pt>
                <c:pt idx="233">
                  <c:v>1.6144989</c:v>
                </c:pt>
                <c:pt idx="234">
                  <c:v>1.63562129</c:v>
                </c:pt>
                <c:pt idx="235">
                  <c:v>1.64905759</c:v>
                </c:pt>
                <c:pt idx="236">
                  <c:v>1.6167397</c:v>
                </c:pt>
                <c:pt idx="237">
                  <c:v>1.60847198</c:v>
                </c:pt>
                <c:pt idx="238">
                  <c:v>1.8629276</c:v>
                </c:pt>
                <c:pt idx="239">
                  <c:v>1.81439023</c:v>
                </c:pt>
                <c:pt idx="240">
                  <c:v>1.77458969</c:v>
                </c:pt>
              </c:numCache>
            </c:numRef>
          </c:yVal>
        </c:ser>
        <c:ser>
          <c:idx val="2"/>
          <c:order val="2"/>
          <c:tx>
            <c:v>New LSTM</c:v>
          </c:tx>
          <c:spPr>
            <a:solidFill xmlns:a="http://schemas.openxmlformats.org/drawingml/2006/main">
              <a:srgbClr val="2563EB"/>
            </a:solidFill>
            <a:ln xmlns:a="http://schemas.openxmlformats.org/drawingml/2006/main" w="20003">
              <a:solidFill>
                <a:srgbClr val="2563EB"/>
              </a:solidFill>
            </a:ln>
          </c:spPr>
          <c:marker>
            <c:symbol val="none"/>
          </c:marker>
          <c:xVal>
            <c:numRef>
              <c:f>'Chart Data'!$E$2:$E$242</c:f>
              <c:numCache>
                <c:formatCode>General</c:formatCode>
                <c:ptCount val="241"/>
                <c:pt idx="0">
                  <c:v>1996.916667</c:v>
                </c:pt>
                <c:pt idx="1">
                  <c:v>1997</c:v>
                </c:pt>
                <c:pt idx="2">
                  <c:v>1997.083333</c:v>
                </c:pt>
                <c:pt idx="3">
                  <c:v>1997.166667</c:v>
                </c:pt>
                <c:pt idx="4">
                  <c:v>1997.25</c:v>
                </c:pt>
                <c:pt idx="5">
                  <c:v>1997.333333</c:v>
                </c:pt>
                <c:pt idx="6">
                  <c:v>1997.416667</c:v>
                </c:pt>
                <c:pt idx="7">
                  <c:v>1997.5</c:v>
                </c:pt>
                <c:pt idx="8">
                  <c:v>1997.583333</c:v>
                </c:pt>
                <c:pt idx="9">
                  <c:v>1997.666667</c:v>
                </c:pt>
                <c:pt idx="10">
                  <c:v>1997.75</c:v>
                </c:pt>
                <c:pt idx="11">
                  <c:v>1997.833333</c:v>
                </c:pt>
                <c:pt idx="12">
                  <c:v>1997.916667</c:v>
                </c:pt>
                <c:pt idx="13">
                  <c:v>1998</c:v>
                </c:pt>
                <c:pt idx="14">
                  <c:v>1998.083333</c:v>
                </c:pt>
                <c:pt idx="15">
                  <c:v>1998.166667</c:v>
                </c:pt>
                <c:pt idx="16">
                  <c:v>1998.25</c:v>
                </c:pt>
                <c:pt idx="17">
                  <c:v>1998.333333</c:v>
                </c:pt>
                <c:pt idx="18">
                  <c:v>1998.416667</c:v>
                </c:pt>
                <c:pt idx="19">
                  <c:v>1998.5</c:v>
                </c:pt>
                <c:pt idx="20">
                  <c:v>1998.583333</c:v>
                </c:pt>
                <c:pt idx="21">
                  <c:v>1998.666667</c:v>
                </c:pt>
                <c:pt idx="22">
                  <c:v>1998.75</c:v>
                </c:pt>
                <c:pt idx="23">
                  <c:v>1998.833333</c:v>
                </c:pt>
                <c:pt idx="24">
                  <c:v>1998.916667</c:v>
                </c:pt>
                <c:pt idx="25">
                  <c:v>1999</c:v>
                </c:pt>
                <c:pt idx="26">
                  <c:v>1999.083333</c:v>
                </c:pt>
                <c:pt idx="27">
                  <c:v>1999.166667</c:v>
                </c:pt>
                <c:pt idx="28">
                  <c:v>1999.25</c:v>
                </c:pt>
                <c:pt idx="29">
                  <c:v>1999.333333</c:v>
                </c:pt>
                <c:pt idx="30">
                  <c:v>1999.416667</c:v>
                </c:pt>
                <c:pt idx="31">
                  <c:v>1999.5</c:v>
                </c:pt>
                <c:pt idx="32">
                  <c:v>1999.583333</c:v>
                </c:pt>
                <c:pt idx="33">
                  <c:v>1999.666667</c:v>
                </c:pt>
                <c:pt idx="34">
                  <c:v>1999.75</c:v>
                </c:pt>
                <c:pt idx="35">
                  <c:v>1999.833333</c:v>
                </c:pt>
                <c:pt idx="36">
                  <c:v>1999.916667</c:v>
                </c:pt>
                <c:pt idx="37">
                  <c:v>2000</c:v>
                </c:pt>
                <c:pt idx="38">
                  <c:v>2000.083333</c:v>
                </c:pt>
                <c:pt idx="39">
                  <c:v>2000.166667</c:v>
                </c:pt>
                <c:pt idx="40">
                  <c:v>2000.25</c:v>
                </c:pt>
                <c:pt idx="41">
                  <c:v>2000.333333</c:v>
                </c:pt>
                <c:pt idx="42">
                  <c:v>2000.416667</c:v>
                </c:pt>
                <c:pt idx="43">
                  <c:v>2000.5</c:v>
                </c:pt>
                <c:pt idx="44">
                  <c:v>2000.583333</c:v>
                </c:pt>
                <c:pt idx="45">
                  <c:v>2000.666667</c:v>
                </c:pt>
                <c:pt idx="46">
                  <c:v>2000.75</c:v>
                </c:pt>
                <c:pt idx="47">
                  <c:v>2000.833333</c:v>
                </c:pt>
                <c:pt idx="48">
                  <c:v>2000.916667</c:v>
                </c:pt>
                <c:pt idx="49">
                  <c:v>2001</c:v>
                </c:pt>
                <c:pt idx="50">
                  <c:v>2001.083333</c:v>
                </c:pt>
                <c:pt idx="51">
                  <c:v>2001.166667</c:v>
                </c:pt>
                <c:pt idx="52">
                  <c:v>2001.25</c:v>
                </c:pt>
                <c:pt idx="53">
                  <c:v>2001.333333</c:v>
                </c:pt>
                <c:pt idx="54">
                  <c:v>2001.416667</c:v>
                </c:pt>
                <c:pt idx="55">
                  <c:v>2001.5</c:v>
                </c:pt>
                <c:pt idx="56">
                  <c:v>2001.583333</c:v>
                </c:pt>
                <c:pt idx="57">
                  <c:v>2001.666667</c:v>
                </c:pt>
                <c:pt idx="58">
                  <c:v>2001.75</c:v>
                </c:pt>
                <c:pt idx="59">
                  <c:v>2001.833333</c:v>
                </c:pt>
                <c:pt idx="60">
                  <c:v>2001.916667</c:v>
                </c:pt>
                <c:pt idx="61">
                  <c:v>2002</c:v>
                </c:pt>
                <c:pt idx="62">
                  <c:v>2002.083333</c:v>
                </c:pt>
                <c:pt idx="63">
                  <c:v>2002.166667</c:v>
                </c:pt>
                <c:pt idx="64">
                  <c:v>2002.25</c:v>
                </c:pt>
                <c:pt idx="65">
                  <c:v>2002.333333</c:v>
                </c:pt>
                <c:pt idx="66">
                  <c:v>2002.416667</c:v>
                </c:pt>
                <c:pt idx="67">
                  <c:v>2002.5</c:v>
                </c:pt>
                <c:pt idx="68">
                  <c:v>2002.583333</c:v>
                </c:pt>
                <c:pt idx="69">
                  <c:v>2002.666667</c:v>
                </c:pt>
                <c:pt idx="70">
                  <c:v>2002.75</c:v>
                </c:pt>
                <c:pt idx="71">
                  <c:v>2002.833333</c:v>
                </c:pt>
                <c:pt idx="72">
                  <c:v>2002.916667</c:v>
                </c:pt>
                <c:pt idx="73">
                  <c:v>2003</c:v>
                </c:pt>
                <c:pt idx="74">
                  <c:v>2003.083333</c:v>
                </c:pt>
                <c:pt idx="75">
                  <c:v>2003.166667</c:v>
                </c:pt>
                <c:pt idx="76">
                  <c:v>2003.25</c:v>
                </c:pt>
                <c:pt idx="77">
                  <c:v>2003.333333</c:v>
                </c:pt>
                <c:pt idx="78">
                  <c:v>2003.416667</c:v>
                </c:pt>
                <c:pt idx="79">
                  <c:v>2003.5</c:v>
                </c:pt>
                <c:pt idx="80">
                  <c:v>2003.583333</c:v>
                </c:pt>
                <c:pt idx="81">
                  <c:v>2003.666667</c:v>
                </c:pt>
                <c:pt idx="82">
                  <c:v>2003.75</c:v>
                </c:pt>
                <c:pt idx="83">
                  <c:v>2003.833333</c:v>
                </c:pt>
                <c:pt idx="84">
                  <c:v>2003.916667</c:v>
                </c:pt>
                <c:pt idx="85">
                  <c:v>2004</c:v>
                </c:pt>
                <c:pt idx="86">
                  <c:v>2004.083333</c:v>
                </c:pt>
                <c:pt idx="87">
                  <c:v>2004.166667</c:v>
                </c:pt>
                <c:pt idx="88">
                  <c:v>2004.25</c:v>
                </c:pt>
                <c:pt idx="89">
                  <c:v>2004.333333</c:v>
                </c:pt>
                <c:pt idx="90">
                  <c:v>2004.416667</c:v>
                </c:pt>
                <c:pt idx="91">
                  <c:v>2004.5</c:v>
                </c:pt>
                <c:pt idx="92">
                  <c:v>2004.583333</c:v>
                </c:pt>
                <c:pt idx="93">
                  <c:v>2004.666667</c:v>
                </c:pt>
                <c:pt idx="94">
                  <c:v>2004.75</c:v>
                </c:pt>
                <c:pt idx="95">
                  <c:v>2004.833333</c:v>
                </c:pt>
                <c:pt idx="96">
                  <c:v>2004.916667</c:v>
                </c:pt>
                <c:pt idx="97">
                  <c:v>2005</c:v>
                </c:pt>
                <c:pt idx="98">
                  <c:v>2005.083333</c:v>
                </c:pt>
                <c:pt idx="99">
                  <c:v>2005.166667</c:v>
                </c:pt>
                <c:pt idx="100">
                  <c:v>2005.25</c:v>
                </c:pt>
                <c:pt idx="101">
                  <c:v>2005.333333</c:v>
                </c:pt>
                <c:pt idx="102">
                  <c:v>2005.416667</c:v>
                </c:pt>
                <c:pt idx="103">
                  <c:v>2005.5</c:v>
                </c:pt>
                <c:pt idx="104">
                  <c:v>2005.583333</c:v>
                </c:pt>
                <c:pt idx="105">
                  <c:v>2005.666667</c:v>
                </c:pt>
                <c:pt idx="106">
                  <c:v>2005.75</c:v>
                </c:pt>
                <c:pt idx="107">
                  <c:v>2005.833333</c:v>
                </c:pt>
                <c:pt idx="108">
                  <c:v>2005.916667</c:v>
                </c:pt>
                <c:pt idx="109">
                  <c:v>2006</c:v>
                </c:pt>
                <c:pt idx="110">
                  <c:v>2006.083333</c:v>
                </c:pt>
                <c:pt idx="111">
                  <c:v>2006.166667</c:v>
                </c:pt>
                <c:pt idx="112">
                  <c:v>2006.25</c:v>
                </c:pt>
                <c:pt idx="113">
                  <c:v>2006.333333</c:v>
                </c:pt>
                <c:pt idx="114">
                  <c:v>2006.416667</c:v>
                </c:pt>
                <c:pt idx="115">
                  <c:v>2006.5</c:v>
                </c:pt>
                <c:pt idx="116">
                  <c:v>2006.583333</c:v>
                </c:pt>
                <c:pt idx="117">
                  <c:v>2006.666667</c:v>
                </c:pt>
                <c:pt idx="118">
                  <c:v>2006.75</c:v>
                </c:pt>
                <c:pt idx="119">
                  <c:v>2006.833333</c:v>
                </c:pt>
                <c:pt idx="120">
                  <c:v>2006.916667</c:v>
                </c:pt>
                <c:pt idx="121">
                  <c:v>2007</c:v>
                </c:pt>
                <c:pt idx="122">
                  <c:v>2007.083333</c:v>
                </c:pt>
                <c:pt idx="123">
                  <c:v>2007.166667</c:v>
                </c:pt>
                <c:pt idx="124">
                  <c:v>2007.25</c:v>
                </c:pt>
                <c:pt idx="125">
                  <c:v>2007.333333</c:v>
                </c:pt>
                <c:pt idx="126">
                  <c:v>2007.416667</c:v>
                </c:pt>
                <c:pt idx="127">
                  <c:v>2007.5</c:v>
                </c:pt>
                <c:pt idx="128">
                  <c:v>2007.583333</c:v>
                </c:pt>
                <c:pt idx="129">
                  <c:v>2007.666667</c:v>
                </c:pt>
                <c:pt idx="130">
                  <c:v>2007.75</c:v>
                </c:pt>
                <c:pt idx="131">
                  <c:v>2007.833333</c:v>
                </c:pt>
                <c:pt idx="132">
                  <c:v>2007.916667</c:v>
                </c:pt>
                <c:pt idx="133">
                  <c:v>2008</c:v>
                </c:pt>
                <c:pt idx="134">
                  <c:v>2008.083333</c:v>
                </c:pt>
                <c:pt idx="135">
                  <c:v>2008.166667</c:v>
                </c:pt>
                <c:pt idx="136">
                  <c:v>2008.25</c:v>
                </c:pt>
                <c:pt idx="137">
                  <c:v>2008.333333</c:v>
                </c:pt>
                <c:pt idx="138">
                  <c:v>2008.416667</c:v>
                </c:pt>
                <c:pt idx="139">
                  <c:v>2008.5</c:v>
                </c:pt>
                <c:pt idx="140">
                  <c:v>2008.583333</c:v>
                </c:pt>
                <c:pt idx="141">
                  <c:v>2008.666667</c:v>
                </c:pt>
                <c:pt idx="142">
                  <c:v>2008.75</c:v>
                </c:pt>
                <c:pt idx="143">
                  <c:v>2008.833333</c:v>
                </c:pt>
                <c:pt idx="144">
                  <c:v>2008.916667</c:v>
                </c:pt>
                <c:pt idx="145">
                  <c:v>2009</c:v>
                </c:pt>
                <c:pt idx="146">
                  <c:v>2009.083333</c:v>
                </c:pt>
                <c:pt idx="147">
                  <c:v>2009.166667</c:v>
                </c:pt>
                <c:pt idx="148">
                  <c:v>2009.25</c:v>
                </c:pt>
                <c:pt idx="149">
                  <c:v>2009.333333</c:v>
                </c:pt>
                <c:pt idx="150">
                  <c:v>2009.416667</c:v>
                </c:pt>
                <c:pt idx="151">
                  <c:v>2009.5</c:v>
                </c:pt>
                <c:pt idx="152">
                  <c:v>2009.583333</c:v>
                </c:pt>
                <c:pt idx="153">
                  <c:v>2009.666667</c:v>
                </c:pt>
                <c:pt idx="154">
                  <c:v>2009.75</c:v>
                </c:pt>
                <c:pt idx="155">
                  <c:v>2009.833333</c:v>
                </c:pt>
                <c:pt idx="156">
                  <c:v>2009.916667</c:v>
                </c:pt>
                <c:pt idx="157">
                  <c:v>2010</c:v>
                </c:pt>
                <c:pt idx="158">
                  <c:v>2010.083333</c:v>
                </c:pt>
                <c:pt idx="159">
                  <c:v>2010.166667</c:v>
                </c:pt>
                <c:pt idx="160">
                  <c:v>2010.25</c:v>
                </c:pt>
                <c:pt idx="161">
                  <c:v>2010.333333</c:v>
                </c:pt>
                <c:pt idx="162">
                  <c:v>2010.416667</c:v>
                </c:pt>
                <c:pt idx="163">
                  <c:v>2010.5</c:v>
                </c:pt>
                <c:pt idx="164">
                  <c:v>2010.583333</c:v>
                </c:pt>
                <c:pt idx="165">
                  <c:v>2010.666667</c:v>
                </c:pt>
                <c:pt idx="166">
                  <c:v>2010.75</c:v>
                </c:pt>
                <c:pt idx="167">
                  <c:v>2010.833333</c:v>
                </c:pt>
                <c:pt idx="168">
                  <c:v>2010.916667</c:v>
                </c:pt>
                <c:pt idx="169">
                  <c:v>2011</c:v>
                </c:pt>
                <c:pt idx="170">
                  <c:v>2011.083333</c:v>
                </c:pt>
                <c:pt idx="171">
                  <c:v>2011.166667</c:v>
                </c:pt>
                <c:pt idx="172">
                  <c:v>2011.25</c:v>
                </c:pt>
                <c:pt idx="173">
                  <c:v>2011.333333</c:v>
                </c:pt>
                <c:pt idx="174">
                  <c:v>2011.416667</c:v>
                </c:pt>
                <c:pt idx="175">
                  <c:v>2011.5</c:v>
                </c:pt>
                <c:pt idx="176">
                  <c:v>2011.583333</c:v>
                </c:pt>
                <c:pt idx="177">
                  <c:v>2011.666667</c:v>
                </c:pt>
                <c:pt idx="178">
                  <c:v>2011.75</c:v>
                </c:pt>
                <c:pt idx="179">
                  <c:v>2011.833333</c:v>
                </c:pt>
                <c:pt idx="180">
                  <c:v>2011.916667</c:v>
                </c:pt>
                <c:pt idx="181">
                  <c:v>2012</c:v>
                </c:pt>
                <c:pt idx="182">
                  <c:v>2012.083333</c:v>
                </c:pt>
                <c:pt idx="183">
                  <c:v>2012.166667</c:v>
                </c:pt>
                <c:pt idx="184">
                  <c:v>2012.25</c:v>
                </c:pt>
                <c:pt idx="185">
                  <c:v>2012.333333</c:v>
                </c:pt>
                <c:pt idx="186">
                  <c:v>2012.416667</c:v>
                </c:pt>
                <c:pt idx="187">
                  <c:v>2012.5</c:v>
                </c:pt>
                <c:pt idx="188">
                  <c:v>2012.583333</c:v>
                </c:pt>
                <c:pt idx="189">
                  <c:v>2012.666667</c:v>
                </c:pt>
                <c:pt idx="190">
                  <c:v>2012.75</c:v>
                </c:pt>
                <c:pt idx="191">
                  <c:v>2012.833333</c:v>
                </c:pt>
                <c:pt idx="192">
                  <c:v>2012.916667</c:v>
                </c:pt>
                <c:pt idx="193">
                  <c:v>2013</c:v>
                </c:pt>
                <c:pt idx="194">
                  <c:v>2013.083333</c:v>
                </c:pt>
                <c:pt idx="195">
                  <c:v>2013.166667</c:v>
                </c:pt>
                <c:pt idx="196">
                  <c:v>2013.25</c:v>
                </c:pt>
                <c:pt idx="197">
                  <c:v>2013.333333</c:v>
                </c:pt>
                <c:pt idx="198">
                  <c:v>2013.416667</c:v>
                </c:pt>
                <c:pt idx="199">
                  <c:v>2013.5</c:v>
                </c:pt>
                <c:pt idx="200">
                  <c:v>2013.583333</c:v>
                </c:pt>
                <c:pt idx="201">
                  <c:v>2013.666667</c:v>
                </c:pt>
                <c:pt idx="202">
                  <c:v>2013.75</c:v>
                </c:pt>
                <c:pt idx="203">
                  <c:v>2013.833333</c:v>
                </c:pt>
                <c:pt idx="204">
                  <c:v>2013.916667</c:v>
                </c:pt>
                <c:pt idx="205">
                  <c:v>2014</c:v>
                </c:pt>
                <c:pt idx="206">
                  <c:v>2014.083333</c:v>
                </c:pt>
                <c:pt idx="207">
                  <c:v>2014.166667</c:v>
                </c:pt>
                <c:pt idx="208">
                  <c:v>2014.25</c:v>
                </c:pt>
                <c:pt idx="209">
                  <c:v>2014.333333</c:v>
                </c:pt>
                <c:pt idx="210">
                  <c:v>2014.416667</c:v>
                </c:pt>
                <c:pt idx="211">
                  <c:v>2014.5</c:v>
                </c:pt>
                <c:pt idx="212">
                  <c:v>2014.583333</c:v>
                </c:pt>
                <c:pt idx="213">
                  <c:v>2014.666667</c:v>
                </c:pt>
                <c:pt idx="214">
                  <c:v>2014.75</c:v>
                </c:pt>
                <c:pt idx="215">
                  <c:v>2014.833333</c:v>
                </c:pt>
                <c:pt idx="216">
                  <c:v>2014.916667</c:v>
                </c:pt>
                <c:pt idx="217">
                  <c:v>2015</c:v>
                </c:pt>
                <c:pt idx="218">
                  <c:v>2015.083333</c:v>
                </c:pt>
                <c:pt idx="219">
                  <c:v>2015.166667</c:v>
                </c:pt>
                <c:pt idx="220">
                  <c:v>2015.25</c:v>
                </c:pt>
                <c:pt idx="221">
                  <c:v>2015.333333</c:v>
                </c:pt>
                <c:pt idx="222">
                  <c:v>2015.416667</c:v>
                </c:pt>
                <c:pt idx="223">
                  <c:v>2015.5</c:v>
                </c:pt>
                <c:pt idx="224">
                  <c:v>2015.583333</c:v>
                </c:pt>
                <c:pt idx="225">
                  <c:v>2015.666667</c:v>
                </c:pt>
                <c:pt idx="226">
                  <c:v>2015.75</c:v>
                </c:pt>
                <c:pt idx="227">
                  <c:v>2015.833333</c:v>
                </c:pt>
                <c:pt idx="228">
                  <c:v>2015.916667</c:v>
                </c:pt>
                <c:pt idx="229">
                  <c:v>2016</c:v>
                </c:pt>
                <c:pt idx="230">
                  <c:v>2016.083333</c:v>
                </c:pt>
                <c:pt idx="231">
                  <c:v>2016.166667</c:v>
                </c:pt>
                <c:pt idx="232">
                  <c:v>2016.25</c:v>
                </c:pt>
                <c:pt idx="233">
                  <c:v>2016.333333</c:v>
                </c:pt>
                <c:pt idx="234">
                  <c:v>2016.416667</c:v>
                </c:pt>
                <c:pt idx="235">
                  <c:v>2016.5</c:v>
                </c:pt>
                <c:pt idx="236">
                  <c:v>2016.583333</c:v>
                </c:pt>
                <c:pt idx="237">
                  <c:v>2016.666667</c:v>
                </c:pt>
                <c:pt idx="238">
                  <c:v>2016.75</c:v>
                </c:pt>
                <c:pt idx="239">
                  <c:v>2016.833333</c:v>
                </c:pt>
                <c:pt idx="240">
                  <c:v>2016.916667</c:v>
                </c:pt>
              </c:numCache>
            </c:numRef>
          </c:xVal>
          <c:yVal>
            <c:numRef>
              <c:f>'Chart Data'!$F$2:$F$242</c:f>
              <c:numCache>
                <c:formatCode>0.000</c:formatCode>
                <c:ptCount val="241"/>
                <c:pt idx="0">
                  <c:v>3.66003541</c:v>
                </c:pt>
                <c:pt idx="1">
                  <c:v>3.68556321</c:v>
                </c:pt>
                <c:pt idx="2">
                  <c:v>3.87526168</c:v>
                </c:pt>
                <c:pt idx="3">
                  <c:v>3.87557773</c:v>
                </c:pt>
                <c:pt idx="4">
                  <c:v>3.83567233</c:v>
                </c:pt>
                <c:pt idx="5">
                  <c:v>3.85887175</c:v>
                </c:pt>
                <c:pt idx="6">
                  <c:v>3.84965661</c:v>
                </c:pt>
                <c:pt idx="7">
                  <c:v>3.74410285</c:v>
                </c:pt>
                <c:pt idx="8">
                  <c:v>3.65966698</c:v>
                </c:pt>
                <c:pt idx="9">
                  <c:v>3.67217677</c:v>
                </c:pt>
                <c:pt idx="10">
                  <c:v>3.67136937</c:v>
                </c:pt>
                <c:pt idx="11">
                  <c:v>3.57671014</c:v>
                </c:pt>
                <c:pt idx="12">
                  <c:v>3.44580343</c:v>
                </c:pt>
                <c:pt idx="13">
                  <c:v>3.43836326</c:v>
                </c:pt>
                <c:pt idx="14">
                  <c:v>3.43517169</c:v>
                </c:pt>
                <c:pt idx="15">
                  <c:v>3.43889418</c:v>
                </c:pt>
                <c:pt idx="16">
                  <c:v>3.39187641</c:v>
                </c:pt>
                <c:pt idx="17">
                  <c:v>3.44641986</c:v>
                </c:pt>
                <c:pt idx="18">
                  <c:v>3.47311081</c:v>
                </c:pt>
                <c:pt idx="19">
                  <c:v>3.41995885</c:v>
                </c:pt>
                <c:pt idx="20">
                  <c:v>3.43632994</c:v>
                </c:pt>
                <c:pt idx="21">
                  <c:v>3.54141508</c:v>
                </c:pt>
                <c:pt idx="22">
                  <c:v>3.70387225</c:v>
                </c:pt>
                <c:pt idx="23">
                  <c:v>3.87597624</c:v>
                </c:pt>
                <c:pt idx="24">
                  <c:v>3.84521917</c:v>
                </c:pt>
                <c:pt idx="25">
                  <c:v>3.71913922</c:v>
                </c:pt>
                <c:pt idx="26">
                  <c:v>3.76433333</c:v>
                </c:pt>
                <c:pt idx="27">
                  <c:v>3.71380367</c:v>
                </c:pt>
                <c:pt idx="28">
                  <c:v>3.71320727</c:v>
                </c:pt>
                <c:pt idx="29">
                  <c:v>3.82741257</c:v>
                </c:pt>
                <c:pt idx="30">
                  <c:v>3.86631525</c:v>
                </c:pt>
                <c:pt idx="31">
                  <c:v>3.91329534</c:v>
                </c:pt>
                <c:pt idx="32">
                  <c:v>3.7851766</c:v>
                </c:pt>
                <c:pt idx="33">
                  <c:v>3.58672976</c:v>
                </c:pt>
                <c:pt idx="34">
                  <c:v>3.64544281</c:v>
                </c:pt>
                <c:pt idx="35">
                  <c:v>3.46238102</c:v>
                </c:pt>
                <c:pt idx="36">
                  <c:v>2.62880833</c:v>
                </c:pt>
                <c:pt idx="37">
                  <c:v>2.61641439</c:v>
                </c:pt>
                <c:pt idx="38">
                  <c:v>1.23281876</c:v>
                </c:pt>
                <c:pt idx="39">
                  <c:v>1.30201215</c:v>
                </c:pt>
                <c:pt idx="40">
                  <c:v>1.3368248</c:v>
                </c:pt>
                <c:pt idx="41">
                  <c:v>1.33169323</c:v>
                </c:pt>
                <c:pt idx="42">
                  <c:v>1.3691351</c:v>
                </c:pt>
                <c:pt idx="43">
                  <c:v>1.43994765</c:v>
                </c:pt>
                <c:pt idx="44">
                  <c:v>1.36212357</c:v>
                </c:pt>
                <c:pt idx="45">
                  <c:v>1.43554424</c:v>
                </c:pt>
                <c:pt idx="46">
                  <c:v>1.46414551</c:v>
                </c:pt>
                <c:pt idx="47">
                  <c:v>1.52208188</c:v>
                </c:pt>
                <c:pt idx="48">
                  <c:v>1.54705995</c:v>
                </c:pt>
                <c:pt idx="49">
                  <c:v>1.56005619</c:v>
                </c:pt>
                <c:pt idx="50">
                  <c:v>1.61859264</c:v>
                </c:pt>
                <c:pt idx="51">
                  <c:v>1.68277605</c:v>
                </c:pt>
                <c:pt idx="52">
                  <c:v>1.72929285</c:v>
                </c:pt>
                <c:pt idx="53">
                  <c:v>1.74716988</c:v>
                </c:pt>
                <c:pt idx="54">
                  <c:v>1.7008124</c:v>
                </c:pt>
                <c:pt idx="55">
                  <c:v>1.69315932</c:v>
                </c:pt>
                <c:pt idx="56">
                  <c:v>1.64529601</c:v>
                </c:pt>
                <c:pt idx="57">
                  <c:v>1.60513952</c:v>
                </c:pt>
                <c:pt idx="58">
                  <c:v>1.58977749</c:v>
                </c:pt>
                <c:pt idx="59">
                  <c:v>1.6177799</c:v>
                </c:pt>
                <c:pt idx="60">
                  <c:v>1.63296398</c:v>
                </c:pt>
                <c:pt idx="61">
                  <c:v>1.6553186</c:v>
                </c:pt>
                <c:pt idx="62">
                  <c:v>1.61096715</c:v>
                </c:pt>
                <c:pt idx="63">
                  <c:v>1.61221127</c:v>
                </c:pt>
                <c:pt idx="64">
                  <c:v>1.61750542</c:v>
                </c:pt>
                <c:pt idx="65">
                  <c:v>1.61204179</c:v>
                </c:pt>
                <c:pt idx="66">
                  <c:v>1.56582243</c:v>
                </c:pt>
                <c:pt idx="67">
                  <c:v>1.48488275</c:v>
                </c:pt>
                <c:pt idx="68">
                  <c:v>1.50875267</c:v>
                </c:pt>
                <c:pt idx="69">
                  <c:v>1.3972631</c:v>
                </c:pt>
                <c:pt idx="70">
                  <c:v>1.42412956</c:v>
                </c:pt>
                <c:pt idx="71">
                  <c:v>1.42119326</c:v>
                </c:pt>
                <c:pt idx="72">
                  <c:v>1.50716018</c:v>
                </c:pt>
                <c:pt idx="73">
                  <c:v>1.49582453</c:v>
                </c:pt>
                <c:pt idx="74">
                  <c:v>1.41080319</c:v>
                </c:pt>
                <c:pt idx="75">
                  <c:v>1.33633338</c:v>
                </c:pt>
                <c:pt idx="76">
                  <c:v>1.36840413</c:v>
                </c:pt>
                <c:pt idx="77">
                  <c:v>1.41697524</c:v>
                </c:pt>
                <c:pt idx="78">
                  <c:v>1.4667252</c:v>
                </c:pt>
                <c:pt idx="79">
                  <c:v>1.50279719</c:v>
                </c:pt>
                <c:pt idx="80">
                  <c:v>1.49757255</c:v>
                </c:pt>
                <c:pt idx="81">
                  <c:v>1.46450714</c:v>
                </c:pt>
                <c:pt idx="82">
                  <c:v>1.44380229</c:v>
                </c:pt>
                <c:pt idx="83">
                  <c:v>1.40443711</c:v>
                </c:pt>
                <c:pt idx="84">
                  <c:v>1.43268125</c:v>
                </c:pt>
                <c:pt idx="85">
                  <c:v>1.4642302</c:v>
                </c:pt>
                <c:pt idx="86">
                  <c:v>1.51750393</c:v>
                </c:pt>
                <c:pt idx="87">
                  <c:v>1.54193659</c:v>
                </c:pt>
                <c:pt idx="88">
                  <c:v>1.50582498</c:v>
                </c:pt>
                <c:pt idx="89">
                  <c:v>1.46595233</c:v>
                </c:pt>
                <c:pt idx="90">
                  <c:v>1.44120892</c:v>
                </c:pt>
                <c:pt idx="91">
                  <c:v>1.44213637</c:v>
                </c:pt>
                <c:pt idx="92">
                  <c:v>1.4737598</c:v>
                </c:pt>
                <c:pt idx="93">
                  <c:v>1.52000362</c:v>
                </c:pt>
                <c:pt idx="94">
                  <c:v>1.50245688</c:v>
                </c:pt>
                <c:pt idx="95">
                  <c:v>1.58739851</c:v>
                </c:pt>
                <c:pt idx="96">
                  <c:v>1.701428</c:v>
                </c:pt>
                <c:pt idx="97">
                  <c:v>1.72219502</c:v>
                </c:pt>
                <c:pt idx="98">
                  <c:v>2.69365573</c:v>
                </c:pt>
                <c:pt idx="99">
                  <c:v>2.63442668</c:v>
                </c:pt>
                <c:pt idx="100">
                  <c:v>2.6359501</c:v>
                </c:pt>
                <c:pt idx="101">
                  <c:v>2.61841474</c:v>
                </c:pt>
                <c:pt idx="102">
                  <c:v>2.65828093</c:v>
                </c:pt>
                <c:pt idx="103">
                  <c:v>2.57224528</c:v>
                </c:pt>
                <c:pt idx="104">
                  <c:v>2.78424366</c:v>
                </c:pt>
                <c:pt idx="105">
                  <c:v>2.69580081</c:v>
                </c:pt>
                <c:pt idx="106">
                  <c:v>2.62519007</c:v>
                </c:pt>
                <c:pt idx="107">
                  <c:v>2.53080073</c:v>
                </c:pt>
                <c:pt idx="108">
                  <c:v>2.44765534</c:v>
                </c:pt>
                <c:pt idx="109">
                  <c:v>2.39372427</c:v>
                </c:pt>
                <c:pt idx="110">
                  <c:v>2.51081712</c:v>
                </c:pt>
                <c:pt idx="111">
                  <c:v>2.44665237</c:v>
                </c:pt>
                <c:pt idx="112">
                  <c:v>2.42381319</c:v>
                </c:pt>
                <c:pt idx="113">
                  <c:v>2.42214144</c:v>
                </c:pt>
                <c:pt idx="114">
                  <c:v>2.43549629</c:v>
                </c:pt>
                <c:pt idx="115">
                  <c:v>2.4378814</c:v>
                </c:pt>
                <c:pt idx="116">
                  <c:v>2.47091307</c:v>
                </c:pt>
                <c:pt idx="117">
                  <c:v>2.54647734</c:v>
                </c:pt>
                <c:pt idx="118">
                  <c:v>2.47209751</c:v>
                </c:pt>
                <c:pt idx="119">
                  <c:v>2.41460313</c:v>
                </c:pt>
                <c:pt idx="120">
                  <c:v>2.4143468</c:v>
                </c:pt>
                <c:pt idx="121">
                  <c:v>2.26707237</c:v>
                </c:pt>
                <c:pt idx="122">
                  <c:v>2.26355845</c:v>
                </c:pt>
                <c:pt idx="123">
                  <c:v>2.19097147</c:v>
                </c:pt>
                <c:pt idx="124">
                  <c:v>2.15086209</c:v>
                </c:pt>
                <c:pt idx="125">
                  <c:v>2.02063954</c:v>
                </c:pt>
                <c:pt idx="126">
                  <c:v>2.07827465</c:v>
                </c:pt>
                <c:pt idx="127">
                  <c:v>2.35808108</c:v>
                </c:pt>
                <c:pt idx="128">
                  <c:v>2.26753989</c:v>
                </c:pt>
                <c:pt idx="129">
                  <c:v>2.40999774</c:v>
                </c:pt>
                <c:pt idx="130">
                  <c:v>2.34973877</c:v>
                </c:pt>
                <c:pt idx="131">
                  <c:v>2.43496463</c:v>
                </c:pt>
                <c:pt idx="132">
                  <c:v>2.47086296</c:v>
                </c:pt>
                <c:pt idx="133">
                  <c:v>2.46988141</c:v>
                </c:pt>
                <c:pt idx="134">
                  <c:v>2.67005826</c:v>
                </c:pt>
                <c:pt idx="135">
                  <c:v>2.81367599</c:v>
                </c:pt>
                <c:pt idx="136">
                  <c:v>2.80963803</c:v>
                </c:pt>
                <c:pt idx="137">
                  <c:v>2.8795019</c:v>
                </c:pt>
                <c:pt idx="138">
                  <c:v>2.27719238</c:v>
                </c:pt>
                <c:pt idx="139">
                  <c:v>2.23570152</c:v>
                </c:pt>
                <c:pt idx="140">
                  <c:v>1.99391973</c:v>
                </c:pt>
                <c:pt idx="141">
                  <c:v>1.6423932</c:v>
                </c:pt>
                <c:pt idx="142">
                  <c:v>1.68797413</c:v>
                </c:pt>
                <c:pt idx="143">
                  <c:v>1.78372248</c:v>
                </c:pt>
                <c:pt idx="144">
                  <c:v>1.78452821</c:v>
                </c:pt>
                <c:pt idx="145">
                  <c:v>1.80617986</c:v>
                </c:pt>
                <c:pt idx="146">
                  <c:v>1.66792417</c:v>
                </c:pt>
                <c:pt idx="147">
                  <c:v>1.59151417</c:v>
                </c:pt>
                <c:pt idx="148">
                  <c:v>1.23223183</c:v>
                </c:pt>
                <c:pt idx="149">
                  <c:v>1.27989262</c:v>
                </c:pt>
                <c:pt idx="150">
                  <c:v>1.27409358</c:v>
                </c:pt>
                <c:pt idx="151">
                  <c:v>1.28180158</c:v>
                </c:pt>
                <c:pt idx="152">
                  <c:v>1.11991463</c:v>
                </c:pt>
                <c:pt idx="153">
                  <c:v>1.15429162</c:v>
                </c:pt>
                <c:pt idx="154">
                  <c:v>1.15141136</c:v>
                </c:pt>
                <c:pt idx="155">
                  <c:v>1.07400501</c:v>
                </c:pt>
                <c:pt idx="156">
                  <c:v>1.13350396</c:v>
                </c:pt>
                <c:pt idx="157">
                  <c:v>1.11413917</c:v>
                </c:pt>
                <c:pt idx="158">
                  <c:v>1.09614695</c:v>
                </c:pt>
                <c:pt idx="159">
                  <c:v>1.11766876</c:v>
                </c:pt>
                <c:pt idx="160">
                  <c:v>0.99280113</c:v>
                </c:pt>
                <c:pt idx="161">
                  <c:v>1.02247157</c:v>
                </c:pt>
                <c:pt idx="162">
                  <c:v>0.94102258</c:v>
                </c:pt>
                <c:pt idx="163">
                  <c:v>0.93200698</c:v>
                </c:pt>
                <c:pt idx="164">
                  <c:v>0.92762446</c:v>
                </c:pt>
                <c:pt idx="165">
                  <c:v>0.89091567</c:v>
                </c:pt>
                <c:pt idx="166">
                  <c:v>0.85802999</c:v>
                </c:pt>
                <c:pt idx="167">
                  <c:v>0.84856283</c:v>
                </c:pt>
                <c:pt idx="168">
                  <c:v>0.77061402</c:v>
                </c:pt>
                <c:pt idx="169">
                  <c:v>0.77816066</c:v>
                </c:pt>
                <c:pt idx="170">
                  <c:v>0.71430692</c:v>
                </c:pt>
                <c:pt idx="171">
                  <c:v>0.71239741</c:v>
                </c:pt>
                <c:pt idx="172">
                  <c:v>0.65939726</c:v>
                </c:pt>
                <c:pt idx="173">
                  <c:v>0.5985235</c:v>
                </c:pt>
                <c:pt idx="174">
                  <c:v>0.5918367</c:v>
                </c:pt>
                <c:pt idx="175">
                  <c:v>0.57617291</c:v>
                </c:pt>
                <c:pt idx="176">
                  <c:v>0.67601255</c:v>
                </c:pt>
                <c:pt idx="177">
                  <c:v>0.76803989</c:v>
                </c:pt>
                <c:pt idx="178">
                  <c:v>0.87262068</c:v>
                </c:pt>
                <c:pt idx="179">
                  <c:v>0.89488719</c:v>
                </c:pt>
                <c:pt idx="180">
                  <c:v>0.84069001</c:v>
                </c:pt>
                <c:pt idx="181">
                  <c:v>0.8816732</c:v>
                </c:pt>
                <c:pt idx="182">
                  <c:v>0.82903</c:v>
                </c:pt>
                <c:pt idx="183">
                  <c:v>0.81093147</c:v>
                </c:pt>
                <c:pt idx="184">
                  <c:v>0.82595933</c:v>
                </c:pt>
                <c:pt idx="185">
                  <c:v>0.90383861</c:v>
                </c:pt>
                <c:pt idx="186">
                  <c:v>0.83490776</c:v>
                </c:pt>
                <c:pt idx="187">
                  <c:v>0.84014322</c:v>
                </c:pt>
                <c:pt idx="188">
                  <c:v>0.87403357</c:v>
                </c:pt>
                <c:pt idx="189">
                  <c:v>0.87780531</c:v>
                </c:pt>
                <c:pt idx="190">
                  <c:v>0.94115261</c:v>
                </c:pt>
                <c:pt idx="191">
                  <c:v>0.91578048</c:v>
                </c:pt>
                <c:pt idx="192">
                  <c:v>0.85289385</c:v>
                </c:pt>
                <c:pt idx="193">
                  <c:v>0.88703685</c:v>
                </c:pt>
                <c:pt idx="194">
                  <c:v>0.8698489</c:v>
                </c:pt>
                <c:pt idx="195">
                  <c:v>0.83485336</c:v>
                </c:pt>
                <c:pt idx="196">
                  <c:v>0.75451748</c:v>
                </c:pt>
                <c:pt idx="197">
                  <c:v>0.72017476</c:v>
                </c:pt>
                <c:pt idx="198">
                  <c:v>0.87838807</c:v>
                </c:pt>
                <c:pt idx="199">
                  <c:v>0.85697037</c:v>
                </c:pt>
                <c:pt idx="200">
                  <c:v>0.93534714</c:v>
                </c:pt>
                <c:pt idx="201">
                  <c:v>1.05353983</c:v>
                </c:pt>
                <c:pt idx="202">
                  <c:v>1.05787455</c:v>
                </c:pt>
                <c:pt idx="203">
                  <c:v>0.88796936</c:v>
                </c:pt>
                <c:pt idx="204">
                  <c:v>0.76532731</c:v>
                </c:pt>
                <c:pt idx="205">
                  <c:v>0.69299343</c:v>
                </c:pt>
                <c:pt idx="206">
                  <c:v>0.71652605</c:v>
                </c:pt>
                <c:pt idx="207">
                  <c:v>0.74916326</c:v>
                </c:pt>
                <c:pt idx="208">
                  <c:v>1.09882593</c:v>
                </c:pt>
                <c:pt idx="209">
                  <c:v>1.04711967</c:v>
                </c:pt>
                <c:pt idx="210">
                  <c:v>0.95708868</c:v>
                </c:pt>
                <c:pt idx="211">
                  <c:v>0.93446885</c:v>
                </c:pt>
                <c:pt idx="212">
                  <c:v>1.03560823</c:v>
                </c:pt>
                <c:pt idx="213">
                  <c:v>1.01939869</c:v>
                </c:pt>
                <c:pt idx="214">
                  <c:v>0.96486465</c:v>
                </c:pt>
                <c:pt idx="215">
                  <c:v>0.98037871</c:v>
                </c:pt>
                <c:pt idx="216">
                  <c:v>0.89238178</c:v>
                </c:pt>
                <c:pt idx="217">
                  <c:v>0.8949872</c:v>
                </c:pt>
                <c:pt idx="218">
                  <c:v>0.93189568</c:v>
                </c:pt>
                <c:pt idx="219">
                  <c:v>0.89820974</c:v>
                </c:pt>
                <c:pt idx="220">
                  <c:v>0.93119355</c:v>
                </c:pt>
                <c:pt idx="221">
                  <c:v>0.9906232</c:v>
                </c:pt>
                <c:pt idx="222">
                  <c:v>1.00842181</c:v>
                </c:pt>
                <c:pt idx="223">
                  <c:v>0.95213927</c:v>
                </c:pt>
                <c:pt idx="224">
                  <c:v>0.96732612</c:v>
                </c:pt>
                <c:pt idx="225">
                  <c:v>1.0720774</c:v>
                </c:pt>
                <c:pt idx="226">
                  <c:v>1.01687669</c:v>
                </c:pt>
                <c:pt idx="227">
                  <c:v>1.01118215</c:v>
                </c:pt>
                <c:pt idx="228">
                  <c:v>1.22425525</c:v>
                </c:pt>
                <c:pt idx="229">
                  <c:v>1.25838082</c:v>
                </c:pt>
                <c:pt idx="230">
                  <c:v>1.37466153</c:v>
                </c:pt>
                <c:pt idx="231">
                  <c:v>1.39089931</c:v>
                </c:pt>
                <c:pt idx="232">
                  <c:v>1.00181468</c:v>
                </c:pt>
                <c:pt idx="233">
                  <c:v>1.0893758</c:v>
                </c:pt>
                <c:pt idx="234">
                  <c:v>1.15989402</c:v>
                </c:pt>
                <c:pt idx="235">
                  <c:v>1.04670964</c:v>
                </c:pt>
                <c:pt idx="236">
                  <c:v>0.95279566</c:v>
                </c:pt>
                <c:pt idx="237">
                  <c:v>0.8244912</c:v>
                </c:pt>
                <c:pt idx="238">
                  <c:v>0.79898199</c:v>
                </c:pt>
                <c:pt idx="239">
                  <c:v>0.70998937</c:v>
                </c:pt>
                <c:pt idx="240">
                  <c:v>0.74548951</c:v>
                </c:pt>
              </c:numCache>
            </c:numRef>
          </c:yVal>
        </c:ser>
        <c:ser>
          <c:idx val="3"/>
          <c:order val="3"/>
          <c:tx>
            <c:v>Transformer</c:v>
          </c:tx>
          <c:spPr>
            <a:solidFill xmlns:a="http://schemas.openxmlformats.org/drawingml/2006/main">
              <a:srgbClr val="B7790B"/>
            </a:solidFill>
            <a:ln xmlns:a="http://schemas.openxmlformats.org/drawingml/2006/main" w="20003">
              <a:solidFill>
                <a:srgbClr val="B7790B"/>
              </a:solidFill>
            </a:ln>
          </c:spPr>
          <c:marker>
            <c:symbol val="none"/>
          </c:marker>
          <c:xVal>
            <c:numRef>
              <c:f>'Chart Data'!$G$2:$G$242</c:f>
              <c:numCache>
                <c:formatCode>General</c:formatCode>
                <c:ptCount val="241"/>
                <c:pt idx="0">
                  <c:v>1996.916667</c:v>
                </c:pt>
                <c:pt idx="1">
                  <c:v>1997</c:v>
                </c:pt>
                <c:pt idx="2">
                  <c:v>1997.083333</c:v>
                </c:pt>
                <c:pt idx="3">
                  <c:v>1997.166667</c:v>
                </c:pt>
                <c:pt idx="4">
                  <c:v>1997.25</c:v>
                </c:pt>
                <c:pt idx="5">
                  <c:v>1997.333333</c:v>
                </c:pt>
                <c:pt idx="6">
                  <c:v>1997.416667</c:v>
                </c:pt>
                <c:pt idx="7">
                  <c:v>1997.5</c:v>
                </c:pt>
                <c:pt idx="8">
                  <c:v>1997.583333</c:v>
                </c:pt>
                <c:pt idx="9">
                  <c:v>1997.666667</c:v>
                </c:pt>
                <c:pt idx="10">
                  <c:v>1997.75</c:v>
                </c:pt>
                <c:pt idx="11">
                  <c:v>1997.833333</c:v>
                </c:pt>
                <c:pt idx="12">
                  <c:v>1997.916667</c:v>
                </c:pt>
                <c:pt idx="13">
                  <c:v>1998</c:v>
                </c:pt>
                <c:pt idx="14">
                  <c:v>1998.083333</c:v>
                </c:pt>
                <c:pt idx="15">
                  <c:v>1998.166667</c:v>
                </c:pt>
                <c:pt idx="16">
                  <c:v>1998.25</c:v>
                </c:pt>
                <c:pt idx="17">
                  <c:v>1998.333333</c:v>
                </c:pt>
                <c:pt idx="18">
                  <c:v>1998.416667</c:v>
                </c:pt>
                <c:pt idx="19">
                  <c:v>1998.5</c:v>
                </c:pt>
                <c:pt idx="20">
                  <c:v>1998.583333</c:v>
                </c:pt>
                <c:pt idx="21">
                  <c:v>1998.666667</c:v>
                </c:pt>
                <c:pt idx="22">
                  <c:v>1998.75</c:v>
                </c:pt>
                <c:pt idx="23">
                  <c:v>1998.833333</c:v>
                </c:pt>
                <c:pt idx="24">
                  <c:v>1998.916667</c:v>
                </c:pt>
                <c:pt idx="25">
                  <c:v>1999</c:v>
                </c:pt>
                <c:pt idx="26">
                  <c:v>1999.083333</c:v>
                </c:pt>
                <c:pt idx="27">
                  <c:v>1999.166667</c:v>
                </c:pt>
                <c:pt idx="28">
                  <c:v>1999.25</c:v>
                </c:pt>
                <c:pt idx="29">
                  <c:v>1999.333333</c:v>
                </c:pt>
                <c:pt idx="30">
                  <c:v>1999.416667</c:v>
                </c:pt>
                <c:pt idx="31">
                  <c:v>1999.5</c:v>
                </c:pt>
                <c:pt idx="32">
                  <c:v>1999.583333</c:v>
                </c:pt>
                <c:pt idx="33">
                  <c:v>1999.666667</c:v>
                </c:pt>
                <c:pt idx="34">
                  <c:v>1999.75</c:v>
                </c:pt>
                <c:pt idx="35">
                  <c:v>1999.833333</c:v>
                </c:pt>
                <c:pt idx="36">
                  <c:v>1999.916667</c:v>
                </c:pt>
                <c:pt idx="37">
                  <c:v>2000</c:v>
                </c:pt>
                <c:pt idx="38">
                  <c:v>2000.083333</c:v>
                </c:pt>
                <c:pt idx="39">
                  <c:v>2000.166667</c:v>
                </c:pt>
                <c:pt idx="40">
                  <c:v>2000.25</c:v>
                </c:pt>
                <c:pt idx="41">
                  <c:v>2000.333333</c:v>
                </c:pt>
                <c:pt idx="42">
                  <c:v>2000.416667</c:v>
                </c:pt>
                <c:pt idx="43">
                  <c:v>2000.5</c:v>
                </c:pt>
                <c:pt idx="44">
                  <c:v>2000.583333</c:v>
                </c:pt>
                <c:pt idx="45">
                  <c:v>2000.666667</c:v>
                </c:pt>
                <c:pt idx="46">
                  <c:v>2000.75</c:v>
                </c:pt>
                <c:pt idx="47">
                  <c:v>2000.833333</c:v>
                </c:pt>
                <c:pt idx="48">
                  <c:v>2000.916667</c:v>
                </c:pt>
                <c:pt idx="49">
                  <c:v>2001</c:v>
                </c:pt>
                <c:pt idx="50">
                  <c:v>2001.083333</c:v>
                </c:pt>
                <c:pt idx="51">
                  <c:v>2001.166667</c:v>
                </c:pt>
                <c:pt idx="52">
                  <c:v>2001.25</c:v>
                </c:pt>
                <c:pt idx="53">
                  <c:v>2001.333333</c:v>
                </c:pt>
                <c:pt idx="54">
                  <c:v>2001.416667</c:v>
                </c:pt>
                <c:pt idx="55">
                  <c:v>2001.5</c:v>
                </c:pt>
                <c:pt idx="56">
                  <c:v>2001.583333</c:v>
                </c:pt>
                <c:pt idx="57">
                  <c:v>2001.666667</c:v>
                </c:pt>
                <c:pt idx="58">
                  <c:v>2001.75</c:v>
                </c:pt>
                <c:pt idx="59">
                  <c:v>2001.833333</c:v>
                </c:pt>
                <c:pt idx="60">
                  <c:v>2001.916667</c:v>
                </c:pt>
                <c:pt idx="61">
                  <c:v>2002</c:v>
                </c:pt>
                <c:pt idx="62">
                  <c:v>2002.083333</c:v>
                </c:pt>
                <c:pt idx="63">
                  <c:v>2002.166667</c:v>
                </c:pt>
                <c:pt idx="64">
                  <c:v>2002.25</c:v>
                </c:pt>
                <c:pt idx="65">
                  <c:v>2002.333333</c:v>
                </c:pt>
                <c:pt idx="66">
                  <c:v>2002.416667</c:v>
                </c:pt>
                <c:pt idx="67">
                  <c:v>2002.5</c:v>
                </c:pt>
                <c:pt idx="68">
                  <c:v>2002.583333</c:v>
                </c:pt>
                <c:pt idx="69">
                  <c:v>2002.666667</c:v>
                </c:pt>
                <c:pt idx="70">
                  <c:v>2002.75</c:v>
                </c:pt>
                <c:pt idx="71">
                  <c:v>2002.833333</c:v>
                </c:pt>
                <c:pt idx="72">
                  <c:v>2002.916667</c:v>
                </c:pt>
                <c:pt idx="73">
                  <c:v>2003</c:v>
                </c:pt>
                <c:pt idx="74">
                  <c:v>2003.083333</c:v>
                </c:pt>
                <c:pt idx="75">
                  <c:v>2003.166667</c:v>
                </c:pt>
                <c:pt idx="76">
                  <c:v>2003.25</c:v>
                </c:pt>
                <c:pt idx="77">
                  <c:v>2003.333333</c:v>
                </c:pt>
                <c:pt idx="78">
                  <c:v>2003.416667</c:v>
                </c:pt>
                <c:pt idx="79">
                  <c:v>2003.5</c:v>
                </c:pt>
                <c:pt idx="80">
                  <c:v>2003.583333</c:v>
                </c:pt>
                <c:pt idx="81">
                  <c:v>2003.666667</c:v>
                </c:pt>
                <c:pt idx="82">
                  <c:v>2003.75</c:v>
                </c:pt>
                <c:pt idx="83">
                  <c:v>2003.833333</c:v>
                </c:pt>
                <c:pt idx="84">
                  <c:v>2003.916667</c:v>
                </c:pt>
                <c:pt idx="85">
                  <c:v>2004</c:v>
                </c:pt>
                <c:pt idx="86">
                  <c:v>2004.083333</c:v>
                </c:pt>
                <c:pt idx="87">
                  <c:v>2004.166667</c:v>
                </c:pt>
                <c:pt idx="88">
                  <c:v>2004.25</c:v>
                </c:pt>
                <c:pt idx="89">
                  <c:v>2004.333333</c:v>
                </c:pt>
                <c:pt idx="90">
                  <c:v>2004.416667</c:v>
                </c:pt>
                <c:pt idx="91">
                  <c:v>2004.5</c:v>
                </c:pt>
                <c:pt idx="92">
                  <c:v>2004.583333</c:v>
                </c:pt>
                <c:pt idx="93">
                  <c:v>2004.666667</c:v>
                </c:pt>
                <c:pt idx="94">
                  <c:v>2004.75</c:v>
                </c:pt>
                <c:pt idx="95">
                  <c:v>2004.833333</c:v>
                </c:pt>
                <c:pt idx="96">
                  <c:v>2004.916667</c:v>
                </c:pt>
                <c:pt idx="97">
                  <c:v>2005</c:v>
                </c:pt>
                <c:pt idx="98">
                  <c:v>2005.083333</c:v>
                </c:pt>
                <c:pt idx="99">
                  <c:v>2005.166667</c:v>
                </c:pt>
                <c:pt idx="100">
                  <c:v>2005.25</c:v>
                </c:pt>
                <c:pt idx="101">
                  <c:v>2005.333333</c:v>
                </c:pt>
                <c:pt idx="102">
                  <c:v>2005.416667</c:v>
                </c:pt>
                <c:pt idx="103">
                  <c:v>2005.5</c:v>
                </c:pt>
                <c:pt idx="104">
                  <c:v>2005.583333</c:v>
                </c:pt>
                <c:pt idx="105">
                  <c:v>2005.666667</c:v>
                </c:pt>
                <c:pt idx="106">
                  <c:v>2005.75</c:v>
                </c:pt>
                <c:pt idx="107">
                  <c:v>2005.833333</c:v>
                </c:pt>
                <c:pt idx="108">
                  <c:v>2005.916667</c:v>
                </c:pt>
                <c:pt idx="109">
                  <c:v>2006</c:v>
                </c:pt>
                <c:pt idx="110">
                  <c:v>2006.083333</c:v>
                </c:pt>
                <c:pt idx="111">
                  <c:v>2006.166667</c:v>
                </c:pt>
                <c:pt idx="112">
                  <c:v>2006.25</c:v>
                </c:pt>
                <c:pt idx="113">
                  <c:v>2006.333333</c:v>
                </c:pt>
                <c:pt idx="114">
                  <c:v>2006.416667</c:v>
                </c:pt>
                <c:pt idx="115">
                  <c:v>2006.5</c:v>
                </c:pt>
                <c:pt idx="116">
                  <c:v>2006.583333</c:v>
                </c:pt>
                <c:pt idx="117">
                  <c:v>2006.666667</c:v>
                </c:pt>
                <c:pt idx="118">
                  <c:v>2006.75</c:v>
                </c:pt>
                <c:pt idx="119">
                  <c:v>2006.833333</c:v>
                </c:pt>
                <c:pt idx="120">
                  <c:v>2006.916667</c:v>
                </c:pt>
                <c:pt idx="121">
                  <c:v>2007</c:v>
                </c:pt>
                <c:pt idx="122">
                  <c:v>2007.083333</c:v>
                </c:pt>
                <c:pt idx="123">
                  <c:v>2007.166667</c:v>
                </c:pt>
                <c:pt idx="124">
                  <c:v>2007.25</c:v>
                </c:pt>
                <c:pt idx="125">
                  <c:v>2007.333333</c:v>
                </c:pt>
                <c:pt idx="126">
                  <c:v>2007.416667</c:v>
                </c:pt>
                <c:pt idx="127">
                  <c:v>2007.5</c:v>
                </c:pt>
                <c:pt idx="128">
                  <c:v>2007.583333</c:v>
                </c:pt>
                <c:pt idx="129">
                  <c:v>2007.666667</c:v>
                </c:pt>
                <c:pt idx="130">
                  <c:v>2007.75</c:v>
                </c:pt>
                <c:pt idx="131">
                  <c:v>2007.833333</c:v>
                </c:pt>
                <c:pt idx="132">
                  <c:v>2007.916667</c:v>
                </c:pt>
                <c:pt idx="133">
                  <c:v>2008</c:v>
                </c:pt>
                <c:pt idx="134">
                  <c:v>2008.083333</c:v>
                </c:pt>
                <c:pt idx="135">
                  <c:v>2008.166667</c:v>
                </c:pt>
                <c:pt idx="136">
                  <c:v>2008.25</c:v>
                </c:pt>
                <c:pt idx="137">
                  <c:v>2008.333333</c:v>
                </c:pt>
                <c:pt idx="138">
                  <c:v>2008.416667</c:v>
                </c:pt>
                <c:pt idx="139">
                  <c:v>2008.5</c:v>
                </c:pt>
                <c:pt idx="140">
                  <c:v>2008.583333</c:v>
                </c:pt>
                <c:pt idx="141">
                  <c:v>2008.666667</c:v>
                </c:pt>
                <c:pt idx="142">
                  <c:v>2008.75</c:v>
                </c:pt>
                <c:pt idx="143">
                  <c:v>2008.833333</c:v>
                </c:pt>
                <c:pt idx="144">
                  <c:v>2008.916667</c:v>
                </c:pt>
                <c:pt idx="145">
                  <c:v>2009</c:v>
                </c:pt>
                <c:pt idx="146">
                  <c:v>2009.083333</c:v>
                </c:pt>
                <c:pt idx="147">
                  <c:v>2009.166667</c:v>
                </c:pt>
                <c:pt idx="148">
                  <c:v>2009.25</c:v>
                </c:pt>
                <c:pt idx="149">
                  <c:v>2009.333333</c:v>
                </c:pt>
                <c:pt idx="150">
                  <c:v>2009.416667</c:v>
                </c:pt>
                <c:pt idx="151">
                  <c:v>2009.5</c:v>
                </c:pt>
                <c:pt idx="152">
                  <c:v>2009.583333</c:v>
                </c:pt>
                <c:pt idx="153">
                  <c:v>2009.666667</c:v>
                </c:pt>
                <c:pt idx="154">
                  <c:v>2009.75</c:v>
                </c:pt>
                <c:pt idx="155">
                  <c:v>2009.833333</c:v>
                </c:pt>
                <c:pt idx="156">
                  <c:v>2009.916667</c:v>
                </c:pt>
                <c:pt idx="157">
                  <c:v>2010</c:v>
                </c:pt>
                <c:pt idx="158">
                  <c:v>2010.083333</c:v>
                </c:pt>
                <c:pt idx="159">
                  <c:v>2010.166667</c:v>
                </c:pt>
                <c:pt idx="160">
                  <c:v>2010.25</c:v>
                </c:pt>
                <c:pt idx="161">
                  <c:v>2010.333333</c:v>
                </c:pt>
                <c:pt idx="162">
                  <c:v>2010.416667</c:v>
                </c:pt>
                <c:pt idx="163">
                  <c:v>2010.5</c:v>
                </c:pt>
                <c:pt idx="164">
                  <c:v>2010.583333</c:v>
                </c:pt>
                <c:pt idx="165">
                  <c:v>2010.666667</c:v>
                </c:pt>
                <c:pt idx="166">
                  <c:v>2010.75</c:v>
                </c:pt>
                <c:pt idx="167">
                  <c:v>2010.833333</c:v>
                </c:pt>
                <c:pt idx="168">
                  <c:v>2010.916667</c:v>
                </c:pt>
                <c:pt idx="169">
                  <c:v>2011</c:v>
                </c:pt>
                <c:pt idx="170">
                  <c:v>2011.083333</c:v>
                </c:pt>
                <c:pt idx="171">
                  <c:v>2011.166667</c:v>
                </c:pt>
                <c:pt idx="172">
                  <c:v>2011.25</c:v>
                </c:pt>
                <c:pt idx="173">
                  <c:v>2011.333333</c:v>
                </c:pt>
                <c:pt idx="174">
                  <c:v>2011.416667</c:v>
                </c:pt>
                <c:pt idx="175">
                  <c:v>2011.5</c:v>
                </c:pt>
                <c:pt idx="176">
                  <c:v>2011.583333</c:v>
                </c:pt>
                <c:pt idx="177">
                  <c:v>2011.666667</c:v>
                </c:pt>
                <c:pt idx="178">
                  <c:v>2011.75</c:v>
                </c:pt>
                <c:pt idx="179">
                  <c:v>2011.833333</c:v>
                </c:pt>
                <c:pt idx="180">
                  <c:v>2011.916667</c:v>
                </c:pt>
                <c:pt idx="181">
                  <c:v>2012</c:v>
                </c:pt>
                <c:pt idx="182">
                  <c:v>2012.083333</c:v>
                </c:pt>
                <c:pt idx="183">
                  <c:v>2012.166667</c:v>
                </c:pt>
                <c:pt idx="184">
                  <c:v>2012.25</c:v>
                </c:pt>
                <c:pt idx="185">
                  <c:v>2012.333333</c:v>
                </c:pt>
                <c:pt idx="186">
                  <c:v>2012.416667</c:v>
                </c:pt>
                <c:pt idx="187">
                  <c:v>2012.5</c:v>
                </c:pt>
                <c:pt idx="188">
                  <c:v>2012.583333</c:v>
                </c:pt>
                <c:pt idx="189">
                  <c:v>2012.666667</c:v>
                </c:pt>
                <c:pt idx="190">
                  <c:v>2012.75</c:v>
                </c:pt>
                <c:pt idx="191">
                  <c:v>2012.833333</c:v>
                </c:pt>
                <c:pt idx="192">
                  <c:v>2012.916667</c:v>
                </c:pt>
                <c:pt idx="193">
                  <c:v>2013</c:v>
                </c:pt>
                <c:pt idx="194">
                  <c:v>2013.083333</c:v>
                </c:pt>
                <c:pt idx="195">
                  <c:v>2013.166667</c:v>
                </c:pt>
                <c:pt idx="196">
                  <c:v>2013.25</c:v>
                </c:pt>
                <c:pt idx="197">
                  <c:v>2013.333333</c:v>
                </c:pt>
                <c:pt idx="198">
                  <c:v>2013.416667</c:v>
                </c:pt>
                <c:pt idx="199">
                  <c:v>2013.5</c:v>
                </c:pt>
                <c:pt idx="200">
                  <c:v>2013.583333</c:v>
                </c:pt>
                <c:pt idx="201">
                  <c:v>2013.666667</c:v>
                </c:pt>
                <c:pt idx="202">
                  <c:v>2013.75</c:v>
                </c:pt>
                <c:pt idx="203">
                  <c:v>2013.833333</c:v>
                </c:pt>
                <c:pt idx="204">
                  <c:v>2013.916667</c:v>
                </c:pt>
                <c:pt idx="205">
                  <c:v>2014</c:v>
                </c:pt>
                <c:pt idx="206">
                  <c:v>2014.083333</c:v>
                </c:pt>
                <c:pt idx="207">
                  <c:v>2014.166667</c:v>
                </c:pt>
                <c:pt idx="208">
                  <c:v>2014.25</c:v>
                </c:pt>
                <c:pt idx="209">
                  <c:v>2014.333333</c:v>
                </c:pt>
                <c:pt idx="210">
                  <c:v>2014.416667</c:v>
                </c:pt>
                <c:pt idx="211">
                  <c:v>2014.5</c:v>
                </c:pt>
                <c:pt idx="212">
                  <c:v>2014.583333</c:v>
                </c:pt>
                <c:pt idx="213">
                  <c:v>2014.666667</c:v>
                </c:pt>
                <c:pt idx="214">
                  <c:v>2014.75</c:v>
                </c:pt>
                <c:pt idx="215">
                  <c:v>2014.833333</c:v>
                </c:pt>
                <c:pt idx="216">
                  <c:v>2014.916667</c:v>
                </c:pt>
                <c:pt idx="217">
                  <c:v>2015</c:v>
                </c:pt>
                <c:pt idx="218">
                  <c:v>2015.083333</c:v>
                </c:pt>
                <c:pt idx="219">
                  <c:v>2015.166667</c:v>
                </c:pt>
                <c:pt idx="220">
                  <c:v>2015.25</c:v>
                </c:pt>
                <c:pt idx="221">
                  <c:v>2015.333333</c:v>
                </c:pt>
                <c:pt idx="222">
                  <c:v>2015.416667</c:v>
                </c:pt>
                <c:pt idx="223">
                  <c:v>2015.5</c:v>
                </c:pt>
                <c:pt idx="224">
                  <c:v>2015.583333</c:v>
                </c:pt>
                <c:pt idx="225">
                  <c:v>2015.666667</c:v>
                </c:pt>
                <c:pt idx="226">
                  <c:v>2015.75</c:v>
                </c:pt>
                <c:pt idx="227">
                  <c:v>2015.833333</c:v>
                </c:pt>
                <c:pt idx="228">
                  <c:v>2015.916667</c:v>
                </c:pt>
                <c:pt idx="229">
                  <c:v>2016</c:v>
                </c:pt>
                <c:pt idx="230">
                  <c:v>2016.083333</c:v>
                </c:pt>
                <c:pt idx="231">
                  <c:v>2016.166667</c:v>
                </c:pt>
                <c:pt idx="232">
                  <c:v>2016.25</c:v>
                </c:pt>
                <c:pt idx="233">
                  <c:v>2016.333333</c:v>
                </c:pt>
                <c:pt idx="234">
                  <c:v>2016.416667</c:v>
                </c:pt>
                <c:pt idx="235">
                  <c:v>2016.5</c:v>
                </c:pt>
                <c:pt idx="236">
                  <c:v>2016.583333</c:v>
                </c:pt>
                <c:pt idx="237">
                  <c:v>2016.666667</c:v>
                </c:pt>
                <c:pt idx="238">
                  <c:v>2016.75</c:v>
                </c:pt>
                <c:pt idx="239">
                  <c:v>2016.833333</c:v>
                </c:pt>
                <c:pt idx="240">
                  <c:v>2016.916667</c:v>
                </c:pt>
              </c:numCache>
            </c:numRef>
          </c:xVal>
          <c:yVal>
            <c:numRef>
              <c:f>'Chart Data'!$H$2:$H$242</c:f>
              <c:numCache>
                <c:formatCode>0.000</c:formatCode>
                <c:ptCount val="241"/>
                <c:pt idx="0">
                  <c:v>1.83391487</c:v>
                </c:pt>
                <c:pt idx="1">
                  <c:v>1.69011561</c:v>
                </c:pt>
                <c:pt idx="2">
                  <c:v>1.93229499</c:v>
                </c:pt>
                <c:pt idx="3">
                  <c:v>1.94612021</c:v>
                </c:pt>
                <c:pt idx="4">
                  <c:v>1.90076344</c:v>
                </c:pt>
                <c:pt idx="5">
                  <c:v>1.96621034</c:v>
                </c:pt>
                <c:pt idx="6">
                  <c:v>2.01531798</c:v>
                </c:pt>
                <c:pt idx="7">
                  <c:v>2.00846603</c:v>
                </c:pt>
                <c:pt idx="8">
                  <c:v>1.92030022</c:v>
                </c:pt>
                <c:pt idx="9">
                  <c:v>1.83861221</c:v>
                </c:pt>
                <c:pt idx="10">
                  <c:v>1.80934663</c:v>
                </c:pt>
                <c:pt idx="11">
                  <c:v>1.84710084</c:v>
                </c:pt>
                <c:pt idx="12">
                  <c:v>1.86222647</c:v>
                </c:pt>
                <c:pt idx="13">
                  <c:v>1.71817768</c:v>
                </c:pt>
                <c:pt idx="14">
                  <c:v>1.7867534</c:v>
                </c:pt>
                <c:pt idx="15">
                  <c:v>1.77732057</c:v>
                </c:pt>
                <c:pt idx="16">
                  <c:v>1.72989809</c:v>
                </c:pt>
                <c:pt idx="17">
                  <c:v>1.83218269</c:v>
                </c:pt>
                <c:pt idx="18">
                  <c:v>1.87332244</c:v>
                </c:pt>
                <c:pt idx="19">
                  <c:v>1.87099309</c:v>
                </c:pt>
                <c:pt idx="20">
                  <c:v>1.75411751</c:v>
                </c:pt>
                <c:pt idx="21">
                  <c:v>1.75172181</c:v>
                </c:pt>
                <c:pt idx="22">
                  <c:v>1.75965984</c:v>
                </c:pt>
                <c:pt idx="23">
                  <c:v>1.89843367</c:v>
                </c:pt>
                <c:pt idx="24">
                  <c:v>1.84832443</c:v>
                </c:pt>
                <c:pt idx="25">
                  <c:v>1.68895432</c:v>
                </c:pt>
                <c:pt idx="26">
                  <c:v>1.80230327</c:v>
                </c:pt>
                <c:pt idx="27">
                  <c:v>1.74210861</c:v>
                </c:pt>
                <c:pt idx="28">
                  <c:v>1.75195248</c:v>
                </c:pt>
                <c:pt idx="29">
                  <c:v>1.76030383</c:v>
                </c:pt>
                <c:pt idx="30">
                  <c:v>1.78333506</c:v>
                </c:pt>
                <c:pt idx="31">
                  <c:v>1.74433458</c:v>
                </c:pt>
                <c:pt idx="32">
                  <c:v>1.65906796</c:v>
                </c:pt>
                <c:pt idx="33">
                  <c:v>1.69151246</c:v>
                </c:pt>
                <c:pt idx="34">
                  <c:v>1.63651129</c:v>
                </c:pt>
                <c:pt idx="35">
                  <c:v>1.61073087</c:v>
                </c:pt>
                <c:pt idx="36">
                  <c:v>1.54248401</c:v>
                </c:pt>
                <c:pt idx="37">
                  <c:v>1.58882738</c:v>
                </c:pt>
                <c:pt idx="38">
                  <c:v>1.29688236</c:v>
                </c:pt>
                <c:pt idx="39">
                  <c:v>1.31652842</c:v>
                </c:pt>
                <c:pt idx="40">
                  <c:v>1.27000379</c:v>
                </c:pt>
                <c:pt idx="41">
                  <c:v>1.31926335</c:v>
                </c:pt>
                <c:pt idx="42">
                  <c:v>1.2970011</c:v>
                </c:pt>
                <c:pt idx="43">
                  <c:v>1.37126245</c:v>
                </c:pt>
                <c:pt idx="44">
                  <c:v>1.42325629</c:v>
                </c:pt>
                <c:pt idx="45">
                  <c:v>1.52602031</c:v>
                </c:pt>
                <c:pt idx="46">
                  <c:v>1.48836448</c:v>
                </c:pt>
                <c:pt idx="47">
                  <c:v>1.50092444</c:v>
                </c:pt>
                <c:pt idx="48">
                  <c:v>1.50209178</c:v>
                </c:pt>
                <c:pt idx="49">
                  <c:v>0.79602031</c:v>
                </c:pt>
                <c:pt idx="50">
                  <c:v>0.9154016</c:v>
                </c:pt>
                <c:pt idx="51">
                  <c:v>0.98955373</c:v>
                </c:pt>
                <c:pt idx="52">
                  <c:v>1.05076452</c:v>
                </c:pt>
                <c:pt idx="53">
                  <c:v>1.15225896</c:v>
                </c:pt>
                <c:pt idx="54">
                  <c:v>1.14680764</c:v>
                </c:pt>
                <c:pt idx="55">
                  <c:v>1.18023527</c:v>
                </c:pt>
                <c:pt idx="56">
                  <c:v>1.23281467</c:v>
                </c:pt>
                <c:pt idx="57">
                  <c:v>1.29775514</c:v>
                </c:pt>
                <c:pt idx="58">
                  <c:v>1.1003839</c:v>
                </c:pt>
                <c:pt idx="59">
                  <c:v>0.95485834</c:v>
                </c:pt>
                <c:pt idx="60">
                  <c:v>0.91674466</c:v>
                </c:pt>
                <c:pt idx="61">
                  <c:v>1.00917006</c:v>
                </c:pt>
                <c:pt idx="62">
                  <c:v>1.05158453</c:v>
                </c:pt>
                <c:pt idx="63">
                  <c:v>1.04293792</c:v>
                </c:pt>
                <c:pt idx="64">
                  <c:v>1.12194967</c:v>
                </c:pt>
                <c:pt idx="65">
                  <c:v>1.12459053</c:v>
                </c:pt>
                <c:pt idx="66">
                  <c:v>1.17509132</c:v>
                </c:pt>
                <c:pt idx="67">
                  <c:v>1.23243754</c:v>
                </c:pt>
                <c:pt idx="68">
                  <c:v>1.25590284</c:v>
                </c:pt>
                <c:pt idx="69">
                  <c:v>1.28413531</c:v>
                </c:pt>
                <c:pt idx="70">
                  <c:v>1.22008902</c:v>
                </c:pt>
                <c:pt idx="71">
                  <c:v>1.01236717</c:v>
                </c:pt>
                <c:pt idx="72">
                  <c:v>1.02246022</c:v>
                </c:pt>
                <c:pt idx="73">
                  <c:v>1.04492464</c:v>
                </c:pt>
                <c:pt idx="74">
                  <c:v>1.01301542</c:v>
                </c:pt>
                <c:pt idx="75">
                  <c:v>0.98901833</c:v>
                </c:pt>
                <c:pt idx="76">
                  <c:v>1.01309435</c:v>
                </c:pt>
                <c:pt idx="77">
                  <c:v>0.97111445</c:v>
                </c:pt>
                <c:pt idx="78">
                  <c:v>0.96308221</c:v>
                </c:pt>
                <c:pt idx="79">
                  <c:v>0.98593311</c:v>
                </c:pt>
                <c:pt idx="80">
                  <c:v>0.9805886</c:v>
                </c:pt>
                <c:pt idx="81">
                  <c:v>1.00523573</c:v>
                </c:pt>
                <c:pt idx="82">
                  <c:v>1.05133126</c:v>
                </c:pt>
                <c:pt idx="83">
                  <c:v>1.01541362</c:v>
                </c:pt>
                <c:pt idx="84">
                  <c:v>1.04005367</c:v>
                </c:pt>
                <c:pt idx="85">
                  <c:v>1.11705666</c:v>
                </c:pt>
                <c:pt idx="86">
                  <c:v>1.14954817</c:v>
                </c:pt>
                <c:pt idx="87">
                  <c:v>1.19490255</c:v>
                </c:pt>
                <c:pt idx="88">
                  <c:v>1.17806239</c:v>
                </c:pt>
                <c:pt idx="89">
                  <c:v>1.18024006</c:v>
                </c:pt>
                <c:pt idx="90">
                  <c:v>1.17759241</c:v>
                </c:pt>
                <c:pt idx="91">
                  <c:v>1.19293972</c:v>
                </c:pt>
                <c:pt idx="92">
                  <c:v>1.21841448</c:v>
                </c:pt>
                <c:pt idx="93">
                  <c:v>1.26550506</c:v>
                </c:pt>
                <c:pt idx="94">
                  <c:v>1.28297208</c:v>
                </c:pt>
                <c:pt idx="95">
                  <c:v>1.29771153</c:v>
                </c:pt>
                <c:pt idx="96">
                  <c:v>1.31524194</c:v>
                </c:pt>
                <c:pt idx="97">
                  <c:v>1.32530692</c:v>
                </c:pt>
                <c:pt idx="98">
                  <c:v>1.45458271</c:v>
                </c:pt>
                <c:pt idx="99">
                  <c:v>1.38996298</c:v>
                </c:pt>
                <c:pt idx="100">
                  <c:v>1.38159198</c:v>
                </c:pt>
                <c:pt idx="101">
                  <c:v>1.34886838</c:v>
                </c:pt>
                <c:pt idx="102">
                  <c:v>1.36080197</c:v>
                </c:pt>
                <c:pt idx="103">
                  <c:v>1.3173099</c:v>
                </c:pt>
                <c:pt idx="104">
                  <c:v>1.28679099</c:v>
                </c:pt>
                <c:pt idx="105">
                  <c:v>1.22910517</c:v>
                </c:pt>
                <c:pt idx="106">
                  <c:v>1.20806073</c:v>
                </c:pt>
                <c:pt idx="107">
                  <c:v>1.18929929</c:v>
                </c:pt>
                <c:pt idx="108">
                  <c:v>1.10474288</c:v>
                </c:pt>
                <c:pt idx="109">
                  <c:v>1.69332713</c:v>
                </c:pt>
                <c:pt idx="110">
                  <c:v>1.64116064</c:v>
                </c:pt>
                <c:pt idx="111">
                  <c:v>1.59532004</c:v>
                </c:pt>
                <c:pt idx="112">
                  <c:v>1.58295395</c:v>
                </c:pt>
                <c:pt idx="113">
                  <c:v>1.46871524</c:v>
                </c:pt>
                <c:pt idx="114">
                  <c:v>1.47108879</c:v>
                </c:pt>
                <c:pt idx="115">
                  <c:v>1.40740731</c:v>
                </c:pt>
                <c:pt idx="116">
                  <c:v>1.36298964</c:v>
                </c:pt>
                <c:pt idx="117">
                  <c:v>1.30227625</c:v>
                </c:pt>
                <c:pt idx="118">
                  <c:v>1.56952682</c:v>
                </c:pt>
                <c:pt idx="119">
                  <c:v>1.79355486</c:v>
                </c:pt>
                <c:pt idx="120">
                  <c:v>1.81720777</c:v>
                </c:pt>
                <c:pt idx="121">
                  <c:v>1.75210138</c:v>
                </c:pt>
                <c:pt idx="122">
                  <c:v>1.69451994</c:v>
                </c:pt>
                <c:pt idx="123">
                  <c:v>1.72034955</c:v>
                </c:pt>
                <c:pt idx="124">
                  <c:v>1.71033151</c:v>
                </c:pt>
                <c:pt idx="125">
                  <c:v>1.72273328</c:v>
                </c:pt>
                <c:pt idx="126">
                  <c:v>1.61689847</c:v>
                </c:pt>
                <c:pt idx="127">
                  <c:v>1.48427152</c:v>
                </c:pt>
                <c:pt idx="128">
                  <c:v>1.52728195</c:v>
                </c:pt>
                <c:pt idx="129">
                  <c:v>1.55023584</c:v>
                </c:pt>
                <c:pt idx="130">
                  <c:v>1.83477036</c:v>
                </c:pt>
                <c:pt idx="131">
                  <c:v>2.81639712</c:v>
                </c:pt>
                <c:pt idx="132">
                  <c:v>2.94939275</c:v>
                </c:pt>
                <c:pt idx="133">
                  <c:v>2.69557297</c:v>
                </c:pt>
                <c:pt idx="134">
                  <c:v>2.81992784</c:v>
                </c:pt>
                <c:pt idx="135">
                  <c:v>2.84121261</c:v>
                </c:pt>
                <c:pt idx="136">
                  <c:v>2.90560062</c:v>
                </c:pt>
                <c:pt idx="137">
                  <c:v>3.09945045</c:v>
                </c:pt>
                <c:pt idx="138">
                  <c:v>2.71304464</c:v>
                </c:pt>
                <c:pt idx="139">
                  <c:v>2.69258105</c:v>
                </c:pt>
                <c:pt idx="140">
                  <c:v>2.84279815</c:v>
                </c:pt>
                <c:pt idx="141">
                  <c:v>2.80493544</c:v>
                </c:pt>
                <c:pt idx="142">
                  <c:v>1.96804521</c:v>
                </c:pt>
                <c:pt idx="143">
                  <c:v>1.8525564</c:v>
                </c:pt>
                <c:pt idx="144">
                  <c:v>1.85368369</c:v>
                </c:pt>
                <c:pt idx="145">
                  <c:v>1.41760938</c:v>
                </c:pt>
                <c:pt idx="146">
                  <c:v>1.09542192</c:v>
                </c:pt>
                <c:pt idx="147">
                  <c:v>1.02927329</c:v>
                </c:pt>
                <c:pt idx="148">
                  <c:v>0.79489568</c:v>
                </c:pt>
                <c:pt idx="149">
                  <c:v>0.82862957</c:v>
                </c:pt>
                <c:pt idx="150">
                  <c:v>0.78523677</c:v>
                </c:pt>
                <c:pt idx="151">
                  <c:v>0.78003833</c:v>
                </c:pt>
                <c:pt idx="152">
                  <c:v>0.51273469</c:v>
                </c:pt>
                <c:pt idx="153">
                  <c:v>0.48429527</c:v>
                </c:pt>
                <c:pt idx="154">
                  <c:v>0.50759031</c:v>
                </c:pt>
                <c:pt idx="155">
                  <c:v>0.52754838</c:v>
                </c:pt>
                <c:pt idx="156">
                  <c:v>0.55426131</c:v>
                </c:pt>
                <c:pt idx="157">
                  <c:v>0.4474591</c:v>
                </c:pt>
                <c:pt idx="158">
                  <c:v>0.42282525</c:v>
                </c:pt>
                <c:pt idx="159">
                  <c:v>0.41805058</c:v>
                </c:pt>
                <c:pt idx="160">
                  <c:v>0.32715194</c:v>
                </c:pt>
                <c:pt idx="161">
                  <c:v>0.2847923</c:v>
                </c:pt>
                <c:pt idx="162">
                  <c:v>0.26208722</c:v>
                </c:pt>
                <c:pt idx="163">
                  <c:v>0.26026051</c:v>
                </c:pt>
                <c:pt idx="164">
                  <c:v>0.24732201</c:v>
                </c:pt>
                <c:pt idx="165">
                  <c:v>0.32852114</c:v>
                </c:pt>
                <c:pt idx="166">
                  <c:v>0.36632554</c:v>
                </c:pt>
                <c:pt idx="167">
                  <c:v>0.31258078</c:v>
                </c:pt>
                <c:pt idx="168">
                  <c:v>0.32503615</c:v>
                </c:pt>
                <c:pt idx="169">
                  <c:v>0.26163467</c:v>
                </c:pt>
                <c:pt idx="170">
                  <c:v>0.18587306</c:v>
                </c:pt>
                <c:pt idx="171">
                  <c:v>0.18826117</c:v>
                </c:pt>
                <c:pt idx="172">
                  <c:v>0.214873</c:v>
                </c:pt>
                <c:pt idx="173">
                  <c:v>0.27037523</c:v>
                </c:pt>
                <c:pt idx="174">
                  <c:v>0.27523077</c:v>
                </c:pt>
                <c:pt idx="175">
                  <c:v>0.23303709</c:v>
                </c:pt>
                <c:pt idx="176">
                  <c:v>0.22241358</c:v>
                </c:pt>
                <c:pt idx="177">
                  <c:v>0.20848376</c:v>
                </c:pt>
                <c:pt idx="178">
                  <c:v>0.24707622</c:v>
                </c:pt>
                <c:pt idx="179">
                  <c:v>0.3159731</c:v>
                </c:pt>
                <c:pt idx="180">
                  <c:v>0.2987505</c:v>
                </c:pt>
                <c:pt idx="181">
                  <c:v>0.30571586</c:v>
                </c:pt>
                <c:pt idx="182">
                  <c:v>0.2777791</c:v>
                </c:pt>
                <c:pt idx="183">
                  <c:v>0.25733453</c:v>
                </c:pt>
                <c:pt idx="184">
                  <c:v>0.22987561</c:v>
                </c:pt>
                <c:pt idx="185">
                  <c:v>0.15760392</c:v>
                </c:pt>
                <c:pt idx="186">
                  <c:v>0.23159099</c:v>
                </c:pt>
                <c:pt idx="187">
                  <c:v>0.30023411</c:v>
                </c:pt>
                <c:pt idx="188">
                  <c:v>0.26623398</c:v>
                </c:pt>
                <c:pt idx="189">
                  <c:v>0.21759964</c:v>
                </c:pt>
                <c:pt idx="190">
                  <c:v>0.21067626</c:v>
                </c:pt>
                <c:pt idx="191">
                  <c:v>0.23526511</c:v>
                </c:pt>
                <c:pt idx="192">
                  <c:v>0.19112547</c:v>
                </c:pt>
                <c:pt idx="193">
                  <c:v>0.28125404</c:v>
                </c:pt>
                <c:pt idx="194">
                  <c:v>0.25466687</c:v>
                </c:pt>
                <c:pt idx="195">
                  <c:v>0.23357172</c:v>
                </c:pt>
                <c:pt idx="196">
                  <c:v>0.18811326</c:v>
                </c:pt>
                <c:pt idx="197">
                  <c:v>0.10014651</c:v>
                </c:pt>
                <c:pt idx="198">
                  <c:v>0.2005168</c:v>
                </c:pt>
                <c:pt idx="199">
                  <c:v>0.05393662</c:v>
                </c:pt>
                <c:pt idx="200">
                  <c:v>0.01032696</c:v>
                </c:pt>
                <c:pt idx="201">
                  <c:v>0.00329103</c:v>
                </c:pt>
                <c:pt idx="202">
                  <c:v>0.20292265</c:v>
                </c:pt>
                <c:pt idx="203">
                  <c:v>0.29284883</c:v>
                </c:pt>
                <c:pt idx="204">
                  <c:v>0.22219156</c:v>
                </c:pt>
                <c:pt idx="205">
                  <c:v>0.31157439</c:v>
                </c:pt>
                <c:pt idx="206">
                  <c:v>0.46535923</c:v>
                </c:pt>
                <c:pt idx="207">
                  <c:v>0.55785095</c:v>
                </c:pt>
                <c:pt idx="208">
                  <c:v>0.84800847</c:v>
                </c:pt>
                <c:pt idx="209">
                  <c:v>0.8591458</c:v>
                </c:pt>
                <c:pt idx="210">
                  <c:v>0.8713081</c:v>
                </c:pt>
                <c:pt idx="211">
                  <c:v>0.89414692</c:v>
                </c:pt>
                <c:pt idx="212">
                  <c:v>1.3665119</c:v>
                </c:pt>
                <c:pt idx="213">
                  <c:v>1.33453329</c:v>
                </c:pt>
                <c:pt idx="214">
                  <c:v>1.37003837</c:v>
                </c:pt>
                <c:pt idx="215">
                  <c:v>1.37596174</c:v>
                </c:pt>
                <c:pt idx="216">
                  <c:v>1.37520209</c:v>
                </c:pt>
                <c:pt idx="217">
                  <c:v>1.56623819</c:v>
                </c:pt>
                <c:pt idx="218">
                  <c:v>1.49326486</c:v>
                </c:pt>
                <c:pt idx="219">
                  <c:v>1.58377675</c:v>
                </c:pt>
                <c:pt idx="220">
                  <c:v>1.67409801</c:v>
                </c:pt>
                <c:pt idx="221">
                  <c:v>1.86454811</c:v>
                </c:pt>
                <c:pt idx="222">
                  <c:v>1.89861838</c:v>
                </c:pt>
                <c:pt idx="223">
                  <c:v>1.92748</c:v>
                </c:pt>
                <c:pt idx="224">
                  <c:v>1.85148875</c:v>
                </c:pt>
                <c:pt idx="225">
                  <c:v>1.83955242</c:v>
                </c:pt>
                <c:pt idx="226">
                  <c:v>1.84632696</c:v>
                </c:pt>
                <c:pt idx="227">
                  <c:v>1.92802198</c:v>
                </c:pt>
                <c:pt idx="228">
                  <c:v>1.95242612</c:v>
                </c:pt>
                <c:pt idx="229">
                  <c:v>2.08288219</c:v>
                </c:pt>
                <c:pt idx="230">
                  <c:v>2.17709198</c:v>
                </c:pt>
                <c:pt idx="231">
                  <c:v>1.95815162</c:v>
                </c:pt>
                <c:pt idx="232">
                  <c:v>1.36610294</c:v>
                </c:pt>
                <c:pt idx="233">
                  <c:v>1.43703546</c:v>
                </c:pt>
                <c:pt idx="234">
                  <c:v>1.38126108</c:v>
                </c:pt>
                <c:pt idx="235">
                  <c:v>1.33398668</c:v>
                </c:pt>
                <c:pt idx="236">
                  <c:v>1.26945233</c:v>
                </c:pt>
                <c:pt idx="237">
                  <c:v>1.24092052</c:v>
                </c:pt>
                <c:pt idx="238">
                  <c:v>1.20646159</c:v>
                </c:pt>
                <c:pt idx="239">
                  <c:v>1.10605691</c:v>
                </c:pt>
                <c:pt idx="240">
                  <c:v>1.09524245</c:v>
                </c:pt>
              </c:numCache>
            </c:numRef>
          </c:yVal>
        </c:ser>
        <c:ser>
          <c:idx val="4"/>
          <c:order val="4"/>
          <c:tx>
            <c:v>50/50 blend</c:v>
          </c:tx>
          <c:spPr>
            <a:solidFill xmlns:a="http://schemas.openxmlformats.org/drawingml/2006/main">
              <a:srgbClr val="16816B"/>
            </a:solidFill>
            <a:ln xmlns:a="http://schemas.openxmlformats.org/drawingml/2006/main" w="20003">
              <a:solidFill>
                <a:srgbClr val="16816B"/>
              </a:solidFill>
            </a:ln>
          </c:spPr>
          <c:marker>
            <c:symbol val="none"/>
          </c:marker>
          <c:xVal>
            <c:numRef>
              <c:f>'Chart Data'!$I$2:$I$242</c:f>
              <c:numCache>
                <c:formatCode>General</c:formatCode>
                <c:ptCount val="241"/>
                <c:pt idx="0">
                  <c:v>1996.916667</c:v>
                </c:pt>
                <c:pt idx="1">
                  <c:v>1997</c:v>
                </c:pt>
                <c:pt idx="2">
                  <c:v>1997.083333</c:v>
                </c:pt>
                <c:pt idx="3">
                  <c:v>1997.166667</c:v>
                </c:pt>
                <c:pt idx="4">
                  <c:v>1997.25</c:v>
                </c:pt>
                <c:pt idx="5">
                  <c:v>1997.333333</c:v>
                </c:pt>
                <c:pt idx="6">
                  <c:v>1997.416667</c:v>
                </c:pt>
                <c:pt idx="7">
                  <c:v>1997.5</c:v>
                </c:pt>
                <c:pt idx="8">
                  <c:v>1997.583333</c:v>
                </c:pt>
                <c:pt idx="9">
                  <c:v>1997.666667</c:v>
                </c:pt>
                <c:pt idx="10">
                  <c:v>1997.75</c:v>
                </c:pt>
                <c:pt idx="11">
                  <c:v>1997.833333</c:v>
                </c:pt>
                <c:pt idx="12">
                  <c:v>1997.916667</c:v>
                </c:pt>
                <c:pt idx="13">
                  <c:v>1998</c:v>
                </c:pt>
                <c:pt idx="14">
                  <c:v>1998.083333</c:v>
                </c:pt>
                <c:pt idx="15">
                  <c:v>1998.166667</c:v>
                </c:pt>
                <c:pt idx="16">
                  <c:v>1998.25</c:v>
                </c:pt>
                <c:pt idx="17">
                  <c:v>1998.333333</c:v>
                </c:pt>
                <c:pt idx="18">
                  <c:v>1998.416667</c:v>
                </c:pt>
                <c:pt idx="19">
                  <c:v>1998.5</c:v>
                </c:pt>
                <c:pt idx="20">
                  <c:v>1998.583333</c:v>
                </c:pt>
                <c:pt idx="21">
                  <c:v>1998.666667</c:v>
                </c:pt>
                <c:pt idx="22">
                  <c:v>1998.75</c:v>
                </c:pt>
                <c:pt idx="23">
                  <c:v>1998.833333</c:v>
                </c:pt>
                <c:pt idx="24">
                  <c:v>1998.916667</c:v>
                </c:pt>
                <c:pt idx="25">
                  <c:v>1999</c:v>
                </c:pt>
                <c:pt idx="26">
                  <c:v>1999.083333</c:v>
                </c:pt>
                <c:pt idx="27">
                  <c:v>1999.166667</c:v>
                </c:pt>
                <c:pt idx="28">
                  <c:v>1999.25</c:v>
                </c:pt>
                <c:pt idx="29">
                  <c:v>1999.333333</c:v>
                </c:pt>
                <c:pt idx="30">
                  <c:v>1999.416667</c:v>
                </c:pt>
                <c:pt idx="31">
                  <c:v>1999.5</c:v>
                </c:pt>
                <c:pt idx="32">
                  <c:v>1999.583333</c:v>
                </c:pt>
                <c:pt idx="33">
                  <c:v>1999.666667</c:v>
                </c:pt>
                <c:pt idx="34">
                  <c:v>1999.75</c:v>
                </c:pt>
                <c:pt idx="35">
                  <c:v>1999.833333</c:v>
                </c:pt>
                <c:pt idx="36">
                  <c:v>1999.916667</c:v>
                </c:pt>
                <c:pt idx="37">
                  <c:v>2000</c:v>
                </c:pt>
                <c:pt idx="38">
                  <c:v>2000.083333</c:v>
                </c:pt>
                <c:pt idx="39">
                  <c:v>2000.166667</c:v>
                </c:pt>
                <c:pt idx="40">
                  <c:v>2000.25</c:v>
                </c:pt>
                <c:pt idx="41">
                  <c:v>2000.333333</c:v>
                </c:pt>
                <c:pt idx="42">
                  <c:v>2000.416667</c:v>
                </c:pt>
                <c:pt idx="43">
                  <c:v>2000.5</c:v>
                </c:pt>
                <c:pt idx="44">
                  <c:v>2000.583333</c:v>
                </c:pt>
                <c:pt idx="45">
                  <c:v>2000.666667</c:v>
                </c:pt>
                <c:pt idx="46">
                  <c:v>2000.75</c:v>
                </c:pt>
                <c:pt idx="47">
                  <c:v>2000.833333</c:v>
                </c:pt>
                <c:pt idx="48">
                  <c:v>2000.916667</c:v>
                </c:pt>
                <c:pt idx="49">
                  <c:v>2001</c:v>
                </c:pt>
                <c:pt idx="50">
                  <c:v>2001.083333</c:v>
                </c:pt>
                <c:pt idx="51">
                  <c:v>2001.166667</c:v>
                </c:pt>
                <c:pt idx="52">
                  <c:v>2001.25</c:v>
                </c:pt>
                <c:pt idx="53">
                  <c:v>2001.333333</c:v>
                </c:pt>
                <c:pt idx="54">
                  <c:v>2001.416667</c:v>
                </c:pt>
                <c:pt idx="55">
                  <c:v>2001.5</c:v>
                </c:pt>
                <c:pt idx="56">
                  <c:v>2001.583333</c:v>
                </c:pt>
                <c:pt idx="57">
                  <c:v>2001.666667</c:v>
                </c:pt>
                <c:pt idx="58">
                  <c:v>2001.75</c:v>
                </c:pt>
                <c:pt idx="59">
                  <c:v>2001.833333</c:v>
                </c:pt>
                <c:pt idx="60">
                  <c:v>2001.916667</c:v>
                </c:pt>
                <c:pt idx="61">
                  <c:v>2002</c:v>
                </c:pt>
                <c:pt idx="62">
                  <c:v>2002.083333</c:v>
                </c:pt>
                <c:pt idx="63">
                  <c:v>2002.166667</c:v>
                </c:pt>
                <c:pt idx="64">
                  <c:v>2002.25</c:v>
                </c:pt>
                <c:pt idx="65">
                  <c:v>2002.333333</c:v>
                </c:pt>
                <c:pt idx="66">
                  <c:v>2002.416667</c:v>
                </c:pt>
                <c:pt idx="67">
                  <c:v>2002.5</c:v>
                </c:pt>
                <c:pt idx="68">
                  <c:v>2002.583333</c:v>
                </c:pt>
                <c:pt idx="69">
                  <c:v>2002.666667</c:v>
                </c:pt>
                <c:pt idx="70">
                  <c:v>2002.75</c:v>
                </c:pt>
                <c:pt idx="71">
                  <c:v>2002.833333</c:v>
                </c:pt>
                <c:pt idx="72">
                  <c:v>2002.916667</c:v>
                </c:pt>
                <c:pt idx="73">
                  <c:v>2003</c:v>
                </c:pt>
                <c:pt idx="74">
                  <c:v>2003.083333</c:v>
                </c:pt>
                <c:pt idx="75">
                  <c:v>2003.166667</c:v>
                </c:pt>
                <c:pt idx="76">
                  <c:v>2003.25</c:v>
                </c:pt>
                <c:pt idx="77">
                  <c:v>2003.333333</c:v>
                </c:pt>
                <c:pt idx="78">
                  <c:v>2003.416667</c:v>
                </c:pt>
                <c:pt idx="79">
                  <c:v>2003.5</c:v>
                </c:pt>
                <c:pt idx="80">
                  <c:v>2003.583333</c:v>
                </c:pt>
                <c:pt idx="81">
                  <c:v>2003.666667</c:v>
                </c:pt>
                <c:pt idx="82">
                  <c:v>2003.75</c:v>
                </c:pt>
                <c:pt idx="83">
                  <c:v>2003.833333</c:v>
                </c:pt>
                <c:pt idx="84">
                  <c:v>2003.916667</c:v>
                </c:pt>
                <c:pt idx="85">
                  <c:v>2004</c:v>
                </c:pt>
                <c:pt idx="86">
                  <c:v>2004.083333</c:v>
                </c:pt>
                <c:pt idx="87">
                  <c:v>2004.166667</c:v>
                </c:pt>
                <c:pt idx="88">
                  <c:v>2004.25</c:v>
                </c:pt>
                <c:pt idx="89">
                  <c:v>2004.333333</c:v>
                </c:pt>
                <c:pt idx="90">
                  <c:v>2004.416667</c:v>
                </c:pt>
                <c:pt idx="91">
                  <c:v>2004.5</c:v>
                </c:pt>
                <c:pt idx="92">
                  <c:v>2004.583333</c:v>
                </c:pt>
                <c:pt idx="93">
                  <c:v>2004.666667</c:v>
                </c:pt>
                <c:pt idx="94">
                  <c:v>2004.75</c:v>
                </c:pt>
                <c:pt idx="95">
                  <c:v>2004.833333</c:v>
                </c:pt>
                <c:pt idx="96">
                  <c:v>2004.916667</c:v>
                </c:pt>
                <c:pt idx="97">
                  <c:v>2005</c:v>
                </c:pt>
                <c:pt idx="98">
                  <c:v>2005.083333</c:v>
                </c:pt>
                <c:pt idx="99">
                  <c:v>2005.166667</c:v>
                </c:pt>
                <c:pt idx="100">
                  <c:v>2005.25</c:v>
                </c:pt>
                <c:pt idx="101">
                  <c:v>2005.333333</c:v>
                </c:pt>
                <c:pt idx="102">
                  <c:v>2005.416667</c:v>
                </c:pt>
                <c:pt idx="103">
                  <c:v>2005.5</c:v>
                </c:pt>
                <c:pt idx="104">
                  <c:v>2005.583333</c:v>
                </c:pt>
                <c:pt idx="105">
                  <c:v>2005.666667</c:v>
                </c:pt>
                <c:pt idx="106">
                  <c:v>2005.75</c:v>
                </c:pt>
                <c:pt idx="107">
                  <c:v>2005.833333</c:v>
                </c:pt>
                <c:pt idx="108">
                  <c:v>2005.916667</c:v>
                </c:pt>
                <c:pt idx="109">
                  <c:v>2006</c:v>
                </c:pt>
                <c:pt idx="110">
                  <c:v>2006.083333</c:v>
                </c:pt>
                <c:pt idx="111">
                  <c:v>2006.166667</c:v>
                </c:pt>
                <c:pt idx="112">
                  <c:v>2006.25</c:v>
                </c:pt>
                <c:pt idx="113">
                  <c:v>2006.333333</c:v>
                </c:pt>
                <c:pt idx="114">
                  <c:v>2006.416667</c:v>
                </c:pt>
                <c:pt idx="115">
                  <c:v>2006.5</c:v>
                </c:pt>
                <c:pt idx="116">
                  <c:v>2006.583333</c:v>
                </c:pt>
                <c:pt idx="117">
                  <c:v>2006.666667</c:v>
                </c:pt>
                <c:pt idx="118">
                  <c:v>2006.75</c:v>
                </c:pt>
                <c:pt idx="119">
                  <c:v>2006.833333</c:v>
                </c:pt>
                <c:pt idx="120">
                  <c:v>2006.916667</c:v>
                </c:pt>
                <c:pt idx="121">
                  <c:v>2007</c:v>
                </c:pt>
                <c:pt idx="122">
                  <c:v>2007.083333</c:v>
                </c:pt>
                <c:pt idx="123">
                  <c:v>2007.166667</c:v>
                </c:pt>
                <c:pt idx="124">
                  <c:v>2007.25</c:v>
                </c:pt>
                <c:pt idx="125">
                  <c:v>2007.333333</c:v>
                </c:pt>
                <c:pt idx="126">
                  <c:v>2007.416667</c:v>
                </c:pt>
                <c:pt idx="127">
                  <c:v>2007.5</c:v>
                </c:pt>
                <c:pt idx="128">
                  <c:v>2007.583333</c:v>
                </c:pt>
                <c:pt idx="129">
                  <c:v>2007.666667</c:v>
                </c:pt>
                <c:pt idx="130">
                  <c:v>2007.75</c:v>
                </c:pt>
                <c:pt idx="131">
                  <c:v>2007.833333</c:v>
                </c:pt>
                <c:pt idx="132">
                  <c:v>2007.916667</c:v>
                </c:pt>
                <c:pt idx="133">
                  <c:v>2008</c:v>
                </c:pt>
                <c:pt idx="134">
                  <c:v>2008.083333</c:v>
                </c:pt>
                <c:pt idx="135">
                  <c:v>2008.166667</c:v>
                </c:pt>
                <c:pt idx="136">
                  <c:v>2008.25</c:v>
                </c:pt>
                <c:pt idx="137">
                  <c:v>2008.333333</c:v>
                </c:pt>
                <c:pt idx="138">
                  <c:v>2008.416667</c:v>
                </c:pt>
                <c:pt idx="139">
                  <c:v>2008.5</c:v>
                </c:pt>
                <c:pt idx="140">
                  <c:v>2008.583333</c:v>
                </c:pt>
                <c:pt idx="141">
                  <c:v>2008.666667</c:v>
                </c:pt>
                <c:pt idx="142">
                  <c:v>2008.75</c:v>
                </c:pt>
                <c:pt idx="143">
                  <c:v>2008.833333</c:v>
                </c:pt>
                <c:pt idx="144">
                  <c:v>2008.916667</c:v>
                </c:pt>
                <c:pt idx="145">
                  <c:v>2009</c:v>
                </c:pt>
                <c:pt idx="146">
                  <c:v>2009.083333</c:v>
                </c:pt>
                <c:pt idx="147">
                  <c:v>2009.166667</c:v>
                </c:pt>
                <c:pt idx="148">
                  <c:v>2009.25</c:v>
                </c:pt>
                <c:pt idx="149">
                  <c:v>2009.333333</c:v>
                </c:pt>
                <c:pt idx="150">
                  <c:v>2009.416667</c:v>
                </c:pt>
                <c:pt idx="151">
                  <c:v>2009.5</c:v>
                </c:pt>
                <c:pt idx="152">
                  <c:v>2009.583333</c:v>
                </c:pt>
                <c:pt idx="153">
                  <c:v>2009.666667</c:v>
                </c:pt>
                <c:pt idx="154">
                  <c:v>2009.75</c:v>
                </c:pt>
                <c:pt idx="155">
                  <c:v>2009.833333</c:v>
                </c:pt>
                <c:pt idx="156">
                  <c:v>2009.916667</c:v>
                </c:pt>
                <c:pt idx="157">
                  <c:v>2010</c:v>
                </c:pt>
                <c:pt idx="158">
                  <c:v>2010.083333</c:v>
                </c:pt>
                <c:pt idx="159">
                  <c:v>2010.166667</c:v>
                </c:pt>
                <c:pt idx="160">
                  <c:v>2010.25</c:v>
                </c:pt>
                <c:pt idx="161">
                  <c:v>2010.333333</c:v>
                </c:pt>
                <c:pt idx="162">
                  <c:v>2010.416667</c:v>
                </c:pt>
                <c:pt idx="163">
                  <c:v>2010.5</c:v>
                </c:pt>
                <c:pt idx="164">
                  <c:v>2010.583333</c:v>
                </c:pt>
                <c:pt idx="165">
                  <c:v>2010.666667</c:v>
                </c:pt>
                <c:pt idx="166">
                  <c:v>2010.75</c:v>
                </c:pt>
                <c:pt idx="167">
                  <c:v>2010.833333</c:v>
                </c:pt>
                <c:pt idx="168">
                  <c:v>2010.916667</c:v>
                </c:pt>
                <c:pt idx="169">
                  <c:v>2011</c:v>
                </c:pt>
                <c:pt idx="170">
                  <c:v>2011.083333</c:v>
                </c:pt>
                <c:pt idx="171">
                  <c:v>2011.166667</c:v>
                </c:pt>
                <c:pt idx="172">
                  <c:v>2011.25</c:v>
                </c:pt>
                <c:pt idx="173">
                  <c:v>2011.333333</c:v>
                </c:pt>
                <c:pt idx="174">
                  <c:v>2011.416667</c:v>
                </c:pt>
                <c:pt idx="175">
                  <c:v>2011.5</c:v>
                </c:pt>
                <c:pt idx="176">
                  <c:v>2011.583333</c:v>
                </c:pt>
                <c:pt idx="177">
                  <c:v>2011.666667</c:v>
                </c:pt>
                <c:pt idx="178">
                  <c:v>2011.75</c:v>
                </c:pt>
                <c:pt idx="179">
                  <c:v>2011.833333</c:v>
                </c:pt>
                <c:pt idx="180">
                  <c:v>2011.916667</c:v>
                </c:pt>
                <c:pt idx="181">
                  <c:v>2012</c:v>
                </c:pt>
                <c:pt idx="182">
                  <c:v>2012.083333</c:v>
                </c:pt>
                <c:pt idx="183">
                  <c:v>2012.166667</c:v>
                </c:pt>
                <c:pt idx="184">
                  <c:v>2012.25</c:v>
                </c:pt>
                <c:pt idx="185">
                  <c:v>2012.333333</c:v>
                </c:pt>
                <c:pt idx="186">
                  <c:v>2012.416667</c:v>
                </c:pt>
                <c:pt idx="187">
                  <c:v>2012.5</c:v>
                </c:pt>
                <c:pt idx="188">
                  <c:v>2012.583333</c:v>
                </c:pt>
                <c:pt idx="189">
                  <c:v>2012.666667</c:v>
                </c:pt>
                <c:pt idx="190">
                  <c:v>2012.75</c:v>
                </c:pt>
                <c:pt idx="191">
                  <c:v>2012.833333</c:v>
                </c:pt>
                <c:pt idx="192">
                  <c:v>2012.916667</c:v>
                </c:pt>
                <c:pt idx="193">
                  <c:v>2013</c:v>
                </c:pt>
                <c:pt idx="194">
                  <c:v>2013.083333</c:v>
                </c:pt>
                <c:pt idx="195">
                  <c:v>2013.166667</c:v>
                </c:pt>
                <c:pt idx="196">
                  <c:v>2013.25</c:v>
                </c:pt>
                <c:pt idx="197">
                  <c:v>2013.333333</c:v>
                </c:pt>
                <c:pt idx="198">
                  <c:v>2013.416667</c:v>
                </c:pt>
                <c:pt idx="199">
                  <c:v>2013.5</c:v>
                </c:pt>
                <c:pt idx="200">
                  <c:v>2013.583333</c:v>
                </c:pt>
                <c:pt idx="201">
                  <c:v>2013.666667</c:v>
                </c:pt>
                <c:pt idx="202">
                  <c:v>2013.75</c:v>
                </c:pt>
                <c:pt idx="203">
                  <c:v>2013.833333</c:v>
                </c:pt>
                <c:pt idx="204">
                  <c:v>2013.916667</c:v>
                </c:pt>
                <c:pt idx="205">
                  <c:v>2014</c:v>
                </c:pt>
                <c:pt idx="206">
                  <c:v>2014.083333</c:v>
                </c:pt>
                <c:pt idx="207">
                  <c:v>2014.166667</c:v>
                </c:pt>
                <c:pt idx="208">
                  <c:v>2014.25</c:v>
                </c:pt>
                <c:pt idx="209">
                  <c:v>2014.333333</c:v>
                </c:pt>
                <c:pt idx="210">
                  <c:v>2014.416667</c:v>
                </c:pt>
                <c:pt idx="211">
                  <c:v>2014.5</c:v>
                </c:pt>
                <c:pt idx="212">
                  <c:v>2014.583333</c:v>
                </c:pt>
                <c:pt idx="213">
                  <c:v>2014.666667</c:v>
                </c:pt>
                <c:pt idx="214">
                  <c:v>2014.75</c:v>
                </c:pt>
                <c:pt idx="215">
                  <c:v>2014.833333</c:v>
                </c:pt>
                <c:pt idx="216">
                  <c:v>2014.916667</c:v>
                </c:pt>
                <c:pt idx="217">
                  <c:v>2015</c:v>
                </c:pt>
                <c:pt idx="218">
                  <c:v>2015.083333</c:v>
                </c:pt>
                <c:pt idx="219">
                  <c:v>2015.166667</c:v>
                </c:pt>
                <c:pt idx="220">
                  <c:v>2015.25</c:v>
                </c:pt>
                <c:pt idx="221">
                  <c:v>2015.333333</c:v>
                </c:pt>
                <c:pt idx="222">
                  <c:v>2015.416667</c:v>
                </c:pt>
                <c:pt idx="223">
                  <c:v>2015.5</c:v>
                </c:pt>
                <c:pt idx="224">
                  <c:v>2015.583333</c:v>
                </c:pt>
                <c:pt idx="225">
                  <c:v>2015.666667</c:v>
                </c:pt>
                <c:pt idx="226">
                  <c:v>2015.75</c:v>
                </c:pt>
                <c:pt idx="227">
                  <c:v>2015.833333</c:v>
                </c:pt>
                <c:pt idx="228">
                  <c:v>2015.916667</c:v>
                </c:pt>
                <c:pt idx="229">
                  <c:v>2016</c:v>
                </c:pt>
                <c:pt idx="230">
                  <c:v>2016.083333</c:v>
                </c:pt>
                <c:pt idx="231">
                  <c:v>2016.166667</c:v>
                </c:pt>
                <c:pt idx="232">
                  <c:v>2016.25</c:v>
                </c:pt>
                <c:pt idx="233">
                  <c:v>2016.333333</c:v>
                </c:pt>
                <c:pt idx="234">
                  <c:v>2016.416667</c:v>
                </c:pt>
                <c:pt idx="235">
                  <c:v>2016.5</c:v>
                </c:pt>
                <c:pt idx="236">
                  <c:v>2016.583333</c:v>
                </c:pt>
                <c:pt idx="237">
                  <c:v>2016.666667</c:v>
                </c:pt>
                <c:pt idx="238">
                  <c:v>2016.75</c:v>
                </c:pt>
                <c:pt idx="239">
                  <c:v>2016.833333</c:v>
                </c:pt>
                <c:pt idx="240">
                  <c:v>2016.916667</c:v>
                </c:pt>
              </c:numCache>
            </c:numRef>
          </c:xVal>
          <c:yVal>
            <c:numRef>
              <c:f>'Chart Data'!$J$2:$J$242</c:f>
              <c:numCache>
                <c:formatCode>0.000</c:formatCode>
                <c:ptCount val="241"/>
                <c:pt idx="0">
                  <c:v>3.15436921</c:v>
                </c:pt>
                <c:pt idx="1">
                  <c:v>3.090252</c:v>
                </c:pt>
                <c:pt idx="2">
                  <c:v>3.40028292</c:v>
                </c:pt>
                <c:pt idx="3">
                  <c:v>3.40668105</c:v>
                </c:pt>
                <c:pt idx="4">
                  <c:v>3.36191588</c:v>
                </c:pt>
                <c:pt idx="5">
                  <c:v>3.40694568</c:v>
                </c:pt>
                <c:pt idx="6">
                  <c:v>3.42341191</c:v>
                </c:pt>
                <c:pt idx="7">
                  <c:v>3.35049231</c:v>
                </c:pt>
                <c:pt idx="8">
                  <c:v>3.17095737</c:v>
                </c:pt>
                <c:pt idx="9">
                  <c:v>3.1760089</c:v>
                </c:pt>
                <c:pt idx="10">
                  <c:v>3.14952971</c:v>
                </c:pt>
                <c:pt idx="11">
                  <c:v>3.14903925</c:v>
                </c:pt>
                <c:pt idx="12">
                  <c:v>3.14882373</c:v>
                </c:pt>
                <c:pt idx="13">
                  <c:v>3.00890722</c:v>
                </c:pt>
                <c:pt idx="14">
                  <c:v>3.02919171</c:v>
                </c:pt>
                <c:pt idx="15">
                  <c:v>3.03773953</c:v>
                </c:pt>
                <c:pt idx="16">
                  <c:v>2.93417284</c:v>
                </c:pt>
                <c:pt idx="17">
                  <c:v>3.04327457</c:v>
                </c:pt>
                <c:pt idx="18">
                  <c:v>3.09685189</c:v>
                </c:pt>
                <c:pt idx="19">
                  <c:v>3.04199249</c:v>
                </c:pt>
                <c:pt idx="20">
                  <c:v>3.04624271</c:v>
                </c:pt>
                <c:pt idx="21">
                  <c:v>3.120519</c:v>
                </c:pt>
                <c:pt idx="22">
                  <c:v>3.22691544</c:v>
                </c:pt>
                <c:pt idx="23">
                  <c:v>3.42469055</c:v>
                </c:pt>
                <c:pt idx="24">
                  <c:v>3.40812379</c:v>
                </c:pt>
                <c:pt idx="25">
                  <c:v>3.18289269</c:v>
                </c:pt>
                <c:pt idx="26">
                  <c:v>3.33872903</c:v>
                </c:pt>
                <c:pt idx="27">
                  <c:v>3.23387702</c:v>
                </c:pt>
                <c:pt idx="28">
                  <c:v>3.23789903</c:v>
                </c:pt>
                <c:pt idx="29">
                  <c:v>3.33387494</c:v>
                </c:pt>
                <c:pt idx="30">
                  <c:v>3.34736223</c:v>
                </c:pt>
                <c:pt idx="31">
                  <c:v>3.36729645</c:v>
                </c:pt>
                <c:pt idx="32">
                  <c:v>3.26087758</c:v>
                </c:pt>
                <c:pt idx="33">
                  <c:v>3.19845055</c:v>
                </c:pt>
                <c:pt idx="34">
                  <c:v>3.17601834</c:v>
                </c:pt>
                <c:pt idx="35">
                  <c:v>3.07673284</c:v>
                </c:pt>
                <c:pt idx="36">
                  <c:v>2.61436419</c:v>
                </c:pt>
                <c:pt idx="37">
                  <c:v>2.63894293</c:v>
                </c:pt>
                <c:pt idx="38">
                  <c:v>1.48786633</c:v>
                </c:pt>
                <c:pt idx="39">
                  <c:v>1.5228507</c:v>
                </c:pt>
                <c:pt idx="40">
                  <c:v>1.53525953</c:v>
                </c:pt>
                <c:pt idx="41">
                  <c:v>1.55946273</c:v>
                </c:pt>
                <c:pt idx="42">
                  <c:v>1.57105548</c:v>
                </c:pt>
                <c:pt idx="43">
                  <c:v>1.64224547</c:v>
                </c:pt>
                <c:pt idx="44">
                  <c:v>1.64047312</c:v>
                </c:pt>
                <c:pt idx="45">
                  <c:v>1.72839405</c:v>
                </c:pt>
                <c:pt idx="46">
                  <c:v>1.73083416</c:v>
                </c:pt>
                <c:pt idx="47">
                  <c:v>1.76364079</c:v>
                </c:pt>
                <c:pt idx="48">
                  <c:v>1.78268304</c:v>
                </c:pt>
                <c:pt idx="49">
                  <c:v>1.45743915</c:v>
                </c:pt>
                <c:pt idx="50">
                  <c:v>1.51317187</c:v>
                </c:pt>
                <c:pt idx="51">
                  <c:v>1.59120177</c:v>
                </c:pt>
                <c:pt idx="52">
                  <c:v>1.660655</c:v>
                </c:pt>
                <c:pt idx="53">
                  <c:v>1.73179897</c:v>
                </c:pt>
                <c:pt idx="54">
                  <c:v>1.7005298</c:v>
                </c:pt>
                <c:pt idx="55">
                  <c:v>1.71728041</c:v>
                </c:pt>
                <c:pt idx="56">
                  <c:v>1.73096615</c:v>
                </c:pt>
                <c:pt idx="57">
                  <c:v>1.76470676</c:v>
                </c:pt>
                <c:pt idx="58">
                  <c:v>1.64014198</c:v>
                </c:pt>
                <c:pt idx="59">
                  <c:v>1.57027188</c:v>
                </c:pt>
                <c:pt idx="60">
                  <c:v>1.55164818</c:v>
                </c:pt>
                <c:pt idx="61">
                  <c:v>1.61751632</c:v>
                </c:pt>
                <c:pt idx="62">
                  <c:v>1.62115141</c:v>
                </c:pt>
                <c:pt idx="63">
                  <c:v>1.61660092</c:v>
                </c:pt>
                <c:pt idx="64">
                  <c:v>1.67204166</c:v>
                </c:pt>
                <c:pt idx="65">
                  <c:v>1.67066385</c:v>
                </c:pt>
                <c:pt idx="66">
                  <c:v>1.68945371</c:v>
                </c:pt>
                <c:pt idx="67">
                  <c:v>1.69693943</c:v>
                </c:pt>
                <c:pt idx="68">
                  <c:v>1.72948774</c:v>
                </c:pt>
                <c:pt idx="69">
                  <c:v>1.68049541</c:v>
                </c:pt>
                <c:pt idx="70">
                  <c:v>1.65786339</c:v>
                </c:pt>
                <c:pt idx="71">
                  <c:v>1.50119441</c:v>
                </c:pt>
                <c:pt idx="72">
                  <c:v>1.54121129</c:v>
                </c:pt>
                <c:pt idx="73">
                  <c:v>1.54939886</c:v>
                </c:pt>
                <c:pt idx="74">
                  <c:v>1.47878285</c:v>
                </c:pt>
                <c:pt idx="75">
                  <c:v>1.42274543</c:v>
                </c:pt>
                <c:pt idx="76">
                  <c:v>1.45897302</c:v>
                </c:pt>
                <c:pt idx="77">
                  <c:v>1.46904856</c:v>
                </c:pt>
                <c:pt idx="78">
                  <c:v>1.49623586</c:v>
                </c:pt>
                <c:pt idx="79">
                  <c:v>1.53389288</c:v>
                </c:pt>
                <c:pt idx="80">
                  <c:v>1.52650677</c:v>
                </c:pt>
                <c:pt idx="81">
                  <c:v>1.52308932</c:v>
                </c:pt>
                <c:pt idx="82">
                  <c:v>1.54340846</c:v>
                </c:pt>
                <c:pt idx="83">
                  <c:v>1.49756147</c:v>
                </c:pt>
                <c:pt idx="84">
                  <c:v>1.52946653</c:v>
                </c:pt>
                <c:pt idx="85">
                  <c:v>1.6023708</c:v>
                </c:pt>
                <c:pt idx="86">
                  <c:v>1.65474133</c:v>
                </c:pt>
                <c:pt idx="87">
                  <c:v>1.70248776</c:v>
                </c:pt>
                <c:pt idx="88">
                  <c:v>1.66903455</c:v>
                </c:pt>
                <c:pt idx="89">
                  <c:v>1.64483633</c:v>
                </c:pt>
                <c:pt idx="90">
                  <c:v>1.62978693</c:v>
                </c:pt>
                <c:pt idx="91">
                  <c:v>1.63911648</c:v>
                </c:pt>
                <c:pt idx="92">
                  <c:v>1.6756626</c:v>
                </c:pt>
                <c:pt idx="93">
                  <c:v>1.73671311</c:v>
                </c:pt>
                <c:pt idx="94">
                  <c:v>1.738506</c:v>
                </c:pt>
                <c:pt idx="95">
                  <c:v>1.79730414</c:v>
                </c:pt>
                <c:pt idx="96">
                  <c:v>1.87464179</c:v>
                </c:pt>
                <c:pt idx="97">
                  <c:v>1.89272657</c:v>
                </c:pt>
                <c:pt idx="98">
                  <c:v>2.47568136</c:v>
                </c:pt>
                <c:pt idx="99">
                  <c:v>2.3957376</c:v>
                </c:pt>
                <c:pt idx="100">
                  <c:v>2.36625528</c:v>
                </c:pt>
                <c:pt idx="101">
                  <c:v>2.32585168</c:v>
                </c:pt>
                <c:pt idx="102">
                  <c:v>2.35447152</c:v>
                </c:pt>
                <c:pt idx="103">
                  <c:v>2.27556522</c:v>
                </c:pt>
                <c:pt idx="104">
                  <c:v>2.30720787</c:v>
                </c:pt>
                <c:pt idx="105">
                  <c:v>2.2272436</c:v>
                </c:pt>
                <c:pt idx="106">
                  <c:v>2.17010253</c:v>
                </c:pt>
                <c:pt idx="107">
                  <c:v>2.12239082</c:v>
                </c:pt>
                <c:pt idx="108">
                  <c:v>2.0409023</c:v>
                </c:pt>
                <c:pt idx="109">
                  <c:v>2.51831844</c:v>
                </c:pt>
                <c:pt idx="110">
                  <c:v>2.71831785</c:v>
                </c:pt>
                <c:pt idx="111">
                  <c:v>2.67653264</c:v>
                </c:pt>
                <c:pt idx="112">
                  <c:v>2.64775163</c:v>
                </c:pt>
                <c:pt idx="113">
                  <c:v>2.56985804</c:v>
                </c:pt>
                <c:pt idx="114">
                  <c:v>2.57933762</c:v>
                </c:pt>
                <c:pt idx="115">
                  <c:v>2.54214913</c:v>
                </c:pt>
                <c:pt idx="116">
                  <c:v>2.50755731</c:v>
                </c:pt>
                <c:pt idx="117">
                  <c:v>2.44851327</c:v>
                </c:pt>
                <c:pt idx="118">
                  <c:v>2.64423488</c:v>
                </c:pt>
                <c:pt idx="119">
                  <c:v>2.75690869</c:v>
                </c:pt>
                <c:pt idx="120">
                  <c:v>2.77455098</c:v>
                </c:pt>
                <c:pt idx="121">
                  <c:v>2.67868129</c:v>
                </c:pt>
                <c:pt idx="122">
                  <c:v>2.65868124</c:v>
                </c:pt>
                <c:pt idx="123">
                  <c:v>2.63714353</c:v>
                </c:pt>
                <c:pt idx="124">
                  <c:v>2.64196449</c:v>
                </c:pt>
                <c:pt idx="125">
                  <c:v>2.61070394</c:v>
                </c:pt>
                <c:pt idx="126">
                  <c:v>2.52481924</c:v>
                </c:pt>
                <c:pt idx="127">
                  <c:v>2.51619689</c:v>
                </c:pt>
                <c:pt idx="128">
                  <c:v>2.49851291</c:v>
                </c:pt>
                <c:pt idx="129">
                  <c:v>2.58755691</c:v>
                </c:pt>
                <c:pt idx="130">
                  <c:v>2.76291957</c:v>
                </c:pt>
                <c:pt idx="131">
                  <c:v>3.60954691</c:v>
                </c:pt>
                <c:pt idx="132">
                  <c:v>4.14171703</c:v>
                </c:pt>
                <c:pt idx="133">
                  <c:v>3.93715278</c:v>
                </c:pt>
                <c:pt idx="134">
                  <c:v>4.22501776</c:v>
                </c:pt>
                <c:pt idx="135">
                  <c:v>4.38607594</c:v>
                </c:pt>
                <c:pt idx="136">
                  <c:v>4.38088689</c:v>
                </c:pt>
                <c:pt idx="137">
                  <c:v>4.36462273</c:v>
                </c:pt>
                <c:pt idx="138">
                  <c:v>3.21893489</c:v>
                </c:pt>
                <c:pt idx="139">
                  <c:v>3.19655384</c:v>
                </c:pt>
                <c:pt idx="140">
                  <c:v>3.07111564</c:v>
                </c:pt>
                <c:pt idx="141">
                  <c:v>2.8221419</c:v>
                </c:pt>
                <c:pt idx="142">
                  <c:v>2.42049352</c:v>
                </c:pt>
                <c:pt idx="143">
                  <c:v>2.48780255</c:v>
                </c:pt>
                <c:pt idx="144">
                  <c:v>2.4876571</c:v>
                </c:pt>
                <c:pt idx="145">
                  <c:v>2.25400178</c:v>
                </c:pt>
                <c:pt idx="146">
                  <c:v>1.84688378</c:v>
                </c:pt>
                <c:pt idx="147">
                  <c:v>1.73279107</c:v>
                </c:pt>
                <c:pt idx="148">
                  <c:v>1.2569921</c:v>
                </c:pt>
                <c:pt idx="149">
                  <c:v>1.30619507</c:v>
                </c:pt>
                <c:pt idx="150">
                  <c:v>1.27611855</c:v>
                </c:pt>
                <c:pt idx="151">
                  <c:v>1.28039208</c:v>
                </c:pt>
                <c:pt idx="152">
                  <c:v>0.95424487</c:v>
                </c:pt>
                <c:pt idx="153">
                  <c:v>0.95316561</c:v>
                </c:pt>
                <c:pt idx="154">
                  <c:v>0.96944228</c:v>
                </c:pt>
                <c:pt idx="155">
                  <c:v>0.94674358</c:v>
                </c:pt>
                <c:pt idx="156">
                  <c:v>0.99459885</c:v>
                </c:pt>
                <c:pt idx="157">
                  <c:v>0.90910354</c:v>
                </c:pt>
                <c:pt idx="158">
                  <c:v>0.8837276</c:v>
                </c:pt>
                <c:pt idx="159">
                  <c:v>0.8925075</c:v>
                </c:pt>
                <c:pt idx="160">
                  <c:v>0.74322576</c:v>
                </c:pt>
                <c:pt idx="161">
                  <c:v>0.72417111</c:v>
                </c:pt>
                <c:pt idx="162">
                  <c:v>0.66804083</c:v>
                </c:pt>
                <c:pt idx="163">
                  <c:v>0.66244456</c:v>
                </c:pt>
                <c:pt idx="164">
                  <c:v>0.6512631</c:v>
                </c:pt>
                <c:pt idx="165">
                  <c:v>0.69791361</c:v>
                </c:pt>
                <c:pt idx="166">
                  <c:v>0.71215629</c:v>
                </c:pt>
                <c:pt idx="167">
                  <c:v>0.6659262</c:v>
                </c:pt>
                <c:pt idx="168">
                  <c:v>0.64088574</c:v>
                </c:pt>
                <c:pt idx="169">
                  <c:v>0.59670129</c:v>
                </c:pt>
                <c:pt idx="170">
                  <c:v>0.5039536</c:v>
                </c:pt>
                <c:pt idx="171">
                  <c:v>0.50478889</c:v>
                </c:pt>
                <c:pt idx="172">
                  <c:v>0.49797883</c:v>
                </c:pt>
                <c:pt idx="173">
                  <c:v>0.50611028</c:v>
                </c:pt>
                <c:pt idx="174">
                  <c:v>0.50650255</c:v>
                </c:pt>
                <c:pt idx="175">
                  <c:v>0.46691989</c:v>
                </c:pt>
                <c:pt idx="176">
                  <c:v>0.5137217</c:v>
                </c:pt>
                <c:pt idx="177">
                  <c:v>0.55081846</c:v>
                </c:pt>
                <c:pt idx="178">
                  <c:v>0.6291385</c:v>
                </c:pt>
                <c:pt idx="179">
                  <c:v>0.68639075</c:v>
                </c:pt>
                <c:pt idx="180">
                  <c:v>0.6493372</c:v>
                </c:pt>
                <c:pt idx="181">
                  <c:v>0.67369588</c:v>
                </c:pt>
                <c:pt idx="182">
                  <c:v>0.62646831</c:v>
                </c:pt>
                <c:pt idx="183">
                  <c:v>0.60286334</c:v>
                </c:pt>
                <c:pt idx="184">
                  <c:v>0.59071078</c:v>
                </c:pt>
                <c:pt idx="185">
                  <c:v>0.57569759</c:v>
                </c:pt>
                <c:pt idx="186">
                  <c:v>0.5983191</c:v>
                </c:pt>
                <c:pt idx="187">
                  <c:v>0.64913463</c:v>
                </c:pt>
                <c:pt idx="188">
                  <c:v>0.64024675</c:v>
                </c:pt>
                <c:pt idx="189">
                  <c:v>0.60623707</c:v>
                </c:pt>
                <c:pt idx="190">
                  <c:v>0.63372473</c:v>
                </c:pt>
                <c:pt idx="191">
                  <c:v>0.6377204</c:v>
                </c:pt>
                <c:pt idx="192">
                  <c:v>0.5754534</c:v>
                </c:pt>
                <c:pt idx="193">
                  <c:v>0.65890953</c:v>
                </c:pt>
                <c:pt idx="194">
                  <c:v>0.63282726</c:v>
                </c:pt>
                <c:pt idx="195">
                  <c:v>0.60077057</c:v>
                </c:pt>
                <c:pt idx="196">
                  <c:v>0.5281357</c:v>
                </c:pt>
                <c:pt idx="197">
                  <c:v>0.44527025</c:v>
                </c:pt>
                <c:pt idx="198">
                  <c:v>0.60209582</c:v>
                </c:pt>
                <c:pt idx="199">
                  <c:v>0.49087382</c:v>
                </c:pt>
                <c:pt idx="200">
                  <c:v>0.49330628</c:v>
                </c:pt>
                <c:pt idx="201">
                  <c:v>0.53260229</c:v>
                </c:pt>
                <c:pt idx="202">
                  <c:v>0.68678494</c:v>
                </c:pt>
                <c:pt idx="203">
                  <c:v>0.63720201</c:v>
                </c:pt>
                <c:pt idx="204">
                  <c:v>0.5304166</c:v>
                </c:pt>
                <c:pt idx="205">
                  <c:v>0.5439227</c:v>
                </c:pt>
                <c:pt idx="206">
                  <c:v>0.66636585</c:v>
                </c:pt>
                <c:pt idx="207">
                  <c:v>0.74497424</c:v>
                </c:pt>
                <c:pt idx="208">
                  <c:v>1.15973774</c:v>
                </c:pt>
                <c:pt idx="209">
                  <c:v>1.14299063</c:v>
                </c:pt>
                <c:pt idx="210">
                  <c:v>1.10678329</c:v>
                </c:pt>
                <c:pt idx="211">
                  <c:v>1.10196149</c:v>
                </c:pt>
                <c:pt idx="212">
                  <c:v>1.55043576</c:v>
                </c:pt>
                <c:pt idx="213">
                  <c:v>1.52728178</c:v>
                </c:pt>
                <c:pt idx="214">
                  <c:v>1.54595273</c:v>
                </c:pt>
                <c:pt idx="215">
                  <c:v>1.55710358</c:v>
                </c:pt>
                <c:pt idx="216">
                  <c:v>1.51512285</c:v>
                </c:pt>
                <c:pt idx="217">
                  <c:v>1.62736203</c:v>
                </c:pt>
                <c:pt idx="218">
                  <c:v>1.60713342</c:v>
                </c:pt>
                <c:pt idx="219">
                  <c:v>1.64663591</c:v>
                </c:pt>
                <c:pt idx="220">
                  <c:v>1.74168334</c:v>
                </c:pt>
                <c:pt idx="221">
                  <c:v>1.8826848</c:v>
                </c:pt>
                <c:pt idx="222">
                  <c:v>1.92187556</c:v>
                </c:pt>
                <c:pt idx="223">
                  <c:v>2.0009178</c:v>
                </c:pt>
                <c:pt idx="224">
                  <c:v>1.97499212</c:v>
                </c:pt>
                <c:pt idx="225">
                  <c:v>1.9801822</c:v>
                </c:pt>
                <c:pt idx="226">
                  <c:v>1.95785742</c:v>
                </c:pt>
                <c:pt idx="227">
                  <c:v>2.03144349</c:v>
                </c:pt>
                <c:pt idx="228">
                  <c:v>2.15743577</c:v>
                </c:pt>
                <c:pt idx="229">
                  <c:v>2.25350238</c:v>
                </c:pt>
                <c:pt idx="230">
                  <c:v>2.4351442</c:v>
                </c:pt>
                <c:pt idx="231">
                  <c:v>2.29694022</c:v>
                </c:pt>
                <c:pt idx="232">
                  <c:v>1.46529747</c:v>
                </c:pt>
                <c:pt idx="233">
                  <c:v>1.53854212</c:v>
                </c:pt>
                <c:pt idx="234">
                  <c:v>1.54883105</c:v>
                </c:pt>
                <c:pt idx="235">
                  <c:v>1.44425272</c:v>
                </c:pt>
                <c:pt idx="236">
                  <c:v>1.35085781</c:v>
                </c:pt>
                <c:pt idx="237">
                  <c:v>1.26274285</c:v>
                </c:pt>
                <c:pt idx="238">
                  <c:v>1.23813218</c:v>
                </c:pt>
                <c:pt idx="239">
                  <c:v>1.12441763</c:v>
                </c:pt>
                <c:pt idx="240">
                  <c:v>1.13217875</c:v>
                </c:pt>
              </c:numCache>
            </c:numRef>
          </c:y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in val="-1"/>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Annualized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valAx>
      <c:valAx>
        <c:axId val="48650112"/>
        <c:scaling>
          <c:orientation val="minMax"/>
          <c:max val="2017"/>
          <c:min val="1992"/>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majorUnit val="5"/>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Authors GAN</c:v>
          </c:tx>
          <c:spPr>
            <a:solidFill xmlns:a="http://schemas.openxmlformats.org/drawingml/2006/main">
              <a:srgbClr val="94A3B8"/>
            </a:solidFill>
          </c:spPr>
          <c:cat>
            <c:strRef>
              <c:f>'Chart Data'!$A$2:$A$3</c:f>
              <c:strCache>
                <c:ptCount val="2"/>
                <c:pt idx="0">
                  <c:v>Expansion</c:v>
                </c:pt>
                <c:pt idx="1">
                  <c:v>Recession</c:v>
                </c:pt>
              </c:strCache>
            </c:strRef>
          </c:cat>
          <c:val>
            <c:numRef>
              <c:f>'Chart Data'!$B$2:$B$3</c:f>
              <c:numCache>
                <c:formatCode>0.000</c:formatCode>
                <c:ptCount val="2"/>
                <c:pt idx="0">
                  <c:v>0.84155273</c:v>
                </c:pt>
                <c:pt idx="1">
                  <c:v>0.32426226</c:v>
                </c:pt>
              </c:numCache>
            </c:numRef>
          </c:val>
        </c:ser>
        <c:ser>
          <c:idx val="1"/>
          <c:order val="1"/>
          <c:tx>
            <c:v>Code 07 GAN</c:v>
          </c:tx>
          <c:spPr>
            <a:solidFill xmlns:a="http://schemas.openxmlformats.org/drawingml/2006/main">
              <a:srgbClr val="003262"/>
            </a:solidFill>
          </c:spPr>
          <c:cat>
            <c:strRef>
              <c:f>'Chart Data'!$C$2:$C$3</c:f>
              <c:strCache>
                <c:ptCount val="2"/>
                <c:pt idx="0">
                  <c:v>Expansion</c:v>
                </c:pt>
                <c:pt idx="1">
                  <c:v>Recession</c:v>
                </c:pt>
              </c:strCache>
            </c:strRef>
          </c:cat>
          <c:val>
            <c:numRef>
              <c:f>'Chart Data'!$D$2:$D$3</c:f>
              <c:numCache>
                <c:formatCode>0.000</c:formatCode>
                <c:ptCount val="2"/>
                <c:pt idx="0">
                  <c:v>0.6369389</c:v>
                </c:pt>
                <c:pt idx="1">
                  <c:v>0.45528205</c:v>
                </c:pt>
              </c:numCache>
            </c:numRef>
          </c:val>
        </c:ser>
        <c:ser>
          <c:idx val="2"/>
          <c:order val="2"/>
          <c:tx>
            <c:v>New LSTM</c:v>
          </c:tx>
          <c:spPr>
            <a:solidFill xmlns:a="http://schemas.openxmlformats.org/drawingml/2006/main">
              <a:srgbClr val="2563EB"/>
            </a:solidFill>
          </c:spPr>
          <c:cat>
            <c:strRef>
              <c:f>'Chart Data'!$E$2:$E$3</c:f>
              <c:strCache>
                <c:ptCount val="2"/>
                <c:pt idx="0">
                  <c:v>Expansion</c:v>
                </c:pt>
                <c:pt idx="1">
                  <c:v>Recession</c:v>
                </c:pt>
              </c:strCache>
            </c:strRef>
          </c:cat>
          <c:val>
            <c:numRef>
              <c:f>'Chart Data'!$F$2:$F$3</c:f>
              <c:numCache>
                <c:formatCode>0.000</c:formatCode>
                <c:ptCount val="2"/>
                <c:pt idx="0">
                  <c:v>0.48255</c:v>
                </c:pt>
                <c:pt idx="1">
                  <c:v>0.26380921</c:v>
                </c:pt>
              </c:numCache>
            </c:numRef>
          </c:val>
        </c:ser>
        <c:ser>
          <c:idx val="3"/>
          <c:order val="3"/>
          <c:tx>
            <c:v>Transformer</c:v>
          </c:tx>
          <c:spPr>
            <a:solidFill xmlns:a="http://schemas.openxmlformats.org/drawingml/2006/main">
              <a:srgbClr val="B7790B"/>
            </a:solidFill>
          </c:spPr>
          <c:invertIfNegative val="0"/>
          <c:cat>
            <c:strRef>
              <c:f>'Chart Data'!$G$2:$G$3</c:f>
              <c:strCache>
                <c:ptCount val="2"/>
                <c:pt idx="0">
                  <c:v>Expansion</c:v>
                </c:pt>
                <c:pt idx="1">
                  <c:v>Recession</c:v>
                </c:pt>
              </c:strCache>
            </c:strRef>
          </c:cat>
          <c:val>
            <c:numRef>
              <c:f>'Chart Data'!$H$2:$H$3</c:f>
              <c:numCache>
                <c:formatCode>0.000</c:formatCode>
                <c:ptCount val="2"/>
                <c:pt idx="0">
                  <c:v>0.36946416</c:v>
                </c:pt>
                <c:pt idx="1">
                  <c:v>-0.07126491</c:v>
                </c:pt>
              </c:numCache>
            </c:numRef>
          </c:val>
        </c:ser>
        <c:ser>
          <c:idx val="4"/>
          <c:order val="4"/>
          <c:tx>
            <c:v>50/50 blend</c:v>
          </c:tx>
          <c:spPr>
            <a:solidFill xmlns:a="http://schemas.openxmlformats.org/drawingml/2006/main">
              <a:srgbClr val="16816B"/>
            </a:solidFill>
          </c:spPr>
          <c:cat>
            <c:strRef>
              <c:f>'Chart Data'!$I$2:$I$3</c:f>
              <c:strCache>
                <c:ptCount val="2"/>
                <c:pt idx="0">
                  <c:v>Expansion</c:v>
                </c:pt>
                <c:pt idx="1">
                  <c:v>Recession</c:v>
                </c:pt>
              </c:strCache>
            </c:strRef>
          </c:cat>
          <c:val>
            <c:numRef>
              <c:f>'Chart Data'!$J$2:$J$3</c:f>
              <c:numCache>
                <c:formatCode>0.000</c:formatCode>
                <c:ptCount val="2"/>
                <c:pt idx="0">
                  <c:v>0.51667681</c:v>
                </c:pt>
                <c:pt idx="1">
                  <c:v>0.07603477</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1.15"/>
          <c:min val="-0.12"/>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Authors GAN</c:v>
          </c:tx>
          <c:spPr>
            <a:solidFill xmlns:a="http://schemas.openxmlformats.org/drawingml/2006/main">
              <a:srgbClr val="94A3B8"/>
            </a:solidFill>
          </c:spPr>
          <c:cat>
            <c:strRef>
              <c:f>'Chart Data'!$A$2:$A$3</c:f>
              <c:strCache>
                <c:ptCount val="2"/>
                <c:pt idx="0">
                  <c:v>High volatility</c:v>
                </c:pt>
                <c:pt idx="1">
                  <c:v>Low volatility</c:v>
                </c:pt>
              </c:strCache>
            </c:strRef>
          </c:cat>
          <c:val>
            <c:numRef>
              <c:f>'Chart Data'!$B$2:$B$3</c:f>
              <c:numCache>
                <c:formatCode>0.000</c:formatCode>
                <c:ptCount val="2"/>
                <c:pt idx="0">
                  <c:v>0.59789657</c:v>
                </c:pt>
                <c:pt idx="1">
                  <c:v>1.00339981</c:v>
                </c:pt>
              </c:numCache>
            </c:numRef>
          </c:val>
        </c:ser>
        <c:ser>
          <c:idx val="1"/>
          <c:order val="1"/>
          <c:tx>
            <c:v>Code 07 GAN</c:v>
          </c:tx>
          <c:spPr>
            <a:solidFill xmlns:a="http://schemas.openxmlformats.org/drawingml/2006/main">
              <a:srgbClr val="003262"/>
            </a:solidFill>
          </c:spPr>
          <c:cat>
            <c:strRef>
              <c:f>'Chart Data'!$C$2:$C$3</c:f>
              <c:strCache>
                <c:ptCount val="2"/>
                <c:pt idx="0">
                  <c:v>High volatility</c:v>
                </c:pt>
                <c:pt idx="1">
                  <c:v>Low volatility</c:v>
                </c:pt>
              </c:strCache>
            </c:strRef>
          </c:cat>
          <c:val>
            <c:numRef>
              <c:f>'Chart Data'!$D$2:$D$3</c:f>
              <c:numCache>
                <c:formatCode>0.000</c:formatCode>
                <c:ptCount val="2"/>
                <c:pt idx="0">
                  <c:v>0.47989422</c:v>
                </c:pt>
                <c:pt idx="1">
                  <c:v>0.84128523</c:v>
                </c:pt>
              </c:numCache>
            </c:numRef>
          </c:val>
        </c:ser>
        <c:ser>
          <c:idx val="2"/>
          <c:order val="2"/>
          <c:tx>
            <c:v>New LSTM</c:v>
          </c:tx>
          <c:spPr>
            <a:solidFill xmlns:a="http://schemas.openxmlformats.org/drawingml/2006/main">
              <a:srgbClr val="2563EB"/>
            </a:solidFill>
          </c:spPr>
          <c:cat>
            <c:strRef>
              <c:f>'Chart Data'!$E$2:$E$3</c:f>
              <c:strCache>
                <c:ptCount val="2"/>
                <c:pt idx="0">
                  <c:v>High volatility</c:v>
                </c:pt>
                <c:pt idx="1">
                  <c:v>Low volatility</c:v>
                </c:pt>
              </c:strCache>
            </c:strRef>
          </c:cat>
          <c:val>
            <c:numRef>
              <c:f>'Chart Data'!$F$2:$F$3</c:f>
              <c:numCache>
                <c:formatCode>0.000</c:formatCode>
                <c:ptCount val="2"/>
                <c:pt idx="0">
                  <c:v>0.4173692</c:v>
                </c:pt>
                <c:pt idx="1">
                  <c:v>0.54942577</c:v>
                </c:pt>
              </c:numCache>
            </c:numRef>
          </c:val>
        </c:ser>
        <c:ser>
          <c:idx val="3"/>
          <c:order val="3"/>
          <c:tx>
            <c:v>Transformer</c:v>
          </c:tx>
          <c:spPr>
            <a:solidFill xmlns:a="http://schemas.openxmlformats.org/drawingml/2006/main">
              <a:srgbClr val="B7790B"/>
            </a:solidFill>
          </c:spPr>
          <c:cat>
            <c:strRef>
              <c:f>'Chart Data'!$G$2:$G$3</c:f>
              <c:strCache>
                <c:ptCount val="2"/>
                <c:pt idx="0">
                  <c:v>High volatility</c:v>
                </c:pt>
                <c:pt idx="1">
                  <c:v>Low volatility</c:v>
                </c:pt>
              </c:strCache>
            </c:strRef>
          </c:cat>
          <c:val>
            <c:numRef>
              <c:f>'Chart Data'!$H$2:$H$3</c:f>
              <c:numCache>
                <c:formatCode>0.000</c:formatCode>
                <c:ptCount val="2"/>
                <c:pt idx="0">
                  <c:v>0.17749371</c:v>
                </c:pt>
                <c:pt idx="1">
                  <c:v>0.53079309</c:v>
                </c:pt>
              </c:numCache>
            </c:numRef>
          </c:val>
        </c:ser>
        <c:ser>
          <c:idx val="4"/>
          <c:order val="4"/>
          <c:tx>
            <c:v>50/50 blend</c:v>
          </c:tx>
          <c:spPr>
            <a:solidFill xmlns:a="http://schemas.openxmlformats.org/drawingml/2006/main">
              <a:srgbClr val="16816B"/>
            </a:solidFill>
          </c:spPr>
          <c:cat>
            <c:strRef>
              <c:f>'Chart Data'!$I$2:$I$3</c:f>
              <c:strCache>
                <c:ptCount val="2"/>
                <c:pt idx="0">
                  <c:v>High volatility</c:v>
                </c:pt>
                <c:pt idx="1">
                  <c:v>Low volatility</c:v>
                </c:pt>
              </c:strCache>
            </c:strRef>
          </c:cat>
          <c:val>
            <c:numRef>
              <c:f>'Chart Data'!$J$2:$J$3</c:f>
              <c:numCache>
                <c:formatCode>0.000</c:formatCode>
                <c:ptCount val="2"/>
                <c:pt idx="0">
                  <c:v>0.34499978</c:v>
                </c:pt>
                <c:pt idx="1">
                  <c:v>0.68388179</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1.15"/>
          <c:min val="-0.12"/>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Monthly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9.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Authors GAN</c:v>
          </c:tx>
          <c:spPr>
            <a:solidFill xmlns:a="http://schemas.openxmlformats.org/drawingml/2006/main">
              <a:srgbClr val="94A3B8"/>
            </a:solidFill>
          </c:spPr>
          <c:cat>
            <c:strRef>
              <c:f>'Chart Data'!$A$2:$A$5</c:f>
              <c:strCache>
                <c:ptCount val="4"/>
                <c:pt idx="0">
                  <c:v>Expansion</c:v>
                </c:pt>
                <c:pt idx="1">
                  <c:v>Recession</c:v>
                </c:pt>
                <c:pt idx="2">
                  <c:v>High volatility</c:v>
                </c:pt>
                <c:pt idx="3">
                  <c:v>Low volatility</c:v>
                </c:pt>
              </c:strCache>
            </c:strRef>
          </c:cat>
          <c:val>
            <c:numRef>
              <c:f>'Chart Data'!$B$2:$B$5</c:f>
              <c:numCache>
                <c:formatCode>0.000</c:formatCode>
                <c:ptCount val="4"/>
                <c:pt idx="0">
                  <c:v>3.70641062</c:v>
                </c:pt>
                <c:pt idx="1">
                  <c:v>3.00443061</c:v>
                </c:pt>
                <c:pt idx="2">
                  <c:v>3.49685192</c:v>
                </c:pt>
                <c:pt idx="3">
                  <c:v>3.74875446</c:v>
                </c:pt>
              </c:numCache>
            </c:numRef>
          </c:val>
        </c:ser>
        <c:ser>
          <c:idx val="1"/>
          <c:order val="1"/>
          <c:tx>
            <c:v>Code 07 GAN</c:v>
          </c:tx>
          <c:spPr>
            <a:solidFill xmlns:a="http://schemas.openxmlformats.org/drawingml/2006/main">
              <a:srgbClr val="003262"/>
            </a:solidFill>
          </c:spPr>
          <c:cat>
            <c:strRef>
              <c:f>'Chart Data'!$C$2:$C$5</c:f>
              <c:strCache>
                <c:ptCount val="4"/>
                <c:pt idx="0">
                  <c:v>Expansion</c:v>
                </c:pt>
                <c:pt idx="1">
                  <c:v>Recession</c:v>
                </c:pt>
                <c:pt idx="2">
                  <c:v>High volatility</c:v>
                </c:pt>
                <c:pt idx="3">
                  <c:v>Low volatility</c:v>
                </c:pt>
              </c:strCache>
            </c:strRef>
          </c:cat>
          <c:val>
            <c:numRef>
              <c:f>'Chart Data'!$D$2:$D$5</c:f>
              <c:numCache>
                <c:formatCode>0.000</c:formatCode>
                <c:ptCount val="4"/>
                <c:pt idx="0">
                  <c:v>2.94245335</c:v>
                </c:pt>
                <c:pt idx="1">
                  <c:v>2.40358567</c:v>
                </c:pt>
                <c:pt idx="2">
                  <c:v>2.6865745</c:v>
                </c:pt>
                <c:pt idx="3">
                  <c:v>3.05007001</c:v>
                </c:pt>
              </c:numCache>
            </c:numRef>
          </c:val>
        </c:ser>
        <c:ser>
          <c:idx val="2"/>
          <c:order val="2"/>
          <c:tx>
            <c:v>New LSTM</c:v>
          </c:tx>
          <c:spPr>
            <a:solidFill xmlns:a="http://schemas.openxmlformats.org/drawingml/2006/main">
              <a:srgbClr val="2563EB"/>
            </a:solidFill>
          </c:spPr>
          <c:cat>
            <c:strRef>
              <c:f>'Chart Data'!$E$2:$E$5</c:f>
              <c:strCache>
                <c:ptCount val="4"/>
                <c:pt idx="0">
                  <c:v>Expansion</c:v>
                </c:pt>
                <c:pt idx="1">
                  <c:v>Recession</c:v>
                </c:pt>
                <c:pt idx="2">
                  <c:v>High volatility</c:v>
                </c:pt>
                <c:pt idx="3">
                  <c:v>Low volatility</c:v>
                </c:pt>
              </c:strCache>
            </c:strRef>
          </c:cat>
          <c:val>
            <c:numRef>
              <c:f>'Chart Data'!$F$2:$F$5</c:f>
              <c:numCache>
                <c:formatCode>0.000</c:formatCode>
                <c:ptCount val="4"/>
                <c:pt idx="0">
                  <c:v>2.05784917</c:v>
                </c:pt>
                <c:pt idx="1">
                  <c:v>1.38254624</c:v>
                </c:pt>
                <c:pt idx="2">
                  <c:v>1.64211907</c:v>
                </c:pt>
                <c:pt idx="3">
                  <c:v>2.26786637</c:v>
                </c:pt>
              </c:numCache>
            </c:numRef>
          </c:val>
        </c:ser>
        <c:ser>
          <c:idx val="3"/>
          <c:order val="3"/>
          <c:tx>
            <c:v>Transformer</c:v>
          </c:tx>
          <c:spPr>
            <a:solidFill xmlns:a="http://schemas.openxmlformats.org/drawingml/2006/main">
              <a:srgbClr val="B7790B"/>
            </a:solidFill>
          </c:spPr>
          <c:cat>
            <c:strRef>
              <c:f>'Chart Data'!$G$2:$G$5</c:f>
              <c:strCache>
                <c:ptCount val="4"/>
                <c:pt idx="0">
                  <c:v>Expansion</c:v>
                </c:pt>
                <c:pt idx="1">
                  <c:v>Recession</c:v>
                </c:pt>
                <c:pt idx="2">
                  <c:v>High volatility</c:v>
                </c:pt>
                <c:pt idx="3">
                  <c:v>Low volatility</c:v>
                </c:pt>
              </c:strCache>
            </c:strRef>
          </c:cat>
          <c:val>
            <c:numRef>
              <c:f>'Chart Data'!$H$2:$H$5</c:f>
              <c:numCache>
                <c:formatCode>0.000</c:formatCode>
                <c:ptCount val="4"/>
                <c:pt idx="0">
                  <c:v>1.4734821</c:v>
                </c:pt>
                <c:pt idx="1">
                  <c:v>1.40927834</c:v>
                </c:pt>
                <c:pt idx="2">
                  <c:v>0.89283968</c:v>
                </c:pt>
                <c:pt idx="3">
                  <c:v>1.92122442</c:v>
                </c:pt>
              </c:numCache>
            </c:numRef>
          </c:val>
        </c:ser>
        <c:ser>
          <c:idx val="4"/>
          <c:order val="4"/>
          <c:tx>
            <c:v>50/50 blend</c:v>
          </c:tx>
          <c:spPr>
            <a:solidFill xmlns:a="http://schemas.openxmlformats.org/drawingml/2006/main">
              <a:srgbClr val="16816B"/>
            </a:solidFill>
          </c:spPr>
          <c:cat>
            <c:strRef>
              <c:f>'Chart Data'!$I$2:$I$5</c:f>
              <c:strCache>
                <c:ptCount val="4"/>
                <c:pt idx="0">
                  <c:v>Expansion</c:v>
                </c:pt>
                <c:pt idx="1">
                  <c:v>Recession</c:v>
                </c:pt>
                <c:pt idx="2">
                  <c:v>High volatility</c:v>
                </c:pt>
                <c:pt idx="3">
                  <c:v>Low volatility</c:v>
                </c:pt>
              </c:strCache>
            </c:strRef>
          </c:cat>
          <c:val>
            <c:numRef>
              <c:f>'Chart Data'!$J$2:$J$5</c:f>
              <c:numCache>
                <c:formatCode>0.000</c:formatCode>
                <c:ptCount val="4"/>
                <c:pt idx="0">
                  <c:v>2.19054578</c:v>
                </c:pt>
                <c:pt idx="1">
                  <c:v>1.94098684</c:v>
                </c:pt>
                <c:pt idx="2">
                  <c:v>1.48894614</c:v>
                </c:pt>
                <c:pt idx="3">
                  <c:v>2.7013473</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0"/>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5"/>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Mean annualized rolling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10.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Authors GAN</c:v>
          </c:tx>
          <c:spPr>
            <a:solidFill xmlns:a="http://schemas.openxmlformats.org/drawingml/2006/main">
              <a:srgbClr val="94A3B8"/>
            </a:solidFill>
          </c:spPr>
          <c:cat>
            <c:strRef>
              <c:f>'Chart Data'!$A$2:$A$5</c:f>
              <c:strCache>
                <c:ptCount val="4"/>
                <c:pt idx="0">
                  <c:v>Expansion</c:v>
                </c:pt>
                <c:pt idx="1">
                  <c:v>Recession</c:v>
                </c:pt>
                <c:pt idx="2">
                  <c:v>High volatility</c:v>
                </c:pt>
                <c:pt idx="3">
                  <c:v>Low volatility</c:v>
                </c:pt>
              </c:strCache>
            </c:strRef>
          </c:cat>
          <c:val>
            <c:numRef>
              <c:f>'Chart Data'!$B$2:$B$5</c:f>
              <c:numCache>
                <c:formatCode>0.000</c:formatCode>
                <c:ptCount val="4"/>
                <c:pt idx="0">
                  <c:v>3.17271624</c:v>
                </c:pt>
                <c:pt idx="1">
                  <c:v>3.41225839</c:v>
                </c:pt>
                <c:pt idx="2">
                  <c:v>3.70494926</c:v>
                </c:pt>
                <c:pt idx="3">
                  <c:v>2.7207552</c:v>
                </c:pt>
              </c:numCache>
            </c:numRef>
          </c:val>
        </c:ser>
        <c:ser>
          <c:idx val="1"/>
          <c:order val="1"/>
          <c:tx>
            <c:v>Code 07 GAN</c:v>
          </c:tx>
          <c:spPr>
            <a:solidFill xmlns:a="http://schemas.openxmlformats.org/drawingml/2006/main">
              <a:srgbClr val="003262"/>
            </a:solidFill>
          </c:spPr>
          <c:cat>
            <c:strRef>
              <c:f>'Chart Data'!$C$2:$C$5</c:f>
              <c:strCache>
                <c:ptCount val="4"/>
                <c:pt idx="0">
                  <c:v>Expansion</c:v>
                </c:pt>
                <c:pt idx="1">
                  <c:v>Recession</c:v>
                </c:pt>
                <c:pt idx="2">
                  <c:v>High volatility</c:v>
                </c:pt>
                <c:pt idx="3">
                  <c:v>Low volatility</c:v>
                </c:pt>
              </c:strCache>
            </c:strRef>
          </c:cat>
          <c:val>
            <c:numRef>
              <c:f>'Chart Data'!$D$2:$D$5</c:f>
              <c:numCache>
                <c:formatCode>0.000</c:formatCode>
                <c:ptCount val="4"/>
                <c:pt idx="0">
                  <c:v>2.48767999</c:v>
                </c:pt>
                <c:pt idx="1">
                  <c:v>2.63495523</c:v>
                </c:pt>
                <c:pt idx="2">
                  <c:v>2.82971243</c:v>
                </c:pt>
                <c:pt idx="3">
                  <c:v>2.19583613</c:v>
                </c:pt>
              </c:numCache>
            </c:numRef>
          </c:val>
        </c:ser>
        <c:ser>
          <c:idx val="2"/>
          <c:order val="2"/>
          <c:tx>
            <c:v>New LSTM</c:v>
          </c:tx>
          <c:spPr>
            <a:solidFill xmlns:a="http://schemas.openxmlformats.org/drawingml/2006/main">
              <a:srgbClr val="2563EB"/>
            </a:solidFill>
          </c:spPr>
          <c:cat>
            <c:strRef>
              <c:f>'Chart Data'!$E$2:$E$5</c:f>
              <c:strCache>
                <c:ptCount val="4"/>
                <c:pt idx="0">
                  <c:v>Expansion</c:v>
                </c:pt>
                <c:pt idx="1">
                  <c:v>Recession</c:v>
                </c:pt>
                <c:pt idx="2">
                  <c:v>High volatility</c:v>
                </c:pt>
                <c:pt idx="3">
                  <c:v>Low volatility</c:v>
                </c:pt>
              </c:strCache>
            </c:strRef>
          </c:cat>
          <c:val>
            <c:numRef>
              <c:f>'Chart Data'!$F$2:$F$5</c:f>
              <c:numCache>
                <c:formatCode>0.000</c:formatCode>
                <c:ptCount val="4"/>
                <c:pt idx="0">
                  <c:v>1.78312146</c:v>
                </c:pt>
                <c:pt idx="1">
                  <c:v>1.89340196</c:v>
                </c:pt>
                <c:pt idx="2">
                  <c:v>1.72244885</c:v>
                </c:pt>
                <c:pt idx="3">
                  <c:v>1.86349234</c:v>
                </c:pt>
              </c:numCache>
            </c:numRef>
          </c:val>
        </c:ser>
        <c:ser>
          <c:idx val="3"/>
          <c:order val="3"/>
          <c:tx>
            <c:v>Transformer</c:v>
          </c:tx>
          <c:spPr>
            <a:solidFill xmlns:a="http://schemas.openxmlformats.org/drawingml/2006/main">
              <a:srgbClr val="B7790B"/>
            </a:solidFill>
          </c:spPr>
          <c:cat>
            <c:strRef>
              <c:f>'Chart Data'!$G$2:$G$5</c:f>
              <c:strCache>
                <c:ptCount val="4"/>
                <c:pt idx="0">
                  <c:v>Expansion</c:v>
                </c:pt>
                <c:pt idx="1">
                  <c:v>Recession</c:v>
                </c:pt>
                <c:pt idx="2">
                  <c:v>High volatility</c:v>
                </c:pt>
                <c:pt idx="3">
                  <c:v>Low volatility</c:v>
                </c:pt>
              </c:strCache>
            </c:strRef>
          </c:cat>
          <c:val>
            <c:numRef>
              <c:f>'Chart Data'!$H$2:$H$5</c:f>
              <c:numCache>
                <c:formatCode>0.000</c:formatCode>
                <c:ptCount val="4"/>
                <c:pt idx="0">
                  <c:v>1.1623544</c:v>
                </c:pt>
                <c:pt idx="1">
                  <c:v>1.77524439</c:v>
                </c:pt>
                <c:pt idx="2">
                  <c:v>1.04243782</c:v>
                </c:pt>
                <c:pt idx="3">
                  <c:v>1.4040107</c:v>
                </c:pt>
              </c:numCache>
            </c:numRef>
          </c:val>
        </c:ser>
        <c:ser>
          <c:idx val="4"/>
          <c:order val="4"/>
          <c:tx>
            <c:v>50/50 blend</c:v>
          </c:tx>
          <c:spPr>
            <a:solidFill xmlns:a="http://schemas.openxmlformats.org/drawingml/2006/main">
              <a:srgbClr val="16816B"/>
            </a:solidFill>
          </c:spPr>
          <c:cat>
            <c:strRef>
              <c:f>'Chart Data'!$I$2:$I$5</c:f>
              <c:strCache>
                <c:ptCount val="4"/>
                <c:pt idx="0">
                  <c:v>Expansion</c:v>
                </c:pt>
                <c:pt idx="1">
                  <c:v>Recession</c:v>
                </c:pt>
                <c:pt idx="2">
                  <c:v>High volatility</c:v>
                </c:pt>
                <c:pt idx="3">
                  <c:v>Low volatility</c:v>
                </c:pt>
              </c:strCache>
            </c:strRef>
          </c:cat>
          <c:val>
            <c:numRef>
              <c:f>'Chart Data'!$J$2:$J$5</c:f>
              <c:numCache>
                <c:formatCode>0.000</c:formatCode>
                <c:ptCount val="4"/>
                <c:pt idx="0">
                  <c:v>1.79899477</c:v>
                </c:pt>
                <c:pt idx="1">
                  <c:v>2.46876111</c:v>
                </c:pt>
                <c:pt idx="2">
                  <c:v>1.65829071</c:v>
                </c:pt>
                <c:pt idx="3">
                  <c:v>2.07219074</c:v>
                </c:pt>
              </c:numCache>
            </c:numRef>
          </c:val>
        </c:ser>
        <c:dLbls>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dLblPos val="outEnd"/>
          <c:showLegendKey val="0"/>
          <c:showVal val="0"/>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crossAx val="48672768"/>
      </c:catAx>
      <c:valAx>
        <c:axId val="48672768"/>
        <c:scaling>
          <c:orientation val="minMax"/>
          <c:max val="5"/>
          <c:min val="0"/>
        </c:scaling>
        <c:delete val="0"/>
        <c:axPos val="l"/>
        <c:majorGridlines>
          <c:spPr>
            <a:ln xmlns:a="http://schemas.openxmlformats.org/drawingml/2006/main" w="4763">
              <a:solidFill>
                <a:srgbClr val="D5DDE5"/>
              </a:solidFill>
            </a:ln>
          </c:spPr>
        </c:majorGridlines>
        <c:title>
          <c:tx>
            <c:rich>
              <a:bodyPr xmlns:a="http://schemas.openxmlformats.org/drawingml/2006/main"/>
              <a:lstStyle xmlns:a="http://schemas.openxmlformats.org/drawingml/2006/main"/>
              <a:p xmlns:a="http://schemas.openxmlformats.org/drawingml/2006/main">
                <a:r>
                  <a:rPr sz="1200">
                    <a:solidFill>
                      <a:srgbClr val="1F2A37"/>
                    </a:solidFill>
                    <a:latin typeface="Arial"/>
                    <a:ea typeface="Arial"/>
                    <a:cs typeface="Arial"/>
                  </a:rPr>
                  <a:t>Mean annualized rolling Sharpe</a:t>
                </a:r>
              </a:p>
            </c:rich>
          </c:tx>
          <c:overlay val="0"/>
          <c:txPr>
            <a:bodyPr xmlns:a="http://schemas.openxmlformats.org/drawingml/2006/main" anchorCtr="1"/>
            <a:lstStyle xmlns:a="http://schemas.openxmlformats.org/drawingml/2006/main"/>
            <a:p xmlns:a="http://schemas.openxmlformats.org/drawingml/2006/main">
              <a:pPr>
                <a:defRPr sz="1200">
                  <a:solidFill>
                    <a:srgbClr val="1F2A37"/>
                  </a:solidFill>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1F2A3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740d04734be46e2"/>
          <a:srcRect xmlns:a="http://schemas.openxmlformats.org/drawingml/2006/main" l="0" t="22546" r="0" b="22546"/>
          <a:stretch xmlns:a="http://schemas.openxmlformats.org/drawingml/2006/main">
            <a:fillRect l="0" t="0" r="0" b="0"/>
          </a:stretch>
        </p:blipFill>
        <p:spPr>
          <a:xfrm xmlns:a="http://schemas.openxmlformats.org/drawingml/2006/main">
            <a:off x="0" y="0"/>
            <a:ext cx="9144000" cy="3238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17722BC-8F5F-4E1A-8BAD-DEF87848CBEF}"/>
              </a:ext>
            </a:extLst>
          </p:cNvPr>
          <p:cNvSpPr>
            <a:spLocks xmlns:a="http://schemas.openxmlformats.org/drawingml/2006/main" noGrp="1"/>
          </p:cNvSpPr>
          <p:nvPr/>
        </p:nvSpPr>
        <p:spPr>
          <a:xfrm xmlns:a="http://schemas.openxmlformats.org/drawingml/2006/main">
            <a:off x="342900" y="2343150"/>
            <a:ext cx="8420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Arial"/>
                <a:ea typeface="Arial"/>
                <a:cs typeface="Arial"/>
              </a:defRPr>
            </a:pPr>
            <a:r>
              <a:rPr sz="3000" b="1">
                <a:solidFill>
                  <a:srgbClr val="FFFFFF"/>
                </a:solidFill>
                <a:latin typeface="Arial"/>
                <a:ea typeface="Arial"/>
                <a:cs typeface="Arial"/>
              </a:rPr>
              <a:t>Deep Learning in Asset Pricing</a:t>
            </a:r>
          </a:p>
        </p:txBody>
      </p:sp>
      <p:sp>
        <p:nvSpPr>
          <p:cNvPr id="3" name="">
            <a:extLst xmlns:a="http://schemas.openxmlformats.org/drawingml/2006/main">
              <a:ext uri="{FF2B5EF4-FFF2-40B4-BE49-F238E27FC236}">
                <a16:creationId xmlns:a16="http://schemas.microsoft.com/office/drawing/2014/main" id="{B6B2ADF6-77BA-4783-A626-A08C7D3455BD}"/>
              </a:ext>
            </a:extLst>
          </p:cNvPr>
          <p:cNvSpPr>
            <a:spLocks xmlns:a="http://schemas.openxmlformats.org/drawingml/2006/main" noGrp="1"/>
          </p:cNvSpPr>
          <p:nvPr/>
        </p:nvSpPr>
        <p:spPr>
          <a:xfrm xmlns:a="http://schemas.openxmlformats.org/drawingml/2006/main">
            <a:off x="361950" y="3476625"/>
            <a:ext cx="781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3262"/>
                </a:solidFill>
                <a:latin typeface="Arial"/>
                <a:ea typeface="Arial"/>
                <a:cs typeface="Arial"/>
              </a:defRPr>
            </a:pPr>
            <a:r>
              <a:rPr sz="2025" b="1">
                <a:solidFill>
                  <a:srgbClr val="003262"/>
                </a:solidFill>
                <a:latin typeface="Arial"/>
                <a:ea typeface="Arial"/>
                <a:cs typeface="Arial"/>
              </a:rPr>
              <a:t>Replication and extensions</a:t>
            </a:r>
          </a:p>
        </p:txBody>
      </p:sp>
      <p:sp>
        <p:nvSpPr>
          <p:cNvPr id="4" name="">
            <a:extLst xmlns:a="http://schemas.openxmlformats.org/drawingml/2006/main">
              <a:ext uri="{FF2B5EF4-FFF2-40B4-BE49-F238E27FC236}">
                <a16:creationId xmlns:a16="http://schemas.microsoft.com/office/drawing/2014/main" id="{6AB98E14-704C-4107-9831-631359DAA088}"/>
              </a:ext>
            </a:extLst>
          </p:cNvPr>
          <p:cNvSpPr>
            <a:spLocks xmlns:a="http://schemas.openxmlformats.org/drawingml/2006/main" noGrp="1"/>
          </p:cNvSpPr>
          <p:nvPr/>
        </p:nvSpPr>
        <p:spPr>
          <a:xfrm xmlns:a="http://schemas.openxmlformats.org/drawingml/2006/main">
            <a:off x="361950" y="3886200"/>
            <a:ext cx="819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F2A37"/>
                </a:solidFill>
                <a:latin typeface="Arial"/>
                <a:ea typeface="Arial"/>
                <a:cs typeface="Arial"/>
              </a:defRPr>
            </a:pPr>
            <a:r>
              <a:rPr sz="1725" b="0">
                <a:solidFill>
                  <a:srgbClr val="1F2A37"/>
                </a:solidFill>
                <a:latin typeface="Arial"/>
                <a:ea typeface="Arial"/>
                <a:cs typeface="Arial"/>
              </a:rPr>
              <a:t>LSTM, Transformer, rolling performance and regimes</a:t>
            </a:r>
          </a:p>
        </p:txBody>
      </p:sp>
      <p:sp>
        <p:nvSpPr>
          <p:cNvPr id="5" name="">
            <a:extLst xmlns:a="http://schemas.openxmlformats.org/drawingml/2006/main">
              <a:ext uri="{FF2B5EF4-FFF2-40B4-BE49-F238E27FC236}">
                <a16:creationId xmlns:a16="http://schemas.microsoft.com/office/drawing/2014/main" id="{75805839-55C7-482A-8A0C-0AB491B09147}"/>
              </a:ext>
            </a:extLst>
          </p:cNvPr>
          <p:cNvSpPr>
            <a:spLocks xmlns:a="http://schemas.openxmlformats.org/drawingml/2006/main" noGrp="1"/>
          </p:cNvSpPr>
          <p:nvPr/>
        </p:nvSpPr>
        <p:spPr>
          <a:xfrm xmlns:a="http://schemas.openxmlformats.org/drawingml/2006/main">
            <a:off x="361950" y="4257675"/>
            <a:ext cx="676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F2A37"/>
                </a:solidFill>
                <a:latin typeface="Arial"/>
                <a:ea typeface="Arial"/>
                <a:cs typeface="Arial"/>
              </a:defRPr>
            </a:pPr>
            <a:r>
              <a:rPr sz="1350" b="0">
                <a:solidFill>
                  <a:srgbClr val="1F2A37"/>
                </a:solidFill>
                <a:latin typeface="Arial"/>
                <a:ea typeface="Arial"/>
                <a:cs typeface="Arial"/>
              </a:rPr>
              <a:t>Reza Zamani, Hrafnhildur Lif Jonsdottir</a:t>
            </a:r>
          </a:p>
        </p:txBody>
      </p:sp>
      <p:sp>
        <p:nvSpPr>
          <p:cNvPr id="6" name="">
            <a:extLst xmlns:a="http://schemas.openxmlformats.org/drawingml/2006/main">
              <a:ext uri="{FF2B5EF4-FFF2-40B4-BE49-F238E27FC236}">
                <a16:creationId xmlns:a16="http://schemas.microsoft.com/office/drawing/2014/main" id="{2CE880DC-AB16-4937-9A7B-A7D4CFE56FD9}"/>
              </a:ext>
            </a:extLst>
          </p:cNvPr>
          <p:cNvSpPr>
            <a:spLocks xmlns:a="http://schemas.openxmlformats.org/drawingml/2006/main" noGrp="1"/>
          </p:cNvSpPr>
          <p:nvPr/>
        </p:nvSpPr>
        <p:spPr>
          <a:xfrm xmlns:a="http://schemas.openxmlformats.org/drawingml/2006/main">
            <a:off x="361950" y="4495800"/>
            <a:ext cx="6762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F2A37"/>
                </a:solidFill>
                <a:latin typeface="Arial"/>
                <a:ea typeface="Arial"/>
                <a:cs typeface="Arial"/>
              </a:defRPr>
            </a:pPr>
            <a:r>
              <a:rPr sz="1350" b="0">
                <a:solidFill>
                  <a:srgbClr val="1F2A37"/>
                </a:solidFill>
                <a:latin typeface="Arial"/>
                <a:ea typeface="Arial"/>
                <a:cs typeface="Arial"/>
              </a:rPr>
              <a:t>Paraj Goyal and Elouan Bahri</a:t>
            </a:r>
          </a:p>
        </p:txBody>
      </p:sp>
      <p:sp>
        <p:nvSpPr>
          <p:cNvPr id="7" name="">
            <a:extLst xmlns:a="http://schemas.openxmlformats.org/drawingml/2006/main">
              <a:ext uri="{FF2B5EF4-FFF2-40B4-BE49-F238E27FC236}">
                <a16:creationId xmlns:a16="http://schemas.microsoft.com/office/drawing/2014/main" id="{EA76D10C-39E0-46D1-96D6-40BFCE92CAD8}"/>
              </a:ext>
            </a:extLst>
          </p:cNvPr>
          <p:cNvSpPr>
            <a:spLocks xmlns:a="http://schemas.openxmlformats.org/drawingml/2006/main" noGrp="1"/>
          </p:cNvSpPr>
          <p:nvPr/>
        </p:nvSpPr>
        <p:spPr>
          <a:xfrm xmlns:a="http://schemas.openxmlformats.org/drawingml/2006/main">
            <a:off x="361950" y="4743450"/>
            <a:ext cx="6762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B6770"/>
                </a:solidFill>
                <a:latin typeface="Arial"/>
                <a:ea typeface="Arial"/>
                <a:cs typeface="Arial"/>
              </a:defRPr>
            </a:pPr>
            <a:r>
              <a:rPr sz="1275" b="0">
                <a:solidFill>
                  <a:srgbClr val="5B6770"/>
                </a:solidFill>
                <a:latin typeface="Arial"/>
                <a:ea typeface="Arial"/>
                <a:cs typeface="Arial"/>
              </a:rPr>
              <a:t>Professor: Ali Kakhbod</a:t>
            </a:r>
          </a:p>
        </p:txBody>
      </p:sp>
      <p:sp>
        <p:nvSpPr>
          <p:cNvPr id="8" name="">
            <a:extLst xmlns:a="http://schemas.openxmlformats.org/drawingml/2006/main">
              <a:ext uri="{FF2B5EF4-FFF2-40B4-BE49-F238E27FC236}">
                <a16:creationId xmlns:a16="http://schemas.microsoft.com/office/drawing/2014/main" id="{2737AEBE-0A8A-465B-919D-FFB8BE46A209}"/>
              </a:ext>
            </a:extLst>
          </p:cNvPr>
          <p:cNvSpPr>
            <a:spLocks xmlns:a="http://schemas.openxmlformats.org/drawingml/2006/main" noGrp="1"/>
          </p:cNvSpPr>
          <p:nvPr/>
        </p:nvSpPr>
        <p:spPr>
          <a:xfrm xmlns:a="http://schemas.openxmlformats.org/drawingml/2006/main">
            <a:off x="7277100" y="4895850"/>
            <a:ext cx="1714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Group 7 · October 2026</a:t>
            </a:r>
          </a:p>
        </p:txBody>
      </p:sp>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9ef49380aea34ed1"/>
          <a:stretch xmlns:a="http://schemas.openxmlformats.org/drawingml/2006/main"/>
        </p:blipFill>
        <p:spPr>
          <a:xfrm xmlns:a="http://schemas.openxmlformats.org/drawingml/2006/main">
            <a:off x="7279079" y="4514850"/>
            <a:ext cx="1520042" cy="285750"/>
          </a:xfrm>
          <a:prstGeom xmlns:a="http://schemas.openxmlformats.org/drawingml/2006/main" prst="rect">
            <a:avLst/>
          </a:prstGeom>
        </p:spPr>
      </p:pic>
    </p:spTree>
    <p:extLst>
      <p:ext uri="{BB962C8B-B14F-4D97-AF65-F5344CB8AC3E}">
        <p14:creationId xmlns:p14="http://schemas.microsoft.com/office/powerpoint/2010/main" val="212267259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B54E54F-0AD9-490F-9A7B-269DBBED7DC0}"/>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9E0050E-71D0-4059-9F5D-B2FB48EFBDE7}"/>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326D9B9-3611-44CD-BFED-1A4EBC115F0F}"/>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Presentation overview</a:t>
            </a:r>
          </a:p>
        </p:txBody>
      </p:sp>
      <p:sp>
        <p:nvSpPr>
          <p:cNvPr id="4" name="">
            <a:extLst xmlns:a="http://schemas.openxmlformats.org/drawingml/2006/main">
              <a:ext uri="{FF2B5EF4-FFF2-40B4-BE49-F238E27FC236}">
                <a16:creationId xmlns:a16="http://schemas.microsoft.com/office/drawing/2014/main" id="{03B86050-0CEA-4C51-9DE9-485D2E6B05B9}"/>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Original paper and replication</a:t>
            </a:r>
          </a:p>
        </p:txBody>
      </p:sp>
      <p:sp>
        <p:nvSpPr>
          <p:cNvPr id="5" name="">
            <a:extLst xmlns:a="http://schemas.openxmlformats.org/drawingml/2006/main">
              <a:ext uri="{FF2B5EF4-FFF2-40B4-BE49-F238E27FC236}">
                <a16:creationId xmlns:a16="http://schemas.microsoft.com/office/drawing/2014/main" id="{AA270CDB-3476-4825-8209-7A407FCAAFE4}"/>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a:t>
            </a:r>
          </a:p>
        </p:txBody>
      </p:sp>
      <p:sp>
        <p:nvSpPr>
          <p:cNvPr id="6" name="">
            <a:extLst xmlns:a="http://schemas.openxmlformats.org/drawingml/2006/main">
              <a:ext uri="{FF2B5EF4-FFF2-40B4-BE49-F238E27FC236}">
                <a16:creationId xmlns:a16="http://schemas.microsoft.com/office/drawing/2014/main" id="{1921251D-EEF7-4D1C-8DCF-011DDA6278B7}"/>
              </a:ext>
            </a:extLst>
          </p:cNvPr>
          <p:cNvSpPr>
            <a:spLocks xmlns:a="http://schemas.openxmlformats.org/drawingml/2006/main" noGrp="1"/>
          </p:cNvSpPr>
          <p:nvPr/>
        </p:nvSpPr>
        <p:spPr>
          <a:xfrm xmlns:a="http://schemas.openxmlformats.org/drawingml/2006/main">
            <a:off x="400050" y="10001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The original paper</a:t>
            </a:r>
          </a:p>
        </p:txBody>
      </p:sp>
      <p:sp>
        <p:nvSpPr>
          <p:cNvPr id="7" name="">
            <a:extLst xmlns:a="http://schemas.openxmlformats.org/drawingml/2006/main">
              <a:ext uri="{FF2B5EF4-FFF2-40B4-BE49-F238E27FC236}">
                <a16:creationId xmlns:a16="http://schemas.microsoft.com/office/drawing/2014/main" id="{EB7A821F-E300-44B2-8515-3C58865616AC}"/>
              </a:ext>
            </a:extLst>
          </p:cNvPr>
          <p:cNvSpPr>
            <a:spLocks xmlns:a="http://schemas.openxmlformats.org/drawingml/2006/main" noGrp="1"/>
          </p:cNvSpPr>
          <p:nvPr/>
        </p:nvSpPr>
        <p:spPr>
          <a:xfrm xmlns:a="http://schemas.openxmlformats.org/drawingml/2006/main">
            <a:off x="400050" y="13525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Economic pricing restrictions, hidden macro states and adversarial instruments.</a:t>
            </a:r>
          </a:p>
        </p:txBody>
      </p:sp>
      <p:sp>
        <p:nvSpPr>
          <p:cNvPr id="8" name="">
            <a:extLst xmlns:a="http://schemas.openxmlformats.org/drawingml/2006/main">
              <a:ext uri="{FF2B5EF4-FFF2-40B4-BE49-F238E27FC236}">
                <a16:creationId xmlns:a16="http://schemas.microsoft.com/office/drawing/2014/main" id="{2808B2BB-44D4-4512-944B-4DA495078A25}"/>
              </a:ext>
            </a:extLst>
          </p:cNvPr>
          <p:cNvSpPr>
            <a:spLocks xmlns:a="http://schemas.openxmlformats.org/drawingml/2006/main" noGrp="1"/>
          </p:cNvSpPr>
          <p:nvPr/>
        </p:nvSpPr>
        <p:spPr>
          <a:xfrm xmlns:a="http://schemas.openxmlformats.org/drawingml/2006/main">
            <a:off x="400050" y="20669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Our replication</a:t>
            </a:r>
          </a:p>
        </p:txBody>
      </p:sp>
      <p:sp>
        <p:nvSpPr>
          <p:cNvPr id="9" name="">
            <a:extLst xmlns:a="http://schemas.openxmlformats.org/drawingml/2006/main">
              <a:ext uri="{FF2B5EF4-FFF2-40B4-BE49-F238E27FC236}">
                <a16:creationId xmlns:a16="http://schemas.microsoft.com/office/drawing/2014/main" id="{B45B7049-74E2-4616-8065-6C644BF390EF}"/>
              </a:ext>
            </a:extLst>
          </p:cNvPr>
          <p:cNvSpPr>
            <a:spLocks xmlns:a="http://schemas.openxmlformats.org/drawingml/2006/main" noGrp="1"/>
          </p:cNvSpPr>
          <p:nvPr/>
        </p:nvSpPr>
        <p:spPr>
          <a:xfrm xmlns:a="http://schemas.openxmlformats.org/drawingml/2006/main">
            <a:off x="400050" y="24193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Published benchmarks, local model rankings and validation checks.</a:t>
            </a:r>
          </a:p>
        </p:txBody>
      </p:sp>
      <p:sp>
        <p:nvSpPr>
          <p:cNvPr id="10" name="">
            <a:extLst xmlns:a="http://schemas.openxmlformats.org/drawingml/2006/main">
              <a:ext uri="{FF2B5EF4-FFF2-40B4-BE49-F238E27FC236}">
                <a16:creationId xmlns:a16="http://schemas.microsoft.com/office/drawing/2014/main" id="{22010202-A5EA-4A18-B97A-C08347F79E9E}"/>
              </a:ext>
            </a:extLst>
          </p:cNvPr>
          <p:cNvSpPr>
            <a:spLocks xmlns:a="http://schemas.openxmlformats.org/drawingml/2006/main" noGrp="1"/>
          </p:cNvSpPr>
          <p:nvPr/>
        </p:nvSpPr>
        <p:spPr>
          <a:xfrm xmlns:a="http://schemas.openxmlformats.org/drawingml/2006/main">
            <a:off x="400050" y="31337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New results from Codes 08–11</a:t>
            </a:r>
          </a:p>
        </p:txBody>
      </p:sp>
      <p:sp>
        <p:nvSpPr>
          <p:cNvPr id="11" name="">
            <a:extLst xmlns:a="http://schemas.openxmlformats.org/drawingml/2006/main">
              <a:ext uri="{FF2B5EF4-FFF2-40B4-BE49-F238E27FC236}">
                <a16:creationId xmlns:a16="http://schemas.microsoft.com/office/drawing/2014/main" id="{BDB03EDB-02F1-4762-BFDB-BD72B868FB6B}"/>
              </a:ext>
            </a:extLst>
          </p:cNvPr>
          <p:cNvSpPr>
            <a:spLocks xmlns:a="http://schemas.openxmlformats.org/drawingml/2006/main" noGrp="1"/>
          </p:cNvSpPr>
          <p:nvPr/>
        </p:nvSpPr>
        <p:spPr>
          <a:xfrm xmlns:a="http://schemas.openxmlformats.org/drawingml/2006/main">
            <a:off x="400050" y="34861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Architecture, rolling windows, economic regimes and their combinations.</a:t>
            </a:r>
          </a:p>
        </p:txBody>
      </p:sp>
    </p:spTree>
    <p:extLst>
      <p:ext uri="{BB962C8B-B14F-4D97-AF65-F5344CB8AC3E}">
        <p14:creationId xmlns:p14="http://schemas.microsoft.com/office/powerpoint/2010/main" val="119399135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D1A392C-FD7B-490C-AB70-FF3B2C80A402}"/>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0A2FC7D-2B14-4FE2-896A-2B7B51C43123}"/>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8DE8CA6-C9E0-4D53-AA41-52B1369BB363}"/>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The original paper’s research question</a:t>
            </a:r>
          </a:p>
        </p:txBody>
      </p:sp>
      <p:sp>
        <p:nvSpPr>
          <p:cNvPr id="4" name="">
            <a:extLst xmlns:a="http://schemas.openxmlformats.org/drawingml/2006/main">
              <a:ext uri="{FF2B5EF4-FFF2-40B4-BE49-F238E27FC236}">
                <a16:creationId xmlns:a16="http://schemas.microsoft.com/office/drawing/2014/main" id="{17F847DE-6E50-40A3-93FC-AFFBC0414C91}"/>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Original paper</a:t>
            </a:r>
          </a:p>
        </p:txBody>
      </p:sp>
      <p:sp>
        <p:nvSpPr>
          <p:cNvPr id="5" name="">
            <a:extLst xmlns:a="http://schemas.openxmlformats.org/drawingml/2006/main">
              <a:ext uri="{FF2B5EF4-FFF2-40B4-BE49-F238E27FC236}">
                <a16:creationId xmlns:a16="http://schemas.microsoft.com/office/drawing/2014/main" id="{3D6D6C15-784C-46B2-9F11-48BE4714356B}"/>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3</a:t>
            </a:r>
          </a:p>
        </p:txBody>
      </p:sp>
      <p:sp>
        <p:nvSpPr>
          <p:cNvPr id="6" name="">
            <a:extLst xmlns:a="http://schemas.openxmlformats.org/drawingml/2006/main">
              <a:ext uri="{FF2B5EF4-FFF2-40B4-BE49-F238E27FC236}">
                <a16:creationId xmlns:a16="http://schemas.microsoft.com/office/drawing/2014/main" id="{CDAED1DE-03C0-45FF-A14F-13603C0A38F1}"/>
              </a:ext>
            </a:extLst>
          </p:cNvPr>
          <p:cNvSpPr>
            <a:spLocks xmlns:a="http://schemas.openxmlformats.org/drawingml/2006/main" noGrp="1"/>
          </p:cNvSpPr>
          <p:nvPr/>
        </p:nvSpPr>
        <p:spPr>
          <a:xfrm xmlns:a="http://schemas.openxmlformats.org/drawingml/2006/main">
            <a:off x="400050" y="10001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Estimate a pricing kernel</a:t>
            </a:r>
          </a:p>
        </p:txBody>
      </p:sp>
      <p:sp>
        <p:nvSpPr>
          <p:cNvPr id="7" name="">
            <a:extLst xmlns:a="http://schemas.openxmlformats.org/drawingml/2006/main">
              <a:ext uri="{FF2B5EF4-FFF2-40B4-BE49-F238E27FC236}">
                <a16:creationId xmlns:a16="http://schemas.microsoft.com/office/drawing/2014/main" id="{26C5AB3E-F3C1-4663-B729-51143E72A160}"/>
              </a:ext>
            </a:extLst>
          </p:cNvPr>
          <p:cNvSpPr>
            <a:spLocks xmlns:a="http://schemas.openxmlformats.org/drawingml/2006/main" noGrp="1"/>
          </p:cNvSpPr>
          <p:nvPr/>
        </p:nvSpPr>
        <p:spPr>
          <a:xfrm xmlns:a="http://schemas.openxmlformats.org/drawingml/2006/main">
            <a:off x="400050" y="13525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Learn the stochastic discount factor that prices assets consistently with no arbitrage.</a:t>
            </a:r>
          </a:p>
        </p:txBody>
      </p:sp>
      <p:sp>
        <p:nvSpPr>
          <p:cNvPr id="8" name="">
            <a:extLst xmlns:a="http://schemas.openxmlformats.org/drawingml/2006/main">
              <a:ext uri="{FF2B5EF4-FFF2-40B4-BE49-F238E27FC236}">
                <a16:creationId xmlns:a16="http://schemas.microsoft.com/office/drawing/2014/main" id="{9F2BF79E-A6F8-4A50-9B99-DF46F6B7A790}"/>
              </a:ext>
            </a:extLst>
          </p:cNvPr>
          <p:cNvSpPr>
            <a:spLocks xmlns:a="http://schemas.openxmlformats.org/drawingml/2006/main" noGrp="1"/>
          </p:cNvSpPr>
          <p:nvPr/>
        </p:nvSpPr>
        <p:spPr>
          <a:xfrm xmlns:a="http://schemas.openxmlformats.org/drawingml/2006/main">
            <a:off x="400050" y="20669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Use a richer information set</a:t>
            </a:r>
          </a:p>
        </p:txBody>
      </p:sp>
      <p:sp>
        <p:nvSpPr>
          <p:cNvPr id="9" name="">
            <a:extLst xmlns:a="http://schemas.openxmlformats.org/drawingml/2006/main">
              <a:ext uri="{FF2B5EF4-FFF2-40B4-BE49-F238E27FC236}">
                <a16:creationId xmlns:a16="http://schemas.microsoft.com/office/drawing/2014/main" id="{6914E153-1E4A-421F-949D-4BC3A0EED69A}"/>
              </a:ext>
            </a:extLst>
          </p:cNvPr>
          <p:cNvSpPr>
            <a:spLocks xmlns:a="http://schemas.openxmlformats.org/drawingml/2006/main" noGrp="1"/>
          </p:cNvSpPr>
          <p:nvPr/>
        </p:nvSpPr>
        <p:spPr>
          <a:xfrm xmlns:a="http://schemas.openxmlformats.org/drawingml/2006/main">
            <a:off x="400050" y="24193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Firm characteristics and macroeconomic history allow risk exposures to vary over time.</a:t>
            </a:r>
          </a:p>
        </p:txBody>
      </p:sp>
      <p:sp>
        <p:nvSpPr>
          <p:cNvPr id="10" name="">
            <a:extLst xmlns:a="http://schemas.openxmlformats.org/drawingml/2006/main">
              <a:ext uri="{FF2B5EF4-FFF2-40B4-BE49-F238E27FC236}">
                <a16:creationId xmlns:a16="http://schemas.microsoft.com/office/drawing/2014/main" id="{7E472649-D7B8-495B-9645-1E055C8BBB6A}"/>
              </a:ext>
            </a:extLst>
          </p:cNvPr>
          <p:cNvSpPr>
            <a:spLocks xmlns:a="http://schemas.openxmlformats.org/drawingml/2006/main" noGrp="1"/>
          </p:cNvSpPr>
          <p:nvPr/>
        </p:nvSpPr>
        <p:spPr>
          <a:xfrm xmlns:a="http://schemas.openxmlformats.org/drawingml/2006/main">
            <a:off x="400050" y="31337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Separate pricing from return prediction</a:t>
            </a:r>
          </a:p>
        </p:txBody>
      </p:sp>
      <p:sp>
        <p:nvSpPr>
          <p:cNvPr id="11" name="">
            <a:extLst xmlns:a="http://schemas.openxmlformats.org/drawingml/2006/main">
              <a:ext uri="{FF2B5EF4-FFF2-40B4-BE49-F238E27FC236}">
                <a16:creationId xmlns:a16="http://schemas.microsoft.com/office/drawing/2014/main" id="{E5C22963-E5C0-46D2-8A87-B7B03DA7EA19}"/>
              </a:ext>
            </a:extLst>
          </p:cNvPr>
          <p:cNvSpPr>
            <a:spLocks xmlns:a="http://schemas.openxmlformats.org/drawingml/2006/main" noGrp="1"/>
          </p:cNvSpPr>
          <p:nvPr/>
        </p:nvSpPr>
        <p:spPr>
          <a:xfrm xmlns:a="http://schemas.openxmlformats.org/drawingml/2006/main">
            <a:off x="400050" y="34861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An economic moment objective guides the network toward pricing-relevant information.</a:t>
            </a:r>
          </a:p>
        </p:txBody>
      </p:sp>
    </p:spTree>
    <p:extLst>
      <p:ext uri="{BB962C8B-B14F-4D97-AF65-F5344CB8AC3E}">
        <p14:creationId xmlns:p14="http://schemas.microsoft.com/office/powerpoint/2010/main" val="149351699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04FD172-212B-4088-BCE6-F0930F369AB6}"/>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13273E8-BA33-467B-A9AA-E919611D4BF2}"/>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8524172-8138-4A42-9A9A-76209FFFEA67}"/>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How the model learns asset prices</a:t>
            </a:r>
          </a:p>
        </p:txBody>
      </p:sp>
      <p:sp>
        <p:nvSpPr>
          <p:cNvPr id="4" name="">
            <a:extLst xmlns:a="http://schemas.openxmlformats.org/drawingml/2006/main">
              <a:ext uri="{FF2B5EF4-FFF2-40B4-BE49-F238E27FC236}">
                <a16:creationId xmlns:a16="http://schemas.microsoft.com/office/drawing/2014/main" id="{17577831-9877-4A62-BD3E-EA52A7CC9D13}"/>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Original paper</a:t>
            </a:r>
          </a:p>
        </p:txBody>
      </p:sp>
      <p:sp>
        <p:nvSpPr>
          <p:cNvPr id="5" name="">
            <a:extLst xmlns:a="http://schemas.openxmlformats.org/drawingml/2006/main">
              <a:ext uri="{FF2B5EF4-FFF2-40B4-BE49-F238E27FC236}">
                <a16:creationId xmlns:a16="http://schemas.microsoft.com/office/drawing/2014/main" id="{5887362E-7D2F-44E8-BE4B-0F8B661B5E21}"/>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4</a:t>
            </a:r>
          </a:p>
        </p:txBody>
      </p:sp>
      <p:sp>
        <p:nvSpPr>
          <p:cNvPr id="6" name="">
            <a:extLst xmlns:a="http://schemas.openxmlformats.org/drawingml/2006/main">
              <a:ext uri="{FF2B5EF4-FFF2-40B4-BE49-F238E27FC236}">
                <a16:creationId xmlns:a16="http://schemas.microsoft.com/office/drawing/2014/main" id="{CAA4AD81-47B1-45E4-B594-2181071C2BAD}"/>
              </a:ext>
            </a:extLst>
          </p:cNvPr>
          <p:cNvSpPr>
            <a:spLocks xmlns:a="http://schemas.openxmlformats.org/drawingml/2006/main" noGrp="1"/>
          </p:cNvSpPr>
          <p:nvPr/>
        </p:nvSpPr>
        <p:spPr>
          <a:xfrm xmlns:a="http://schemas.openxmlformats.org/drawingml/2006/main">
            <a:off x="400050" y="10001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1. Summarize the economic environment</a:t>
            </a:r>
          </a:p>
        </p:txBody>
      </p:sp>
      <p:sp>
        <p:nvSpPr>
          <p:cNvPr id="7" name="">
            <a:extLst xmlns:a="http://schemas.openxmlformats.org/drawingml/2006/main">
              <a:ext uri="{FF2B5EF4-FFF2-40B4-BE49-F238E27FC236}">
                <a16:creationId xmlns:a16="http://schemas.microsoft.com/office/drawing/2014/main" id="{C9B13959-4548-4749-97D7-A5172281F6A9}"/>
              </a:ext>
            </a:extLst>
          </p:cNvPr>
          <p:cNvSpPr>
            <a:spLocks xmlns:a="http://schemas.openxmlformats.org/drawingml/2006/main" noGrp="1"/>
          </p:cNvSpPr>
          <p:nvPr/>
        </p:nvSpPr>
        <p:spPr>
          <a:xfrm xmlns:a="http://schemas.openxmlformats.org/drawingml/2006/main">
            <a:off x="400050" y="13525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LSTM networks read macroeconomic history and create hidden states for the pricing and adversarial branches.</a:t>
            </a:r>
          </a:p>
        </p:txBody>
      </p:sp>
      <p:sp>
        <p:nvSpPr>
          <p:cNvPr id="8" name="">
            <a:extLst xmlns:a="http://schemas.openxmlformats.org/drawingml/2006/main">
              <a:ext uri="{FF2B5EF4-FFF2-40B4-BE49-F238E27FC236}">
                <a16:creationId xmlns:a16="http://schemas.microsoft.com/office/drawing/2014/main" id="{E89FF7A8-DDCB-46F9-8D54-68E5DFC70944}"/>
              </a:ext>
            </a:extLst>
          </p:cNvPr>
          <p:cNvSpPr>
            <a:spLocks xmlns:a="http://schemas.openxmlformats.org/drawingml/2006/main" noGrp="1"/>
          </p:cNvSpPr>
          <p:nvPr/>
        </p:nvSpPr>
        <p:spPr>
          <a:xfrm xmlns:a="http://schemas.openxmlformats.org/drawingml/2006/main">
            <a:off x="400050" y="20669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2. Build the pricing portfolio</a:t>
            </a:r>
          </a:p>
        </p:txBody>
      </p:sp>
      <p:sp>
        <p:nvSpPr>
          <p:cNvPr id="9" name="">
            <a:extLst xmlns:a="http://schemas.openxmlformats.org/drawingml/2006/main">
              <a:ext uri="{FF2B5EF4-FFF2-40B4-BE49-F238E27FC236}">
                <a16:creationId xmlns:a16="http://schemas.microsoft.com/office/drawing/2014/main" id="{7A52849A-034B-4640-8AF8-0C558F34D039}"/>
              </a:ext>
            </a:extLst>
          </p:cNvPr>
          <p:cNvSpPr>
            <a:spLocks xmlns:a="http://schemas.openxmlformats.org/drawingml/2006/main" noGrp="1"/>
          </p:cNvSpPr>
          <p:nvPr/>
        </p:nvSpPr>
        <p:spPr>
          <a:xfrm xmlns:a="http://schemas.openxmlformats.org/drawingml/2006/main">
            <a:off x="400050" y="24193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A feedforward network combines firm characteristics with the pricing states to assign stock weights and construct the SDF.</a:t>
            </a:r>
          </a:p>
        </p:txBody>
      </p:sp>
      <p:sp>
        <p:nvSpPr>
          <p:cNvPr id="10" name="">
            <a:extLst xmlns:a="http://schemas.openxmlformats.org/drawingml/2006/main">
              <a:ext uri="{FF2B5EF4-FFF2-40B4-BE49-F238E27FC236}">
                <a16:creationId xmlns:a16="http://schemas.microsoft.com/office/drawing/2014/main" id="{FA80FD76-0070-47D5-90E5-486167994A02}"/>
              </a:ext>
            </a:extLst>
          </p:cNvPr>
          <p:cNvSpPr>
            <a:spLocks xmlns:a="http://schemas.openxmlformats.org/drawingml/2006/main" noGrp="1"/>
          </p:cNvSpPr>
          <p:nvPr/>
        </p:nvSpPr>
        <p:spPr>
          <a:xfrm xmlns:a="http://schemas.openxmlformats.org/drawingml/2006/main">
            <a:off x="400050" y="31337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3. Challenge and improve the model</a:t>
            </a:r>
          </a:p>
        </p:txBody>
      </p:sp>
      <p:sp>
        <p:nvSpPr>
          <p:cNvPr id="11" name="">
            <a:extLst xmlns:a="http://schemas.openxmlformats.org/drawingml/2006/main">
              <a:ext uri="{FF2B5EF4-FFF2-40B4-BE49-F238E27FC236}">
                <a16:creationId xmlns:a16="http://schemas.microsoft.com/office/drawing/2014/main" id="{D8EAE419-506B-4D31-96DE-F9D8EFD62FE2}"/>
              </a:ext>
            </a:extLst>
          </p:cNvPr>
          <p:cNvSpPr>
            <a:spLocks xmlns:a="http://schemas.openxmlformats.org/drawingml/2006/main" noGrp="1"/>
          </p:cNvSpPr>
          <p:nvPr/>
        </p:nvSpPr>
        <p:spPr>
          <a:xfrm xmlns:a="http://schemas.openxmlformats.org/drawingml/2006/main">
            <a:off x="400050" y="34861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The adversary finds instruments that reveal large pricing errors. The pricing network learns to reduce those errors.</a:t>
            </a:r>
          </a:p>
        </p:txBody>
      </p:sp>
    </p:spTree>
    <p:extLst>
      <p:ext uri="{BB962C8B-B14F-4D97-AF65-F5344CB8AC3E}">
        <p14:creationId xmlns:p14="http://schemas.microsoft.com/office/powerpoint/2010/main" val="206732512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F1942BA-C72E-4A4B-B57E-0DD7A1EF200A}"/>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AE0AA7A-44BF-43C7-A465-BB81A008504B}"/>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5FD81A8-E3FD-4ABD-AB72-14C0ED70A7DB}"/>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The original model architecture</a:t>
            </a:r>
          </a:p>
        </p:txBody>
      </p:sp>
      <p:sp>
        <p:nvSpPr>
          <p:cNvPr id="4" name="">
            <a:extLst xmlns:a="http://schemas.openxmlformats.org/drawingml/2006/main">
              <a:ext uri="{FF2B5EF4-FFF2-40B4-BE49-F238E27FC236}">
                <a16:creationId xmlns:a16="http://schemas.microsoft.com/office/drawing/2014/main" id="{A9ED6D3C-0ABF-45F6-B664-33B4DD619A13}"/>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Original paper</a:t>
            </a:r>
          </a:p>
        </p:txBody>
      </p:sp>
      <p:sp>
        <p:nvSpPr>
          <p:cNvPr id="5" name="">
            <a:extLst xmlns:a="http://schemas.openxmlformats.org/drawingml/2006/main">
              <a:ext uri="{FF2B5EF4-FFF2-40B4-BE49-F238E27FC236}">
                <a16:creationId xmlns:a16="http://schemas.microsoft.com/office/drawing/2014/main" id="{8D7E1FBB-9F43-4ADB-9314-C73A5FF66569}"/>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5</a:t>
            </a:r>
          </a:p>
        </p:txBody>
      </p:sp>
      <p:graphicFrame>
        <p:nvGraphicFramePr>
          <p:cNvPr id="13" name=""/>
          <p:cNvGraphicFramePr/>
          <p:nvPr/>
        </p:nvGraphicFramePr>
        <p:xfrm>
          <a:off xmlns:a="http://schemas.openxmlformats.org/drawingml/2006/main" x="400050" y="1019175"/>
          <a:ext xmlns:a="http://schemas.openxmlformats.org/drawingml/2006/main" cx="8343900" cy="2857500"/>
        </p:xfrm>
        <a:graphic xmlns:a="http://schemas.openxmlformats.org/drawingml/2006/main">
          <a:graphicData uri="http://schemas.openxmlformats.org/drawingml/2006/table">
            <a:tbl>
              <a:tblPr/>
              <a:tblGrid>
                <a:gridCol w="2476500"/>
                <a:gridCol w="2933700"/>
                <a:gridCol w="2933700"/>
              </a:tblGrid>
              <a:tr h="571500">
                <a:tc>
                  <a:txBody>
                    <a:bodyPr/>
                    <a:lstStyle/>
                    <a:p>
                      <a:r>
                        <a:rPr sz="1350" b="1">
                          <a:solidFill>
                            <a:srgbClr val="FFFFFF"/>
                          </a:solidFill>
                          <a:latin typeface="Arial"/>
                          <a:ea typeface="Arial"/>
                          <a:cs typeface="Arial"/>
                        </a:rPr>
                        <a:t>Component</a:t>
                      </a:r>
                    </a:p>
                  </a:txBody>
                  <a:tcPr marL="91440" marR="91440" marT="45720" marB="45720">
                    <a:solidFill>
                      <a:srgbClr val="003262"/>
                    </a:solidFill>
                  </a:tcPr>
                </a:tc>
                <a:tc>
                  <a:txBody>
                    <a:bodyPr/>
                    <a:lstStyle/>
                    <a:p>
                      <a:r>
                        <a:rPr sz="1350" b="1">
                          <a:solidFill>
                            <a:srgbClr val="FFFFFF"/>
                          </a:solidFill>
                          <a:latin typeface="Arial"/>
                          <a:ea typeface="Arial"/>
                          <a:cs typeface="Arial"/>
                        </a:rPr>
                        <a:t>Input and role</a:t>
                      </a:r>
                    </a:p>
                  </a:txBody>
                  <a:tcPr marL="91440" marR="91440" marT="45720" marB="45720">
                    <a:solidFill>
                      <a:srgbClr val="003262"/>
                    </a:solidFill>
                  </a:tcPr>
                </a:tc>
                <a:tc>
                  <a:txBody>
                    <a:bodyPr/>
                    <a:lstStyle/>
                    <a:p>
                      <a:r>
                        <a:rPr sz="1350" b="1">
                          <a:solidFill>
                            <a:srgbClr val="FFFFFF"/>
                          </a:solidFill>
                          <a:latin typeface="Arial"/>
                          <a:ea typeface="Arial"/>
                          <a:cs typeface="Arial"/>
                        </a:rPr>
                        <a:t>Output</a:t>
                      </a:r>
                    </a:p>
                  </a:txBody>
                  <a:tcPr marL="91440" marR="91440" marT="45720" marB="45720">
                    <a:solidFill>
                      <a:srgbClr val="003262"/>
                    </a:solidFill>
                  </a:tcPr>
                </a:tc>
              </a:tr>
              <a:tr h="571500">
                <a:tc>
                  <a:txBody>
                    <a:bodyPr/>
                    <a:lstStyle/>
                    <a:p>
                      <a:r>
                        <a:rPr sz="1425" b="0">
                          <a:solidFill>
                            <a:srgbClr val="1F2A37"/>
                          </a:solidFill>
                          <a:latin typeface="Arial"/>
                          <a:ea typeface="Arial"/>
                          <a:cs typeface="Arial"/>
                        </a:rPr>
                        <a:t>Macro SDF encoder</a:t>
                      </a:r>
                    </a:p>
                  </a:txBody>
                  <a:tcPr marL="91440" marR="91440" marT="45720" marB="45720">
                    <a:solidFill>
                      <a:srgbClr val="EEF3F8"/>
                    </a:solidFill>
                  </a:tcPr>
                </a:tc>
                <a:tc>
                  <a:txBody>
                    <a:bodyPr/>
                    <a:lstStyle/>
                    <a:p>
                      <a:r>
                        <a:rPr sz="1425" b="0">
                          <a:solidFill>
                            <a:srgbClr val="1F2A37"/>
                          </a:solidFill>
                          <a:latin typeface="Arial"/>
                          <a:ea typeface="Arial"/>
                          <a:cs typeface="Arial"/>
                        </a:rPr>
                        <a:t>178 macro series, LSTM</a:t>
                      </a:r>
                    </a:p>
                  </a:txBody>
                  <a:tcPr marL="91440" marR="91440" marT="45720" marB="45720">
                    <a:solidFill>
                      <a:srgbClr val="EEF3F8"/>
                    </a:solidFill>
                  </a:tcPr>
                </a:tc>
                <a:tc>
                  <a:txBody>
                    <a:bodyPr/>
                    <a:lstStyle/>
                    <a:p>
                      <a:r>
                        <a:rPr sz="1425" b="0">
                          <a:solidFill>
                            <a:srgbClr val="1F2A37"/>
                          </a:solidFill>
                          <a:latin typeface="Arial"/>
                          <a:ea typeface="Arial"/>
                          <a:cs typeface="Arial"/>
                        </a:rPr>
                        <a:t>4 states</a:t>
                      </a:r>
                    </a:p>
                  </a:txBody>
                  <a:tcPr marL="91440" marR="91440" marT="45720" marB="45720">
                    <a:solidFill>
                      <a:srgbClr val="EEF3F8"/>
                    </a:solidFill>
                  </a:tcPr>
                </a:tc>
              </a:tr>
              <a:tr h="571500">
                <a:tc>
                  <a:txBody>
                    <a:bodyPr/>
                    <a:lstStyle/>
                    <a:p>
                      <a:r>
                        <a:rPr sz="1425" b="0">
                          <a:solidFill>
                            <a:srgbClr val="1F2A37"/>
                          </a:solidFill>
                          <a:latin typeface="Arial"/>
                          <a:ea typeface="Arial"/>
                          <a:cs typeface="Arial"/>
                        </a:rPr>
                        <a:t>Pricing-weight network</a:t>
                      </a:r>
                    </a:p>
                  </a:txBody>
                  <a:tcPr marL="91440" marR="91440" marT="45720" marB="45720">
                    <a:solidFill>
                      <a:srgbClr val="FFFFFF"/>
                    </a:solidFill>
                  </a:tcPr>
                </a:tc>
                <a:tc>
                  <a:txBody>
                    <a:bodyPr/>
                    <a:lstStyle/>
                    <a:p>
                      <a:r>
                        <a:rPr sz="1425" b="0">
                          <a:solidFill>
                            <a:srgbClr val="1F2A37"/>
                          </a:solidFill>
                          <a:latin typeface="Arial"/>
                          <a:ea typeface="Arial"/>
                          <a:cs typeface="Arial"/>
                        </a:rPr>
                        <a:t>46 characteristics + states</a:t>
                      </a:r>
                    </a:p>
                  </a:txBody>
                  <a:tcPr marL="91440" marR="91440" marT="45720" marB="45720">
                    <a:solidFill>
                      <a:srgbClr val="FFFFFF"/>
                    </a:solidFill>
                  </a:tcPr>
                </a:tc>
                <a:tc>
                  <a:txBody>
                    <a:bodyPr/>
                    <a:lstStyle/>
                    <a:p>
                      <a:r>
                        <a:rPr sz="1425" b="0">
                          <a:solidFill>
                            <a:srgbClr val="1F2A37"/>
                          </a:solidFill>
                          <a:latin typeface="Arial"/>
                          <a:ea typeface="Arial"/>
                          <a:cs typeface="Arial"/>
                        </a:rPr>
                        <a:t>Two layers of 64 units</a:t>
                      </a:r>
                    </a:p>
                  </a:txBody>
                  <a:tcPr marL="91440" marR="91440" marT="45720" marB="45720">
                    <a:solidFill>
                      <a:srgbClr val="FFFFFF"/>
                    </a:solidFill>
                  </a:tcPr>
                </a:tc>
              </a:tr>
              <a:tr h="571500">
                <a:tc>
                  <a:txBody>
                    <a:bodyPr/>
                    <a:lstStyle/>
                    <a:p>
                      <a:r>
                        <a:rPr sz="1425" b="0">
                          <a:solidFill>
                            <a:srgbClr val="1F2A37"/>
                          </a:solidFill>
                          <a:latin typeface="Arial"/>
                          <a:ea typeface="Arial"/>
                          <a:cs typeface="Arial"/>
                        </a:rPr>
                        <a:t>Macro instrument encoder</a:t>
                      </a:r>
                    </a:p>
                  </a:txBody>
                  <a:tcPr marL="91440" marR="91440" marT="45720" marB="45720">
                    <a:solidFill>
                      <a:srgbClr val="EEF3F8"/>
                    </a:solidFill>
                  </a:tcPr>
                </a:tc>
                <a:tc>
                  <a:txBody>
                    <a:bodyPr/>
                    <a:lstStyle/>
                    <a:p>
                      <a:r>
                        <a:rPr sz="1425" b="0">
                          <a:solidFill>
                            <a:srgbClr val="1F2A37"/>
                          </a:solidFill>
                          <a:latin typeface="Arial"/>
                          <a:ea typeface="Arial"/>
                          <a:cs typeface="Arial"/>
                        </a:rPr>
                        <a:t>178 macro series, LSTM</a:t>
                      </a:r>
                    </a:p>
                  </a:txBody>
                  <a:tcPr marL="91440" marR="91440" marT="45720" marB="45720">
                    <a:solidFill>
                      <a:srgbClr val="EEF3F8"/>
                    </a:solidFill>
                  </a:tcPr>
                </a:tc>
                <a:tc>
                  <a:txBody>
                    <a:bodyPr/>
                    <a:lstStyle/>
                    <a:p>
                      <a:r>
                        <a:rPr sz="1425" b="0">
                          <a:solidFill>
                            <a:srgbClr val="1F2A37"/>
                          </a:solidFill>
                          <a:latin typeface="Arial"/>
                          <a:ea typeface="Arial"/>
                          <a:cs typeface="Arial"/>
                        </a:rPr>
                        <a:t>32 states</a:t>
                      </a:r>
                    </a:p>
                  </a:txBody>
                  <a:tcPr marL="91440" marR="91440" marT="45720" marB="45720">
                    <a:solidFill>
                      <a:srgbClr val="EEF3F8"/>
                    </a:solidFill>
                  </a:tcPr>
                </a:tc>
              </a:tr>
              <a:tr h="571500">
                <a:tc>
                  <a:txBody>
                    <a:bodyPr/>
                    <a:lstStyle/>
                    <a:p>
                      <a:r>
                        <a:rPr sz="1425" b="0">
                          <a:solidFill>
                            <a:srgbClr val="1F2A37"/>
                          </a:solidFill>
                          <a:latin typeface="Arial"/>
                          <a:ea typeface="Arial"/>
                          <a:cs typeface="Arial"/>
                        </a:rPr>
                        <a:t>Conditional network</a:t>
                      </a:r>
                    </a:p>
                  </a:txBody>
                  <a:tcPr marL="91440" marR="91440" marT="45720" marB="45720">
                    <a:solidFill>
                      <a:srgbClr val="FFFFFF"/>
                    </a:solidFill>
                  </a:tcPr>
                </a:tc>
                <a:tc>
                  <a:txBody>
                    <a:bodyPr/>
                    <a:lstStyle/>
                    <a:p>
                      <a:r>
                        <a:rPr sz="1425" b="0">
                          <a:solidFill>
                            <a:srgbClr val="1F2A37"/>
                          </a:solidFill>
                          <a:latin typeface="Arial"/>
                          <a:ea typeface="Arial"/>
                          <a:cs typeface="Arial"/>
                        </a:rPr>
                        <a:t>Characteristics + states</a:t>
                      </a:r>
                    </a:p>
                  </a:txBody>
                  <a:tcPr marL="91440" marR="91440" marT="45720" marB="45720">
                    <a:solidFill>
                      <a:srgbClr val="FFFFFF"/>
                    </a:solidFill>
                  </a:tcPr>
                </a:tc>
                <a:tc>
                  <a:txBody>
                    <a:bodyPr/>
                    <a:lstStyle/>
                    <a:p>
                      <a:r>
                        <a:rPr sz="1425" b="0">
                          <a:solidFill>
                            <a:srgbClr val="1F2A37"/>
                          </a:solidFill>
                          <a:latin typeface="Arial"/>
                          <a:ea typeface="Arial"/>
                          <a:cs typeface="Arial"/>
                        </a:rPr>
                        <a:t>8 bounded instruments</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CFF5F006-2104-4124-812D-B1F7A948D793}"/>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The pricing objective links the SDF network and the adversarial instruments.</a:t>
            </a:r>
          </a:p>
        </p:txBody>
      </p:sp>
    </p:spTree>
    <p:extLst>
      <p:ext uri="{BB962C8B-B14F-4D97-AF65-F5344CB8AC3E}">
        <p14:creationId xmlns:p14="http://schemas.microsoft.com/office/powerpoint/2010/main" val="69327029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050DC7E-8837-402F-97D2-3EF6DF08AA17}"/>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6539BA-0F2C-4C78-9A1A-DD540FBF4B73}"/>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BCA26D4-FA76-4EDB-9DAC-CBA4AA6BB0DC}"/>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Data and chronological evaluation</a:t>
            </a:r>
          </a:p>
        </p:txBody>
      </p:sp>
      <p:sp>
        <p:nvSpPr>
          <p:cNvPr id="4" name="">
            <a:extLst xmlns:a="http://schemas.openxmlformats.org/drawingml/2006/main">
              <a:ext uri="{FF2B5EF4-FFF2-40B4-BE49-F238E27FC236}">
                <a16:creationId xmlns:a16="http://schemas.microsoft.com/office/drawing/2014/main" id="{0F0201E2-7EEF-4BE7-9382-212B2B76E52C}"/>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Original paper and replication</a:t>
            </a:r>
          </a:p>
        </p:txBody>
      </p:sp>
      <p:sp>
        <p:nvSpPr>
          <p:cNvPr id="5" name="">
            <a:extLst xmlns:a="http://schemas.openxmlformats.org/drawingml/2006/main">
              <a:ext uri="{FF2B5EF4-FFF2-40B4-BE49-F238E27FC236}">
                <a16:creationId xmlns:a16="http://schemas.microsoft.com/office/drawing/2014/main" id="{7D8061C4-F50E-4414-9EC9-5B70B12E5A90}"/>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6</a:t>
            </a:r>
          </a:p>
        </p:txBody>
      </p:sp>
      <p:graphicFrame>
        <p:nvGraphicFramePr>
          <p:cNvPr id="14" name=""/>
          <p:cNvGraphicFramePr/>
          <p:nvPr/>
        </p:nvGraphicFramePr>
        <p:xfrm>
          <a:off xmlns:a="http://schemas.openxmlformats.org/drawingml/2006/main" x="400050" y="1019175"/>
          <a:ext xmlns:a="http://schemas.openxmlformats.org/drawingml/2006/main" cx="8343900" cy="2095500"/>
        </p:xfrm>
        <a:graphic xmlns:a="http://schemas.openxmlformats.org/drawingml/2006/main">
          <a:graphicData uri="http://schemas.openxmlformats.org/drawingml/2006/table">
            <a:tbl>
              <a:tblPr/>
              <a:tblGrid>
                <a:gridCol w="2667000"/>
                <a:gridCol w="2838450"/>
                <a:gridCol w="2838450"/>
              </a:tblGrid>
              <a:tr h="523875">
                <a:tc>
                  <a:txBody>
                    <a:bodyPr/>
                    <a:lstStyle/>
                    <a:p>
                      <a:r>
                        <a:rPr sz="1425" b="1">
                          <a:solidFill>
                            <a:srgbClr val="FFFFFF"/>
                          </a:solidFill>
                          <a:latin typeface="Arial"/>
                          <a:ea typeface="Arial"/>
                          <a:cs typeface="Arial"/>
                        </a:rPr>
                        <a:t>Sample</a:t>
                      </a:r>
                    </a:p>
                  </a:txBody>
                  <a:tcPr marL="91440" marR="91440" marT="45720" marB="45720">
                    <a:solidFill>
                      <a:srgbClr val="003262"/>
                    </a:solidFill>
                  </a:tcPr>
                </a:tc>
                <a:tc>
                  <a:txBody>
                    <a:bodyPr/>
                    <a:lstStyle/>
                    <a:p>
                      <a:r>
                        <a:rPr sz="1425" b="1">
                          <a:solidFill>
                            <a:srgbClr val="FFFFFF"/>
                          </a:solidFill>
                          <a:latin typeface="Arial"/>
                          <a:ea typeface="Arial"/>
                          <a:cs typeface="Arial"/>
                        </a:rPr>
                        <a:t>Period</a:t>
                      </a:r>
                    </a:p>
                  </a:txBody>
                  <a:tcPr marL="91440" marR="91440" marT="45720" marB="45720">
                    <a:solidFill>
                      <a:srgbClr val="003262"/>
                    </a:solidFill>
                  </a:tcPr>
                </a:tc>
                <a:tc>
                  <a:txBody>
                    <a:bodyPr/>
                    <a:lstStyle/>
                    <a:p>
                      <a:r>
                        <a:rPr sz="1425" b="1">
                          <a:solidFill>
                            <a:srgbClr val="FFFFFF"/>
                          </a:solidFill>
                          <a:latin typeface="Arial"/>
                          <a:ea typeface="Arial"/>
                          <a:cs typeface="Arial"/>
                        </a:rPr>
                        <a:t>Months</a:t>
                      </a:r>
                    </a:p>
                  </a:txBody>
                  <a:tcPr marL="91440" marR="91440" marT="45720" marB="45720">
                    <a:solidFill>
                      <a:srgbClr val="003262"/>
                    </a:solidFill>
                  </a:tcPr>
                </a:tc>
              </a:tr>
              <a:tr h="523875">
                <a:tc>
                  <a:txBody>
                    <a:bodyPr/>
                    <a:lstStyle/>
                    <a:p>
                      <a:r>
                        <a:rPr sz="1500" b="0">
                          <a:solidFill>
                            <a:srgbClr val="1F2A37"/>
                          </a:solidFill>
                          <a:latin typeface="Arial"/>
                          <a:ea typeface="Arial"/>
                          <a:cs typeface="Arial"/>
                        </a:rPr>
                        <a:t>Training</a:t>
                      </a:r>
                    </a:p>
                  </a:txBody>
                  <a:tcPr marL="91440" marR="91440" marT="45720" marB="45720">
                    <a:solidFill>
                      <a:srgbClr val="EEF3F8"/>
                    </a:solidFill>
                  </a:tcPr>
                </a:tc>
                <a:tc>
                  <a:txBody>
                    <a:bodyPr/>
                    <a:lstStyle/>
                    <a:p>
                      <a:r>
                        <a:rPr sz="1500" b="0">
                          <a:solidFill>
                            <a:srgbClr val="1F2A37"/>
                          </a:solidFill>
                          <a:latin typeface="Arial"/>
                          <a:ea typeface="Arial"/>
                          <a:cs typeface="Arial"/>
                        </a:rPr>
                        <a:t>1967–1986</a:t>
                      </a:r>
                    </a:p>
                  </a:txBody>
                  <a:tcPr marL="91440" marR="91440" marT="45720" marB="45720">
                    <a:solidFill>
                      <a:srgbClr val="EEF3F8"/>
                    </a:solidFill>
                  </a:tcPr>
                </a:tc>
                <a:tc>
                  <a:txBody>
                    <a:bodyPr/>
                    <a:lstStyle/>
                    <a:p>
                      <a:r>
                        <a:rPr sz="1500" b="0">
                          <a:solidFill>
                            <a:srgbClr val="1F2A37"/>
                          </a:solidFill>
                          <a:latin typeface="Arial"/>
                          <a:ea typeface="Arial"/>
                          <a:cs typeface="Arial"/>
                        </a:rPr>
                        <a:t>240</a:t>
                      </a:r>
                    </a:p>
                  </a:txBody>
                  <a:tcPr marL="91440" marR="91440" marT="45720" marB="45720">
                    <a:solidFill>
                      <a:srgbClr val="EEF3F8"/>
                    </a:solidFill>
                  </a:tcPr>
                </a:tc>
              </a:tr>
              <a:tr h="523875">
                <a:tc>
                  <a:txBody>
                    <a:bodyPr/>
                    <a:lstStyle/>
                    <a:p>
                      <a:r>
                        <a:rPr sz="1500" b="0">
                          <a:solidFill>
                            <a:srgbClr val="1F2A37"/>
                          </a:solidFill>
                          <a:latin typeface="Arial"/>
                          <a:ea typeface="Arial"/>
                          <a:cs typeface="Arial"/>
                        </a:rPr>
                        <a:t>Validation</a:t>
                      </a:r>
                    </a:p>
                  </a:txBody>
                  <a:tcPr marL="91440" marR="91440" marT="45720" marB="45720">
                    <a:solidFill>
                      <a:srgbClr val="FFFFFF"/>
                    </a:solidFill>
                  </a:tcPr>
                </a:tc>
                <a:tc>
                  <a:txBody>
                    <a:bodyPr/>
                    <a:lstStyle/>
                    <a:p>
                      <a:r>
                        <a:rPr sz="1500" b="0">
                          <a:solidFill>
                            <a:srgbClr val="1F2A37"/>
                          </a:solidFill>
                          <a:latin typeface="Arial"/>
                          <a:ea typeface="Arial"/>
                          <a:cs typeface="Arial"/>
                        </a:rPr>
                        <a:t>1987–1991</a:t>
                      </a:r>
                    </a:p>
                  </a:txBody>
                  <a:tcPr marL="91440" marR="91440" marT="45720" marB="45720">
                    <a:solidFill>
                      <a:srgbClr val="FFFFFF"/>
                    </a:solidFill>
                  </a:tcPr>
                </a:tc>
                <a:tc>
                  <a:txBody>
                    <a:bodyPr/>
                    <a:lstStyle/>
                    <a:p>
                      <a:r>
                        <a:rPr sz="1500" b="0">
                          <a:solidFill>
                            <a:srgbClr val="1F2A37"/>
                          </a:solidFill>
                          <a:latin typeface="Arial"/>
                          <a:ea typeface="Arial"/>
                          <a:cs typeface="Arial"/>
                        </a:rPr>
                        <a:t>60</a:t>
                      </a:r>
                    </a:p>
                  </a:txBody>
                  <a:tcPr marL="91440" marR="91440" marT="45720" marB="45720">
                    <a:solidFill>
                      <a:srgbClr val="FFFFFF"/>
                    </a:solidFill>
                  </a:tcPr>
                </a:tc>
              </a:tr>
              <a:tr h="523875">
                <a:tc>
                  <a:txBody>
                    <a:bodyPr/>
                    <a:lstStyle/>
                    <a:p>
                      <a:r>
                        <a:rPr sz="1500" b="0">
                          <a:solidFill>
                            <a:srgbClr val="1F2A37"/>
                          </a:solidFill>
                          <a:latin typeface="Arial"/>
                          <a:ea typeface="Arial"/>
                          <a:cs typeface="Arial"/>
                        </a:rPr>
                        <a:t>Test</a:t>
                      </a:r>
                    </a:p>
                  </a:txBody>
                  <a:tcPr marL="91440" marR="91440" marT="45720" marB="45720">
                    <a:solidFill>
                      <a:srgbClr val="EEF3F8"/>
                    </a:solidFill>
                  </a:tcPr>
                </a:tc>
                <a:tc>
                  <a:txBody>
                    <a:bodyPr/>
                    <a:lstStyle/>
                    <a:p>
                      <a:r>
                        <a:rPr sz="1500" b="0">
                          <a:solidFill>
                            <a:srgbClr val="1F2A37"/>
                          </a:solidFill>
                          <a:latin typeface="Arial"/>
                          <a:ea typeface="Arial"/>
                          <a:cs typeface="Arial"/>
                        </a:rPr>
                        <a:t>1992–2016</a:t>
                      </a:r>
                    </a:p>
                  </a:txBody>
                  <a:tcPr marL="91440" marR="91440" marT="45720" marB="45720">
                    <a:solidFill>
                      <a:srgbClr val="EEF3F8"/>
                    </a:solidFill>
                  </a:tcPr>
                </a:tc>
                <a:tc>
                  <a:txBody>
                    <a:bodyPr/>
                    <a:lstStyle/>
                    <a:p>
                      <a:r>
                        <a:rPr sz="1500" b="0">
                          <a:solidFill>
                            <a:srgbClr val="1F2A37"/>
                          </a:solidFill>
                          <a:latin typeface="Arial"/>
                          <a:ea typeface="Arial"/>
                          <a:cs typeface="Arial"/>
                        </a:rPr>
                        <a:t>300</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77030B02-CCF3-4F29-BE80-04778D5F1564}"/>
              </a:ext>
            </a:extLst>
          </p:cNvPr>
          <p:cNvSpPr>
            <a:spLocks xmlns:a="http://schemas.openxmlformats.org/drawingml/2006/main" noGrp="1"/>
          </p:cNvSpPr>
          <p:nvPr/>
        </p:nvSpPr>
        <p:spPr>
          <a:xfrm xmlns:a="http://schemas.openxmlformats.org/drawingml/2006/main">
            <a:off x="419100" y="3352800"/>
            <a:ext cx="8191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46 firm characteristics and 178 macroeconomic inputs</a:t>
            </a:r>
          </a:p>
        </p:txBody>
      </p:sp>
      <p:sp>
        <p:nvSpPr>
          <p:cNvPr id="8" name="">
            <a:extLst xmlns:a="http://schemas.openxmlformats.org/drawingml/2006/main">
              <a:ext uri="{FF2B5EF4-FFF2-40B4-BE49-F238E27FC236}">
                <a16:creationId xmlns:a16="http://schemas.microsoft.com/office/drawing/2014/main" id="{BC0855D0-641F-42F2-85D8-441EF075CDD1}"/>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Fit on training months and select checkpoints using validation months.</a:t>
            </a:r>
          </a:p>
        </p:txBody>
      </p:sp>
    </p:spTree>
    <p:extLst>
      <p:ext uri="{BB962C8B-B14F-4D97-AF65-F5344CB8AC3E}">
        <p14:creationId xmlns:p14="http://schemas.microsoft.com/office/powerpoint/2010/main" val="203304072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A97675F-B1CC-468C-A494-C143352BC976}"/>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479E1EF-94F1-4571-B888-E7E2F28B4CEE}"/>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143A2AD-ADB3-4642-9B60-4C1FFB8A7CC8}"/>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The paper’s published results</a:t>
            </a:r>
          </a:p>
        </p:txBody>
      </p:sp>
      <p:sp>
        <p:nvSpPr>
          <p:cNvPr id="4" name="">
            <a:extLst xmlns:a="http://schemas.openxmlformats.org/drawingml/2006/main">
              <a:ext uri="{FF2B5EF4-FFF2-40B4-BE49-F238E27FC236}">
                <a16:creationId xmlns:a16="http://schemas.microsoft.com/office/drawing/2014/main" id="{1913AB40-1C7D-4798-BE1C-6BF9425FC5E6}"/>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Original paper</a:t>
            </a:r>
          </a:p>
        </p:txBody>
      </p:sp>
      <p:sp>
        <p:nvSpPr>
          <p:cNvPr id="5" name="">
            <a:extLst xmlns:a="http://schemas.openxmlformats.org/drawingml/2006/main">
              <a:ext uri="{FF2B5EF4-FFF2-40B4-BE49-F238E27FC236}">
                <a16:creationId xmlns:a16="http://schemas.microsoft.com/office/drawing/2014/main" id="{1E13EB55-DEBD-4FFF-9713-2A7E0326A027}"/>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7</a:t>
            </a:r>
          </a:p>
        </p:txBody>
      </p:sp>
      <p:graphicFrame>
        <p:nvGraphicFramePr>
          <p:cNvPr id="13" name=""/>
          <p:cNvGraphicFramePr/>
          <p:nvPr/>
        </p:nvGraphicFramePr>
        <p:xfrm>
          <a:off xmlns:a="http://schemas.openxmlformats.org/drawingml/2006/main" x="400050" y="1019175"/>
          <a:ext xmlns:a="http://schemas.openxmlformats.org/drawingml/2006/main" cx="8343900" cy="2686050"/>
        </p:xfrm>
        <a:graphic xmlns:a="http://schemas.openxmlformats.org/drawingml/2006/main">
          <a:graphicData uri="http://schemas.openxmlformats.org/drawingml/2006/table">
            <a:tbl>
              <a:tblPr/>
              <a:tblGrid>
                <a:gridCol w="2476500"/>
                <a:gridCol w="1955800"/>
                <a:gridCol w="1955800"/>
                <a:gridCol w="1955800"/>
              </a:tblGrid>
              <a:tr h="537210">
                <a:tc>
                  <a:txBody>
                    <a:bodyPr/>
                    <a:lstStyle/>
                    <a:p>
                      <a:r>
                        <a:rPr sz="1425" b="1">
                          <a:solidFill>
                            <a:srgbClr val="FFFFFF"/>
                          </a:solidFill>
                          <a:latin typeface="Arial"/>
                          <a:ea typeface="Arial"/>
                          <a:cs typeface="Arial"/>
                        </a:rPr>
                        <a:t>Model</a:t>
                      </a:r>
                    </a:p>
                  </a:txBody>
                  <a:tcPr marL="91440" marR="91440" marT="45720" marB="45720">
                    <a:solidFill>
                      <a:srgbClr val="003262"/>
                    </a:solidFill>
                  </a:tcPr>
                </a:tc>
                <a:tc>
                  <a:txBody>
                    <a:bodyPr/>
                    <a:lstStyle/>
                    <a:p>
                      <a:r>
                        <a:rPr sz="1425" b="1">
                          <a:solidFill>
                            <a:srgbClr val="FFFFFF"/>
                          </a:solidFill>
                          <a:latin typeface="Arial"/>
                          <a:ea typeface="Arial"/>
                          <a:cs typeface="Arial"/>
                        </a:rPr>
                        <a:t>Train</a:t>
                      </a:r>
                    </a:p>
                  </a:txBody>
                  <a:tcPr marL="91440" marR="91440" marT="45720" marB="45720">
                    <a:solidFill>
                      <a:srgbClr val="003262"/>
                    </a:solidFill>
                  </a:tcPr>
                </a:tc>
                <a:tc>
                  <a:txBody>
                    <a:bodyPr/>
                    <a:lstStyle/>
                    <a:p>
                      <a:r>
                        <a:rPr sz="1425" b="1">
                          <a:solidFill>
                            <a:srgbClr val="FFFFFF"/>
                          </a:solidFill>
                          <a:latin typeface="Arial"/>
                          <a:ea typeface="Arial"/>
                          <a:cs typeface="Arial"/>
                        </a:rPr>
                        <a:t>Validation</a:t>
                      </a:r>
                    </a:p>
                  </a:txBody>
                  <a:tcPr marL="91440" marR="91440" marT="45720" marB="45720">
                    <a:solidFill>
                      <a:srgbClr val="003262"/>
                    </a:solidFill>
                  </a:tcPr>
                </a:tc>
                <a:tc>
                  <a:txBody>
                    <a:bodyPr/>
                    <a:lstStyle/>
                    <a:p>
                      <a:r>
                        <a:rPr sz="1425" b="1">
                          <a:solidFill>
                            <a:srgbClr val="FFFFFF"/>
                          </a:solidFill>
                          <a:latin typeface="Arial"/>
                          <a:ea typeface="Arial"/>
                          <a:cs typeface="Arial"/>
                        </a:rPr>
                        <a:t>Test</a:t>
                      </a:r>
                    </a:p>
                  </a:txBody>
                  <a:tcPr marL="91440" marR="91440" marT="45720" marB="45720">
                    <a:solidFill>
                      <a:srgbClr val="003262"/>
                    </a:solidFill>
                  </a:tcPr>
                </a:tc>
              </a:tr>
              <a:tr h="537210">
                <a:tc>
                  <a:txBody>
                    <a:bodyPr/>
                    <a:lstStyle/>
                    <a:p>
                      <a:r>
                        <a:rPr sz="1500" b="0">
                          <a:solidFill>
                            <a:srgbClr val="1F2A37"/>
                          </a:solidFill>
                          <a:latin typeface="Arial"/>
                          <a:ea typeface="Arial"/>
                          <a:cs typeface="Arial"/>
                        </a:rPr>
                        <a:t>LS</a:t>
                      </a:r>
                    </a:p>
                  </a:txBody>
                  <a:tcPr marL="91440" marR="91440" marT="45720" marB="45720">
                    <a:solidFill>
                      <a:srgbClr val="EEF3F8"/>
                    </a:solidFill>
                  </a:tcPr>
                </a:tc>
                <a:tc>
                  <a:txBody>
                    <a:bodyPr/>
                    <a:lstStyle/>
                    <a:p>
                      <a:r>
                        <a:rPr sz="1500" b="0">
                          <a:solidFill>
                            <a:srgbClr val="1F2A37"/>
                          </a:solidFill>
                          <a:latin typeface="Arial"/>
                          <a:ea typeface="Arial"/>
                          <a:cs typeface="Arial"/>
                        </a:rPr>
                        <a:t>1.800</a:t>
                      </a:r>
                    </a:p>
                  </a:txBody>
                  <a:tcPr marL="91440" marR="91440" marT="45720" marB="45720">
                    <a:solidFill>
                      <a:srgbClr val="EEF3F8"/>
                    </a:solidFill>
                  </a:tcPr>
                </a:tc>
                <a:tc>
                  <a:txBody>
                    <a:bodyPr/>
                    <a:lstStyle/>
                    <a:p>
                      <a:r>
                        <a:rPr sz="1500" b="0">
                          <a:solidFill>
                            <a:srgbClr val="1F2A37"/>
                          </a:solidFill>
                          <a:latin typeface="Arial"/>
                          <a:ea typeface="Arial"/>
                          <a:cs typeface="Arial"/>
                        </a:rPr>
                        <a:t>0.580</a:t>
                      </a:r>
                    </a:p>
                  </a:txBody>
                  <a:tcPr marL="91440" marR="91440" marT="45720" marB="45720">
                    <a:solidFill>
                      <a:srgbClr val="EEF3F8"/>
                    </a:solidFill>
                  </a:tcPr>
                </a:tc>
                <a:tc>
                  <a:txBody>
                    <a:bodyPr/>
                    <a:lstStyle/>
                    <a:p>
                      <a:r>
                        <a:rPr sz="1500" b="0">
                          <a:solidFill>
                            <a:srgbClr val="1F2A37"/>
                          </a:solidFill>
                          <a:latin typeface="Arial"/>
                          <a:ea typeface="Arial"/>
                          <a:cs typeface="Arial"/>
                        </a:rPr>
                        <a:t>0.420</a:t>
                      </a:r>
                    </a:p>
                  </a:txBody>
                  <a:tcPr marL="91440" marR="91440" marT="45720" marB="45720">
                    <a:solidFill>
                      <a:srgbClr val="EEF3F8"/>
                    </a:solidFill>
                  </a:tcPr>
                </a:tc>
              </a:tr>
              <a:tr h="537210">
                <a:tc>
                  <a:txBody>
                    <a:bodyPr/>
                    <a:lstStyle/>
                    <a:p>
                      <a:r>
                        <a:rPr sz="1500" b="0">
                          <a:solidFill>
                            <a:srgbClr val="1F2A37"/>
                          </a:solidFill>
                          <a:latin typeface="Arial"/>
                          <a:ea typeface="Arial"/>
                          <a:cs typeface="Arial"/>
                        </a:rPr>
                        <a:t>EN</a:t>
                      </a:r>
                    </a:p>
                  </a:txBody>
                  <a:tcPr marL="91440" marR="91440" marT="45720" marB="45720">
                    <a:solidFill>
                      <a:srgbClr val="FFFFFF"/>
                    </a:solidFill>
                  </a:tcPr>
                </a:tc>
                <a:tc>
                  <a:txBody>
                    <a:bodyPr/>
                    <a:lstStyle/>
                    <a:p>
                      <a:r>
                        <a:rPr sz="1500" b="0">
                          <a:solidFill>
                            <a:srgbClr val="1F2A37"/>
                          </a:solidFill>
                          <a:latin typeface="Arial"/>
                          <a:ea typeface="Arial"/>
                          <a:cs typeface="Arial"/>
                        </a:rPr>
                        <a:t>1.370</a:t>
                      </a:r>
                    </a:p>
                  </a:txBody>
                  <a:tcPr marL="91440" marR="91440" marT="45720" marB="45720">
                    <a:solidFill>
                      <a:srgbClr val="FFFFFF"/>
                    </a:solidFill>
                  </a:tcPr>
                </a:tc>
                <a:tc>
                  <a:txBody>
                    <a:bodyPr/>
                    <a:lstStyle/>
                    <a:p>
                      <a:r>
                        <a:rPr sz="1500" b="0">
                          <a:solidFill>
                            <a:srgbClr val="1F2A37"/>
                          </a:solidFill>
                          <a:latin typeface="Arial"/>
                          <a:ea typeface="Arial"/>
                          <a:cs typeface="Arial"/>
                        </a:rPr>
                        <a:t>1.150</a:t>
                      </a:r>
                    </a:p>
                  </a:txBody>
                  <a:tcPr marL="91440" marR="91440" marT="45720" marB="45720">
                    <a:solidFill>
                      <a:srgbClr val="FFFFFF"/>
                    </a:solidFill>
                  </a:tcPr>
                </a:tc>
                <a:tc>
                  <a:txBody>
                    <a:bodyPr/>
                    <a:lstStyle/>
                    <a:p>
                      <a:r>
                        <a:rPr sz="1500" b="0">
                          <a:solidFill>
                            <a:srgbClr val="1F2A37"/>
                          </a:solidFill>
                          <a:latin typeface="Arial"/>
                          <a:ea typeface="Arial"/>
                          <a:cs typeface="Arial"/>
                        </a:rPr>
                        <a:t>0.500</a:t>
                      </a:r>
                    </a:p>
                  </a:txBody>
                  <a:tcPr marL="91440" marR="91440" marT="45720" marB="45720">
                    <a:solidFill>
                      <a:srgbClr val="FFFFFF"/>
                    </a:solidFill>
                  </a:tcPr>
                </a:tc>
              </a:tr>
              <a:tr h="537210">
                <a:tc>
                  <a:txBody>
                    <a:bodyPr/>
                    <a:lstStyle/>
                    <a:p>
                      <a:r>
                        <a:rPr sz="1500" b="0">
                          <a:solidFill>
                            <a:srgbClr val="1F2A37"/>
                          </a:solidFill>
                          <a:latin typeface="Arial"/>
                          <a:ea typeface="Arial"/>
                          <a:cs typeface="Arial"/>
                        </a:rPr>
                        <a:t>FFN</a:t>
                      </a:r>
                    </a:p>
                  </a:txBody>
                  <a:tcPr marL="91440" marR="91440" marT="45720" marB="45720">
                    <a:solidFill>
                      <a:srgbClr val="EEF3F8"/>
                    </a:solidFill>
                  </a:tcPr>
                </a:tc>
                <a:tc>
                  <a:txBody>
                    <a:bodyPr/>
                    <a:lstStyle/>
                    <a:p>
                      <a:r>
                        <a:rPr sz="1500" b="0">
                          <a:solidFill>
                            <a:srgbClr val="1F2A37"/>
                          </a:solidFill>
                          <a:latin typeface="Arial"/>
                          <a:ea typeface="Arial"/>
                          <a:cs typeface="Arial"/>
                        </a:rPr>
                        <a:t>0.450</a:t>
                      </a:r>
                    </a:p>
                  </a:txBody>
                  <a:tcPr marL="91440" marR="91440" marT="45720" marB="45720">
                    <a:solidFill>
                      <a:srgbClr val="EEF3F8"/>
                    </a:solidFill>
                  </a:tcPr>
                </a:tc>
                <a:tc>
                  <a:txBody>
                    <a:bodyPr/>
                    <a:lstStyle/>
                    <a:p>
                      <a:r>
                        <a:rPr sz="1500" b="0">
                          <a:solidFill>
                            <a:srgbClr val="1F2A37"/>
                          </a:solidFill>
                          <a:latin typeface="Arial"/>
                          <a:ea typeface="Arial"/>
                          <a:cs typeface="Arial"/>
                        </a:rPr>
                        <a:t>0.420</a:t>
                      </a:r>
                    </a:p>
                  </a:txBody>
                  <a:tcPr marL="91440" marR="91440" marT="45720" marB="45720">
                    <a:solidFill>
                      <a:srgbClr val="EEF3F8"/>
                    </a:solidFill>
                  </a:tcPr>
                </a:tc>
                <a:tc>
                  <a:txBody>
                    <a:bodyPr/>
                    <a:lstStyle/>
                    <a:p>
                      <a:r>
                        <a:rPr sz="1500" b="0">
                          <a:solidFill>
                            <a:srgbClr val="1F2A37"/>
                          </a:solidFill>
                          <a:latin typeface="Arial"/>
                          <a:ea typeface="Arial"/>
                          <a:cs typeface="Arial"/>
                        </a:rPr>
                        <a:t>0.440</a:t>
                      </a:r>
                    </a:p>
                  </a:txBody>
                  <a:tcPr marL="91440" marR="91440" marT="45720" marB="45720">
                    <a:solidFill>
                      <a:srgbClr val="EEF3F8"/>
                    </a:solidFill>
                  </a:tcPr>
                </a:tc>
              </a:tr>
              <a:tr h="537210">
                <a:tc>
                  <a:txBody>
                    <a:bodyPr/>
                    <a:lstStyle/>
                    <a:p>
                      <a:r>
                        <a:rPr sz="1500" b="0">
                          <a:solidFill>
                            <a:srgbClr val="1F2A37"/>
                          </a:solidFill>
                          <a:latin typeface="Arial"/>
                          <a:ea typeface="Arial"/>
                          <a:cs typeface="Arial"/>
                        </a:rPr>
                        <a:t>GAN</a:t>
                      </a:r>
                    </a:p>
                  </a:txBody>
                  <a:tcPr marL="91440" marR="91440" marT="45720" marB="45720">
                    <a:solidFill>
                      <a:srgbClr val="FFFFFF"/>
                    </a:solidFill>
                  </a:tcPr>
                </a:tc>
                <a:tc>
                  <a:txBody>
                    <a:bodyPr/>
                    <a:lstStyle/>
                    <a:p>
                      <a:r>
                        <a:rPr sz="1500" b="0">
                          <a:solidFill>
                            <a:srgbClr val="1F2A37"/>
                          </a:solidFill>
                          <a:latin typeface="Arial"/>
                          <a:ea typeface="Arial"/>
                          <a:cs typeface="Arial"/>
                        </a:rPr>
                        <a:t>2.680</a:t>
                      </a:r>
                    </a:p>
                  </a:txBody>
                  <a:tcPr marL="91440" marR="91440" marT="45720" marB="45720">
                    <a:solidFill>
                      <a:srgbClr val="FFFFFF"/>
                    </a:solidFill>
                  </a:tcPr>
                </a:tc>
                <a:tc>
                  <a:txBody>
                    <a:bodyPr/>
                    <a:lstStyle/>
                    <a:p>
                      <a:r>
                        <a:rPr sz="1500" b="0">
                          <a:solidFill>
                            <a:srgbClr val="1F2A37"/>
                          </a:solidFill>
                          <a:latin typeface="Arial"/>
                          <a:ea typeface="Arial"/>
                          <a:cs typeface="Arial"/>
                        </a:rPr>
                        <a:t>1.430</a:t>
                      </a:r>
                    </a:p>
                  </a:txBody>
                  <a:tcPr marL="91440" marR="91440" marT="45720" marB="45720">
                    <a:solidFill>
                      <a:srgbClr val="FFFFFF"/>
                    </a:solidFill>
                  </a:tcPr>
                </a:tc>
                <a:tc>
                  <a:txBody>
                    <a:bodyPr/>
                    <a:lstStyle/>
                    <a:p>
                      <a:r>
                        <a:rPr sz="1500" b="0">
                          <a:solidFill>
                            <a:srgbClr val="1F2A37"/>
                          </a:solidFill>
                          <a:latin typeface="Arial"/>
                          <a:ea typeface="Arial"/>
                          <a:cs typeface="Arial"/>
                        </a:rPr>
                        <a:t>0.750</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0327AF94-A245-4F31-96F7-CFC99949E202}"/>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GAN has the highest published monthly Sharpe in every split.</a:t>
            </a:r>
          </a:p>
        </p:txBody>
      </p:sp>
    </p:spTree>
    <p:extLst>
      <p:ext uri="{BB962C8B-B14F-4D97-AF65-F5344CB8AC3E}">
        <p14:creationId xmlns:p14="http://schemas.microsoft.com/office/powerpoint/2010/main" val="155996418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3BC1DD6-8050-44DE-911E-077486A12435}"/>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AE9200-0C57-4D94-801C-7525F5FFEB05}"/>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B483F92-0564-4896-8166-A9A11CEF0397}"/>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Replication versus the original paper</a:t>
            </a:r>
          </a:p>
        </p:txBody>
      </p:sp>
      <p:sp>
        <p:nvSpPr>
          <p:cNvPr id="4" name="">
            <a:extLst xmlns:a="http://schemas.openxmlformats.org/drawingml/2006/main">
              <a:ext uri="{FF2B5EF4-FFF2-40B4-BE49-F238E27FC236}">
                <a16:creationId xmlns:a16="http://schemas.microsoft.com/office/drawing/2014/main" id="{497A0819-F092-4FFF-A731-905EF38ED2F0}"/>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Our previous replication</a:t>
            </a:r>
          </a:p>
        </p:txBody>
      </p:sp>
      <p:sp>
        <p:nvSpPr>
          <p:cNvPr id="5" name="">
            <a:extLst xmlns:a="http://schemas.openxmlformats.org/drawingml/2006/main">
              <a:ext uri="{FF2B5EF4-FFF2-40B4-BE49-F238E27FC236}">
                <a16:creationId xmlns:a16="http://schemas.microsoft.com/office/drawing/2014/main" id="{4CFA549A-9AB7-4246-9A52-8E42458FBDA4}"/>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8</a:t>
            </a:r>
          </a:p>
        </p:txBody>
      </p:sp>
      <p:graphicFrame>
        <p:nvGraphicFramePr>
          <p:cNvPr id="13"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1923bf7de11142af"/>
          </a:graphicData>
        </a:graphic>
      </p:graphicFrame>
      <p:sp>
        <p:nvSpPr>
          <p:cNvPr id="7" name="">
            <a:extLst xmlns:a="http://schemas.openxmlformats.org/drawingml/2006/main">
              <a:ext uri="{FF2B5EF4-FFF2-40B4-BE49-F238E27FC236}">
                <a16:creationId xmlns:a16="http://schemas.microsoft.com/office/drawing/2014/main" id="{D6465FA9-1ECD-427B-A1BF-BF679B181248}"/>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GAN stays first, while FFN and EN exchange test-period ranks.</a:t>
            </a:r>
          </a:p>
        </p:txBody>
      </p:sp>
    </p:spTree>
    <p:extLst>
      <p:ext uri="{BB962C8B-B14F-4D97-AF65-F5344CB8AC3E}">
        <p14:creationId xmlns:p14="http://schemas.microsoft.com/office/powerpoint/2010/main" val="114086086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45EFC8D-3062-49F8-B175-D6FA570A6658}"/>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292EE79-075A-4A3A-B574-DF1C26575D12}"/>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EBEECB2-AF0B-4EE6-BB3F-F52AA218DB53}"/>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Replication validation and common signals</a:t>
            </a:r>
          </a:p>
        </p:txBody>
      </p:sp>
      <p:sp>
        <p:nvSpPr>
          <p:cNvPr id="4" name="">
            <a:extLst xmlns:a="http://schemas.openxmlformats.org/drawingml/2006/main">
              <a:ext uri="{FF2B5EF4-FFF2-40B4-BE49-F238E27FC236}">
                <a16:creationId xmlns:a16="http://schemas.microsoft.com/office/drawing/2014/main" id="{6B1D1D40-E8E5-41A2-83AF-EB7E2A1F32D0}"/>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Our previous replication</a:t>
            </a:r>
          </a:p>
        </p:txBody>
      </p:sp>
      <p:sp>
        <p:nvSpPr>
          <p:cNvPr id="5" name="">
            <a:extLst xmlns:a="http://schemas.openxmlformats.org/drawingml/2006/main">
              <a:ext uri="{FF2B5EF4-FFF2-40B4-BE49-F238E27FC236}">
                <a16:creationId xmlns:a16="http://schemas.microsoft.com/office/drawing/2014/main" id="{FC222FE0-76E8-4F56-98A7-9619102A1B44}"/>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9</a:t>
            </a:r>
          </a:p>
        </p:txBody>
      </p:sp>
      <p:graphicFrame>
        <p:nvGraphicFramePr>
          <p:cNvPr id="13" name=""/>
          <p:cNvGraphicFramePr/>
          <p:nvPr/>
        </p:nvGraphicFramePr>
        <p:xfrm>
          <a:off xmlns:a="http://schemas.openxmlformats.org/drawingml/2006/main" x="400050" y="1019175"/>
          <a:ext xmlns:a="http://schemas.openxmlformats.org/drawingml/2006/main" cx="8343900" cy="2781300"/>
        </p:xfrm>
        <a:graphic xmlns:a="http://schemas.openxmlformats.org/drawingml/2006/main">
          <a:graphicData uri="http://schemas.openxmlformats.org/drawingml/2006/table">
            <a:tbl>
              <a:tblPr/>
              <a:tblGrid>
                <a:gridCol w="2714625"/>
                <a:gridCol w="2814638"/>
                <a:gridCol w="2814638"/>
              </a:tblGrid>
              <a:tr h="556260">
                <a:tc>
                  <a:txBody>
                    <a:bodyPr/>
                    <a:lstStyle/>
                    <a:p>
                      <a:r>
                        <a:rPr sz="1350" b="1">
                          <a:solidFill>
                            <a:srgbClr val="FFFFFF"/>
                          </a:solidFill>
                          <a:latin typeface="Arial"/>
                          <a:ea typeface="Arial"/>
                          <a:cs typeface="Arial"/>
                        </a:rPr>
                        <a:t>Check</a:t>
                      </a:r>
                    </a:p>
                  </a:txBody>
                  <a:tcPr marL="91440" marR="91440" marT="45720" marB="45720">
                    <a:solidFill>
                      <a:srgbClr val="003262"/>
                    </a:solidFill>
                  </a:tcPr>
                </a:tc>
                <a:tc>
                  <a:txBody>
                    <a:bodyPr/>
                    <a:lstStyle/>
                    <a:p>
                      <a:r>
                        <a:rPr sz="1350" b="1">
                          <a:solidFill>
                            <a:srgbClr val="FFFFFF"/>
                          </a:solidFill>
                          <a:latin typeface="Arial"/>
                          <a:ea typeface="Arial"/>
                          <a:cs typeface="Arial"/>
                        </a:rPr>
                        <a:t>Our result</a:t>
                      </a:r>
                    </a:p>
                  </a:txBody>
                  <a:tcPr marL="91440" marR="91440" marT="45720" marB="45720">
                    <a:solidFill>
                      <a:srgbClr val="003262"/>
                    </a:solidFill>
                  </a:tcPr>
                </a:tc>
                <a:tc>
                  <a:txBody>
                    <a:bodyPr/>
                    <a:lstStyle/>
                    <a:p>
                      <a:r>
                        <a:rPr sz="1350" b="1">
                          <a:solidFill>
                            <a:srgbClr val="FFFFFF"/>
                          </a:solidFill>
                          <a:latin typeface="Arial"/>
                          <a:ea typeface="Arial"/>
                          <a:cs typeface="Arial"/>
                        </a:rPr>
                        <a:t>Reference</a:t>
                      </a:r>
                    </a:p>
                  </a:txBody>
                  <a:tcPr marL="91440" marR="91440" marT="45720" marB="45720">
                    <a:solidFill>
                      <a:srgbClr val="003262"/>
                    </a:solidFill>
                  </a:tcPr>
                </a:tc>
              </a:tr>
              <a:tr h="556260">
                <a:tc>
                  <a:txBody>
                    <a:bodyPr/>
                    <a:lstStyle/>
                    <a:p>
                      <a:r>
                        <a:rPr sz="1425" b="0">
                          <a:solidFill>
                            <a:srgbClr val="1F2A37"/>
                          </a:solidFill>
                          <a:latin typeface="Arial"/>
                          <a:ea typeface="Arial"/>
                          <a:cs typeface="Arial"/>
                        </a:rPr>
                        <a:t>FF-3 test Sharpe</a:t>
                      </a:r>
                    </a:p>
                  </a:txBody>
                  <a:tcPr marL="91440" marR="91440" marT="45720" marB="45720">
                    <a:solidFill>
                      <a:srgbClr val="EEF3F8"/>
                    </a:solidFill>
                  </a:tcPr>
                </a:tc>
                <a:tc>
                  <a:txBody>
                    <a:bodyPr/>
                    <a:lstStyle/>
                    <a:p>
                      <a:r>
                        <a:rPr sz="1425" b="0">
                          <a:solidFill>
                            <a:srgbClr val="1F2A37"/>
                          </a:solidFill>
                          <a:latin typeface="Arial"/>
                          <a:ea typeface="Arial"/>
                          <a:cs typeface="Arial"/>
                        </a:rPr>
                        <a:t>0.196</a:t>
                      </a:r>
                    </a:p>
                  </a:txBody>
                  <a:tcPr marL="91440" marR="91440" marT="45720" marB="45720">
                    <a:solidFill>
                      <a:srgbClr val="EEF3F8"/>
                    </a:solidFill>
                  </a:tcPr>
                </a:tc>
                <a:tc>
                  <a:txBody>
                    <a:bodyPr/>
                    <a:lstStyle/>
                    <a:p>
                      <a:r>
                        <a:rPr sz="1425" b="0">
                          <a:solidFill>
                            <a:srgbClr val="1F2A37"/>
                          </a:solidFill>
                          <a:latin typeface="Arial"/>
                          <a:ea typeface="Arial"/>
                          <a:cs typeface="Arial"/>
                        </a:rPr>
                        <a:t>Paper 0.190</a:t>
                      </a:r>
                    </a:p>
                  </a:txBody>
                  <a:tcPr marL="91440" marR="91440" marT="45720" marB="45720">
                    <a:solidFill>
                      <a:srgbClr val="EEF3F8"/>
                    </a:solidFill>
                  </a:tcPr>
                </a:tc>
              </a:tr>
              <a:tr h="556260">
                <a:tc>
                  <a:txBody>
                    <a:bodyPr/>
                    <a:lstStyle/>
                    <a:p>
                      <a:r>
                        <a:rPr sz="1425" b="0">
                          <a:solidFill>
                            <a:srgbClr val="1F2A37"/>
                          </a:solidFill>
                          <a:latin typeface="Arial"/>
                          <a:ea typeface="Arial"/>
                          <a:cs typeface="Arial"/>
                        </a:rPr>
                        <a:t>FF-5 test Sharpe</a:t>
                      </a:r>
                    </a:p>
                  </a:txBody>
                  <a:tcPr marL="91440" marR="91440" marT="45720" marB="45720">
                    <a:solidFill>
                      <a:srgbClr val="FFFFFF"/>
                    </a:solidFill>
                  </a:tcPr>
                </a:tc>
                <a:tc>
                  <a:txBody>
                    <a:bodyPr/>
                    <a:lstStyle/>
                    <a:p>
                      <a:r>
                        <a:rPr sz="1425" b="0">
                          <a:solidFill>
                            <a:srgbClr val="1F2A37"/>
                          </a:solidFill>
                          <a:latin typeface="Arial"/>
                          <a:ea typeface="Arial"/>
                          <a:cs typeface="Arial"/>
                        </a:rPr>
                        <a:t>0.223</a:t>
                      </a:r>
                    </a:p>
                  </a:txBody>
                  <a:tcPr marL="91440" marR="91440" marT="45720" marB="45720">
                    <a:solidFill>
                      <a:srgbClr val="FFFFFF"/>
                    </a:solidFill>
                  </a:tcPr>
                </a:tc>
                <a:tc>
                  <a:txBody>
                    <a:bodyPr/>
                    <a:lstStyle/>
                    <a:p>
                      <a:r>
                        <a:rPr sz="1425" b="0">
                          <a:solidFill>
                            <a:srgbClr val="1F2A37"/>
                          </a:solidFill>
                          <a:latin typeface="Arial"/>
                          <a:ea typeface="Arial"/>
                          <a:cs typeface="Arial"/>
                        </a:rPr>
                        <a:t>Paper 0.220</a:t>
                      </a:r>
                    </a:p>
                  </a:txBody>
                  <a:tcPr marL="91440" marR="91440" marT="45720" marB="45720">
                    <a:solidFill>
                      <a:srgbClr val="FFFFFF"/>
                    </a:solidFill>
                  </a:tcPr>
                </a:tc>
              </a:tr>
              <a:tr h="556260">
                <a:tc>
                  <a:txBody>
                    <a:bodyPr/>
                    <a:lstStyle/>
                    <a:p>
                      <a:r>
                        <a:rPr sz="1425" b="0">
                          <a:solidFill>
                            <a:srgbClr val="1F2A37"/>
                          </a:solidFill>
                          <a:latin typeface="Arial"/>
                          <a:ea typeface="Arial"/>
                          <a:cs typeface="Arial"/>
                        </a:rPr>
                        <a:t>GAN test correlation</a:t>
                      </a:r>
                    </a:p>
                  </a:txBody>
                  <a:tcPr marL="91440" marR="91440" marT="45720" marB="45720">
                    <a:solidFill>
                      <a:srgbClr val="EEF3F8"/>
                    </a:solidFill>
                  </a:tcPr>
                </a:tc>
                <a:tc>
                  <a:txBody>
                    <a:bodyPr/>
                    <a:lstStyle/>
                    <a:p>
                      <a:r>
                        <a:rPr sz="1425" b="0">
                          <a:solidFill>
                            <a:srgbClr val="1F2A37"/>
                          </a:solidFill>
                          <a:latin typeface="Arial"/>
                          <a:ea typeface="Arial"/>
                          <a:cs typeface="Arial"/>
                        </a:rPr>
                        <a:t>0.800</a:t>
                      </a:r>
                    </a:p>
                  </a:txBody>
                  <a:tcPr marL="91440" marR="91440" marT="45720" marB="45720">
                    <a:solidFill>
                      <a:srgbClr val="EEF3F8"/>
                    </a:solidFill>
                  </a:tcPr>
                </a:tc>
                <a:tc>
                  <a:txBody>
                    <a:bodyPr/>
                    <a:lstStyle/>
                    <a:p>
                      <a:r>
                        <a:rPr sz="1425" b="0">
                          <a:solidFill>
                            <a:srgbClr val="1F2A37"/>
                          </a:solidFill>
                          <a:latin typeface="Arial"/>
                          <a:ea typeface="Arial"/>
                          <a:cs typeface="Arial"/>
                        </a:rPr>
                        <a:t>Authors’ monthly GAN</a:t>
                      </a:r>
                    </a:p>
                  </a:txBody>
                  <a:tcPr marL="91440" marR="91440" marT="45720" marB="45720">
                    <a:solidFill>
                      <a:srgbClr val="EEF3F8"/>
                    </a:solidFill>
                  </a:tcPr>
                </a:tc>
              </a:tr>
              <a:tr h="556260">
                <a:tc>
                  <a:txBody>
                    <a:bodyPr/>
                    <a:lstStyle/>
                    <a:p>
                      <a:r>
                        <a:rPr sz="1425" b="0">
                          <a:solidFill>
                            <a:srgbClr val="1F2A37"/>
                          </a:solidFill>
                          <a:latin typeface="Arial"/>
                          <a:ea typeface="Arial"/>
                          <a:cs typeface="Arial"/>
                        </a:rPr>
                        <a:t>Leading characteristics</a:t>
                      </a:r>
                    </a:p>
                  </a:txBody>
                  <a:tcPr marL="91440" marR="91440" marT="45720" marB="45720">
                    <a:solidFill>
                      <a:srgbClr val="FFFFFF"/>
                    </a:solidFill>
                  </a:tcPr>
                </a:tc>
                <a:tc>
                  <a:txBody>
                    <a:bodyPr/>
                    <a:lstStyle/>
                    <a:p>
                      <a:r>
                        <a:rPr sz="1425" b="0">
                          <a:solidFill>
                            <a:srgbClr val="1F2A37"/>
                          </a:solidFill>
                          <a:latin typeface="Arial"/>
                          <a:ea typeface="Arial"/>
                          <a:cs typeface="Arial"/>
                        </a:rPr>
                        <a:t>ST_REV, SUV, r12_2</a:t>
                      </a:r>
                    </a:p>
                  </a:txBody>
                  <a:tcPr marL="91440" marR="91440" marT="45720" marB="45720">
                    <a:solidFill>
                      <a:srgbClr val="FFFFFF"/>
                    </a:solidFill>
                  </a:tcPr>
                </a:tc>
                <a:tc>
                  <a:txBody>
                    <a:bodyPr/>
                    <a:lstStyle/>
                    <a:p>
                      <a:r>
                        <a:rPr sz="1425" b="0">
                          <a:solidFill>
                            <a:srgbClr val="1F2A37"/>
                          </a:solidFill>
                          <a:latin typeface="Arial"/>
                          <a:ea typeface="Arial"/>
                          <a:cs typeface="Arial"/>
                        </a:rPr>
                        <a:t>Same top three</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9CCF0563-F1E0-45C3-B4D1-2091FDA971D9}"/>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These checks support the replication’s economic similarity to the original.</a:t>
            </a:r>
          </a:p>
        </p:txBody>
      </p:sp>
    </p:spTree>
    <p:extLst>
      <p:ext uri="{BB962C8B-B14F-4D97-AF65-F5344CB8AC3E}">
        <p14:creationId xmlns:p14="http://schemas.microsoft.com/office/powerpoint/2010/main" val="213131335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147E69E-222E-48ED-A5E3-2809181C8F65}"/>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6D7BA2-7F5D-4A0F-AE17-30885EF09B46}"/>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CA75FBC-2090-4BC2-A6E1-38B4AF8C6EB3}"/>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Questions left by the previous presentations</a:t>
            </a:r>
          </a:p>
        </p:txBody>
      </p:sp>
      <p:sp>
        <p:nvSpPr>
          <p:cNvPr id="4" name="">
            <a:extLst xmlns:a="http://schemas.openxmlformats.org/drawingml/2006/main">
              <a:ext uri="{FF2B5EF4-FFF2-40B4-BE49-F238E27FC236}">
                <a16:creationId xmlns:a16="http://schemas.microsoft.com/office/drawing/2014/main" id="{A644F405-C455-4CF5-BEBE-559F5AEB5DB6}"/>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Motivation for the new work</a:t>
            </a:r>
          </a:p>
        </p:txBody>
      </p:sp>
      <p:sp>
        <p:nvSpPr>
          <p:cNvPr id="5" name="">
            <a:extLst xmlns:a="http://schemas.openxmlformats.org/drawingml/2006/main">
              <a:ext uri="{FF2B5EF4-FFF2-40B4-BE49-F238E27FC236}">
                <a16:creationId xmlns:a16="http://schemas.microsoft.com/office/drawing/2014/main" id="{93F1EAF0-B157-4DC5-842A-66A41A789F13}"/>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10</a:t>
            </a:r>
          </a:p>
        </p:txBody>
      </p:sp>
      <p:sp>
        <p:nvSpPr>
          <p:cNvPr id="6" name="">
            <a:extLst xmlns:a="http://schemas.openxmlformats.org/drawingml/2006/main">
              <a:ext uri="{FF2B5EF4-FFF2-40B4-BE49-F238E27FC236}">
                <a16:creationId xmlns:a16="http://schemas.microsoft.com/office/drawing/2014/main" id="{C37CCD17-20FD-415B-98F4-5F3287697B9B}"/>
              </a:ext>
            </a:extLst>
          </p:cNvPr>
          <p:cNvSpPr>
            <a:spLocks xmlns:a="http://schemas.openxmlformats.org/drawingml/2006/main" noGrp="1"/>
          </p:cNvSpPr>
          <p:nvPr/>
        </p:nvSpPr>
        <p:spPr>
          <a:xfrm xmlns:a="http://schemas.openxmlformats.org/drawingml/2006/main">
            <a:off x="400050" y="10001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Architecture</a:t>
            </a:r>
          </a:p>
        </p:txBody>
      </p:sp>
      <p:sp>
        <p:nvSpPr>
          <p:cNvPr id="7" name="">
            <a:extLst xmlns:a="http://schemas.openxmlformats.org/drawingml/2006/main">
              <a:ext uri="{FF2B5EF4-FFF2-40B4-BE49-F238E27FC236}">
                <a16:creationId xmlns:a16="http://schemas.microsoft.com/office/drawing/2014/main" id="{0BD74993-818D-42FA-B6CF-0CD7DABFC394}"/>
              </a:ext>
            </a:extLst>
          </p:cNvPr>
          <p:cNvSpPr>
            <a:spLocks xmlns:a="http://schemas.openxmlformats.org/drawingml/2006/main" noGrp="1"/>
          </p:cNvSpPr>
          <p:nvPr/>
        </p:nvSpPr>
        <p:spPr>
          <a:xfrm xmlns:a="http://schemas.openxmlformats.org/drawingml/2006/main">
            <a:off x="400050" y="13525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Would causal attention change the learned macro representation?</a:t>
            </a:r>
          </a:p>
        </p:txBody>
      </p:sp>
      <p:sp>
        <p:nvSpPr>
          <p:cNvPr id="8" name="">
            <a:extLst xmlns:a="http://schemas.openxmlformats.org/drawingml/2006/main">
              <a:ext uri="{FF2B5EF4-FFF2-40B4-BE49-F238E27FC236}">
                <a16:creationId xmlns:a16="http://schemas.microsoft.com/office/drawing/2014/main" id="{82C99A9C-C3DB-4020-B4DB-3506AFA80A7B}"/>
              </a:ext>
            </a:extLst>
          </p:cNvPr>
          <p:cNvSpPr>
            <a:spLocks xmlns:a="http://schemas.openxmlformats.org/drawingml/2006/main" noGrp="1"/>
          </p:cNvSpPr>
          <p:nvPr/>
        </p:nvSpPr>
        <p:spPr>
          <a:xfrm xmlns:a="http://schemas.openxmlformats.org/drawingml/2006/main">
            <a:off x="400050" y="20669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Time variation</a:t>
            </a:r>
          </a:p>
        </p:txBody>
      </p:sp>
      <p:sp>
        <p:nvSpPr>
          <p:cNvPr id="9" name="">
            <a:extLst xmlns:a="http://schemas.openxmlformats.org/drawingml/2006/main">
              <a:ext uri="{FF2B5EF4-FFF2-40B4-BE49-F238E27FC236}">
                <a16:creationId xmlns:a16="http://schemas.microsoft.com/office/drawing/2014/main" id="{51C2F37E-4B2D-4C27-A105-07F19C257417}"/>
              </a:ext>
            </a:extLst>
          </p:cNvPr>
          <p:cNvSpPr>
            <a:spLocks xmlns:a="http://schemas.openxmlformats.org/drawingml/2006/main" noGrp="1"/>
          </p:cNvSpPr>
          <p:nvPr/>
        </p:nvSpPr>
        <p:spPr>
          <a:xfrm xmlns:a="http://schemas.openxmlformats.org/drawingml/2006/main">
            <a:off x="400050" y="24193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Does one full-test Sharpe hide changes in relative performance?</a:t>
            </a:r>
          </a:p>
        </p:txBody>
      </p:sp>
      <p:sp>
        <p:nvSpPr>
          <p:cNvPr id="10" name="">
            <a:extLst xmlns:a="http://schemas.openxmlformats.org/drawingml/2006/main">
              <a:ext uri="{FF2B5EF4-FFF2-40B4-BE49-F238E27FC236}">
                <a16:creationId xmlns:a16="http://schemas.microsoft.com/office/drawing/2014/main" id="{1A09768C-3F47-4AD4-8A4A-60EFF9BAE715}"/>
              </a:ext>
            </a:extLst>
          </p:cNvPr>
          <p:cNvSpPr>
            <a:spLocks xmlns:a="http://schemas.openxmlformats.org/drawingml/2006/main" noGrp="1"/>
          </p:cNvSpPr>
          <p:nvPr/>
        </p:nvSpPr>
        <p:spPr>
          <a:xfrm xmlns:a="http://schemas.openxmlformats.org/drawingml/2006/main">
            <a:off x="400050" y="31337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Economic conditions</a:t>
            </a:r>
          </a:p>
        </p:txBody>
      </p:sp>
      <p:sp>
        <p:nvSpPr>
          <p:cNvPr id="11" name="">
            <a:extLst xmlns:a="http://schemas.openxmlformats.org/drawingml/2006/main">
              <a:ext uri="{FF2B5EF4-FFF2-40B4-BE49-F238E27FC236}">
                <a16:creationId xmlns:a16="http://schemas.microsoft.com/office/drawing/2014/main" id="{466A6F91-9DF8-408D-8473-6674F096EF69}"/>
              </a:ext>
            </a:extLst>
          </p:cNvPr>
          <p:cNvSpPr>
            <a:spLocks xmlns:a="http://schemas.openxmlformats.org/drawingml/2006/main" noGrp="1"/>
          </p:cNvSpPr>
          <p:nvPr/>
        </p:nvSpPr>
        <p:spPr>
          <a:xfrm xmlns:a="http://schemas.openxmlformats.org/drawingml/2006/main">
            <a:off x="400050" y="34861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Do recession and volatility groups explain where the models differ?</a:t>
            </a:r>
          </a:p>
        </p:txBody>
      </p:sp>
    </p:spTree>
    <p:extLst>
      <p:ext uri="{BB962C8B-B14F-4D97-AF65-F5344CB8AC3E}">
        <p14:creationId xmlns:p14="http://schemas.microsoft.com/office/powerpoint/2010/main" val="104627098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52F6AAC-20BF-4B7C-82BB-7B57465F2650}"/>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27FD2FE-6ADA-44C7-9969-D4FC08DD200F}"/>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F39451E-BD68-4848-A07F-43DE934C2EAD}"/>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What Codes 08–11 add</a:t>
            </a:r>
          </a:p>
        </p:txBody>
      </p:sp>
      <p:sp>
        <p:nvSpPr>
          <p:cNvPr id="4" name="">
            <a:extLst xmlns:a="http://schemas.openxmlformats.org/drawingml/2006/main">
              <a:ext uri="{FF2B5EF4-FFF2-40B4-BE49-F238E27FC236}">
                <a16:creationId xmlns:a16="http://schemas.microsoft.com/office/drawing/2014/main" id="{853E9EC0-6268-4995-A2FC-088823452A6B}"/>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New results</a:t>
            </a:r>
          </a:p>
        </p:txBody>
      </p:sp>
      <p:sp>
        <p:nvSpPr>
          <p:cNvPr id="5" name="">
            <a:extLst xmlns:a="http://schemas.openxmlformats.org/drawingml/2006/main">
              <a:ext uri="{FF2B5EF4-FFF2-40B4-BE49-F238E27FC236}">
                <a16:creationId xmlns:a16="http://schemas.microsoft.com/office/drawing/2014/main" id="{71478E50-D7D5-4070-BD44-B1139EC9EF7F}"/>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11</a:t>
            </a:r>
          </a:p>
        </p:txBody>
      </p:sp>
      <p:graphicFrame>
        <p:nvGraphicFramePr>
          <p:cNvPr id="13" name=""/>
          <p:cNvGraphicFramePr/>
          <p:nvPr/>
        </p:nvGraphicFramePr>
        <p:xfrm>
          <a:off xmlns:a="http://schemas.openxmlformats.org/drawingml/2006/main" x="400050" y="1019175"/>
          <a:ext xmlns:a="http://schemas.openxmlformats.org/drawingml/2006/main" cx="8343900" cy="2876550"/>
        </p:xfrm>
        <a:graphic xmlns:a="http://schemas.openxmlformats.org/drawingml/2006/main">
          <a:graphicData uri="http://schemas.openxmlformats.org/drawingml/2006/table">
            <a:tbl>
              <a:tblPr/>
              <a:tblGrid>
                <a:gridCol w="952500"/>
                <a:gridCol w="3695700"/>
                <a:gridCol w="3695700"/>
              </a:tblGrid>
              <a:tr h="575310">
                <a:tc>
                  <a:txBody>
                    <a:bodyPr/>
                    <a:lstStyle/>
                    <a:p>
                      <a:r>
                        <a:rPr sz="1275" b="1">
                          <a:solidFill>
                            <a:srgbClr val="FFFFFF"/>
                          </a:solidFill>
                          <a:latin typeface="Arial"/>
                          <a:ea typeface="Arial"/>
                          <a:cs typeface="Arial"/>
                        </a:rPr>
                        <a:t>Code</a:t>
                      </a:r>
                    </a:p>
                  </a:txBody>
                  <a:tcPr marL="91440" marR="91440" marT="45720" marB="45720">
                    <a:solidFill>
                      <a:srgbClr val="003262"/>
                    </a:solidFill>
                  </a:tcPr>
                </a:tc>
                <a:tc>
                  <a:txBody>
                    <a:bodyPr/>
                    <a:lstStyle/>
                    <a:p>
                      <a:r>
                        <a:rPr sz="1275" b="1">
                          <a:solidFill>
                            <a:srgbClr val="FFFFFF"/>
                          </a:solidFill>
                          <a:latin typeface="Arial"/>
                          <a:ea typeface="Arial"/>
                          <a:cs typeface="Arial"/>
                        </a:rPr>
                        <a:t>Analysis</a:t>
                      </a:r>
                    </a:p>
                  </a:txBody>
                  <a:tcPr marL="91440" marR="91440" marT="45720" marB="45720">
                    <a:solidFill>
                      <a:srgbClr val="003262"/>
                    </a:solidFill>
                  </a:tcPr>
                </a:tc>
                <a:tc>
                  <a:txBody>
                    <a:bodyPr/>
                    <a:lstStyle/>
                    <a:p>
                      <a:r>
                        <a:rPr sz="1275" b="1">
                          <a:solidFill>
                            <a:srgbClr val="FFFFFF"/>
                          </a:solidFill>
                          <a:latin typeface="Arial"/>
                          <a:ea typeface="Arial"/>
                          <a:cs typeface="Arial"/>
                        </a:rPr>
                        <a:t>Question</a:t>
                      </a:r>
                    </a:p>
                  </a:txBody>
                  <a:tcPr marL="91440" marR="91440" marT="45720" marB="45720">
                    <a:solidFill>
                      <a:srgbClr val="003262"/>
                    </a:solidFill>
                  </a:tcPr>
                </a:tc>
              </a:tr>
              <a:tr h="575310">
                <a:tc>
                  <a:txBody>
                    <a:bodyPr/>
                    <a:lstStyle/>
                    <a:p>
                      <a:r>
                        <a:rPr sz="1350" b="0">
                          <a:solidFill>
                            <a:srgbClr val="1F2A37"/>
                          </a:solidFill>
                          <a:latin typeface="Arial"/>
                          <a:ea typeface="Arial"/>
                          <a:cs typeface="Arial"/>
                        </a:rPr>
                        <a:t>08</a:t>
                      </a:r>
                    </a:p>
                  </a:txBody>
                  <a:tcPr marL="91440" marR="91440" marT="45720" marB="45720">
                    <a:solidFill>
                      <a:srgbClr val="EEF3F8"/>
                    </a:solidFill>
                  </a:tcPr>
                </a:tc>
                <a:tc>
                  <a:txBody>
                    <a:bodyPr/>
                    <a:lstStyle/>
                    <a:p>
                      <a:r>
                        <a:rPr sz="1350" b="0">
                          <a:solidFill>
                            <a:srgbClr val="1F2A37"/>
                          </a:solidFill>
                          <a:latin typeface="Arial"/>
                          <a:ea typeface="Arial"/>
                          <a:cs typeface="Arial"/>
                        </a:rPr>
                        <a:t>LSTM versus Transformer</a:t>
                      </a:r>
                    </a:p>
                  </a:txBody>
                  <a:tcPr marL="91440" marR="91440" marT="45720" marB="45720">
                    <a:solidFill>
                      <a:srgbClr val="EEF3F8"/>
                    </a:solidFill>
                  </a:tcPr>
                </a:tc>
                <a:tc>
                  <a:txBody>
                    <a:bodyPr/>
                    <a:lstStyle/>
                    <a:p>
                      <a:r>
                        <a:rPr sz="1350" b="0">
                          <a:solidFill>
                            <a:srgbClr val="1F2A37"/>
                          </a:solidFill>
                          <a:latin typeface="Arial"/>
                          <a:ea typeface="Arial"/>
                          <a:cs typeface="Arial"/>
                        </a:rPr>
                        <a:t>Which encoder works at a common budget?</a:t>
                      </a:r>
                    </a:p>
                  </a:txBody>
                  <a:tcPr marL="91440" marR="91440" marT="45720" marB="45720">
                    <a:solidFill>
                      <a:srgbClr val="EEF3F8"/>
                    </a:solidFill>
                  </a:tcPr>
                </a:tc>
              </a:tr>
              <a:tr h="575310">
                <a:tc>
                  <a:txBody>
                    <a:bodyPr/>
                    <a:lstStyle/>
                    <a:p>
                      <a:r>
                        <a:rPr sz="1350" b="0">
                          <a:solidFill>
                            <a:srgbClr val="1F2A37"/>
                          </a:solidFill>
                          <a:latin typeface="Arial"/>
                          <a:ea typeface="Arial"/>
                          <a:cs typeface="Arial"/>
                        </a:rPr>
                        <a:t>09</a:t>
                      </a:r>
                    </a:p>
                  </a:txBody>
                  <a:tcPr marL="91440" marR="91440" marT="45720" marB="45720">
                    <a:solidFill>
                      <a:srgbClr val="FFFFFF"/>
                    </a:solidFill>
                  </a:tcPr>
                </a:tc>
                <a:tc>
                  <a:txBody>
                    <a:bodyPr/>
                    <a:lstStyle/>
                    <a:p>
                      <a:r>
                        <a:rPr sz="1350" b="0">
                          <a:solidFill>
                            <a:srgbClr val="1F2A37"/>
                          </a:solidFill>
                          <a:latin typeface="Arial"/>
                          <a:ea typeface="Arial"/>
                          <a:cs typeface="Arial"/>
                        </a:rPr>
                        <a:t>36/60-month rolling evaluation</a:t>
                      </a:r>
                    </a:p>
                  </a:txBody>
                  <a:tcPr marL="91440" marR="91440" marT="45720" marB="45720">
                    <a:solidFill>
                      <a:srgbClr val="FFFFFF"/>
                    </a:solidFill>
                  </a:tcPr>
                </a:tc>
                <a:tc>
                  <a:txBody>
                    <a:bodyPr/>
                    <a:lstStyle/>
                    <a:p>
                      <a:r>
                        <a:rPr sz="1350" b="0">
                          <a:solidFill>
                            <a:srgbClr val="1F2A37"/>
                          </a:solidFill>
                          <a:latin typeface="Arial"/>
                          <a:ea typeface="Arial"/>
                          <a:cs typeface="Arial"/>
                        </a:rPr>
                        <a:t>When does performance change?</a:t>
                      </a:r>
                    </a:p>
                  </a:txBody>
                  <a:tcPr marL="91440" marR="91440" marT="45720" marB="45720">
                    <a:solidFill>
                      <a:srgbClr val="FFFFFF"/>
                    </a:solidFill>
                  </a:tcPr>
                </a:tc>
              </a:tr>
              <a:tr h="575310">
                <a:tc>
                  <a:txBody>
                    <a:bodyPr/>
                    <a:lstStyle/>
                    <a:p>
                      <a:r>
                        <a:rPr sz="1350" b="0">
                          <a:solidFill>
                            <a:srgbClr val="1F2A37"/>
                          </a:solidFill>
                          <a:latin typeface="Arial"/>
                          <a:ea typeface="Arial"/>
                          <a:cs typeface="Arial"/>
                        </a:rPr>
                        <a:t>10</a:t>
                      </a:r>
                    </a:p>
                  </a:txBody>
                  <a:tcPr marL="91440" marR="91440" marT="45720" marB="45720">
                    <a:solidFill>
                      <a:srgbClr val="EEF3F8"/>
                    </a:solidFill>
                  </a:tcPr>
                </a:tc>
                <a:tc>
                  <a:txBody>
                    <a:bodyPr/>
                    <a:lstStyle/>
                    <a:p>
                      <a:r>
                        <a:rPr sz="1350" b="0">
                          <a:solidFill>
                            <a:srgbClr val="1F2A37"/>
                          </a:solidFill>
                          <a:latin typeface="Arial"/>
                          <a:ea typeface="Arial"/>
                          <a:cs typeface="Arial"/>
                        </a:rPr>
                        <a:t>Recession and volatility regimes</a:t>
                      </a:r>
                    </a:p>
                  </a:txBody>
                  <a:tcPr marL="91440" marR="91440" marT="45720" marB="45720">
                    <a:solidFill>
                      <a:srgbClr val="EEF3F8"/>
                    </a:solidFill>
                  </a:tcPr>
                </a:tc>
                <a:tc>
                  <a:txBody>
                    <a:bodyPr/>
                    <a:lstStyle/>
                    <a:p>
                      <a:r>
                        <a:rPr sz="1350" b="0">
                          <a:solidFill>
                            <a:srgbClr val="1F2A37"/>
                          </a:solidFill>
                          <a:latin typeface="Arial"/>
                          <a:ea typeface="Arial"/>
                          <a:cs typeface="Arial"/>
                        </a:rPr>
                        <a:t>Where do return and risk differ?</a:t>
                      </a:r>
                    </a:p>
                  </a:txBody>
                  <a:tcPr marL="91440" marR="91440" marT="45720" marB="45720">
                    <a:solidFill>
                      <a:srgbClr val="EEF3F8"/>
                    </a:solidFill>
                  </a:tcPr>
                </a:tc>
              </a:tr>
              <a:tr h="575310">
                <a:tc>
                  <a:txBody>
                    <a:bodyPr/>
                    <a:lstStyle/>
                    <a:p>
                      <a:r>
                        <a:rPr sz="1350" b="0">
                          <a:solidFill>
                            <a:srgbClr val="1F2A37"/>
                          </a:solidFill>
                          <a:latin typeface="Arial"/>
                          <a:ea typeface="Arial"/>
                          <a:cs typeface="Arial"/>
                        </a:rPr>
                        <a:t>11</a:t>
                      </a:r>
                    </a:p>
                  </a:txBody>
                  <a:tcPr marL="91440" marR="91440" marT="45720" marB="45720">
                    <a:solidFill>
                      <a:srgbClr val="FFFFFF"/>
                    </a:solidFill>
                  </a:tcPr>
                </a:tc>
                <a:tc>
                  <a:txBody>
                    <a:bodyPr/>
                    <a:lstStyle/>
                    <a:p>
                      <a:r>
                        <a:rPr sz="1350" b="0">
                          <a:solidFill>
                            <a:srgbClr val="1F2A37"/>
                          </a:solidFill>
                          <a:latin typeface="Arial"/>
                          <a:ea typeface="Arial"/>
                          <a:cs typeface="Arial"/>
                        </a:rPr>
                        <a:t>Consolidation and combinations</a:t>
                      </a:r>
                    </a:p>
                  </a:txBody>
                  <a:tcPr marL="91440" marR="91440" marT="45720" marB="45720">
                    <a:solidFill>
                      <a:srgbClr val="FFFFFF"/>
                    </a:solidFill>
                  </a:tcPr>
                </a:tc>
                <a:tc>
                  <a:txBody>
                    <a:bodyPr/>
                    <a:lstStyle/>
                    <a:p>
                      <a:r>
                        <a:rPr sz="1350" b="0">
                          <a:solidFill>
                            <a:srgbClr val="1F2A37"/>
                          </a:solidFill>
                          <a:latin typeface="Arial"/>
                          <a:ea typeface="Arial"/>
                          <a:cs typeface="Arial"/>
                        </a:rPr>
                        <a:t>How do the comparisons fit together?</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2A2771A7-6C83-46CF-8FC7-DABBA5F64C49}"/>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The new contribution is a linked evaluation of architecture and economic conditions.</a:t>
            </a:r>
          </a:p>
        </p:txBody>
      </p:sp>
    </p:spTree>
    <p:extLst>
      <p:ext uri="{BB962C8B-B14F-4D97-AF65-F5344CB8AC3E}">
        <p14:creationId xmlns:p14="http://schemas.microsoft.com/office/powerpoint/2010/main" val="113532800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04E402-0C14-4AA9-A883-0C9002D053AA}"/>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68B43E3-BBB5-4FCF-A2ED-501A87A1973D}"/>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B01C955-6715-414B-9706-99EE210D55EB}"/>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The completed experiment uses shorter training</a:t>
            </a:r>
          </a:p>
        </p:txBody>
      </p:sp>
      <p:sp>
        <p:nvSpPr>
          <p:cNvPr id="4" name="">
            <a:extLst xmlns:a="http://schemas.openxmlformats.org/drawingml/2006/main">
              <a:ext uri="{FF2B5EF4-FFF2-40B4-BE49-F238E27FC236}">
                <a16:creationId xmlns:a16="http://schemas.microsoft.com/office/drawing/2014/main" id="{F39A44CD-189A-41DE-8DD8-B24AF12D804D}"/>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08</a:t>
            </a:r>
          </a:p>
        </p:txBody>
      </p:sp>
      <p:sp>
        <p:nvSpPr>
          <p:cNvPr id="5" name="">
            <a:extLst xmlns:a="http://schemas.openxmlformats.org/drawingml/2006/main">
              <a:ext uri="{FF2B5EF4-FFF2-40B4-BE49-F238E27FC236}">
                <a16:creationId xmlns:a16="http://schemas.microsoft.com/office/drawing/2014/main" id="{7C81C226-2C96-4A14-9D70-3A244FCEC18D}"/>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12</a:t>
            </a:r>
          </a:p>
        </p:txBody>
      </p:sp>
      <p:graphicFrame>
        <p:nvGraphicFramePr>
          <p:cNvPr id="13" name=""/>
          <p:cNvGraphicFramePr/>
          <p:nvPr/>
        </p:nvGraphicFramePr>
        <p:xfrm>
          <a:off xmlns:a="http://schemas.openxmlformats.org/drawingml/2006/main" x="400050" y="1019175"/>
          <a:ext xmlns:a="http://schemas.openxmlformats.org/drawingml/2006/main" cx="8343900" cy="2857500"/>
        </p:xfrm>
        <a:graphic xmlns:a="http://schemas.openxmlformats.org/drawingml/2006/main">
          <a:graphicData uri="http://schemas.openxmlformats.org/drawingml/2006/table">
            <a:tbl>
              <a:tblPr/>
              <a:tblGrid>
                <a:gridCol w="2857500"/>
                <a:gridCol w="2743200"/>
                <a:gridCol w="2743200"/>
              </a:tblGrid>
              <a:tr h="476250">
                <a:tc>
                  <a:txBody>
                    <a:bodyPr/>
                    <a:lstStyle/>
                    <a:p>
                      <a:r>
                        <a:rPr sz="1350" b="1">
                          <a:solidFill>
                            <a:srgbClr val="FFFFFF"/>
                          </a:solidFill>
                          <a:latin typeface="Arial"/>
                          <a:ea typeface="Arial"/>
                          <a:cs typeface="Arial"/>
                        </a:rPr>
                        <a:t>Setting</a:t>
                      </a:r>
                    </a:p>
                  </a:txBody>
                  <a:tcPr marL="91440" marR="91440" marT="45720" marB="45720">
                    <a:solidFill>
                      <a:srgbClr val="003262"/>
                    </a:solidFill>
                  </a:tcPr>
                </a:tc>
                <a:tc>
                  <a:txBody>
                    <a:bodyPr/>
                    <a:lstStyle/>
                    <a:p>
                      <a:r>
                        <a:rPr sz="1350" b="1">
                          <a:solidFill>
                            <a:srgbClr val="FFFFFF"/>
                          </a:solidFill>
                          <a:latin typeface="Arial"/>
                          <a:ea typeface="Arial"/>
                          <a:cs typeface="Arial"/>
                        </a:rPr>
                        <a:t>Audited author setup</a:t>
                      </a:r>
                    </a:p>
                  </a:txBody>
                  <a:tcPr marL="91440" marR="91440" marT="45720" marB="45720">
                    <a:solidFill>
                      <a:srgbClr val="003262"/>
                    </a:solidFill>
                  </a:tcPr>
                </a:tc>
                <a:tc>
                  <a:txBody>
                    <a:bodyPr/>
                    <a:lstStyle/>
                    <a:p>
                      <a:r>
                        <a:rPr sz="1350" b="1">
                          <a:solidFill>
                            <a:srgbClr val="FFFFFF"/>
                          </a:solidFill>
                          <a:latin typeface="Arial"/>
                          <a:ea typeface="Arial"/>
                          <a:cs typeface="Arial"/>
                        </a:rPr>
                        <a:t>Our completed run</a:t>
                      </a:r>
                    </a:p>
                  </a:txBody>
                  <a:tcPr marL="91440" marR="91440" marT="45720" marB="45720">
                    <a:solidFill>
                      <a:srgbClr val="003262"/>
                    </a:solidFill>
                  </a:tcPr>
                </a:tc>
              </a:tr>
              <a:tr h="476250">
                <a:tc>
                  <a:txBody>
                    <a:bodyPr/>
                    <a:lstStyle/>
                    <a:p>
                      <a:r>
                        <a:rPr sz="1425" b="0">
                          <a:solidFill>
                            <a:srgbClr val="1F2A37"/>
                          </a:solidFill>
                          <a:latin typeface="Arial"/>
                          <a:ea typeface="Arial"/>
                          <a:cs typeface="Arial"/>
                        </a:rPr>
                        <a:t>Stage 1 / 2 / 3 epochs</a:t>
                      </a:r>
                    </a:p>
                  </a:txBody>
                  <a:tcPr marL="91440" marR="91440" marT="45720" marB="45720">
                    <a:solidFill>
                      <a:srgbClr val="EEF3F8"/>
                    </a:solidFill>
                  </a:tcPr>
                </a:tc>
                <a:tc>
                  <a:txBody>
                    <a:bodyPr/>
                    <a:lstStyle/>
                    <a:p>
                      <a:r>
                        <a:rPr sz="1425" b="0">
                          <a:solidFill>
                            <a:srgbClr val="1F2A37"/>
                          </a:solidFill>
                          <a:latin typeface="Arial"/>
                          <a:ea typeface="Arial"/>
                          <a:cs typeface="Arial"/>
                        </a:rPr>
                        <a:t>256 / 64 / 1024</a:t>
                      </a:r>
                    </a:p>
                  </a:txBody>
                  <a:tcPr marL="91440" marR="91440" marT="45720" marB="45720">
                    <a:solidFill>
                      <a:srgbClr val="EEF3F8"/>
                    </a:solidFill>
                  </a:tcPr>
                </a:tc>
                <a:tc>
                  <a:txBody>
                    <a:bodyPr/>
                    <a:lstStyle/>
                    <a:p>
                      <a:r>
                        <a:rPr sz="1425" b="0">
                          <a:solidFill>
                            <a:srgbClr val="1F2A37"/>
                          </a:solidFill>
                          <a:latin typeface="Arial"/>
                          <a:ea typeface="Arial"/>
                          <a:cs typeface="Arial"/>
                        </a:rPr>
                        <a:t>16 / 4 / 48</a:t>
                      </a:r>
                    </a:p>
                  </a:txBody>
                  <a:tcPr marL="91440" marR="91440" marT="45720" marB="45720">
                    <a:solidFill>
                      <a:srgbClr val="EEF3F8"/>
                    </a:solidFill>
                  </a:tcPr>
                </a:tc>
              </a:tr>
              <a:tr h="476250">
                <a:tc>
                  <a:txBody>
                    <a:bodyPr/>
                    <a:lstStyle/>
                    <a:p>
                      <a:r>
                        <a:rPr sz="1425" b="0">
                          <a:solidFill>
                            <a:srgbClr val="1F2A37"/>
                          </a:solidFill>
                          <a:latin typeface="Arial"/>
                          <a:ea typeface="Arial"/>
                          <a:cs typeface="Arial"/>
                        </a:rPr>
                        <a:t>Optimizer passes</a:t>
                      </a:r>
                    </a:p>
                  </a:txBody>
                  <a:tcPr marL="91440" marR="91440" marT="45720" marB="45720">
                    <a:solidFill>
                      <a:srgbClr val="FFFFFF"/>
                    </a:solidFill>
                  </a:tcPr>
                </a:tc>
                <a:tc>
                  <a:txBody>
                    <a:bodyPr/>
                    <a:lstStyle/>
                    <a:p>
                      <a:r>
                        <a:rPr sz="1425" b="0">
                          <a:solidFill>
                            <a:srgbClr val="1F2A37"/>
                          </a:solidFill>
                          <a:latin typeface="Arial"/>
                          <a:ea typeface="Arial"/>
                          <a:cs typeface="Arial"/>
                        </a:rPr>
                        <a:t>4</a:t>
                      </a:r>
                    </a:p>
                  </a:txBody>
                  <a:tcPr marL="91440" marR="91440" marT="45720" marB="45720">
                    <a:solidFill>
                      <a:srgbClr val="FFFFFF"/>
                    </a:solidFill>
                  </a:tcPr>
                </a:tc>
                <a:tc>
                  <a:txBody>
                    <a:bodyPr/>
                    <a:lstStyle/>
                    <a:p>
                      <a:r>
                        <a:rPr sz="1425" b="0">
                          <a:solidFill>
                            <a:srgbClr val="1F2A37"/>
                          </a:solidFill>
                          <a:latin typeface="Arial"/>
                          <a:ea typeface="Arial"/>
                          <a:cs typeface="Arial"/>
                        </a:rPr>
                        <a:t>4</a:t>
                      </a:r>
                    </a:p>
                  </a:txBody>
                  <a:tcPr marL="91440" marR="91440" marT="45720" marB="45720">
                    <a:solidFill>
                      <a:srgbClr val="FFFFFF"/>
                    </a:solidFill>
                  </a:tcPr>
                </a:tc>
              </a:tr>
              <a:tr h="476250">
                <a:tc>
                  <a:txBody>
                    <a:bodyPr/>
                    <a:lstStyle/>
                    <a:p>
                      <a:r>
                        <a:rPr sz="1425" b="0">
                          <a:solidFill>
                            <a:srgbClr val="1F2A37"/>
                          </a:solidFill>
                          <a:latin typeface="Arial"/>
                          <a:ea typeface="Arial"/>
                          <a:cs typeface="Arial"/>
                        </a:rPr>
                        <a:t>Checkpoint warm-up</a:t>
                      </a:r>
                    </a:p>
                  </a:txBody>
                  <a:tcPr marL="91440" marR="91440" marT="45720" marB="45720">
                    <a:solidFill>
                      <a:srgbClr val="EEF3F8"/>
                    </a:solidFill>
                  </a:tcPr>
                </a:tc>
                <a:tc>
                  <a:txBody>
                    <a:bodyPr/>
                    <a:lstStyle/>
                    <a:p>
                      <a:r>
                        <a:rPr sz="1425" b="0">
                          <a:solidFill>
                            <a:srgbClr val="1F2A37"/>
                          </a:solidFill>
                          <a:latin typeface="Arial"/>
                          <a:ea typeface="Arial"/>
                          <a:cs typeface="Arial"/>
                        </a:rPr>
                        <a:t>64 epochs</a:t>
                      </a:r>
                    </a:p>
                  </a:txBody>
                  <a:tcPr marL="91440" marR="91440" marT="45720" marB="45720">
                    <a:solidFill>
                      <a:srgbClr val="EEF3F8"/>
                    </a:solidFill>
                  </a:tcPr>
                </a:tc>
                <a:tc>
                  <a:txBody>
                    <a:bodyPr/>
                    <a:lstStyle/>
                    <a:p>
                      <a:r>
                        <a:rPr sz="1425" b="0">
                          <a:solidFill>
                            <a:srgbClr val="1F2A37"/>
                          </a:solidFill>
                          <a:latin typeface="Arial"/>
                          <a:ea typeface="Arial"/>
                          <a:cs typeface="Arial"/>
                        </a:rPr>
                        <a:t>4 epochs</a:t>
                      </a:r>
                    </a:p>
                  </a:txBody>
                  <a:tcPr marL="91440" marR="91440" marT="45720" marB="45720">
                    <a:solidFill>
                      <a:srgbClr val="EEF3F8"/>
                    </a:solidFill>
                  </a:tcPr>
                </a:tc>
              </a:tr>
              <a:tr h="476250">
                <a:tc>
                  <a:txBody>
                    <a:bodyPr/>
                    <a:lstStyle/>
                    <a:p>
                      <a:r>
                        <a:rPr sz="1425" b="0">
                          <a:solidFill>
                            <a:srgbClr val="1F2A37"/>
                          </a:solidFill>
                          <a:latin typeface="Arial"/>
                          <a:ea typeface="Arial"/>
                          <a:cs typeface="Arial"/>
                        </a:rPr>
                        <a:t>Seeds per architecture</a:t>
                      </a:r>
                    </a:p>
                  </a:txBody>
                  <a:tcPr marL="91440" marR="91440" marT="45720" marB="45720">
                    <a:solidFill>
                      <a:srgbClr val="FFFFFF"/>
                    </a:solidFill>
                  </a:tcPr>
                </a:tc>
                <a:tc>
                  <a:txBody>
                    <a:bodyPr/>
                    <a:lstStyle/>
                    <a:p>
                      <a:r>
                        <a:rPr sz="1425" b="0">
                          <a:solidFill>
                            <a:srgbClr val="1F2A37"/>
                          </a:solidFill>
                          <a:latin typeface="Arial"/>
                          <a:ea typeface="Arial"/>
                          <a:cs typeface="Arial"/>
                        </a:rPr>
                        <a:t>9</a:t>
                      </a:r>
                    </a:p>
                  </a:txBody>
                  <a:tcPr marL="91440" marR="91440" marT="45720" marB="45720">
                    <a:solidFill>
                      <a:srgbClr val="FFFFFF"/>
                    </a:solidFill>
                  </a:tcPr>
                </a:tc>
                <a:tc>
                  <a:txBody>
                    <a:bodyPr/>
                    <a:lstStyle/>
                    <a:p>
                      <a:r>
                        <a:rPr sz="1425" b="0">
                          <a:solidFill>
                            <a:srgbClr val="1F2A37"/>
                          </a:solidFill>
                          <a:latin typeface="Arial"/>
                          <a:ea typeface="Arial"/>
                          <a:cs typeface="Arial"/>
                        </a:rPr>
                        <a:t>9</a:t>
                      </a:r>
                    </a:p>
                  </a:txBody>
                  <a:tcPr marL="91440" marR="91440" marT="45720" marB="45720">
                    <a:solidFill>
                      <a:srgbClr val="FFFFFF"/>
                    </a:solidFill>
                  </a:tcPr>
                </a:tc>
              </a:tr>
              <a:tr h="476250">
                <a:tc>
                  <a:txBody>
                    <a:bodyPr/>
                    <a:lstStyle/>
                    <a:p>
                      <a:r>
                        <a:rPr sz="1425" b="0">
                          <a:solidFill>
                            <a:srgbClr val="1F2A37"/>
                          </a:solidFill>
                          <a:latin typeface="Arial"/>
                          <a:ea typeface="Arial"/>
                          <a:cs typeface="Arial"/>
                        </a:rPr>
                        <a:t>Training framework</a:t>
                      </a:r>
                    </a:p>
                  </a:txBody>
                  <a:tcPr marL="91440" marR="91440" marT="45720" marB="45720">
                    <a:solidFill>
                      <a:srgbClr val="EEF3F8"/>
                    </a:solidFill>
                  </a:tcPr>
                </a:tc>
                <a:tc>
                  <a:txBody>
                    <a:bodyPr/>
                    <a:lstStyle/>
                    <a:p>
                      <a:r>
                        <a:rPr sz="1425" b="0">
                          <a:solidFill>
                            <a:srgbClr val="1F2A37"/>
                          </a:solidFill>
                          <a:latin typeface="Arial"/>
                          <a:ea typeface="Arial"/>
                          <a:cs typeface="Arial"/>
                        </a:rPr>
                        <a:t>TensorFlow author code</a:t>
                      </a:r>
                    </a:p>
                  </a:txBody>
                  <a:tcPr marL="91440" marR="91440" marT="45720" marB="45720">
                    <a:solidFill>
                      <a:srgbClr val="EEF3F8"/>
                    </a:solidFill>
                  </a:tcPr>
                </a:tc>
                <a:tc>
                  <a:txBody>
                    <a:bodyPr/>
                    <a:lstStyle/>
                    <a:p>
                      <a:r>
                        <a:rPr sz="1425" b="0">
                          <a:solidFill>
                            <a:srgbClr val="1F2A37"/>
                          </a:solidFill>
                          <a:latin typeface="Arial"/>
                          <a:ea typeface="Arial"/>
                          <a:cs typeface="Arial"/>
                        </a:rPr>
                        <a:t>PyTorch port</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44BC690D-1C21-48EA-8B5A-38039A5581D4}"/>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All 18 new models completed in 12.9 minutes. Full training remains a separate test.</a:t>
            </a:r>
          </a:p>
        </p:txBody>
      </p:sp>
    </p:spTree>
    <p:extLst>
      <p:ext uri="{BB962C8B-B14F-4D97-AF65-F5344CB8AC3E}">
        <p14:creationId xmlns:p14="http://schemas.microsoft.com/office/powerpoint/2010/main" val="109422143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E7F192B-26B0-4FC2-A1D6-6F807BE69072}"/>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800B070-2C83-47BD-954B-A93044950A8C}"/>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917F6AF-2B75-425E-9751-E4566DF020FD}"/>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LSTM and Transformer encoder comparison</a:t>
            </a:r>
          </a:p>
        </p:txBody>
      </p:sp>
      <p:sp>
        <p:nvSpPr>
          <p:cNvPr id="4" name="">
            <a:extLst xmlns:a="http://schemas.openxmlformats.org/drawingml/2006/main">
              <a:ext uri="{FF2B5EF4-FFF2-40B4-BE49-F238E27FC236}">
                <a16:creationId xmlns:a16="http://schemas.microsoft.com/office/drawing/2014/main" id="{F03C0B09-994E-46E2-B4F5-8E2A7378EA4D}"/>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08</a:t>
            </a:r>
          </a:p>
        </p:txBody>
      </p:sp>
      <p:sp>
        <p:nvSpPr>
          <p:cNvPr id="5" name="">
            <a:extLst xmlns:a="http://schemas.openxmlformats.org/drawingml/2006/main">
              <a:ext uri="{FF2B5EF4-FFF2-40B4-BE49-F238E27FC236}">
                <a16:creationId xmlns:a16="http://schemas.microsoft.com/office/drawing/2014/main" id="{0A9EE298-DEB0-40BC-B529-7B541B63A011}"/>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13</a:t>
            </a:r>
          </a:p>
        </p:txBody>
      </p:sp>
      <p:graphicFrame>
        <p:nvGraphicFramePr>
          <p:cNvPr id="13" name=""/>
          <p:cNvGraphicFramePr/>
          <p:nvPr/>
        </p:nvGraphicFramePr>
        <p:xfrm>
          <a:off xmlns:a="http://schemas.openxmlformats.org/drawingml/2006/main" x="400050" y="1019175"/>
          <a:ext xmlns:a="http://schemas.openxmlformats.org/drawingml/2006/main" cx="8343900" cy="3048000"/>
        </p:xfrm>
        <a:graphic xmlns:a="http://schemas.openxmlformats.org/drawingml/2006/main">
          <a:graphicData uri="http://schemas.openxmlformats.org/drawingml/2006/table">
            <a:tbl>
              <a:tblPr/>
              <a:tblGrid>
                <a:gridCol w="2762250"/>
                <a:gridCol w="2790825"/>
                <a:gridCol w="2790825"/>
              </a:tblGrid>
              <a:tr h="435429">
                <a:tc>
                  <a:txBody>
                    <a:bodyPr/>
                    <a:lstStyle/>
                    <a:p>
                      <a:r>
                        <a:rPr sz="1350" b="1">
                          <a:solidFill>
                            <a:srgbClr val="FFFFFF"/>
                          </a:solidFill>
                          <a:latin typeface="Arial"/>
                          <a:ea typeface="Arial"/>
                          <a:cs typeface="Arial"/>
                        </a:rPr>
                        <a:t>Choice</a:t>
                      </a:r>
                    </a:p>
                  </a:txBody>
                  <a:tcPr marL="91440" marR="91440" marT="45720" marB="45720">
                    <a:solidFill>
                      <a:srgbClr val="003262"/>
                    </a:solidFill>
                  </a:tcPr>
                </a:tc>
                <a:tc>
                  <a:txBody>
                    <a:bodyPr/>
                    <a:lstStyle/>
                    <a:p>
                      <a:r>
                        <a:rPr sz="1350" b="1">
                          <a:solidFill>
                            <a:srgbClr val="FFFFFF"/>
                          </a:solidFill>
                          <a:latin typeface="Arial"/>
                          <a:ea typeface="Arial"/>
                          <a:cs typeface="Arial"/>
                        </a:rPr>
                        <a:t>LSTM</a:t>
                      </a:r>
                    </a:p>
                  </a:txBody>
                  <a:tcPr marL="91440" marR="91440" marT="45720" marB="45720">
                    <a:solidFill>
                      <a:srgbClr val="003262"/>
                    </a:solidFill>
                  </a:tcPr>
                </a:tc>
                <a:tc>
                  <a:txBody>
                    <a:bodyPr/>
                    <a:lstStyle/>
                    <a:p>
                      <a:r>
                        <a:rPr sz="1350" b="1">
                          <a:solidFill>
                            <a:srgbClr val="FFFFFF"/>
                          </a:solidFill>
                          <a:latin typeface="Arial"/>
                          <a:ea typeface="Arial"/>
                          <a:cs typeface="Arial"/>
                        </a:rPr>
                        <a:t>Transformer</a:t>
                      </a:r>
                    </a:p>
                  </a:txBody>
                  <a:tcPr marL="91440" marR="91440" marT="45720" marB="45720">
                    <a:solidFill>
                      <a:srgbClr val="003262"/>
                    </a:solidFill>
                  </a:tcPr>
                </a:tc>
              </a:tr>
              <a:tr h="435429">
                <a:tc>
                  <a:txBody>
                    <a:bodyPr/>
                    <a:lstStyle/>
                    <a:p>
                      <a:r>
                        <a:rPr sz="1425" b="0">
                          <a:solidFill>
                            <a:srgbClr val="1F2A37"/>
                          </a:solidFill>
                          <a:latin typeface="Arial"/>
                          <a:ea typeface="Arial"/>
                          <a:cs typeface="Arial"/>
                        </a:rPr>
                        <a:t>Sequence processing</a:t>
                      </a:r>
                    </a:p>
                  </a:txBody>
                  <a:tcPr marL="91440" marR="91440" marT="45720" marB="45720">
                    <a:solidFill>
                      <a:srgbClr val="EEF3F8"/>
                    </a:solidFill>
                  </a:tcPr>
                </a:tc>
                <a:tc>
                  <a:txBody>
                    <a:bodyPr/>
                    <a:lstStyle/>
                    <a:p>
                      <a:r>
                        <a:rPr sz="1425" b="0">
                          <a:solidFill>
                            <a:srgbClr val="1F2A37"/>
                          </a:solidFill>
                          <a:latin typeface="Arial"/>
                          <a:ea typeface="Arial"/>
                          <a:cs typeface="Arial"/>
                        </a:rPr>
                        <a:t>Recurrent state</a:t>
                      </a:r>
                    </a:p>
                  </a:txBody>
                  <a:tcPr marL="91440" marR="91440" marT="45720" marB="45720">
                    <a:solidFill>
                      <a:srgbClr val="EEF3F8"/>
                    </a:solidFill>
                  </a:tcPr>
                </a:tc>
                <a:tc>
                  <a:txBody>
                    <a:bodyPr/>
                    <a:lstStyle/>
                    <a:p>
                      <a:r>
                        <a:rPr sz="1425" b="0">
                          <a:solidFill>
                            <a:srgbClr val="1F2A37"/>
                          </a:solidFill>
                          <a:latin typeface="Arial"/>
                          <a:ea typeface="Arial"/>
                          <a:cs typeface="Arial"/>
                        </a:rPr>
                        <a:t>Causal self-attention</a:t>
                      </a:r>
                    </a:p>
                  </a:txBody>
                  <a:tcPr marL="91440" marR="91440" marT="45720" marB="45720">
                    <a:solidFill>
                      <a:srgbClr val="EEF3F8"/>
                    </a:solidFill>
                  </a:tcPr>
                </a:tc>
              </a:tr>
              <a:tr h="435429">
                <a:tc>
                  <a:txBody>
                    <a:bodyPr/>
                    <a:lstStyle/>
                    <a:p>
                      <a:r>
                        <a:rPr sz="1425" b="0">
                          <a:solidFill>
                            <a:srgbClr val="1F2A37"/>
                          </a:solidFill>
                          <a:latin typeface="Arial"/>
                          <a:ea typeface="Arial"/>
                          <a:cs typeface="Arial"/>
                        </a:rPr>
                        <a:t>Macro inputs</a:t>
                      </a:r>
                    </a:p>
                  </a:txBody>
                  <a:tcPr marL="91440" marR="91440" marT="45720" marB="45720">
                    <a:solidFill>
                      <a:srgbClr val="FFFFFF"/>
                    </a:solidFill>
                  </a:tcPr>
                </a:tc>
                <a:tc>
                  <a:txBody>
                    <a:bodyPr/>
                    <a:lstStyle/>
                    <a:p>
                      <a:r>
                        <a:rPr sz="1425" b="0">
                          <a:solidFill>
                            <a:srgbClr val="1F2A37"/>
                          </a:solidFill>
                          <a:latin typeface="Arial"/>
                          <a:ea typeface="Arial"/>
                          <a:cs typeface="Arial"/>
                        </a:rPr>
                        <a:t>178</a:t>
                      </a:r>
                    </a:p>
                  </a:txBody>
                  <a:tcPr marL="91440" marR="91440" marT="45720" marB="45720">
                    <a:solidFill>
                      <a:srgbClr val="FFFFFF"/>
                    </a:solidFill>
                  </a:tcPr>
                </a:tc>
                <a:tc>
                  <a:txBody>
                    <a:bodyPr/>
                    <a:lstStyle/>
                    <a:p>
                      <a:r>
                        <a:rPr sz="1425" b="0">
                          <a:solidFill>
                            <a:srgbClr val="1F2A37"/>
                          </a:solidFill>
                          <a:latin typeface="Arial"/>
                          <a:ea typeface="Arial"/>
                          <a:cs typeface="Arial"/>
                        </a:rPr>
                        <a:t>178</a:t>
                      </a:r>
                    </a:p>
                  </a:txBody>
                  <a:tcPr marL="91440" marR="91440" marT="45720" marB="45720">
                    <a:solidFill>
                      <a:srgbClr val="FFFFFF"/>
                    </a:solidFill>
                  </a:tcPr>
                </a:tc>
              </a:tr>
              <a:tr h="435429">
                <a:tc>
                  <a:txBody>
                    <a:bodyPr/>
                    <a:lstStyle/>
                    <a:p>
                      <a:r>
                        <a:rPr sz="1425" b="0">
                          <a:solidFill>
                            <a:srgbClr val="1F2A37"/>
                          </a:solidFill>
                          <a:latin typeface="Arial"/>
                          <a:ea typeface="Arial"/>
                          <a:cs typeface="Arial"/>
                        </a:rPr>
                        <a:t>SDF / instrument states</a:t>
                      </a:r>
                    </a:p>
                  </a:txBody>
                  <a:tcPr marL="91440" marR="91440" marT="45720" marB="45720">
                    <a:solidFill>
                      <a:srgbClr val="EEF3F8"/>
                    </a:solidFill>
                  </a:tcPr>
                </a:tc>
                <a:tc>
                  <a:txBody>
                    <a:bodyPr/>
                    <a:lstStyle/>
                    <a:p>
                      <a:r>
                        <a:rPr sz="1425" b="0">
                          <a:solidFill>
                            <a:srgbClr val="1F2A37"/>
                          </a:solidFill>
                          <a:latin typeface="Arial"/>
                          <a:ea typeface="Arial"/>
                          <a:cs typeface="Arial"/>
                        </a:rPr>
                        <a:t>4 / 32</a:t>
                      </a:r>
                    </a:p>
                  </a:txBody>
                  <a:tcPr marL="91440" marR="91440" marT="45720" marB="45720">
                    <a:solidFill>
                      <a:srgbClr val="EEF3F8"/>
                    </a:solidFill>
                  </a:tcPr>
                </a:tc>
                <a:tc>
                  <a:txBody>
                    <a:bodyPr/>
                    <a:lstStyle/>
                    <a:p>
                      <a:r>
                        <a:rPr sz="1425" b="0">
                          <a:solidFill>
                            <a:srgbClr val="1F2A37"/>
                          </a:solidFill>
                          <a:latin typeface="Arial"/>
                          <a:ea typeface="Arial"/>
                          <a:cs typeface="Arial"/>
                        </a:rPr>
                        <a:t>4 / 32</a:t>
                      </a:r>
                    </a:p>
                  </a:txBody>
                  <a:tcPr marL="91440" marR="91440" marT="45720" marB="45720">
                    <a:solidFill>
                      <a:srgbClr val="EEF3F8"/>
                    </a:solidFill>
                  </a:tcPr>
                </a:tc>
              </a:tr>
              <a:tr h="435429">
                <a:tc>
                  <a:txBody>
                    <a:bodyPr/>
                    <a:lstStyle/>
                    <a:p>
                      <a:r>
                        <a:rPr sz="1425" b="0">
                          <a:solidFill>
                            <a:srgbClr val="1F2A37"/>
                          </a:solidFill>
                          <a:latin typeface="Arial"/>
                          <a:ea typeface="Arial"/>
                          <a:cs typeface="Arial"/>
                        </a:rPr>
                        <a:t>Transformer specification</a:t>
                      </a:r>
                    </a:p>
                  </a:txBody>
                  <a:tcPr marL="91440" marR="91440" marT="45720" marB="45720">
                    <a:solidFill>
                      <a:srgbClr val="FFFFFF"/>
                    </a:solidFill>
                  </a:tcPr>
                </a:tc>
                <a:tc>
                  <a:txBody>
                    <a:bodyPr/>
                    <a:lstStyle/>
                    <a:p>
                      <a:r>
                        <a:rPr sz="1425" b="0">
                          <a:solidFill>
                            <a:srgbClr val="1F2A37"/>
                          </a:solidFill>
                          <a:latin typeface="Arial"/>
                          <a:ea typeface="Arial"/>
                          <a:cs typeface="Arial"/>
                        </a:rPr>
                        <a:t>Not applicable</a:t>
                      </a:r>
                    </a:p>
                  </a:txBody>
                  <a:tcPr marL="91440" marR="91440" marT="45720" marB="45720">
                    <a:solidFill>
                      <a:srgbClr val="FFFFFF"/>
                    </a:solidFill>
                  </a:tcPr>
                </a:tc>
                <a:tc>
                  <a:txBody>
                    <a:bodyPr/>
                    <a:lstStyle/>
                    <a:p>
                      <a:r>
                        <a:rPr sz="1425" b="0">
                          <a:solidFill>
                            <a:srgbClr val="1F2A37"/>
                          </a:solidFill>
                          <a:latin typeface="Arial"/>
                          <a:ea typeface="Arial"/>
                          <a:cs typeface="Arial"/>
                        </a:rPr>
                        <a:t>2 layers, 4 heads, width 32</a:t>
                      </a:r>
                    </a:p>
                  </a:txBody>
                  <a:tcPr marL="91440" marR="91440" marT="45720" marB="45720">
                    <a:solidFill>
                      <a:srgbClr val="FFFFFF"/>
                    </a:solidFill>
                  </a:tcPr>
                </a:tc>
              </a:tr>
              <a:tr h="435429">
                <a:tc>
                  <a:txBody>
                    <a:bodyPr/>
                    <a:lstStyle/>
                    <a:p>
                      <a:r>
                        <a:rPr sz="1425" b="0">
                          <a:solidFill>
                            <a:srgbClr val="1F2A37"/>
                          </a:solidFill>
                          <a:latin typeface="Arial"/>
                          <a:ea typeface="Arial"/>
                          <a:cs typeface="Arial"/>
                        </a:rPr>
                        <a:t>Economic objective</a:t>
                      </a:r>
                    </a:p>
                  </a:txBody>
                  <a:tcPr marL="91440" marR="91440" marT="45720" marB="45720">
                    <a:solidFill>
                      <a:srgbClr val="EEF3F8"/>
                    </a:solidFill>
                  </a:tcPr>
                </a:tc>
                <a:tc>
                  <a:txBody>
                    <a:bodyPr/>
                    <a:lstStyle/>
                    <a:p>
                      <a:r>
                        <a:rPr sz="1425" b="0">
                          <a:solidFill>
                            <a:srgbClr val="1F2A37"/>
                          </a:solidFill>
                          <a:latin typeface="Arial"/>
                          <a:ea typeface="Arial"/>
                          <a:cs typeface="Arial"/>
                        </a:rPr>
                        <a:t>Shared</a:t>
                      </a:r>
                    </a:p>
                  </a:txBody>
                  <a:tcPr marL="91440" marR="91440" marT="45720" marB="45720">
                    <a:solidFill>
                      <a:srgbClr val="EEF3F8"/>
                    </a:solidFill>
                  </a:tcPr>
                </a:tc>
                <a:tc>
                  <a:txBody>
                    <a:bodyPr/>
                    <a:lstStyle/>
                    <a:p>
                      <a:r>
                        <a:rPr sz="1425" b="0">
                          <a:solidFill>
                            <a:srgbClr val="1F2A37"/>
                          </a:solidFill>
                          <a:latin typeface="Arial"/>
                          <a:ea typeface="Arial"/>
                          <a:cs typeface="Arial"/>
                        </a:rPr>
                        <a:t>Shared</a:t>
                      </a:r>
                    </a:p>
                  </a:txBody>
                  <a:tcPr marL="91440" marR="91440" marT="45720" marB="45720">
                    <a:solidFill>
                      <a:srgbClr val="EEF3F8"/>
                    </a:solidFill>
                  </a:tcPr>
                </a:tc>
              </a:tr>
              <a:tr h="435429">
                <a:tc>
                  <a:txBody>
                    <a:bodyPr/>
                    <a:lstStyle/>
                    <a:p>
                      <a:r>
                        <a:rPr sz="1425" b="0">
                          <a:solidFill>
                            <a:srgbClr val="1F2A37"/>
                          </a:solidFill>
                          <a:latin typeface="Arial"/>
                          <a:ea typeface="Arial"/>
                          <a:cs typeface="Arial"/>
                        </a:rPr>
                        <a:t>Training seeds and schedule</a:t>
                      </a:r>
                    </a:p>
                  </a:txBody>
                  <a:tcPr marL="91440" marR="91440" marT="45720" marB="45720">
                    <a:solidFill>
                      <a:srgbClr val="FFFFFF"/>
                    </a:solidFill>
                  </a:tcPr>
                </a:tc>
                <a:tc>
                  <a:txBody>
                    <a:bodyPr/>
                    <a:lstStyle/>
                    <a:p>
                      <a:r>
                        <a:rPr sz="1425" b="0">
                          <a:solidFill>
                            <a:srgbClr val="1F2A37"/>
                          </a:solidFill>
                          <a:latin typeface="Arial"/>
                          <a:ea typeface="Arial"/>
                          <a:cs typeface="Arial"/>
                        </a:rPr>
                        <a:t>Shared</a:t>
                      </a:r>
                    </a:p>
                  </a:txBody>
                  <a:tcPr marL="91440" marR="91440" marT="45720" marB="45720">
                    <a:solidFill>
                      <a:srgbClr val="FFFFFF"/>
                    </a:solidFill>
                  </a:tcPr>
                </a:tc>
                <a:tc>
                  <a:txBody>
                    <a:bodyPr/>
                    <a:lstStyle/>
                    <a:p>
                      <a:r>
                        <a:rPr sz="1425" b="0">
                          <a:solidFill>
                            <a:srgbClr val="1F2A37"/>
                          </a:solidFill>
                          <a:latin typeface="Arial"/>
                          <a:ea typeface="Arial"/>
                          <a:cs typeface="Arial"/>
                        </a:rPr>
                        <a:t>Shared</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263461A3-BC83-44F4-8E76-BAA97D22FE9E}"/>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The comparison replaces both macro encoders and keeps the output dimensions.</a:t>
            </a:r>
          </a:p>
        </p:txBody>
      </p:sp>
    </p:spTree>
    <p:extLst>
      <p:ext uri="{BB962C8B-B14F-4D97-AF65-F5344CB8AC3E}">
        <p14:creationId xmlns:p14="http://schemas.microsoft.com/office/powerpoint/2010/main" val="84085155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9AE0D16-3610-4F63-B73C-CCDD2256ACD9}"/>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7BA2DD5-EE64-4C05-A99C-51E2858BE53A}"/>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D84B061-AFFF-441B-98A2-954671DD380F}"/>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Train, validation and test comparison</a:t>
            </a:r>
          </a:p>
        </p:txBody>
      </p:sp>
      <p:sp>
        <p:nvSpPr>
          <p:cNvPr id="4" name="">
            <a:extLst xmlns:a="http://schemas.openxmlformats.org/drawingml/2006/main">
              <a:ext uri="{FF2B5EF4-FFF2-40B4-BE49-F238E27FC236}">
                <a16:creationId xmlns:a16="http://schemas.microsoft.com/office/drawing/2014/main" id="{0CCFA0BC-26D7-4E2D-B4A9-45202F20736F}"/>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08 and Code 11</a:t>
            </a:r>
          </a:p>
        </p:txBody>
      </p:sp>
      <p:sp>
        <p:nvSpPr>
          <p:cNvPr id="5" name="">
            <a:extLst xmlns:a="http://schemas.openxmlformats.org/drawingml/2006/main">
              <a:ext uri="{FF2B5EF4-FFF2-40B4-BE49-F238E27FC236}">
                <a16:creationId xmlns:a16="http://schemas.microsoft.com/office/drawing/2014/main" id="{2F6DEDC9-6297-4C28-BDF9-1EBA6B627A69}"/>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14</a:t>
            </a:r>
          </a:p>
        </p:txBody>
      </p:sp>
      <p:graphicFrame>
        <p:nvGraphicFramePr>
          <p:cNvPr id="13"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11b70196d7864b18"/>
          </a:graphicData>
        </a:graphic>
      </p:graphicFrame>
      <p:sp>
        <p:nvSpPr>
          <p:cNvPr id="7" name="">
            <a:extLst xmlns:a="http://schemas.openxmlformats.org/drawingml/2006/main">
              <a:ext uri="{FF2B5EF4-FFF2-40B4-BE49-F238E27FC236}">
                <a16:creationId xmlns:a16="http://schemas.microsoft.com/office/drawing/2014/main" id="{9245C541-61B7-4BA0-B25F-8249E873E196}"/>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The new LSTM exceeds Transformer in all three splits under the reduced budget.</a:t>
            </a:r>
          </a:p>
        </p:txBody>
      </p:sp>
    </p:spTree>
    <p:extLst>
      <p:ext uri="{BB962C8B-B14F-4D97-AF65-F5344CB8AC3E}">
        <p14:creationId xmlns:p14="http://schemas.microsoft.com/office/powerpoint/2010/main" val="943301013"/>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7EEB6FE-B074-4675-839F-22B9F305574A}"/>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374404E-CD24-4259-BD04-2AF813BD55E7}"/>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8E6CEC95-56D1-40C0-9E1F-56A85FDFACED}"/>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Full-test Sharpe across the five portfolios</a:t>
            </a:r>
          </a:p>
        </p:txBody>
      </p:sp>
      <p:sp>
        <p:nvSpPr>
          <p:cNvPr id="4" name="">
            <a:extLst xmlns:a="http://schemas.openxmlformats.org/drawingml/2006/main">
              <a:ext uri="{FF2B5EF4-FFF2-40B4-BE49-F238E27FC236}">
                <a16:creationId xmlns:a16="http://schemas.microsoft.com/office/drawing/2014/main" id="{AA0ED46F-04AE-4D01-9AAB-34F3BF098347}"/>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11</a:t>
            </a:r>
          </a:p>
        </p:txBody>
      </p:sp>
      <p:sp>
        <p:nvSpPr>
          <p:cNvPr id="5" name="">
            <a:extLst xmlns:a="http://schemas.openxmlformats.org/drawingml/2006/main">
              <a:ext uri="{FF2B5EF4-FFF2-40B4-BE49-F238E27FC236}">
                <a16:creationId xmlns:a16="http://schemas.microsoft.com/office/drawing/2014/main" id="{D14760E4-FF2D-4E8C-9CFE-CA54E52E91B5}"/>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15</a:t>
            </a:r>
          </a:p>
        </p:txBody>
      </p:sp>
      <p:graphicFrame>
        <p:nvGraphicFramePr>
          <p:cNvPr id="13"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b9895cf919d04b9b"/>
          </a:graphicData>
        </a:graphic>
      </p:graphicFrame>
      <p:sp>
        <p:nvSpPr>
          <p:cNvPr id="7" name="">
            <a:extLst xmlns:a="http://schemas.openxmlformats.org/drawingml/2006/main">
              <a:ext uri="{FF2B5EF4-FFF2-40B4-BE49-F238E27FC236}">
                <a16:creationId xmlns:a16="http://schemas.microsoft.com/office/drawing/2014/main" id="{3150F733-A027-45A1-BAEE-D10910AEBA81}"/>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Author GAN 0.750, Code 07 0.612, new LSTM 0.459, Transformer 0.304.</a:t>
            </a:r>
          </a:p>
        </p:txBody>
      </p:sp>
    </p:spTree>
    <p:extLst>
      <p:ext uri="{BB962C8B-B14F-4D97-AF65-F5344CB8AC3E}">
        <p14:creationId xmlns:p14="http://schemas.microsoft.com/office/powerpoint/2010/main" val="36638111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7B976DF-7EFD-4EF6-B45C-693887DBE06C}"/>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DF163D-5047-4C69-A52F-42AF39BBB886}"/>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AF15D4C-95E8-46C2-975C-00595E20B1A7}"/>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Return and risk explain the architecture gap</a:t>
            </a:r>
          </a:p>
        </p:txBody>
      </p:sp>
      <p:sp>
        <p:nvSpPr>
          <p:cNvPr id="4" name="">
            <a:extLst xmlns:a="http://schemas.openxmlformats.org/drawingml/2006/main">
              <a:ext uri="{FF2B5EF4-FFF2-40B4-BE49-F238E27FC236}">
                <a16:creationId xmlns:a16="http://schemas.microsoft.com/office/drawing/2014/main" id="{C446BD5B-1164-448E-8DA8-07A416C4B3F0}"/>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08 and Code 11</a:t>
            </a:r>
          </a:p>
        </p:txBody>
      </p:sp>
      <p:sp>
        <p:nvSpPr>
          <p:cNvPr id="5" name="">
            <a:extLst xmlns:a="http://schemas.openxmlformats.org/drawingml/2006/main">
              <a:ext uri="{FF2B5EF4-FFF2-40B4-BE49-F238E27FC236}">
                <a16:creationId xmlns:a16="http://schemas.microsoft.com/office/drawing/2014/main" id="{E633376B-3FF7-4D8F-BEF7-AED97D230660}"/>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16</a:t>
            </a:r>
          </a:p>
        </p:txBody>
      </p:sp>
      <p:graphicFrame>
        <p:nvGraphicFramePr>
          <p:cNvPr id="13" name=""/>
          <p:cNvGraphicFramePr/>
          <p:nvPr/>
        </p:nvGraphicFramePr>
        <p:xfrm>
          <a:off xmlns:a="http://schemas.openxmlformats.org/drawingml/2006/main" x="400050" y="1019175"/>
          <a:ext xmlns:a="http://schemas.openxmlformats.org/drawingml/2006/main" cx="8343900" cy="2857500"/>
        </p:xfrm>
        <a:graphic xmlns:a="http://schemas.openxmlformats.org/drawingml/2006/main">
          <a:graphicData uri="http://schemas.openxmlformats.org/drawingml/2006/table">
            <a:tbl>
              <a:tblPr/>
              <a:tblGrid>
                <a:gridCol w="2381250"/>
                <a:gridCol w="1987550"/>
                <a:gridCol w="1987550"/>
                <a:gridCol w="1987550"/>
              </a:tblGrid>
              <a:tr h="476250">
                <a:tc>
                  <a:txBody>
                    <a:bodyPr/>
                    <a:lstStyle/>
                    <a:p>
                      <a:r>
                        <a:rPr sz="1350" b="1">
                          <a:solidFill>
                            <a:srgbClr val="FFFFFF"/>
                          </a:solidFill>
                          <a:latin typeface="Arial"/>
                          <a:ea typeface="Arial"/>
                          <a:cs typeface="Arial"/>
                        </a:rPr>
                        <a:t>Portfolio</a:t>
                      </a:r>
                    </a:p>
                  </a:txBody>
                  <a:tcPr marL="91440" marR="91440" marT="45720" marB="45720">
                    <a:solidFill>
                      <a:srgbClr val="003262"/>
                    </a:solidFill>
                  </a:tcPr>
                </a:tc>
                <a:tc>
                  <a:txBody>
                    <a:bodyPr/>
                    <a:lstStyle/>
                    <a:p>
                      <a:r>
                        <a:rPr sz="1350" b="1">
                          <a:solidFill>
                            <a:srgbClr val="FFFFFF"/>
                          </a:solidFill>
                          <a:latin typeface="Arial"/>
                          <a:ea typeface="Arial"/>
                          <a:cs typeface="Arial"/>
                        </a:rPr>
                        <a:t>Mean monthly</a:t>
                      </a:r>
                    </a:p>
                  </a:txBody>
                  <a:tcPr marL="91440" marR="91440" marT="45720" marB="45720">
                    <a:solidFill>
                      <a:srgbClr val="003262"/>
                    </a:solidFill>
                  </a:tcPr>
                </a:tc>
                <a:tc>
                  <a:txBody>
                    <a:bodyPr/>
                    <a:lstStyle/>
                    <a:p>
                      <a:r>
                        <a:rPr sz="1350" b="1">
                          <a:solidFill>
                            <a:srgbClr val="FFFFFF"/>
                          </a:solidFill>
                          <a:latin typeface="Arial"/>
                          <a:ea typeface="Arial"/>
                          <a:cs typeface="Arial"/>
                        </a:rPr>
                        <a:t>Annual volatility</a:t>
                      </a:r>
                    </a:p>
                  </a:txBody>
                  <a:tcPr marL="91440" marR="91440" marT="45720" marB="45720">
                    <a:solidFill>
                      <a:srgbClr val="003262"/>
                    </a:solidFill>
                  </a:tcPr>
                </a:tc>
                <a:tc>
                  <a:txBody>
                    <a:bodyPr/>
                    <a:lstStyle/>
                    <a:p>
                      <a:r>
                        <a:rPr sz="1350" b="1">
                          <a:solidFill>
                            <a:srgbClr val="FFFFFF"/>
                          </a:solidFill>
                          <a:latin typeface="Arial"/>
                          <a:ea typeface="Arial"/>
                          <a:cs typeface="Arial"/>
                        </a:rPr>
                        <a:t>Max drawdown</a:t>
                      </a:r>
                    </a:p>
                  </a:txBody>
                  <a:tcPr marL="91440" marR="91440" marT="45720" marB="45720">
                    <a:solidFill>
                      <a:srgbClr val="003262"/>
                    </a:solidFill>
                  </a:tcPr>
                </a:tc>
              </a:tr>
              <a:tr h="476250">
                <a:tc>
                  <a:txBody>
                    <a:bodyPr/>
                    <a:lstStyle/>
                    <a:p>
                      <a:r>
                        <a:rPr sz="1425" b="0">
                          <a:solidFill>
                            <a:srgbClr val="1F2A37"/>
                          </a:solidFill>
                          <a:latin typeface="Arial"/>
                          <a:ea typeface="Arial"/>
                          <a:cs typeface="Arial"/>
                        </a:rPr>
                        <a:t>Authors GAN</a:t>
                      </a:r>
                    </a:p>
                  </a:txBody>
                  <a:tcPr marL="91440" marR="91440" marT="45720" marB="45720">
                    <a:solidFill>
                      <a:srgbClr val="EEF3F8"/>
                    </a:solidFill>
                  </a:tcPr>
                </a:tc>
                <a:tc>
                  <a:txBody>
                    <a:bodyPr/>
                    <a:lstStyle/>
                    <a:p>
                      <a:r>
                        <a:rPr sz="1425" b="0">
                          <a:solidFill>
                            <a:srgbClr val="1F2A37"/>
                          </a:solidFill>
                          <a:latin typeface="Arial"/>
                          <a:ea typeface="Arial"/>
                          <a:cs typeface="Arial"/>
                        </a:rPr>
                        <a:t>0.78%</a:t>
                      </a:r>
                    </a:p>
                  </a:txBody>
                  <a:tcPr marL="91440" marR="91440" marT="45720" marB="45720">
                    <a:solidFill>
                      <a:srgbClr val="EEF3F8"/>
                    </a:solidFill>
                  </a:tcPr>
                </a:tc>
                <a:tc>
                  <a:txBody>
                    <a:bodyPr/>
                    <a:lstStyle/>
                    <a:p>
                      <a:r>
                        <a:rPr sz="1425" b="0">
                          <a:solidFill>
                            <a:srgbClr val="1F2A37"/>
                          </a:solidFill>
                          <a:latin typeface="Arial"/>
                          <a:ea typeface="Arial"/>
                          <a:cs typeface="Arial"/>
                        </a:rPr>
                        <a:t>3.61%</a:t>
                      </a:r>
                    </a:p>
                  </a:txBody>
                  <a:tcPr marL="91440" marR="91440" marT="45720" marB="45720">
                    <a:solidFill>
                      <a:srgbClr val="EEF3F8"/>
                    </a:solidFill>
                  </a:tcPr>
                </a:tc>
                <a:tc>
                  <a:txBody>
                    <a:bodyPr/>
                    <a:lstStyle/>
                    <a:p>
                      <a:r>
                        <a:rPr sz="1425" b="0">
                          <a:solidFill>
                            <a:srgbClr val="1F2A37"/>
                          </a:solidFill>
                          <a:latin typeface="Arial"/>
                          <a:ea typeface="Arial"/>
                          <a:cs typeface="Arial"/>
                        </a:rPr>
                        <a:t>-7.02%</a:t>
                      </a:r>
                    </a:p>
                  </a:txBody>
                  <a:tcPr marL="91440" marR="91440" marT="45720" marB="45720">
                    <a:solidFill>
                      <a:srgbClr val="EEF3F8"/>
                    </a:solidFill>
                  </a:tcPr>
                </a:tc>
              </a:tr>
              <a:tr h="476250">
                <a:tc>
                  <a:txBody>
                    <a:bodyPr/>
                    <a:lstStyle/>
                    <a:p>
                      <a:r>
                        <a:rPr sz="1425" b="0">
                          <a:solidFill>
                            <a:srgbClr val="1F2A37"/>
                          </a:solidFill>
                          <a:latin typeface="Arial"/>
                          <a:ea typeface="Arial"/>
                          <a:cs typeface="Arial"/>
                        </a:rPr>
                        <a:t>Code 07 GAN</a:t>
                      </a:r>
                    </a:p>
                  </a:txBody>
                  <a:tcPr marL="91440" marR="91440" marT="45720" marB="45720">
                    <a:solidFill>
                      <a:srgbClr val="FFFFFF"/>
                    </a:solidFill>
                  </a:tcPr>
                </a:tc>
                <a:tc>
                  <a:txBody>
                    <a:bodyPr/>
                    <a:lstStyle/>
                    <a:p>
                      <a:r>
                        <a:rPr sz="1425" b="0">
                          <a:solidFill>
                            <a:srgbClr val="1F2A37"/>
                          </a:solidFill>
                          <a:latin typeface="Arial"/>
                          <a:ea typeface="Arial"/>
                          <a:cs typeface="Arial"/>
                        </a:rPr>
                        <a:t>0.70%</a:t>
                      </a:r>
                    </a:p>
                  </a:txBody>
                  <a:tcPr marL="91440" marR="91440" marT="45720" marB="45720">
                    <a:solidFill>
                      <a:srgbClr val="FFFFFF"/>
                    </a:solidFill>
                  </a:tcPr>
                </a:tc>
                <a:tc>
                  <a:txBody>
                    <a:bodyPr/>
                    <a:lstStyle/>
                    <a:p>
                      <a:r>
                        <a:rPr sz="1425" b="0">
                          <a:solidFill>
                            <a:srgbClr val="1F2A37"/>
                          </a:solidFill>
                          <a:latin typeface="Arial"/>
                          <a:ea typeface="Arial"/>
                          <a:cs typeface="Arial"/>
                        </a:rPr>
                        <a:t>3.96%</a:t>
                      </a:r>
                    </a:p>
                  </a:txBody>
                  <a:tcPr marL="91440" marR="91440" marT="45720" marB="45720">
                    <a:solidFill>
                      <a:srgbClr val="FFFFFF"/>
                    </a:solidFill>
                  </a:tcPr>
                </a:tc>
                <a:tc>
                  <a:txBody>
                    <a:bodyPr/>
                    <a:lstStyle/>
                    <a:p>
                      <a:r>
                        <a:rPr sz="1425" b="0">
                          <a:solidFill>
                            <a:srgbClr val="1F2A37"/>
                          </a:solidFill>
                          <a:latin typeface="Arial"/>
                          <a:ea typeface="Arial"/>
                          <a:cs typeface="Arial"/>
                        </a:rPr>
                        <a:t>-6.51%</a:t>
                      </a:r>
                    </a:p>
                  </a:txBody>
                  <a:tcPr marL="91440" marR="91440" marT="45720" marB="45720">
                    <a:solidFill>
                      <a:srgbClr val="FFFFFF"/>
                    </a:solidFill>
                  </a:tcPr>
                </a:tc>
              </a:tr>
              <a:tr h="476250">
                <a:tc>
                  <a:txBody>
                    <a:bodyPr/>
                    <a:lstStyle/>
                    <a:p>
                      <a:r>
                        <a:rPr sz="1425" b="0">
                          <a:solidFill>
                            <a:srgbClr val="1F2A37"/>
                          </a:solidFill>
                          <a:latin typeface="Arial"/>
                          <a:ea typeface="Arial"/>
                          <a:cs typeface="Arial"/>
                        </a:rPr>
                        <a:t>New LSTM</a:t>
                      </a:r>
                    </a:p>
                  </a:txBody>
                  <a:tcPr marL="91440" marR="91440" marT="45720" marB="45720">
                    <a:solidFill>
                      <a:srgbClr val="EEF3F8"/>
                    </a:solidFill>
                  </a:tcPr>
                </a:tc>
                <a:tc>
                  <a:txBody>
                    <a:bodyPr/>
                    <a:lstStyle/>
                    <a:p>
                      <a:r>
                        <a:rPr sz="1425" b="0">
                          <a:solidFill>
                            <a:srgbClr val="1F2A37"/>
                          </a:solidFill>
                          <a:latin typeface="Arial"/>
                          <a:ea typeface="Arial"/>
                          <a:cs typeface="Arial"/>
                        </a:rPr>
                        <a:t>0.51%</a:t>
                      </a:r>
                    </a:p>
                  </a:txBody>
                  <a:tcPr marL="91440" marR="91440" marT="45720" marB="45720">
                    <a:solidFill>
                      <a:srgbClr val="EEF3F8"/>
                    </a:solidFill>
                  </a:tcPr>
                </a:tc>
                <a:tc>
                  <a:txBody>
                    <a:bodyPr/>
                    <a:lstStyle/>
                    <a:p>
                      <a:r>
                        <a:rPr sz="1425" b="0">
                          <a:solidFill>
                            <a:srgbClr val="1F2A37"/>
                          </a:solidFill>
                          <a:latin typeface="Arial"/>
                          <a:ea typeface="Arial"/>
                          <a:cs typeface="Arial"/>
                        </a:rPr>
                        <a:t>3.87%</a:t>
                      </a:r>
                    </a:p>
                  </a:txBody>
                  <a:tcPr marL="91440" marR="91440" marT="45720" marB="45720">
                    <a:solidFill>
                      <a:srgbClr val="EEF3F8"/>
                    </a:solidFill>
                  </a:tcPr>
                </a:tc>
                <a:tc>
                  <a:txBody>
                    <a:bodyPr/>
                    <a:lstStyle/>
                    <a:p>
                      <a:r>
                        <a:rPr sz="1425" b="0">
                          <a:solidFill>
                            <a:srgbClr val="1F2A37"/>
                          </a:solidFill>
                          <a:latin typeface="Arial"/>
                          <a:ea typeface="Arial"/>
                          <a:cs typeface="Arial"/>
                        </a:rPr>
                        <a:t>-11.14%</a:t>
                      </a:r>
                    </a:p>
                  </a:txBody>
                  <a:tcPr marL="91440" marR="91440" marT="45720" marB="45720">
                    <a:solidFill>
                      <a:srgbClr val="EEF3F8"/>
                    </a:solidFill>
                  </a:tcPr>
                </a:tc>
              </a:tr>
              <a:tr h="476250">
                <a:tc>
                  <a:txBody>
                    <a:bodyPr/>
                    <a:lstStyle/>
                    <a:p>
                      <a:r>
                        <a:rPr sz="1425" b="0">
                          <a:solidFill>
                            <a:srgbClr val="1F2A37"/>
                          </a:solidFill>
                          <a:latin typeface="Arial"/>
                          <a:ea typeface="Arial"/>
                          <a:cs typeface="Arial"/>
                        </a:rPr>
                        <a:t>Transformer</a:t>
                      </a:r>
                    </a:p>
                  </a:txBody>
                  <a:tcPr marL="91440" marR="91440" marT="45720" marB="45720">
                    <a:solidFill>
                      <a:srgbClr val="FFFFFF"/>
                    </a:solidFill>
                  </a:tcPr>
                </a:tc>
                <a:tc>
                  <a:txBody>
                    <a:bodyPr/>
                    <a:lstStyle/>
                    <a:p>
                      <a:r>
                        <a:rPr sz="1425" b="0">
                          <a:solidFill>
                            <a:srgbClr val="1F2A37"/>
                          </a:solidFill>
                          <a:latin typeface="Arial"/>
                          <a:ea typeface="Arial"/>
                          <a:cs typeface="Arial"/>
                        </a:rPr>
                        <a:t>0.42%</a:t>
                      </a:r>
                    </a:p>
                  </a:txBody>
                  <a:tcPr marL="91440" marR="91440" marT="45720" marB="45720">
                    <a:solidFill>
                      <a:srgbClr val="FFFFFF"/>
                    </a:solidFill>
                  </a:tcPr>
                </a:tc>
                <a:tc>
                  <a:txBody>
                    <a:bodyPr/>
                    <a:lstStyle/>
                    <a:p>
                      <a:r>
                        <a:rPr sz="1425" b="0">
                          <a:solidFill>
                            <a:srgbClr val="1F2A37"/>
                          </a:solidFill>
                          <a:latin typeface="Arial"/>
                          <a:ea typeface="Arial"/>
                          <a:cs typeface="Arial"/>
                        </a:rPr>
                        <a:t>4.82%</a:t>
                      </a:r>
                    </a:p>
                  </a:txBody>
                  <a:tcPr marL="91440" marR="91440" marT="45720" marB="45720">
                    <a:solidFill>
                      <a:srgbClr val="FFFFFF"/>
                    </a:solidFill>
                  </a:tcPr>
                </a:tc>
                <a:tc>
                  <a:txBody>
                    <a:bodyPr/>
                    <a:lstStyle/>
                    <a:p>
                      <a:r>
                        <a:rPr sz="1425" b="0">
                          <a:solidFill>
                            <a:srgbClr val="1F2A37"/>
                          </a:solidFill>
                          <a:latin typeface="Arial"/>
                          <a:ea typeface="Arial"/>
                          <a:cs typeface="Arial"/>
                        </a:rPr>
                        <a:t>-15.35%</a:t>
                      </a:r>
                    </a:p>
                  </a:txBody>
                  <a:tcPr marL="91440" marR="91440" marT="45720" marB="45720">
                    <a:solidFill>
                      <a:srgbClr val="FFFFFF"/>
                    </a:solidFill>
                  </a:tcPr>
                </a:tc>
              </a:tr>
              <a:tr h="476250">
                <a:tc>
                  <a:txBody>
                    <a:bodyPr/>
                    <a:lstStyle/>
                    <a:p>
                      <a:r>
                        <a:rPr sz="1425" b="0">
                          <a:solidFill>
                            <a:srgbClr val="1F2A37"/>
                          </a:solidFill>
                          <a:latin typeface="Arial"/>
                          <a:ea typeface="Arial"/>
                          <a:cs typeface="Arial"/>
                        </a:rPr>
                        <a:t>50/50 blend</a:t>
                      </a:r>
                    </a:p>
                  </a:txBody>
                  <a:tcPr marL="91440" marR="91440" marT="45720" marB="45720">
                    <a:solidFill>
                      <a:srgbClr val="EEF3F8"/>
                    </a:solidFill>
                  </a:tcPr>
                </a:tc>
                <a:tc>
                  <a:txBody>
                    <a:bodyPr/>
                    <a:lstStyle/>
                    <a:p>
                      <a:r>
                        <a:rPr sz="1425" b="0">
                          <a:solidFill>
                            <a:srgbClr val="1F2A37"/>
                          </a:solidFill>
                          <a:latin typeface="Arial"/>
                          <a:ea typeface="Arial"/>
                          <a:cs typeface="Arial"/>
                        </a:rPr>
                        <a:t>0.47%</a:t>
                      </a:r>
                    </a:p>
                  </a:txBody>
                  <a:tcPr marL="91440" marR="91440" marT="45720" marB="45720">
                    <a:solidFill>
                      <a:srgbClr val="EEF3F8"/>
                    </a:solidFill>
                  </a:tcPr>
                </a:tc>
                <a:tc>
                  <a:txBody>
                    <a:bodyPr/>
                    <a:lstStyle/>
                    <a:p>
                      <a:r>
                        <a:rPr sz="1425" b="0">
                          <a:solidFill>
                            <a:srgbClr val="1F2A37"/>
                          </a:solidFill>
                          <a:latin typeface="Arial"/>
                          <a:ea typeface="Arial"/>
                          <a:cs typeface="Arial"/>
                        </a:rPr>
                        <a:t>3.50%</a:t>
                      </a:r>
                    </a:p>
                  </a:txBody>
                  <a:tcPr marL="91440" marR="91440" marT="45720" marB="45720">
                    <a:solidFill>
                      <a:srgbClr val="EEF3F8"/>
                    </a:solidFill>
                  </a:tcPr>
                </a:tc>
                <a:tc>
                  <a:txBody>
                    <a:bodyPr/>
                    <a:lstStyle/>
                    <a:p>
                      <a:r>
                        <a:rPr sz="1425" b="0">
                          <a:solidFill>
                            <a:srgbClr val="1F2A37"/>
                          </a:solidFill>
                          <a:latin typeface="Arial"/>
                          <a:ea typeface="Arial"/>
                          <a:cs typeface="Arial"/>
                        </a:rPr>
                        <a:t>-6.57%</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555904E4-42AF-4219-98B1-51F275C4A280}"/>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Transformer combines a lower mean return with greater volatility than new LSTM.</a:t>
            </a:r>
          </a:p>
        </p:txBody>
      </p:sp>
    </p:spTree>
    <p:extLst>
      <p:ext uri="{BB962C8B-B14F-4D97-AF65-F5344CB8AC3E}">
        <p14:creationId xmlns:p14="http://schemas.microsoft.com/office/powerpoint/2010/main" val="51427577"/>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150A28C-A172-43AD-B805-15F840BEE1C9}"/>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FD0328C-2B2E-4C52-87A8-015CB812D0FB}"/>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E57A290F-1EC4-4368-9708-423179F7E9BF}"/>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Initialization sensitivity across nine seeds</a:t>
            </a:r>
          </a:p>
        </p:txBody>
      </p:sp>
      <p:sp>
        <p:nvSpPr>
          <p:cNvPr id="4" name="">
            <a:extLst xmlns:a="http://schemas.openxmlformats.org/drawingml/2006/main">
              <a:ext uri="{FF2B5EF4-FFF2-40B4-BE49-F238E27FC236}">
                <a16:creationId xmlns:a16="http://schemas.microsoft.com/office/drawing/2014/main" id="{1026EFE7-552F-4368-AE1D-9BCFE7A4F0A6}"/>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08</a:t>
            </a:r>
          </a:p>
        </p:txBody>
      </p:sp>
      <p:sp>
        <p:nvSpPr>
          <p:cNvPr id="5" name="">
            <a:extLst xmlns:a="http://schemas.openxmlformats.org/drawingml/2006/main">
              <a:ext uri="{FF2B5EF4-FFF2-40B4-BE49-F238E27FC236}">
                <a16:creationId xmlns:a16="http://schemas.microsoft.com/office/drawing/2014/main" id="{D609130A-1F07-4670-BC25-0951DEA2E654}"/>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17</a:t>
            </a:r>
          </a:p>
        </p:txBody>
      </p:sp>
      <p:graphicFrame>
        <p:nvGraphicFramePr>
          <p:cNvPr id="13"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8a532e00e14342ca"/>
          </a:graphicData>
        </a:graphic>
      </p:graphicFrame>
      <p:sp>
        <p:nvSpPr>
          <p:cNvPr id="7" name="">
            <a:extLst xmlns:a="http://schemas.openxmlformats.org/drawingml/2006/main">
              <a:ext uri="{FF2B5EF4-FFF2-40B4-BE49-F238E27FC236}">
                <a16:creationId xmlns:a16="http://schemas.microsoft.com/office/drawing/2014/main" id="{0D2C972F-49B0-4F35-83DE-CEC4B02252BF}"/>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Ensemble Sharpe uses averaged raw weights, rather than the mean member Sharpe.</a:t>
            </a:r>
          </a:p>
        </p:txBody>
      </p:sp>
    </p:spTree>
    <p:extLst>
      <p:ext uri="{BB962C8B-B14F-4D97-AF65-F5344CB8AC3E}">
        <p14:creationId xmlns:p14="http://schemas.microsoft.com/office/powerpoint/2010/main" val="115127372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99EE042-CD42-48B0-BAD3-A3E4B0A3A1C3}"/>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C47DDAA-9DE3-4E28-B8EF-0043DB57438C}"/>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4FEC7DF-3C7A-4EEF-ABD4-E776119B4573}"/>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Rolling evaluation uses fixed saved models</a:t>
            </a:r>
          </a:p>
        </p:txBody>
      </p:sp>
      <p:sp>
        <p:nvSpPr>
          <p:cNvPr id="4" name="">
            <a:extLst xmlns:a="http://schemas.openxmlformats.org/drawingml/2006/main">
              <a:ext uri="{FF2B5EF4-FFF2-40B4-BE49-F238E27FC236}">
                <a16:creationId xmlns:a16="http://schemas.microsoft.com/office/drawing/2014/main" id="{9A6A71DA-97F1-415E-A395-E2020511ECDF}"/>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09</a:t>
            </a:r>
          </a:p>
        </p:txBody>
      </p:sp>
      <p:sp>
        <p:nvSpPr>
          <p:cNvPr id="5" name="">
            <a:extLst xmlns:a="http://schemas.openxmlformats.org/drawingml/2006/main">
              <a:ext uri="{FF2B5EF4-FFF2-40B4-BE49-F238E27FC236}">
                <a16:creationId xmlns:a16="http://schemas.microsoft.com/office/drawing/2014/main" id="{1CB9581F-39C3-48A7-AB41-C4E3888A03F6}"/>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18</a:t>
            </a:r>
          </a:p>
        </p:txBody>
      </p:sp>
      <p:graphicFrame>
        <p:nvGraphicFramePr>
          <p:cNvPr id="14" name=""/>
          <p:cNvGraphicFramePr/>
          <p:nvPr/>
        </p:nvGraphicFramePr>
        <p:xfrm>
          <a:off xmlns:a="http://schemas.openxmlformats.org/drawingml/2006/main" x="400050" y="1019175"/>
          <a:ext xmlns:a="http://schemas.openxmlformats.org/drawingml/2006/main" cx="8343900" cy="2524125"/>
        </p:xfrm>
        <a:graphic xmlns:a="http://schemas.openxmlformats.org/drawingml/2006/main">
          <a:graphicData uri="http://schemas.openxmlformats.org/drawingml/2006/table">
            <a:tbl>
              <a:tblPr/>
              <a:tblGrid>
                <a:gridCol w="2762250"/>
                <a:gridCol w="2790825"/>
                <a:gridCol w="2790825"/>
              </a:tblGrid>
              <a:tr h="504825">
                <a:tc>
                  <a:txBody>
                    <a:bodyPr/>
                    <a:lstStyle/>
                    <a:p>
                      <a:r>
                        <a:rPr sz="1350" b="1">
                          <a:solidFill>
                            <a:srgbClr val="FFFFFF"/>
                          </a:solidFill>
                          <a:latin typeface="Arial"/>
                          <a:ea typeface="Arial"/>
                          <a:cs typeface="Arial"/>
                        </a:rPr>
                        <a:t>Definition</a:t>
                      </a:r>
                    </a:p>
                  </a:txBody>
                  <a:tcPr marL="91440" marR="91440" marT="45720" marB="45720">
                    <a:solidFill>
                      <a:srgbClr val="003262"/>
                    </a:solidFill>
                  </a:tcPr>
                </a:tc>
                <a:tc>
                  <a:txBody>
                    <a:bodyPr/>
                    <a:lstStyle/>
                    <a:p>
                      <a:r>
                        <a:rPr sz="1350" b="1">
                          <a:solidFill>
                            <a:srgbClr val="FFFFFF"/>
                          </a:solidFill>
                          <a:latin typeface="Arial"/>
                          <a:ea typeface="Arial"/>
                          <a:cs typeface="Arial"/>
                        </a:rPr>
                        <a:t>36 months</a:t>
                      </a:r>
                    </a:p>
                  </a:txBody>
                  <a:tcPr marL="91440" marR="91440" marT="45720" marB="45720">
                    <a:solidFill>
                      <a:srgbClr val="003262"/>
                    </a:solidFill>
                  </a:tcPr>
                </a:tc>
                <a:tc>
                  <a:txBody>
                    <a:bodyPr/>
                    <a:lstStyle/>
                    <a:p>
                      <a:r>
                        <a:rPr sz="1350" b="1">
                          <a:solidFill>
                            <a:srgbClr val="FFFFFF"/>
                          </a:solidFill>
                          <a:latin typeface="Arial"/>
                          <a:ea typeface="Arial"/>
                          <a:cs typeface="Arial"/>
                        </a:rPr>
                        <a:t>60 months</a:t>
                      </a:r>
                    </a:p>
                  </a:txBody>
                  <a:tcPr marL="91440" marR="91440" marT="45720" marB="45720">
                    <a:solidFill>
                      <a:srgbClr val="003262"/>
                    </a:solidFill>
                  </a:tcPr>
                </a:tc>
              </a:tr>
              <a:tr h="504825">
                <a:tc>
                  <a:txBody>
                    <a:bodyPr/>
                    <a:lstStyle/>
                    <a:p>
                      <a:r>
                        <a:rPr sz="1425" b="0">
                          <a:solidFill>
                            <a:srgbClr val="1F2A37"/>
                          </a:solidFill>
                          <a:latin typeface="Arial"/>
                          <a:ea typeface="Arial"/>
                          <a:cs typeface="Arial"/>
                        </a:rPr>
                        <a:t>Complete windows</a:t>
                      </a:r>
                    </a:p>
                  </a:txBody>
                  <a:tcPr marL="91440" marR="91440" marT="45720" marB="45720">
                    <a:solidFill>
                      <a:srgbClr val="EEF3F8"/>
                    </a:solidFill>
                  </a:tcPr>
                </a:tc>
                <a:tc>
                  <a:txBody>
                    <a:bodyPr/>
                    <a:lstStyle/>
                    <a:p>
                      <a:r>
                        <a:rPr sz="1425" b="0">
                          <a:solidFill>
                            <a:srgbClr val="1F2A37"/>
                          </a:solidFill>
                          <a:latin typeface="Arial"/>
                          <a:ea typeface="Arial"/>
                          <a:cs typeface="Arial"/>
                        </a:rPr>
                        <a:t>265</a:t>
                      </a:r>
                    </a:p>
                  </a:txBody>
                  <a:tcPr marL="91440" marR="91440" marT="45720" marB="45720">
                    <a:solidFill>
                      <a:srgbClr val="EEF3F8"/>
                    </a:solidFill>
                  </a:tcPr>
                </a:tc>
                <a:tc>
                  <a:txBody>
                    <a:bodyPr/>
                    <a:lstStyle/>
                    <a:p>
                      <a:r>
                        <a:rPr sz="1425" b="0">
                          <a:solidFill>
                            <a:srgbClr val="1F2A37"/>
                          </a:solidFill>
                          <a:latin typeface="Arial"/>
                          <a:ea typeface="Arial"/>
                          <a:cs typeface="Arial"/>
                        </a:rPr>
                        <a:t>241</a:t>
                      </a:r>
                    </a:p>
                  </a:txBody>
                  <a:tcPr marL="91440" marR="91440" marT="45720" marB="45720">
                    <a:solidFill>
                      <a:srgbClr val="EEF3F8"/>
                    </a:solidFill>
                  </a:tcPr>
                </a:tc>
              </a:tr>
              <a:tr h="504825">
                <a:tc>
                  <a:txBody>
                    <a:bodyPr/>
                    <a:lstStyle/>
                    <a:p>
                      <a:r>
                        <a:rPr sz="1425" b="0">
                          <a:solidFill>
                            <a:srgbClr val="1F2A37"/>
                          </a:solidFill>
                          <a:latin typeface="Arial"/>
                          <a:ea typeface="Arial"/>
                          <a:cs typeface="Arial"/>
                        </a:rPr>
                        <a:t>First endpoint</a:t>
                      </a:r>
                    </a:p>
                  </a:txBody>
                  <a:tcPr marL="91440" marR="91440" marT="45720" marB="45720">
                    <a:solidFill>
                      <a:srgbClr val="FFFFFF"/>
                    </a:solidFill>
                  </a:tcPr>
                </a:tc>
                <a:tc>
                  <a:txBody>
                    <a:bodyPr/>
                    <a:lstStyle/>
                    <a:p>
                      <a:r>
                        <a:rPr sz="1425" b="0">
                          <a:solidFill>
                            <a:srgbClr val="1F2A37"/>
                          </a:solidFill>
                          <a:latin typeface="Arial"/>
                          <a:ea typeface="Arial"/>
                          <a:cs typeface="Arial"/>
                        </a:rPr>
                        <a:t>December 1994</a:t>
                      </a:r>
                    </a:p>
                  </a:txBody>
                  <a:tcPr marL="91440" marR="91440" marT="45720" marB="45720">
                    <a:solidFill>
                      <a:srgbClr val="FFFFFF"/>
                    </a:solidFill>
                  </a:tcPr>
                </a:tc>
                <a:tc>
                  <a:txBody>
                    <a:bodyPr/>
                    <a:lstStyle/>
                    <a:p>
                      <a:r>
                        <a:rPr sz="1425" b="0">
                          <a:solidFill>
                            <a:srgbClr val="1F2A37"/>
                          </a:solidFill>
                          <a:latin typeface="Arial"/>
                          <a:ea typeface="Arial"/>
                          <a:cs typeface="Arial"/>
                        </a:rPr>
                        <a:t>December 1996</a:t>
                      </a:r>
                    </a:p>
                  </a:txBody>
                  <a:tcPr marL="91440" marR="91440" marT="45720" marB="45720">
                    <a:solidFill>
                      <a:srgbClr val="FFFFFF"/>
                    </a:solidFill>
                  </a:tcPr>
                </a:tc>
              </a:tr>
              <a:tr h="504825">
                <a:tc>
                  <a:txBody>
                    <a:bodyPr/>
                    <a:lstStyle/>
                    <a:p>
                      <a:r>
                        <a:rPr sz="1425" b="0">
                          <a:solidFill>
                            <a:srgbClr val="1F2A37"/>
                          </a:solidFill>
                          <a:latin typeface="Arial"/>
                          <a:ea typeface="Arial"/>
                          <a:cs typeface="Arial"/>
                        </a:rPr>
                        <a:t>Last endpoint</a:t>
                      </a:r>
                    </a:p>
                  </a:txBody>
                  <a:tcPr marL="91440" marR="91440" marT="45720" marB="45720">
                    <a:solidFill>
                      <a:srgbClr val="EEF3F8"/>
                    </a:solidFill>
                  </a:tcPr>
                </a:tc>
                <a:tc>
                  <a:txBody>
                    <a:bodyPr/>
                    <a:lstStyle/>
                    <a:p>
                      <a:r>
                        <a:rPr sz="1425" b="0">
                          <a:solidFill>
                            <a:srgbClr val="1F2A37"/>
                          </a:solidFill>
                          <a:latin typeface="Arial"/>
                          <a:ea typeface="Arial"/>
                          <a:cs typeface="Arial"/>
                        </a:rPr>
                        <a:t>December 2016</a:t>
                      </a:r>
                    </a:p>
                  </a:txBody>
                  <a:tcPr marL="91440" marR="91440" marT="45720" marB="45720">
                    <a:solidFill>
                      <a:srgbClr val="EEF3F8"/>
                    </a:solidFill>
                  </a:tcPr>
                </a:tc>
                <a:tc>
                  <a:txBody>
                    <a:bodyPr/>
                    <a:lstStyle/>
                    <a:p>
                      <a:r>
                        <a:rPr sz="1425" b="0">
                          <a:solidFill>
                            <a:srgbClr val="1F2A37"/>
                          </a:solidFill>
                          <a:latin typeface="Arial"/>
                          <a:ea typeface="Arial"/>
                          <a:cs typeface="Arial"/>
                        </a:rPr>
                        <a:t>December 2016</a:t>
                      </a:r>
                    </a:p>
                  </a:txBody>
                  <a:tcPr marL="91440" marR="91440" marT="45720" marB="45720">
                    <a:solidFill>
                      <a:srgbClr val="EEF3F8"/>
                    </a:solidFill>
                  </a:tcPr>
                </a:tc>
              </a:tr>
              <a:tr h="504825">
                <a:tc>
                  <a:txBody>
                    <a:bodyPr/>
                    <a:lstStyle/>
                    <a:p>
                      <a:r>
                        <a:rPr sz="1425" b="0">
                          <a:solidFill>
                            <a:srgbClr val="1F2A37"/>
                          </a:solidFill>
                          <a:latin typeface="Arial"/>
                          <a:ea typeface="Arial"/>
                          <a:cs typeface="Arial"/>
                        </a:rPr>
                        <a:t>Statistic</a:t>
                      </a:r>
                    </a:p>
                  </a:txBody>
                  <a:tcPr marL="91440" marR="91440" marT="45720" marB="45720">
                    <a:solidFill>
                      <a:srgbClr val="FFFFFF"/>
                    </a:solidFill>
                  </a:tcPr>
                </a:tc>
                <a:tc>
                  <a:txBody>
                    <a:bodyPr/>
                    <a:lstStyle/>
                    <a:p>
                      <a:r>
                        <a:rPr sz="1425" b="0">
                          <a:solidFill>
                            <a:srgbClr val="1F2A37"/>
                          </a:solidFill>
                          <a:latin typeface="Arial"/>
                          <a:ea typeface="Arial"/>
                          <a:cs typeface="Arial"/>
                        </a:rPr>
                        <a:t>Annualized rolling Sharpe</a:t>
                      </a:r>
                    </a:p>
                  </a:txBody>
                  <a:tcPr marL="91440" marR="91440" marT="45720" marB="45720">
                    <a:solidFill>
                      <a:srgbClr val="FFFFFF"/>
                    </a:solidFill>
                  </a:tcPr>
                </a:tc>
                <a:tc>
                  <a:txBody>
                    <a:bodyPr/>
                    <a:lstStyle/>
                    <a:p>
                      <a:r>
                        <a:rPr sz="1425" b="0">
                          <a:solidFill>
                            <a:srgbClr val="1F2A37"/>
                          </a:solidFill>
                          <a:latin typeface="Arial"/>
                          <a:ea typeface="Arial"/>
                          <a:cs typeface="Arial"/>
                        </a:rPr>
                        <a:t>Annualized rolling Sharpe</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D574C73E-5ECE-42B7-BC54-54BEEEFA77BE}"/>
              </a:ext>
            </a:extLst>
          </p:cNvPr>
          <p:cNvSpPr>
            <a:spLocks xmlns:a="http://schemas.openxmlformats.org/drawingml/2006/main" noGrp="1"/>
          </p:cNvSpPr>
          <p:nvPr/>
        </p:nvSpPr>
        <p:spPr>
          <a:xfrm xmlns:a="http://schemas.openxmlformats.org/drawingml/2006/main">
            <a:off x="419100" y="3743325"/>
            <a:ext cx="828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F2A37"/>
                </a:solidFill>
                <a:latin typeface="Arial"/>
                <a:ea typeface="Arial"/>
                <a:cs typeface="Arial"/>
              </a:defRPr>
            </a:pPr>
            <a:r>
              <a:rPr sz="1500" b="0">
                <a:solidFill>
                  <a:srgbClr val="1F2A37"/>
                </a:solidFill>
                <a:latin typeface="Arial"/>
                <a:ea typeface="Arial"/>
                <a:cs typeface="Arial"/>
              </a:rPr>
              <a:t>Each window reuses earlier returns. Longer windows smooth short episodes.</a:t>
            </a:r>
          </a:p>
        </p:txBody>
      </p:sp>
      <p:sp>
        <p:nvSpPr>
          <p:cNvPr id="8" name="">
            <a:extLst xmlns:a="http://schemas.openxmlformats.org/drawingml/2006/main">
              <a:ext uri="{FF2B5EF4-FFF2-40B4-BE49-F238E27FC236}">
                <a16:creationId xmlns:a16="http://schemas.microsoft.com/office/drawing/2014/main" id="{0E1D0F30-9317-4414-905B-D9C3F7EBD521}"/>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This experiment evaluates fixed models. It does not refit an expanding-window model.</a:t>
            </a:r>
          </a:p>
        </p:txBody>
      </p:sp>
    </p:spTree>
    <p:extLst>
      <p:ext uri="{BB962C8B-B14F-4D97-AF65-F5344CB8AC3E}">
        <p14:creationId xmlns:p14="http://schemas.microsoft.com/office/powerpoint/2010/main" val="142051536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B24853C-E242-4718-BDE7-56D1929388B4}"/>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258070-A77F-44F4-B64B-EBDDB06CBDC7}"/>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37E1B8D-AD55-43AD-84FB-CDDB914FD851}"/>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36-month rolling Sharpe</a:t>
            </a:r>
          </a:p>
        </p:txBody>
      </p:sp>
      <p:sp>
        <p:nvSpPr>
          <p:cNvPr id="4" name="">
            <a:extLst xmlns:a="http://schemas.openxmlformats.org/drawingml/2006/main">
              <a:ext uri="{FF2B5EF4-FFF2-40B4-BE49-F238E27FC236}">
                <a16:creationId xmlns:a16="http://schemas.microsoft.com/office/drawing/2014/main" id="{9A2AD1A0-8302-4C53-9A97-64C2B69F8273}"/>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09 and Code 11</a:t>
            </a:r>
          </a:p>
        </p:txBody>
      </p:sp>
      <p:sp>
        <p:nvSpPr>
          <p:cNvPr id="5" name="">
            <a:extLst xmlns:a="http://schemas.openxmlformats.org/drawingml/2006/main">
              <a:ext uri="{FF2B5EF4-FFF2-40B4-BE49-F238E27FC236}">
                <a16:creationId xmlns:a16="http://schemas.microsoft.com/office/drawing/2014/main" id="{9DA9F0C5-A866-4DF7-BE90-8E139A9D73CA}"/>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19</a:t>
            </a:r>
          </a:p>
        </p:txBody>
      </p:sp>
      <p:graphicFrame>
        <p:nvGraphicFramePr>
          <p:cNvPr id="13"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f111500a7942484e"/>
          </a:graphicData>
        </a:graphic>
      </p:graphicFrame>
      <p:sp>
        <p:nvSpPr>
          <p:cNvPr id="7" name="">
            <a:extLst xmlns:a="http://schemas.openxmlformats.org/drawingml/2006/main">
              <a:ext uri="{FF2B5EF4-FFF2-40B4-BE49-F238E27FC236}">
                <a16:creationId xmlns:a16="http://schemas.microsoft.com/office/drawing/2014/main" id="{D9A70A8F-2D0C-4B11-800B-1DF5B84CFE0A}"/>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Transformer beats new LSTM in 36.6% of complete windows.</a:t>
            </a:r>
          </a:p>
        </p:txBody>
      </p:sp>
    </p:spTree>
    <p:extLst>
      <p:ext uri="{BB962C8B-B14F-4D97-AF65-F5344CB8AC3E}">
        <p14:creationId xmlns:p14="http://schemas.microsoft.com/office/powerpoint/2010/main" val="59771376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5BEC28E-A090-4193-843C-B25A8D868334}"/>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0A14E58-2F78-42AB-BFBD-1FC0B7B2197A}"/>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1306BEFD-FEB0-41DB-B4E9-A7CB07AA1764}"/>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60-month rolling Sharpe</a:t>
            </a:r>
          </a:p>
        </p:txBody>
      </p:sp>
      <p:sp>
        <p:nvSpPr>
          <p:cNvPr id="4" name="">
            <a:extLst xmlns:a="http://schemas.openxmlformats.org/drawingml/2006/main">
              <a:ext uri="{FF2B5EF4-FFF2-40B4-BE49-F238E27FC236}">
                <a16:creationId xmlns:a16="http://schemas.microsoft.com/office/drawing/2014/main" id="{2474A147-140F-46CF-B51B-772548310637}"/>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09 and Code 11</a:t>
            </a:r>
          </a:p>
        </p:txBody>
      </p:sp>
      <p:sp>
        <p:nvSpPr>
          <p:cNvPr id="5" name="">
            <a:extLst xmlns:a="http://schemas.openxmlformats.org/drawingml/2006/main">
              <a:ext uri="{FF2B5EF4-FFF2-40B4-BE49-F238E27FC236}">
                <a16:creationId xmlns:a16="http://schemas.microsoft.com/office/drawing/2014/main" id="{432FD2DF-B7D0-487A-9594-A558E49E889C}"/>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20</a:t>
            </a:r>
          </a:p>
        </p:txBody>
      </p:sp>
      <p:graphicFrame>
        <p:nvGraphicFramePr>
          <p:cNvPr id="13"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18961a64ff67421e"/>
          </a:graphicData>
        </a:graphic>
      </p:graphicFrame>
      <p:sp>
        <p:nvSpPr>
          <p:cNvPr id="7" name="">
            <a:extLst xmlns:a="http://schemas.openxmlformats.org/drawingml/2006/main">
              <a:ext uri="{FF2B5EF4-FFF2-40B4-BE49-F238E27FC236}">
                <a16:creationId xmlns:a16="http://schemas.microsoft.com/office/drawing/2014/main" id="{D6AAB299-F6CC-4762-BFD6-E5A1AB0E2AC9}"/>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Transformer beats new LSTM in 19.9% of complete windows.</a:t>
            </a:r>
          </a:p>
        </p:txBody>
      </p:sp>
    </p:spTree>
    <p:extLst>
      <p:ext uri="{BB962C8B-B14F-4D97-AF65-F5344CB8AC3E}">
        <p14:creationId xmlns:p14="http://schemas.microsoft.com/office/powerpoint/2010/main" val="97857509"/>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9521278-67C1-4C10-B0C5-1BE5D610FC7A}"/>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4A1F4F2-FFDC-4851-85A2-E52D0ACE9C04}"/>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98498CA-E0E2-4DA7-9DD7-17C8E6492109}"/>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Mean rolling Sharpe comparison</a:t>
            </a:r>
          </a:p>
        </p:txBody>
      </p:sp>
      <p:sp>
        <p:nvSpPr>
          <p:cNvPr id="4" name="">
            <a:extLst xmlns:a="http://schemas.openxmlformats.org/drawingml/2006/main">
              <a:ext uri="{FF2B5EF4-FFF2-40B4-BE49-F238E27FC236}">
                <a16:creationId xmlns:a16="http://schemas.microsoft.com/office/drawing/2014/main" id="{50383EFB-AA20-4B1C-84EB-0CE75B54AD01}"/>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09 and Code 11</a:t>
            </a:r>
          </a:p>
        </p:txBody>
      </p:sp>
      <p:sp>
        <p:nvSpPr>
          <p:cNvPr id="5" name="">
            <a:extLst xmlns:a="http://schemas.openxmlformats.org/drawingml/2006/main">
              <a:ext uri="{FF2B5EF4-FFF2-40B4-BE49-F238E27FC236}">
                <a16:creationId xmlns:a16="http://schemas.microsoft.com/office/drawing/2014/main" id="{83E020BF-B420-4BB0-B5E9-5FD24C7D60FC}"/>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21</a:t>
            </a:r>
          </a:p>
        </p:txBody>
      </p:sp>
      <p:graphicFrame>
        <p:nvGraphicFramePr>
          <p:cNvPr id="13" name=""/>
          <p:cNvGraphicFramePr/>
          <p:nvPr/>
        </p:nvGraphicFramePr>
        <p:xfrm>
          <a:off xmlns:a="http://schemas.openxmlformats.org/drawingml/2006/main" x="400050" y="1019175"/>
          <a:ext xmlns:a="http://schemas.openxmlformats.org/drawingml/2006/main" cx="8343900" cy="2857500"/>
        </p:xfrm>
        <a:graphic xmlns:a="http://schemas.openxmlformats.org/drawingml/2006/main">
          <a:graphicData uri="http://schemas.openxmlformats.org/drawingml/2006/table">
            <a:tbl>
              <a:tblPr/>
              <a:tblGrid>
                <a:gridCol w="2952750"/>
                <a:gridCol w="2695575"/>
                <a:gridCol w="2695575"/>
              </a:tblGrid>
              <a:tr h="476250">
                <a:tc>
                  <a:txBody>
                    <a:bodyPr/>
                    <a:lstStyle/>
                    <a:p>
                      <a:r>
                        <a:rPr sz="1575" b="1">
                          <a:solidFill>
                            <a:srgbClr val="FFFFFF"/>
                          </a:solidFill>
                          <a:latin typeface="Arial"/>
                          <a:ea typeface="Arial"/>
                          <a:cs typeface="Arial"/>
                        </a:rPr>
                        <a:t>Portfolio</a:t>
                      </a:r>
                    </a:p>
                  </a:txBody>
                  <a:tcPr marL="91440" marR="91440" marT="45720" marB="45720">
                    <a:solidFill>
                      <a:srgbClr val="003262"/>
                    </a:solidFill>
                  </a:tcPr>
                </a:tc>
                <a:tc>
                  <a:txBody>
                    <a:bodyPr/>
                    <a:lstStyle/>
                    <a:p>
                      <a:r>
                        <a:rPr sz="1575" b="1">
                          <a:solidFill>
                            <a:srgbClr val="FFFFFF"/>
                          </a:solidFill>
                          <a:latin typeface="Arial"/>
                          <a:ea typeface="Arial"/>
                          <a:cs typeface="Arial"/>
                        </a:rPr>
                        <a:t>36-month mean</a:t>
                      </a:r>
                    </a:p>
                  </a:txBody>
                  <a:tcPr marL="91440" marR="91440" marT="45720" marB="45720">
                    <a:solidFill>
                      <a:srgbClr val="003262"/>
                    </a:solidFill>
                  </a:tcPr>
                </a:tc>
                <a:tc>
                  <a:txBody>
                    <a:bodyPr/>
                    <a:lstStyle/>
                    <a:p>
                      <a:r>
                        <a:rPr sz="1575" b="1">
                          <a:solidFill>
                            <a:srgbClr val="FFFFFF"/>
                          </a:solidFill>
                          <a:latin typeface="Arial"/>
                          <a:ea typeface="Arial"/>
                          <a:cs typeface="Arial"/>
                        </a:rPr>
                        <a:t>60-month mean</a:t>
                      </a:r>
                    </a:p>
                  </a:txBody>
                  <a:tcPr marL="91440" marR="91440" marT="45720" marB="45720">
                    <a:solidFill>
                      <a:srgbClr val="003262"/>
                    </a:solidFill>
                  </a:tcPr>
                </a:tc>
              </a:tr>
              <a:tr h="476250">
                <a:tc>
                  <a:txBody>
                    <a:bodyPr/>
                    <a:lstStyle/>
                    <a:p>
                      <a:r>
                        <a:rPr sz="1650" b="0">
                          <a:solidFill>
                            <a:srgbClr val="1F2A37"/>
                          </a:solidFill>
                          <a:latin typeface="Arial"/>
                          <a:ea typeface="Arial"/>
                          <a:cs typeface="Arial"/>
                        </a:rPr>
                        <a:t>Authors GAN</a:t>
                      </a:r>
                    </a:p>
                  </a:txBody>
                  <a:tcPr marL="91440" marR="91440" marT="45720" marB="45720">
                    <a:solidFill>
                      <a:srgbClr val="EEF3F8"/>
                    </a:solidFill>
                  </a:tcPr>
                </a:tc>
                <a:tc>
                  <a:txBody>
                    <a:bodyPr/>
                    <a:lstStyle/>
                    <a:p>
                      <a:r>
                        <a:rPr sz="1650" b="0">
                          <a:solidFill>
                            <a:srgbClr val="1F2A37"/>
                          </a:solidFill>
                          <a:latin typeface="Arial"/>
                          <a:ea typeface="Arial"/>
                          <a:cs typeface="Arial"/>
                        </a:rPr>
                        <a:t>3.638</a:t>
                      </a:r>
                    </a:p>
                  </a:txBody>
                  <a:tcPr marL="91440" marR="91440" marT="45720" marB="45720">
                    <a:solidFill>
                      <a:srgbClr val="EEF3F8"/>
                    </a:solidFill>
                  </a:tcPr>
                </a:tc>
                <a:tc>
                  <a:txBody>
                    <a:bodyPr/>
                    <a:lstStyle/>
                    <a:p>
                      <a:r>
                        <a:rPr sz="1650" b="0">
                          <a:solidFill>
                            <a:srgbClr val="1F2A37"/>
                          </a:solidFill>
                          <a:latin typeface="Arial"/>
                          <a:ea typeface="Arial"/>
                          <a:cs typeface="Arial"/>
                        </a:rPr>
                        <a:t>3.199</a:t>
                      </a:r>
                    </a:p>
                  </a:txBody>
                  <a:tcPr marL="91440" marR="91440" marT="45720" marB="45720">
                    <a:solidFill>
                      <a:srgbClr val="EEF3F8"/>
                    </a:solidFill>
                  </a:tcPr>
                </a:tc>
              </a:tr>
              <a:tr h="476250">
                <a:tc>
                  <a:txBody>
                    <a:bodyPr/>
                    <a:lstStyle/>
                    <a:p>
                      <a:r>
                        <a:rPr sz="1650" b="0">
                          <a:solidFill>
                            <a:srgbClr val="1F2A37"/>
                          </a:solidFill>
                          <a:latin typeface="Arial"/>
                          <a:ea typeface="Arial"/>
                          <a:cs typeface="Arial"/>
                        </a:rPr>
                        <a:t>Code 07 GAN</a:t>
                      </a:r>
                    </a:p>
                  </a:txBody>
                  <a:tcPr marL="91440" marR="91440" marT="45720" marB="45720">
                    <a:solidFill>
                      <a:srgbClr val="FFFFFF"/>
                    </a:solidFill>
                  </a:tcPr>
                </a:tc>
                <a:tc>
                  <a:txBody>
                    <a:bodyPr/>
                    <a:lstStyle/>
                    <a:p>
                      <a:r>
                        <a:rPr sz="1650" b="0">
                          <a:solidFill>
                            <a:srgbClr val="1F2A37"/>
                          </a:solidFill>
                          <a:latin typeface="Arial"/>
                          <a:ea typeface="Arial"/>
                          <a:cs typeface="Arial"/>
                        </a:rPr>
                        <a:t>2.890</a:t>
                      </a:r>
                    </a:p>
                  </a:txBody>
                  <a:tcPr marL="91440" marR="91440" marT="45720" marB="45720">
                    <a:solidFill>
                      <a:srgbClr val="FFFFFF"/>
                    </a:solidFill>
                  </a:tcPr>
                </a:tc>
                <a:tc>
                  <a:txBody>
                    <a:bodyPr/>
                    <a:lstStyle/>
                    <a:p>
                      <a:r>
                        <a:rPr sz="1650" b="0">
                          <a:solidFill>
                            <a:srgbClr val="1F2A37"/>
                          </a:solidFill>
                          <a:latin typeface="Arial"/>
                          <a:ea typeface="Arial"/>
                          <a:cs typeface="Arial"/>
                        </a:rPr>
                        <a:t>2.504</a:t>
                      </a:r>
                    </a:p>
                  </a:txBody>
                  <a:tcPr marL="91440" marR="91440" marT="45720" marB="45720">
                    <a:solidFill>
                      <a:srgbClr val="FFFFFF"/>
                    </a:solidFill>
                  </a:tcPr>
                </a:tc>
              </a:tr>
              <a:tr h="476250">
                <a:tc>
                  <a:txBody>
                    <a:bodyPr/>
                    <a:lstStyle/>
                    <a:p>
                      <a:r>
                        <a:rPr sz="1650" b="0">
                          <a:solidFill>
                            <a:srgbClr val="1F2A37"/>
                          </a:solidFill>
                          <a:latin typeface="Arial"/>
                          <a:ea typeface="Arial"/>
                          <a:cs typeface="Arial"/>
                        </a:rPr>
                        <a:t>New LSTM</a:t>
                      </a:r>
                    </a:p>
                  </a:txBody>
                  <a:tcPr marL="91440" marR="91440" marT="45720" marB="45720">
                    <a:solidFill>
                      <a:srgbClr val="EEF3F8"/>
                    </a:solidFill>
                  </a:tcPr>
                </a:tc>
                <a:tc>
                  <a:txBody>
                    <a:bodyPr/>
                    <a:lstStyle/>
                    <a:p>
                      <a:r>
                        <a:rPr sz="1650" b="0">
                          <a:solidFill>
                            <a:srgbClr val="1F2A37"/>
                          </a:solidFill>
                          <a:latin typeface="Arial"/>
                          <a:ea typeface="Arial"/>
                          <a:cs typeface="Arial"/>
                        </a:rPr>
                        <a:t>1.992</a:t>
                      </a:r>
                    </a:p>
                  </a:txBody>
                  <a:tcPr marL="91440" marR="91440" marT="45720" marB="45720">
                    <a:solidFill>
                      <a:srgbClr val="EEF3F8"/>
                    </a:solidFill>
                  </a:tcPr>
                </a:tc>
                <a:tc>
                  <a:txBody>
                    <a:bodyPr/>
                    <a:lstStyle/>
                    <a:p>
                      <a:r>
                        <a:rPr sz="1650" b="0">
                          <a:solidFill>
                            <a:srgbClr val="1F2A37"/>
                          </a:solidFill>
                          <a:latin typeface="Arial"/>
                          <a:ea typeface="Arial"/>
                          <a:cs typeface="Arial"/>
                        </a:rPr>
                        <a:t>1.795</a:t>
                      </a:r>
                    </a:p>
                  </a:txBody>
                  <a:tcPr marL="91440" marR="91440" marT="45720" marB="45720">
                    <a:solidFill>
                      <a:srgbClr val="EEF3F8"/>
                    </a:solidFill>
                  </a:tcPr>
                </a:tc>
              </a:tr>
              <a:tr h="476250">
                <a:tc>
                  <a:txBody>
                    <a:bodyPr/>
                    <a:lstStyle/>
                    <a:p>
                      <a:r>
                        <a:rPr sz="1650" b="0">
                          <a:solidFill>
                            <a:srgbClr val="1F2A37"/>
                          </a:solidFill>
                          <a:latin typeface="Arial"/>
                          <a:ea typeface="Arial"/>
                          <a:cs typeface="Arial"/>
                        </a:rPr>
                        <a:t>Transformer</a:t>
                      </a:r>
                    </a:p>
                  </a:txBody>
                  <a:tcPr marL="91440" marR="91440" marT="45720" marB="45720">
                    <a:solidFill>
                      <a:srgbClr val="FFFFFF"/>
                    </a:solidFill>
                  </a:tcPr>
                </a:tc>
                <a:tc>
                  <a:txBody>
                    <a:bodyPr/>
                    <a:lstStyle/>
                    <a:p>
                      <a:r>
                        <a:rPr sz="1650" b="0">
                          <a:solidFill>
                            <a:srgbClr val="1F2A37"/>
                          </a:solidFill>
                          <a:latin typeface="Arial"/>
                          <a:ea typeface="Arial"/>
                          <a:cs typeface="Arial"/>
                        </a:rPr>
                        <a:t>1.467</a:t>
                      </a:r>
                    </a:p>
                  </a:txBody>
                  <a:tcPr marL="91440" marR="91440" marT="45720" marB="45720">
                    <a:solidFill>
                      <a:srgbClr val="FFFFFF"/>
                    </a:solidFill>
                  </a:tcPr>
                </a:tc>
                <a:tc>
                  <a:txBody>
                    <a:bodyPr/>
                    <a:lstStyle/>
                    <a:p>
                      <a:r>
                        <a:rPr sz="1650" b="0">
                          <a:solidFill>
                            <a:srgbClr val="1F2A37"/>
                          </a:solidFill>
                          <a:latin typeface="Arial"/>
                          <a:ea typeface="Arial"/>
                          <a:cs typeface="Arial"/>
                        </a:rPr>
                        <a:t>1.228</a:t>
                      </a:r>
                    </a:p>
                  </a:txBody>
                  <a:tcPr marL="91440" marR="91440" marT="45720" marB="45720">
                    <a:solidFill>
                      <a:srgbClr val="FFFFFF"/>
                    </a:solidFill>
                  </a:tcPr>
                </a:tc>
              </a:tr>
              <a:tr h="476250">
                <a:tc>
                  <a:txBody>
                    <a:bodyPr/>
                    <a:lstStyle/>
                    <a:p>
                      <a:r>
                        <a:rPr sz="1650" b="0">
                          <a:solidFill>
                            <a:srgbClr val="1F2A37"/>
                          </a:solidFill>
                          <a:latin typeface="Arial"/>
                          <a:ea typeface="Arial"/>
                          <a:cs typeface="Arial"/>
                        </a:rPr>
                        <a:t>50/50 blend</a:t>
                      </a:r>
                    </a:p>
                  </a:txBody>
                  <a:tcPr marL="91440" marR="91440" marT="45720" marB="45720">
                    <a:solidFill>
                      <a:srgbClr val="EEF3F8"/>
                    </a:solidFill>
                  </a:tcPr>
                </a:tc>
                <a:tc>
                  <a:txBody>
                    <a:bodyPr/>
                    <a:lstStyle/>
                    <a:p>
                      <a:r>
                        <a:rPr sz="1650" b="0">
                          <a:solidFill>
                            <a:srgbClr val="1F2A37"/>
                          </a:solidFill>
                          <a:latin typeface="Arial"/>
                          <a:ea typeface="Arial"/>
                          <a:cs typeface="Arial"/>
                        </a:rPr>
                        <a:t>2.166</a:t>
                      </a:r>
                    </a:p>
                  </a:txBody>
                  <a:tcPr marL="91440" marR="91440" marT="45720" marB="45720">
                    <a:solidFill>
                      <a:srgbClr val="EEF3F8"/>
                    </a:solidFill>
                  </a:tcPr>
                </a:tc>
                <a:tc>
                  <a:txBody>
                    <a:bodyPr/>
                    <a:lstStyle/>
                    <a:p>
                      <a:r>
                        <a:rPr sz="1650" b="0">
                          <a:solidFill>
                            <a:srgbClr val="1F2A37"/>
                          </a:solidFill>
                          <a:latin typeface="Arial"/>
                          <a:ea typeface="Arial"/>
                          <a:cs typeface="Arial"/>
                        </a:rPr>
                        <a:t>1.871</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A7A0F3B1-57CC-4CFD-8F77-AD81F9C89D3B}"/>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LSTM has the higher average, while the 36-month Transformer median is slightly higher.</a:t>
            </a:r>
          </a:p>
        </p:txBody>
      </p:sp>
    </p:spTree>
    <p:extLst>
      <p:ext uri="{BB962C8B-B14F-4D97-AF65-F5344CB8AC3E}">
        <p14:creationId xmlns:p14="http://schemas.microsoft.com/office/powerpoint/2010/main" val="51852171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FABCB2D-C1F8-4F6F-BAAE-C13481622003}"/>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F417EF8-CB4A-460D-BC27-7B5661FCEF3C}"/>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8C0B441-A72E-4797-8C11-DAA3BB848E58}"/>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Economic regime definitions and sample sizes</a:t>
            </a:r>
          </a:p>
        </p:txBody>
      </p:sp>
      <p:sp>
        <p:nvSpPr>
          <p:cNvPr id="4" name="">
            <a:extLst xmlns:a="http://schemas.openxmlformats.org/drawingml/2006/main">
              <a:ext uri="{FF2B5EF4-FFF2-40B4-BE49-F238E27FC236}">
                <a16:creationId xmlns:a16="http://schemas.microsoft.com/office/drawing/2014/main" id="{8B0F0754-A6F8-457B-8FFB-DCBE539C740D}"/>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10</a:t>
            </a:r>
          </a:p>
        </p:txBody>
      </p:sp>
      <p:sp>
        <p:nvSpPr>
          <p:cNvPr id="5" name="">
            <a:extLst xmlns:a="http://schemas.openxmlformats.org/drawingml/2006/main">
              <a:ext uri="{FF2B5EF4-FFF2-40B4-BE49-F238E27FC236}">
                <a16:creationId xmlns:a16="http://schemas.microsoft.com/office/drawing/2014/main" id="{736DD8D3-6688-4086-ACAF-AE25DA6F7C07}"/>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22</a:t>
            </a:r>
          </a:p>
        </p:txBody>
      </p:sp>
      <p:graphicFrame>
        <p:nvGraphicFramePr>
          <p:cNvPr id="14" name=""/>
          <p:cNvGraphicFramePr/>
          <p:nvPr/>
        </p:nvGraphicFramePr>
        <p:xfrm>
          <a:off xmlns:a="http://schemas.openxmlformats.org/drawingml/2006/main" x="400050" y="1019175"/>
          <a:ext xmlns:a="http://schemas.openxmlformats.org/drawingml/2006/main" cx="8343900" cy="1714500"/>
        </p:xfrm>
        <a:graphic xmlns:a="http://schemas.openxmlformats.org/drawingml/2006/main">
          <a:graphicData uri="http://schemas.openxmlformats.org/drawingml/2006/table">
            <a:tbl>
              <a:tblPr/>
              <a:tblGrid>
                <a:gridCol w="2095500"/>
                <a:gridCol w="3124200"/>
                <a:gridCol w="3124200"/>
              </a:tblGrid>
              <a:tr h="571500">
                <a:tc>
                  <a:txBody>
                    <a:bodyPr/>
                    <a:lstStyle/>
                    <a:p>
                      <a:r>
                        <a:rPr sz="1425" b="1">
                          <a:solidFill>
                            <a:srgbClr val="FFFFFF"/>
                          </a:solidFill>
                          <a:latin typeface="Arial"/>
                          <a:ea typeface="Arial"/>
                          <a:cs typeface="Arial"/>
                        </a:rPr>
                        <a:t>Regime family</a:t>
                      </a:r>
                    </a:p>
                  </a:txBody>
                  <a:tcPr marL="91440" marR="91440" marT="45720" marB="45720">
                    <a:solidFill>
                      <a:srgbClr val="003262"/>
                    </a:solidFill>
                  </a:tcPr>
                </a:tc>
                <a:tc>
                  <a:txBody>
                    <a:bodyPr/>
                    <a:lstStyle/>
                    <a:p>
                      <a:r>
                        <a:rPr sz="1425" b="1">
                          <a:solidFill>
                            <a:srgbClr val="FFFFFF"/>
                          </a:solidFill>
                          <a:latin typeface="Arial"/>
                          <a:ea typeface="Arial"/>
                          <a:cs typeface="Arial"/>
                        </a:rPr>
                        <a:t>Definition</a:t>
                      </a:r>
                    </a:p>
                  </a:txBody>
                  <a:tcPr marL="91440" marR="91440" marT="45720" marB="45720">
                    <a:solidFill>
                      <a:srgbClr val="003262"/>
                    </a:solidFill>
                  </a:tcPr>
                </a:tc>
                <a:tc>
                  <a:txBody>
                    <a:bodyPr/>
                    <a:lstStyle/>
                    <a:p>
                      <a:r>
                        <a:rPr sz="1425" b="1">
                          <a:solidFill>
                            <a:srgbClr val="FFFFFF"/>
                          </a:solidFill>
                          <a:latin typeface="Arial"/>
                          <a:ea typeface="Arial"/>
                          <a:cs typeface="Arial"/>
                        </a:rPr>
                        <a:t>Test months</a:t>
                      </a:r>
                    </a:p>
                  </a:txBody>
                  <a:tcPr marL="91440" marR="91440" marT="45720" marB="45720">
                    <a:solidFill>
                      <a:srgbClr val="003262"/>
                    </a:solidFill>
                  </a:tcPr>
                </a:tc>
              </a:tr>
              <a:tr h="571500">
                <a:tc>
                  <a:txBody>
                    <a:bodyPr/>
                    <a:lstStyle/>
                    <a:p>
                      <a:r>
                        <a:rPr sz="1500" b="0">
                          <a:solidFill>
                            <a:srgbClr val="1F2A37"/>
                          </a:solidFill>
                          <a:latin typeface="Arial"/>
                          <a:ea typeface="Arial"/>
                          <a:cs typeface="Arial"/>
                        </a:rPr>
                        <a:t>Business cycle</a:t>
                      </a:r>
                    </a:p>
                  </a:txBody>
                  <a:tcPr marL="91440" marR="91440" marT="45720" marB="45720">
                    <a:solidFill>
                      <a:srgbClr val="EEF3F8"/>
                    </a:solidFill>
                  </a:tcPr>
                </a:tc>
                <a:tc>
                  <a:txBody>
                    <a:bodyPr/>
                    <a:lstStyle/>
                    <a:p>
                      <a:r>
                        <a:rPr sz="1500" b="0">
                          <a:solidFill>
                            <a:srgbClr val="1F2A37"/>
                          </a:solidFill>
                          <a:latin typeface="Arial"/>
                          <a:ea typeface="Arial"/>
                          <a:cs typeface="Arial"/>
                        </a:rPr>
                        <a:t>NBER expansion / recession</a:t>
                      </a:r>
                    </a:p>
                  </a:txBody>
                  <a:tcPr marL="91440" marR="91440" marT="45720" marB="45720">
                    <a:solidFill>
                      <a:srgbClr val="EEF3F8"/>
                    </a:solidFill>
                  </a:tcPr>
                </a:tc>
                <a:tc>
                  <a:txBody>
                    <a:bodyPr/>
                    <a:lstStyle/>
                    <a:p>
                      <a:r>
                        <a:rPr sz="1500" b="0">
                          <a:solidFill>
                            <a:srgbClr val="1F2A37"/>
                          </a:solidFill>
                          <a:latin typeface="Arial"/>
                          <a:ea typeface="Arial"/>
                          <a:cs typeface="Arial"/>
                        </a:rPr>
                        <a:t>274 / 26</a:t>
                      </a:r>
                    </a:p>
                  </a:txBody>
                  <a:tcPr marL="91440" marR="91440" marT="45720" marB="45720">
                    <a:solidFill>
                      <a:srgbClr val="EEF3F8"/>
                    </a:solidFill>
                  </a:tcPr>
                </a:tc>
              </a:tr>
              <a:tr h="571500">
                <a:tc>
                  <a:txBody>
                    <a:bodyPr/>
                    <a:lstStyle/>
                    <a:p>
                      <a:r>
                        <a:rPr sz="1500" b="0">
                          <a:solidFill>
                            <a:srgbClr val="1F2A37"/>
                          </a:solidFill>
                          <a:latin typeface="Arial"/>
                          <a:ea typeface="Arial"/>
                          <a:cs typeface="Arial"/>
                        </a:rPr>
                        <a:t>Market volatility</a:t>
                      </a:r>
                    </a:p>
                  </a:txBody>
                  <a:tcPr marL="91440" marR="91440" marT="45720" marB="45720">
                    <a:solidFill>
                      <a:srgbClr val="FFFFFF"/>
                    </a:solidFill>
                  </a:tcPr>
                </a:tc>
                <a:tc>
                  <a:txBody>
                    <a:bodyPr/>
                    <a:lstStyle/>
                    <a:p>
                      <a:r>
                        <a:rPr sz="1500" b="0">
                          <a:solidFill>
                            <a:srgbClr val="1F2A37"/>
                          </a:solidFill>
                          <a:latin typeface="Arial"/>
                          <a:ea typeface="Arial"/>
                          <a:cs typeface="Arial"/>
                        </a:rPr>
                        <a:t>High / low previous-12-month volatility</a:t>
                      </a:r>
                    </a:p>
                  </a:txBody>
                  <a:tcPr marL="91440" marR="91440" marT="45720" marB="45720">
                    <a:solidFill>
                      <a:srgbClr val="FFFFFF"/>
                    </a:solidFill>
                  </a:tcPr>
                </a:tc>
                <a:tc>
                  <a:txBody>
                    <a:bodyPr/>
                    <a:lstStyle/>
                    <a:p>
                      <a:r>
                        <a:rPr sz="1500" b="0">
                          <a:solidFill>
                            <a:srgbClr val="1F2A37"/>
                          </a:solidFill>
                          <a:latin typeface="Arial"/>
                          <a:ea typeface="Arial"/>
                          <a:cs typeface="Arial"/>
                        </a:rPr>
                        <a:t>123 / 177</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9823FBEE-AE2C-408A-8D83-349B494EBBF9}"/>
              </a:ext>
            </a:extLst>
          </p:cNvPr>
          <p:cNvSpPr>
            <a:spLocks xmlns:a="http://schemas.openxmlformats.org/drawingml/2006/main" noGrp="1"/>
          </p:cNvSpPr>
          <p:nvPr/>
        </p:nvSpPr>
        <p:spPr>
          <a:xfrm xmlns:a="http://schemas.openxmlformats.org/drawingml/2006/main">
            <a:off x="419100" y="3000375"/>
            <a:ext cx="8286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F2A37"/>
                </a:solidFill>
                <a:latin typeface="Arial"/>
                <a:ea typeface="Arial"/>
                <a:cs typeface="Arial"/>
              </a:defRPr>
            </a:pPr>
            <a:r>
              <a:rPr sz="1725" b="0">
                <a:solidFill>
                  <a:srgbClr val="1F2A37"/>
                </a:solidFill>
                <a:latin typeface="Arial"/>
                <a:ea typeface="Arial"/>
                <a:cs typeface="Arial"/>
              </a:rPr>
              <a:t>The volatility cutoff comes from the training sample. Recession dates are retrospective.</a:t>
            </a:r>
          </a:p>
        </p:txBody>
      </p:sp>
      <p:sp>
        <p:nvSpPr>
          <p:cNvPr id="8" name="">
            <a:extLst xmlns:a="http://schemas.openxmlformats.org/drawingml/2006/main">
              <a:ext uri="{FF2B5EF4-FFF2-40B4-BE49-F238E27FC236}">
                <a16:creationId xmlns:a16="http://schemas.microsoft.com/office/drawing/2014/main" id="{A58F6264-EDB6-4E62-A9EC-B9D814140075}"/>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These are separate partitions. Recession estimates depend on only 26 months.</a:t>
            </a:r>
          </a:p>
        </p:txBody>
      </p:sp>
    </p:spTree>
    <p:extLst>
      <p:ext uri="{BB962C8B-B14F-4D97-AF65-F5344CB8AC3E}">
        <p14:creationId xmlns:p14="http://schemas.microsoft.com/office/powerpoint/2010/main" val="187199946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76F1F65-FFA3-4FF9-8B22-66F10268EDB6}"/>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F4CEE39-7A9A-494B-8AD8-7023A76B33E3}"/>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9B21B0A-477A-4EE8-866B-0F2DDCF04B06}"/>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Business-cycle Sharpe comparison</a:t>
            </a:r>
          </a:p>
        </p:txBody>
      </p:sp>
      <p:sp>
        <p:nvSpPr>
          <p:cNvPr id="4" name="">
            <a:extLst xmlns:a="http://schemas.openxmlformats.org/drawingml/2006/main">
              <a:ext uri="{FF2B5EF4-FFF2-40B4-BE49-F238E27FC236}">
                <a16:creationId xmlns:a16="http://schemas.microsoft.com/office/drawing/2014/main" id="{7E81D33B-CCAC-4D5D-B042-8EECF152A385}"/>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10 and Code 11</a:t>
            </a:r>
          </a:p>
        </p:txBody>
      </p:sp>
      <p:sp>
        <p:nvSpPr>
          <p:cNvPr id="5" name="">
            <a:extLst xmlns:a="http://schemas.openxmlformats.org/drawingml/2006/main">
              <a:ext uri="{FF2B5EF4-FFF2-40B4-BE49-F238E27FC236}">
                <a16:creationId xmlns:a16="http://schemas.microsoft.com/office/drawing/2014/main" id="{94A36921-934F-4BD5-AA70-00FC6EAA8FFF}"/>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23</a:t>
            </a:r>
          </a:p>
        </p:txBody>
      </p:sp>
      <p:graphicFrame>
        <p:nvGraphicFramePr>
          <p:cNvPr id="13"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9e9f33aad4234a3a"/>
          </a:graphicData>
        </a:graphic>
      </p:graphicFrame>
      <p:sp>
        <p:nvSpPr>
          <p:cNvPr id="7" name="">
            <a:extLst xmlns:a="http://schemas.openxmlformats.org/drawingml/2006/main">
              <a:ext uri="{FF2B5EF4-FFF2-40B4-BE49-F238E27FC236}">
                <a16:creationId xmlns:a16="http://schemas.microsoft.com/office/drawing/2014/main" id="{95518BB2-D6B5-4164-BE11-4F9140B4E57F}"/>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New LSTM outperforms Transformer in both groups. Code 07 exceeds authors GAN in recession.</a:t>
            </a:r>
          </a:p>
        </p:txBody>
      </p:sp>
    </p:spTree>
    <p:extLst>
      <p:ext uri="{BB962C8B-B14F-4D97-AF65-F5344CB8AC3E}">
        <p14:creationId xmlns:p14="http://schemas.microsoft.com/office/powerpoint/2010/main" val="1383810885"/>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300C3AB-F370-42D3-A628-EEB7CFE505E9}"/>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DAB85F-EE18-46C2-9114-3F10B63C6DA0}"/>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840E3CD-0F37-466E-8BEC-53B7BB9EF07E}"/>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Market-volatility Sharpe comparison</a:t>
            </a:r>
          </a:p>
        </p:txBody>
      </p:sp>
      <p:sp>
        <p:nvSpPr>
          <p:cNvPr id="4" name="">
            <a:extLst xmlns:a="http://schemas.openxmlformats.org/drawingml/2006/main">
              <a:ext uri="{FF2B5EF4-FFF2-40B4-BE49-F238E27FC236}">
                <a16:creationId xmlns:a16="http://schemas.microsoft.com/office/drawing/2014/main" id="{036AEB59-B87B-4D4C-8F23-8828045D2DB1}"/>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10 and Code 11</a:t>
            </a:r>
          </a:p>
        </p:txBody>
      </p:sp>
      <p:sp>
        <p:nvSpPr>
          <p:cNvPr id="5" name="">
            <a:extLst xmlns:a="http://schemas.openxmlformats.org/drawingml/2006/main">
              <a:ext uri="{FF2B5EF4-FFF2-40B4-BE49-F238E27FC236}">
                <a16:creationId xmlns:a16="http://schemas.microsoft.com/office/drawing/2014/main" id="{4917FF11-AE7A-4414-8883-4CD751D99DFE}"/>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24</a:t>
            </a:r>
          </a:p>
        </p:txBody>
      </p:sp>
      <p:graphicFrame>
        <p:nvGraphicFramePr>
          <p:cNvPr id="13"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ffc4f34f919a4481"/>
          </a:graphicData>
        </a:graphic>
      </p:graphicFrame>
      <p:sp>
        <p:nvSpPr>
          <p:cNvPr id="7" name="">
            <a:extLst xmlns:a="http://schemas.openxmlformats.org/drawingml/2006/main">
              <a:ext uri="{FF2B5EF4-FFF2-40B4-BE49-F238E27FC236}">
                <a16:creationId xmlns:a16="http://schemas.microsoft.com/office/drawing/2014/main" id="{B842E132-5834-4001-B33F-1F5F6D59322F}"/>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New LSTM and Transformer are closest in low-volatility months.</a:t>
            </a:r>
          </a:p>
        </p:txBody>
      </p:sp>
    </p:spTree>
    <p:extLst>
      <p:ext uri="{BB962C8B-B14F-4D97-AF65-F5344CB8AC3E}">
        <p14:creationId xmlns:p14="http://schemas.microsoft.com/office/powerpoint/2010/main" val="71729515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5C02107-1668-46D1-8A1E-99499201225B}"/>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E59DE17-8204-47EE-818B-F30E080CABF1}"/>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1FBC833-ACB8-47FE-BA9C-40DB36B18E1D}"/>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Conditional months and rolling endpoints</a:t>
            </a:r>
          </a:p>
        </p:txBody>
      </p:sp>
      <p:sp>
        <p:nvSpPr>
          <p:cNvPr id="4" name="">
            <a:extLst xmlns:a="http://schemas.openxmlformats.org/drawingml/2006/main">
              <a:ext uri="{FF2B5EF4-FFF2-40B4-BE49-F238E27FC236}">
                <a16:creationId xmlns:a16="http://schemas.microsoft.com/office/drawing/2014/main" id="{2801DAC7-DA54-48D7-B167-09ED6E7A157F}"/>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11</a:t>
            </a:r>
          </a:p>
        </p:txBody>
      </p:sp>
      <p:sp>
        <p:nvSpPr>
          <p:cNvPr id="5" name="">
            <a:extLst xmlns:a="http://schemas.openxmlformats.org/drawingml/2006/main">
              <a:ext uri="{FF2B5EF4-FFF2-40B4-BE49-F238E27FC236}">
                <a16:creationId xmlns:a16="http://schemas.microsoft.com/office/drawing/2014/main" id="{C2C87C75-4419-465F-8D40-CE5D3F9F60E0}"/>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25</a:t>
            </a:r>
          </a:p>
        </p:txBody>
      </p:sp>
      <p:graphicFrame>
        <p:nvGraphicFramePr>
          <p:cNvPr id="14" name=""/>
          <p:cNvGraphicFramePr/>
          <p:nvPr/>
        </p:nvGraphicFramePr>
        <p:xfrm>
          <a:off xmlns:a="http://schemas.openxmlformats.org/drawingml/2006/main" x="400050" y="1019175"/>
          <a:ext xmlns:a="http://schemas.openxmlformats.org/drawingml/2006/main" cx="8343900" cy="2171700"/>
        </p:xfrm>
        <a:graphic xmlns:a="http://schemas.openxmlformats.org/drawingml/2006/main">
          <a:graphicData uri="http://schemas.openxmlformats.org/drawingml/2006/table">
            <a:tbl>
              <a:tblPr/>
              <a:tblGrid>
                <a:gridCol w="2286000"/>
                <a:gridCol w="3028950"/>
                <a:gridCol w="3028950"/>
              </a:tblGrid>
              <a:tr h="723900">
                <a:tc>
                  <a:txBody>
                    <a:bodyPr/>
                    <a:lstStyle/>
                    <a:p>
                      <a:r>
                        <a:rPr sz="1350" b="1">
                          <a:solidFill>
                            <a:srgbClr val="FFFFFF"/>
                          </a:solidFill>
                          <a:latin typeface="Arial"/>
                          <a:ea typeface="Arial"/>
                          <a:cs typeface="Arial"/>
                        </a:rPr>
                        <a:t>Analysis</a:t>
                      </a:r>
                    </a:p>
                  </a:txBody>
                  <a:tcPr marL="91440" marR="91440" marT="45720" marB="45720">
                    <a:solidFill>
                      <a:srgbClr val="003262"/>
                    </a:solidFill>
                  </a:tcPr>
                </a:tc>
                <a:tc>
                  <a:txBody>
                    <a:bodyPr/>
                    <a:lstStyle/>
                    <a:p>
                      <a:r>
                        <a:rPr sz="1350" b="1">
                          <a:solidFill>
                            <a:srgbClr val="FFFFFF"/>
                          </a:solidFill>
                          <a:latin typeface="Arial"/>
                          <a:ea typeface="Arial"/>
                          <a:cs typeface="Arial"/>
                        </a:rPr>
                        <a:t>Returns used</a:t>
                      </a:r>
                    </a:p>
                  </a:txBody>
                  <a:tcPr marL="91440" marR="91440" marT="45720" marB="45720">
                    <a:solidFill>
                      <a:srgbClr val="003262"/>
                    </a:solidFill>
                  </a:tcPr>
                </a:tc>
                <a:tc>
                  <a:txBody>
                    <a:bodyPr/>
                    <a:lstStyle/>
                    <a:p>
                      <a:r>
                        <a:rPr sz="1350" b="1">
                          <a:solidFill>
                            <a:srgbClr val="FFFFFF"/>
                          </a:solidFill>
                          <a:latin typeface="Arial"/>
                          <a:ea typeface="Arial"/>
                          <a:cs typeface="Arial"/>
                        </a:rPr>
                        <a:t>Question</a:t>
                      </a:r>
                    </a:p>
                  </a:txBody>
                  <a:tcPr marL="91440" marR="91440" marT="45720" marB="45720">
                    <a:solidFill>
                      <a:srgbClr val="003262"/>
                    </a:solidFill>
                  </a:tcPr>
                </a:tc>
              </a:tr>
              <a:tr h="723900">
                <a:tc>
                  <a:txBody>
                    <a:bodyPr/>
                    <a:lstStyle/>
                    <a:p>
                      <a:r>
                        <a:rPr sz="1425" b="0">
                          <a:solidFill>
                            <a:srgbClr val="1F2A37"/>
                          </a:solidFill>
                          <a:latin typeface="Arial"/>
                          <a:ea typeface="Arial"/>
                          <a:cs typeface="Arial"/>
                        </a:rPr>
                        <a:t>Conditional regime Sharpe</a:t>
                      </a:r>
                    </a:p>
                  </a:txBody>
                  <a:tcPr marL="91440" marR="91440" marT="45720" marB="45720">
                    <a:solidFill>
                      <a:srgbClr val="EEF3F8"/>
                    </a:solidFill>
                  </a:tcPr>
                </a:tc>
                <a:tc>
                  <a:txBody>
                    <a:bodyPr/>
                    <a:lstStyle/>
                    <a:p>
                      <a:r>
                        <a:rPr sz="1425" b="0">
                          <a:solidFill>
                            <a:srgbClr val="1F2A37"/>
                          </a:solidFill>
                          <a:latin typeface="Arial"/>
                          <a:ea typeface="Arial"/>
                          <a:cs typeface="Arial"/>
                        </a:rPr>
                        <a:t>Only labeled months</a:t>
                      </a:r>
                    </a:p>
                  </a:txBody>
                  <a:tcPr marL="91440" marR="91440" marT="45720" marB="45720">
                    <a:solidFill>
                      <a:srgbClr val="EEF3F8"/>
                    </a:solidFill>
                  </a:tcPr>
                </a:tc>
                <a:tc>
                  <a:txBody>
                    <a:bodyPr/>
                    <a:lstStyle/>
                    <a:p>
                      <a:r>
                        <a:rPr sz="1425" b="0">
                          <a:solidFill>
                            <a:srgbClr val="1F2A37"/>
                          </a:solidFill>
                          <a:latin typeface="Arial"/>
                          <a:ea typeface="Arial"/>
                          <a:cs typeface="Arial"/>
                        </a:rPr>
                        <a:t>How does performance differ within the state?</a:t>
                      </a:r>
                    </a:p>
                  </a:txBody>
                  <a:tcPr marL="91440" marR="91440" marT="45720" marB="45720">
                    <a:solidFill>
                      <a:srgbClr val="EEF3F8"/>
                    </a:solidFill>
                  </a:tcPr>
                </a:tc>
              </a:tr>
              <a:tr h="723900">
                <a:tc>
                  <a:txBody>
                    <a:bodyPr/>
                    <a:lstStyle/>
                    <a:p>
                      <a:r>
                        <a:rPr sz="1425" b="0">
                          <a:solidFill>
                            <a:srgbClr val="1F2A37"/>
                          </a:solidFill>
                          <a:latin typeface="Arial"/>
                          <a:ea typeface="Arial"/>
                          <a:cs typeface="Arial"/>
                        </a:rPr>
                        <a:t>Rolling by endpoint regime</a:t>
                      </a:r>
                    </a:p>
                  </a:txBody>
                  <a:tcPr marL="91440" marR="91440" marT="45720" marB="45720">
                    <a:solidFill>
                      <a:srgbClr val="FFFFFF"/>
                    </a:solidFill>
                  </a:tcPr>
                </a:tc>
                <a:tc>
                  <a:txBody>
                    <a:bodyPr/>
                    <a:lstStyle/>
                    <a:p>
                      <a:r>
                        <a:rPr sz="1425" b="0">
                          <a:solidFill>
                            <a:srgbClr val="1F2A37"/>
                          </a:solidFill>
                          <a:latin typeface="Arial"/>
                          <a:ea typeface="Arial"/>
                          <a:cs typeface="Arial"/>
                        </a:rPr>
                        <a:t>All returns in each trailing window</a:t>
                      </a:r>
                    </a:p>
                  </a:txBody>
                  <a:tcPr marL="91440" marR="91440" marT="45720" marB="45720">
                    <a:solidFill>
                      <a:srgbClr val="FFFFFF"/>
                    </a:solidFill>
                  </a:tcPr>
                </a:tc>
                <a:tc>
                  <a:txBody>
                    <a:bodyPr/>
                    <a:lstStyle/>
                    <a:p>
                      <a:r>
                        <a:rPr sz="1425" b="0">
                          <a:solidFill>
                            <a:srgbClr val="1F2A37"/>
                          </a:solidFill>
                          <a:latin typeface="Arial"/>
                          <a:ea typeface="Arial"/>
                          <a:cs typeface="Arial"/>
                        </a:rPr>
                        <a:t>What trailing performance do we observe in that state?</a:t>
                      </a:r>
                    </a:p>
                  </a:txBody>
                  <a:tcPr marL="91440" marR="91440" marT="45720" marB="45720">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64EF4047-2C18-4970-856B-9B2F73C7DEBC}"/>
              </a:ext>
            </a:extLst>
          </p:cNvPr>
          <p:cNvSpPr>
            <a:spLocks xmlns:a="http://schemas.openxmlformats.org/drawingml/2006/main" noGrp="1"/>
          </p:cNvSpPr>
          <p:nvPr/>
        </p:nvSpPr>
        <p:spPr>
          <a:xfrm xmlns:a="http://schemas.openxmlformats.org/drawingml/2006/main">
            <a:off x="419100" y="3438525"/>
            <a:ext cx="8286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3262"/>
                </a:solidFill>
                <a:latin typeface="Arial"/>
                <a:ea typeface="Arial"/>
                <a:cs typeface="Arial"/>
              </a:defRPr>
            </a:pPr>
            <a:r>
              <a:rPr sz="1725" b="1">
                <a:solidFill>
                  <a:srgbClr val="003262"/>
                </a:solidFill>
                <a:latin typeface="Arial"/>
                <a:ea typeface="Arial"/>
                <a:cs typeface="Arial"/>
              </a:rPr>
              <a:t>A 36-month recession-ending window can include many expansion months.</a:t>
            </a:r>
          </a:p>
        </p:txBody>
      </p:sp>
      <p:sp>
        <p:nvSpPr>
          <p:cNvPr id="8" name="">
            <a:extLst xmlns:a="http://schemas.openxmlformats.org/drawingml/2006/main">
              <a:ext uri="{FF2B5EF4-FFF2-40B4-BE49-F238E27FC236}">
                <a16:creationId xmlns:a16="http://schemas.microsoft.com/office/drawing/2014/main" id="{E127A9FF-F03E-4FB9-A174-CEF381ADB319}"/>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The two measures can rank the models differently because they use different returns.</a:t>
            </a:r>
          </a:p>
        </p:txBody>
      </p:sp>
    </p:spTree>
    <p:extLst>
      <p:ext uri="{BB962C8B-B14F-4D97-AF65-F5344CB8AC3E}">
        <p14:creationId xmlns:p14="http://schemas.microsoft.com/office/powerpoint/2010/main" val="192024987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83A7C03-7E8F-4C4E-B15B-19581F46DE07}"/>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DC17308-A921-4F54-853A-9CA1FB2A1ABF}"/>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4F84625-7522-476E-B3E0-F6950C510B05}"/>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36-month rolling performance by endpoint regime</a:t>
            </a:r>
          </a:p>
        </p:txBody>
      </p:sp>
      <p:sp>
        <p:nvSpPr>
          <p:cNvPr id="4" name="">
            <a:extLst xmlns:a="http://schemas.openxmlformats.org/drawingml/2006/main">
              <a:ext uri="{FF2B5EF4-FFF2-40B4-BE49-F238E27FC236}">
                <a16:creationId xmlns:a16="http://schemas.microsoft.com/office/drawing/2014/main" id="{0BB6EE7C-0F9E-432C-8E7F-F18733196D74}"/>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11</a:t>
            </a:r>
          </a:p>
        </p:txBody>
      </p:sp>
      <p:sp>
        <p:nvSpPr>
          <p:cNvPr id="5" name="">
            <a:extLst xmlns:a="http://schemas.openxmlformats.org/drawingml/2006/main">
              <a:ext uri="{FF2B5EF4-FFF2-40B4-BE49-F238E27FC236}">
                <a16:creationId xmlns:a16="http://schemas.microsoft.com/office/drawing/2014/main" id="{4837C0B8-6B2E-4044-8109-D0493DF7D940}"/>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26</a:t>
            </a:r>
          </a:p>
        </p:txBody>
      </p:sp>
      <p:graphicFrame>
        <p:nvGraphicFramePr>
          <p:cNvPr id="13"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9cdf3b5d955f4a06"/>
          </a:graphicData>
        </a:graphic>
      </p:graphicFrame>
      <p:sp>
        <p:nvSpPr>
          <p:cNvPr id="7" name="">
            <a:extLst xmlns:a="http://schemas.openxmlformats.org/drawingml/2006/main">
              <a:ext uri="{FF2B5EF4-FFF2-40B4-BE49-F238E27FC236}">
                <a16:creationId xmlns:a16="http://schemas.microsoft.com/office/drawing/2014/main" id="{FB2B141D-41FD-4F46-AA75-80DB373244E2}"/>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In recession-ending windows, Transformer 1.409 slightly exceeds new LSTM 1.383.</a:t>
            </a:r>
          </a:p>
        </p:txBody>
      </p:sp>
    </p:spTree>
    <p:extLst>
      <p:ext uri="{BB962C8B-B14F-4D97-AF65-F5344CB8AC3E}">
        <p14:creationId xmlns:p14="http://schemas.microsoft.com/office/powerpoint/2010/main" val="1908127825"/>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D0E27F5-2118-41BC-959E-2D13BD410CA6}"/>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FCC5B00-2C4D-486D-88B8-B0FADFD658D2}"/>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681DD3A-B5CB-42EE-87EC-99B9B98E4BD6}"/>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60-month rolling performance by endpoint regime</a:t>
            </a:r>
          </a:p>
        </p:txBody>
      </p:sp>
      <p:sp>
        <p:nvSpPr>
          <p:cNvPr id="4" name="">
            <a:extLst xmlns:a="http://schemas.openxmlformats.org/drawingml/2006/main">
              <a:ext uri="{FF2B5EF4-FFF2-40B4-BE49-F238E27FC236}">
                <a16:creationId xmlns:a16="http://schemas.microsoft.com/office/drawing/2014/main" id="{2F92E7D0-5202-412A-9918-2C7F40BAC1AA}"/>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11</a:t>
            </a:r>
          </a:p>
        </p:txBody>
      </p:sp>
      <p:sp>
        <p:nvSpPr>
          <p:cNvPr id="5" name="">
            <a:extLst xmlns:a="http://schemas.openxmlformats.org/drawingml/2006/main">
              <a:ext uri="{FF2B5EF4-FFF2-40B4-BE49-F238E27FC236}">
                <a16:creationId xmlns:a16="http://schemas.microsoft.com/office/drawing/2014/main" id="{F43FD554-E921-42B5-93AD-C6275F77FE22}"/>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27</a:t>
            </a:r>
          </a:p>
        </p:txBody>
      </p:sp>
      <p:graphicFrame>
        <p:nvGraphicFramePr>
          <p:cNvPr id="13" name="Chart"/>
          <p:cNvGraphicFramePr/>
          <p:nvPr/>
        </p:nvGraphicFramePr>
        <p:xfrm>
          <a:off xmlns:a="http://schemas.openxmlformats.org/drawingml/2006/main" x="419100" y="933450"/>
          <a:ext xmlns:a="http://schemas.openxmlformats.org/drawingml/2006/main" cx="8305800" cy="3095625"/>
        </p:xfrm>
        <a:graphic xmlns:a="http://schemas.openxmlformats.org/drawingml/2006/main">
          <a:graphicData uri="http://schemas.openxmlformats.org/drawingml/2006/chart">
            <c:chart xmlns:r="http://schemas.openxmlformats.org/officeDocument/2006/relationships" xmlns:c="http://schemas.openxmlformats.org/drawingml/2006/chart" r:id="Ra427c601c4cb4a63"/>
          </a:graphicData>
        </a:graphic>
      </p:graphicFrame>
      <p:sp>
        <p:nvSpPr>
          <p:cNvPr id="7" name="">
            <a:extLst xmlns:a="http://schemas.openxmlformats.org/drawingml/2006/main">
              <a:ext uri="{FF2B5EF4-FFF2-40B4-BE49-F238E27FC236}">
                <a16:creationId xmlns:a16="http://schemas.microsoft.com/office/drawing/2014/main" id="{F9AF5449-0A37-43C3-A6C8-CC99E8F8F5DB}"/>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In recession-ending windows, new LSTM 1.893 exceeds Transformer 1.775.</a:t>
            </a:r>
          </a:p>
        </p:txBody>
      </p:sp>
    </p:spTree>
    <p:extLst>
      <p:ext uri="{BB962C8B-B14F-4D97-AF65-F5344CB8AC3E}">
        <p14:creationId xmlns:p14="http://schemas.microsoft.com/office/powerpoint/2010/main" val="146386090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6F6882-2238-4450-A291-F284791444FD}"/>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6F27D59-19C3-419B-8BBB-DBB9A6CCB2B3}"/>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56510AD8-3B85-42FF-9AFA-D1E00552391A}"/>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The fixed 50/50 architecture blend</a:t>
            </a:r>
          </a:p>
        </p:txBody>
      </p:sp>
      <p:sp>
        <p:nvSpPr>
          <p:cNvPr id="4" name="">
            <a:extLst xmlns:a="http://schemas.openxmlformats.org/drawingml/2006/main">
              <a:ext uri="{FF2B5EF4-FFF2-40B4-BE49-F238E27FC236}">
                <a16:creationId xmlns:a16="http://schemas.microsoft.com/office/drawing/2014/main" id="{CBC3234A-4516-427F-9A3C-614515B90F7D}"/>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 11</a:t>
            </a:r>
          </a:p>
        </p:txBody>
      </p:sp>
      <p:sp>
        <p:nvSpPr>
          <p:cNvPr id="5" name="">
            <a:extLst xmlns:a="http://schemas.openxmlformats.org/drawingml/2006/main">
              <a:ext uri="{FF2B5EF4-FFF2-40B4-BE49-F238E27FC236}">
                <a16:creationId xmlns:a16="http://schemas.microsoft.com/office/drawing/2014/main" id="{37255363-3C76-4BD0-A443-9DB0C00846FF}"/>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28</a:t>
            </a:r>
          </a:p>
        </p:txBody>
      </p:sp>
      <p:graphicFrame>
        <p:nvGraphicFramePr>
          <p:cNvPr id="14" name=""/>
          <p:cNvGraphicFramePr/>
          <p:nvPr/>
        </p:nvGraphicFramePr>
        <p:xfrm>
          <a:off xmlns:a="http://schemas.openxmlformats.org/drawingml/2006/main" x="400050" y="1019175"/>
          <a:ext xmlns:a="http://schemas.openxmlformats.org/drawingml/2006/main" cx="8343900" cy="2286000"/>
        </p:xfrm>
        <a:graphic xmlns:a="http://schemas.openxmlformats.org/drawingml/2006/main">
          <a:graphicData uri="http://schemas.openxmlformats.org/drawingml/2006/table">
            <a:tbl>
              <a:tblPr/>
              <a:tblGrid>
                <a:gridCol w="2857500"/>
                <a:gridCol w="1828800"/>
                <a:gridCol w="1828800"/>
                <a:gridCol w="1828800"/>
              </a:tblGrid>
              <a:tr h="571500">
                <a:tc>
                  <a:txBody>
                    <a:bodyPr/>
                    <a:lstStyle/>
                    <a:p>
                      <a:r>
                        <a:rPr sz="1650" b="1">
                          <a:solidFill>
                            <a:srgbClr val="FFFFFF"/>
                          </a:solidFill>
                          <a:latin typeface="Arial"/>
                          <a:ea typeface="Arial"/>
                          <a:cs typeface="Arial"/>
                        </a:rPr>
                        <a:t>Portfolio</a:t>
                      </a:r>
                    </a:p>
                  </a:txBody>
                  <a:tcPr marL="91440" marR="91440" marT="45720" marB="45720">
                    <a:solidFill>
                      <a:srgbClr val="003262"/>
                    </a:solidFill>
                  </a:tcPr>
                </a:tc>
                <a:tc>
                  <a:txBody>
                    <a:bodyPr/>
                    <a:lstStyle/>
                    <a:p>
                      <a:r>
                        <a:rPr sz="1650" b="1">
                          <a:solidFill>
                            <a:srgbClr val="FFFFFF"/>
                          </a:solidFill>
                          <a:latin typeface="Arial"/>
                          <a:ea typeface="Arial"/>
                          <a:cs typeface="Arial"/>
                        </a:rPr>
                        <a:t>Train</a:t>
                      </a:r>
                    </a:p>
                  </a:txBody>
                  <a:tcPr marL="91440" marR="91440" marT="45720" marB="45720">
                    <a:solidFill>
                      <a:srgbClr val="003262"/>
                    </a:solidFill>
                  </a:tcPr>
                </a:tc>
                <a:tc>
                  <a:txBody>
                    <a:bodyPr/>
                    <a:lstStyle/>
                    <a:p>
                      <a:r>
                        <a:rPr sz="1650" b="1">
                          <a:solidFill>
                            <a:srgbClr val="FFFFFF"/>
                          </a:solidFill>
                          <a:latin typeface="Arial"/>
                          <a:ea typeface="Arial"/>
                          <a:cs typeface="Arial"/>
                        </a:rPr>
                        <a:t>Validation</a:t>
                      </a:r>
                    </a:p>
                  </a:txBody>
                  <a:tcPr marL="91440" marR="91440" marT="45720" marB="45720">
                    <a:solidFill>
                      <a:srgbClr val="003262"/>
                    </a:solidFill>
                  </a:tcPr>
                </a:tc>
                <a:tc>
                  <a:txBody>
                    <a:bodyPr/>
                    <a:lstStyle/>
                    <a:p>
                      <a:r>
                        <a:rPr sz="1650" b="1">
                          <a:solidFill>
                            <a:srgbClr val="FFFFFF"/>
                          </a:solidFill>
                          <a:latin typeface="Arial"/>
                          <a:ea typeface="Arial"/>
                          <a:cs typeface="Arial"/>
                        </a:rPr>
                        <a:t>Test</a:t>
                      </a:r>
                    </a:p>
                  </a:txBody>
                  <a:tcPr marL="91440" marR="91440" marT="45720" marB="45720">
                    <a:solidFill>
                      <a:srgbClr val="003262"/>
                    </a:solidFill>
                  </a:tcPr>
                </a:tc>
              </a:tr>
              <a:tr h="571500">
                <a:tc>
                  <a:txBody>
                    <a:bodyPr/>
                    <a:lstStyle/>
                    <a:p>
                      <a:r>
                        <a:rPr sz="1725" b="0">
                          <a:solidFill>
                            <a:srgbClr val="1F2A37"/>
                          </a:solidFill>
                          <a:latin typeface="Arial"/>
                          <a:ea typeface="Arial"/>
                          <a:cs typeface="Arial"/>
                        </a:rPr>
                        <a:t>LSTM</a:t>
                      </a:r>
                    </a:p>
                  </a:txBody>
                  <a:tcPr marL="91440" marR="91440" marT="45720" marB="45720">
                    <a:solidFill>
                      <a:srgbClr val="EEF3F8"/>
                    </a:solidFill>
                  </a:tcPr>
                </a:tc>
                <a:tc>
                  <a:txBody>
                    <a:bodyPr/>
                    <a:lstStyle/>
                    <a:p>
                      <a:r>
                        <a:rPr sz="1725" b="0">
                          <a:solidFill>
                            <a:srgbClr val="1F2A37"/>
                          </a:solidFill>
                          <a:latin typeface="Arial"/>
                          <a:ea typeface="Arial"/>
                          <a:cs typeface="Arial"/>
                        </a:rPr>
                        <a:t>1.308</a:t>
                      </a:r>
                    </a:p>
                  </a:txBody>
                  <a:tcPr marL="91440" marR="91440" marT="45720" marB="45720">
                    <a:solidFill>
                      <a:srgbClr val="EEF3F8"/>
                    </a:solidFill>
                  </a:tcPr>
                </a:tc>
                <a:tc>
                  <a:txBody>
                    <a:bodyPr/>
                    <a:lstStyle/>
                    <a:p>
                      <a:r>
                        <a:rPr sz="1725" b="0">
                          <a:solidFill>
                            <a:srgbClr val="1F2A37"/>
                          </a:solidFill>
                          <a:latin typeface="Arial"/>
                          <a:ea typeface="Arial"/>
                          <a:cs typeface="Arial"/>
                        </a:rPr>
                        <a:t>0.750</a:t>
                      </a:r>
                    </a:p>
                  </a:txBody>
                  <a:tcPr marL="91440" marR="91440" marT="45720" marB="45720">
                    <a:solidFill>
                      <a:srgbClr val="EEF3F8"/>
                    </a:solidFill>
                  </a:tcPr>
                </a:tc>
                <a:tc>
                  <a:txBody>
                    <a:bodyPr/>
                    <a:lstStyle/>
                    <a:p>
                      <a:r>
                        <a:rPr sz="1725" b="0">
                          <a:solidFill>
                            <a:srgbClr val="1F2A37"/>
                          </a:solidFill>
                          <a:latin typeface="Arial"/>
                          <a:ea typeface="Arial"/>
                          <a:cs typeface="Arial"/>
                        </a:rPr>
                        <a:t>0.459</a:t>
                      </a:r>
                    </a:p>
                  </a:txBody>
                  <a:tcPr marL="91440" marR="91440" marT="45720" marB="45720">
                    <a:solidFill>
                      <a:srgbClr val="EEF3F8"/>
                    </a:solidFill>
                  </a:tcPr>
                </a:tc>
              </a:tr>
              <a:tr h="571500">
                <a:tc>
                  <a:txBody>
                    <a:bodyPr/>
                    <a:lstStyle/>
                    <a:p>
                      <a:r>
                        <a:rPr sz="1725" b="0">
                          <a:solidFill>
                            <a:srgbClr val="1F2A37"/>
                          </a:solidFill>
                          <a:latin typeface="Arial"/>
                          <a:ea typeface="Arial"/>
                          <a:cs typeface="Arial"/>
                        </a:rPr>
                        <a:t>Transformer</a:t>
                      </a:r>
                    </a:p>
                  </a:txBody>
                  <a:tcPr marL="91440" marR="91440" marT="45720" marB="45720">
                    <a:solidFill>
                      <a:srgbClr val="FFFFFF"/>
                    </a:solidFill>
                  </a:tcPr>
                </a:tc>
                <a:tc>
                  <a:txBody>
                    <a:bodyPr/>
                    <a:lstStyle/>
                    <a:p>
                      <a:r>
                        <a:rPr sz="1725" b="0">
                          <a:solidFill>
                            <a:srgbClr val="1F2A37"/>
                          </a:solidFill>
                          <a:latin typeface="Arial"/>
                          <a:ea typeface="Arial"/>
                          <a:cs typeface="Arial"/>
                        </a:rPr>
                        <a:t>1.049</a:t>
                      </a:r>
                    </a:p>
                  </a:txBody>
                  <a:tcPr marL="91440" marR="91440" marT="45720" marB="45720">
                    <a:solidFill>
                      <a:srgbClr val="FFFFFF"/>
                    </a:solidFill>
                  </a:tcPr>
                </a:tc>
                <a:tc>
                  <a:txBody>
                    <a:bodyPr/>
                    <a:lstStyle/>
                    <a:p>
                      <a:r>
                        <a:rPr sz="1725" b="0">
                          <a:solidFill>
                            <a:srgbClr val="1F2A37"/>
                          </a:solidFill>
                          <a:latin typeface="Arial"/>
                          <a:ea typeface="Arial"/>
                          <a:cs typeface="Arial"/>
                        </a:rPr>
                        <a:t>0.589</a:t>
                      </a:r>
                    </a:p>
                  </a:txBody>
                  <a:tcPr marL="91440" marR="91440" marT="45720" marB="45720">
                    <a:solidFill>
                      <a:srgbClr val="FFFFFF"/>
                    </a:solidFill>
                  </a:tcPr>
                </a:tc>
                <a:tc>
                  <a:txBody>
                    <a:bodyPr/>
                    <a:lstStyle/>
                    <a:p>
                      <a:r>
                        <a:rPr sz="1725" b="0">
                          <a:solidFill>
                            <a:srgbClr val="1F2A37"/>
                          </a:solidFill>
                          <a:latin typeface="Arial"/>
                          <a:ea typeface="Arial"/>
                          <a:cs typeface="Arial"/>
                        </a:rPr>
                        <a:t>0.304</a:t>
                      </a:r>
                    </a:p>
                  </a:txBody>
                  <a:tcPr marL="91440" marR="91440" marT="45720" marB="45720">
                    <a:solidFill>
                      <a:srgbClr val="FFFFFF"/>
                    </a:solidFill>
                  </a:tcPr>
                </a:tc>
              </a:tr>
              <a:tr h="571500">
                <a:tc>
                  <a:txBody>
                    <a:bodyPr/>
                    <a:lstStyle/>
                    <a:p>
                      <a:r>
                        <a:rPr sz="1725" b="0">
                          <a:solidFill>
                            <a:srgbClr val="1F2A37"/>
                          </a:solidFill>
                          <a:latin typeface="Arial"/>
                          <a:ea typeface="Arial"/>
                          <a:cs typeface="Arial"/>
                        </a:rPr>
                        <a:t>50/50 blend</a:t>
                      </a:r>
                    </a:p>
                  </a:txBody>
                  <a:tcPr marL="91440" marR="91440" marT="45720" marB="45720">
                    <a:solidFill>
                      <a:srgbClr val="EEF3F8"/>
                    </a:solidFill>
                  </a:tcPr>
                </a:tc>
                <a:tc>
                  <a:txBody>
                    <a:bodyPr/>
                    <a:lstStyle/>
                    <a:p>
                      <a:r>
                        <a:rPr sz="1725" b="0">
                          <a:solidFill>
                            <a:srgbClr val="1F2A37"/>
                          </a:solidFill>
                          <a:latin typeface="Arial"/>
                          <a:ea typeface="Arial"/>
                          <a:cs typeface="Arial"/>
                        </a:rPr>
                        <a:t>1.414</a:t>
                      </a:r>
                    </a:p>
                  </a:txBody>
                  <a:tcPr marL="91440" marR="91440" marT="45720" marB="45720">
                    <a:solidFill>
                      <a:srgbClr val="EEF3F8"/>
                    </a:solidFill>
                  </a:tcPr>
                </a:tc>
                <a:tc>
                  <a:txBody>
                    <a:bodyPr/>
                    <a:lstStyle/>
                    <a:p>
                      <a:r>
                        <a:rPr sz="1725" b="0">
                          <a:solidFill>
                            <a:srgbClr val="1F2A37"/>
                          </a:solidFill>
                          <a:latin typeface="Arial"/>
                          <a:ea typeface="Arial"/>
                          <a:cs typeface="Arial"/>
                        </a:rPr>
                        <a:t>0.915</a:t>
                      </a:r>
                    </a:p>
                  </a:txBody>
                  <a:tcPr marL="91440" marR="91440" marT="45720" marB="45720">
                    <a:solidFill>
                      <a:srgbClr val="EEF3F8"/>
                    </a:solidFill>
                  </a:tcPr>
                </a:tc>
                <a:tc>
                  <a:txBody>
                    <a:bodyPr/>
                    <a:lstStyle/>
                    <a:p>
                      <a:r>
                        <a:rPr sz="1725" b="0">
                          <a:solidFill>
                            <a:srgbClr val="1F2A37"/>
                          </a:solidFill>
                          <a:latin typeface="Arial"/>
                          <a:ea typeface="Arial"/>
                          <a:cs typeface="Arial"/>
                        </a:rPr>
                        <a:t>0.463</a:t>
                      </a:r>
                    </a:p>
                  </a:txBody>
                  <a:tcPr marL="91440" marR="91440" marT="45720" marB="45720">
                    <a:solidFill>
                      <a:srgbClr val="EEF3F8"/>
                    </a:solidFill>
                  </a:tcPr>
                </a:tc>
              </a:tr>
            </a:tbl>
          </a:graphicData>
        </a:graphic>
      </p:graphicFrame>
      <p:sp>
        <p:nvSpPr>
          <p:cNvPr id="7" name="">
            <a:extLst xmlns:a="http://schemas.openxmlformats.org/drawingml/2006/main">
              <a:ext uri="{FF2B5EF4-FFF2-40B4-BE49-F238E27FC236}">
                <a16:creationId xmlns:a16="http://schemas.microsoft.com/office/drawing/2014/main" id="{B3BBBBBB-BFA0-4215-96CC-0470DDDCF945}"/>
              </a:ext>
            </a:extLst>
          </p:cNvPr>
          <p:cNvSpPr>
            <a:spLocks xmlns:a="http://schemas.openxmlformats.org/drawingml/2006/main" noGrp="1"/>
          </p:cNvSpPr>
          <p:nvPr/>
        </p:nvSpPr>
        <p:spPr>
          <a:xfrm xmlns:a="http://schemas.openxmlformats.org/drawingml/2006/main">
            <a:off x="419100" y="3533775"/>
            <a:ext cx="828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Test correlation between architectures is 0.292. Averaging lowers volatility.</a:t>
            </a:r>
          </a:p>
        </p:txBody>
      </p:sp>
      <p:sp>
        <p:nvSpPr>
          <p:cNvPr id="8" name="">
            <a:extLst xmlns:a="http://schemas.openxmlformats.org/drawingml/2006/main">
              <a:ext uri="{FF2B5EF4-FFF2-40B4-BE49-F238E27FC236}">
                <a16:creationId xmlns:a16="http://schemas.microsoft.com/office/drawing/2014/main" id="{1B45C4DD-12D8-4437-9EE5-0122D881B830}"/>
              </a:ext>
            </a:extLst>
          </p:cNvPr>
          <p:cNvSpPr>
            <a:spLocks xmlns:a="http://schemas.openxmlformats.org/drawingml/2006/main" noGrp="1"/>
          </p:cNvSpPr>
          <p:nvPr/>
        </p:nvSpPr>
        <p:spPr>
          <a:xfrm xmlns:a="http://schemas.openxmlformats.org/drawingml/2006/main">
            <a:off x="381000" y="4200525"/>
            <a:ext cx="83439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003262"/>
                </a:solidFill>
                <a:latin typeface="Arial"/>
                <a:ea typeface="Arial"/>
                <a:cs typeface="Arial"/>
              </a:defRPr>
            </a:pPr>
            <a:r>
              <a:rPr sz="1425" b="1">
                <a:solidFill>
                  <a:srgbClr val="003262"/>
                </a:solidFill>
                <a:latin typeface="Arial"/>
                <a:ea typeface="Arial"/>
                <a:cs typeface="Arial"/>
              </a:rPr>
              <a:t>Blend test Sharpe improves only slightly: 0.463 versus LSTM 0.459.</a:t>
            </a:r>
          </a:p>
        </p:txBody>
      </p:sp>
    </p:spTree>
    <p:extLst>
      <p:ext uri="{BB962C8B-B14F-4D97-AF65-F5344CB8AC3E}">
        <p14:creationId xmlns:p14="http://schemas.microsoft.com/office/powerpoint/2010/main" val="193797213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6B88040-9155-4F72-B7E9-7EDFAD5D4587}"/>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423B79-F5C1-48F6-9170-47CAB3BF3D55}"/>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FF9E9C7-362F-4DCE-94FD-45D813885CCF}"/>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What the new comparisons show</a:t>
            </a:r>
          </a:p>
        </p:txBody>
      </p:sp>
      <p:sp>
        <p:nvSpPr>
          <p:cNvPr id="4" name="">
            <a:extLst xmlns:a="http://schemas.openxmlformats.org/drawingml/2006/main">
              <a:ext uri="{FF2B5EF4-FFF2-40B4-BE49-F238E27FC236}">
                <a16:creationId xmlns:a16="http://schemas.microsoft.com/office/drawing/2014/main" id="{F81CD32A-7249-4CBA-8902-1C142871E3AC}"/>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Codes 08–11</a:t>
            </a:r>
          </a:p>
        </p:txBody>
      </p:sp>
      <p:sp>
        <p:nvSpPr>
          <p:cNvPr id="5" name="">
            <a:extLst xmlns:a="http://schemas.openxmlformats.org/drawingml/2006/main">
              <a:ext uri="{FF2B5EF4-FFF2-40B4-BE49-F238E27FC236}">
                <a16:creationId xmlns:a16="http://schemas.microsoft.com/office/drawing/2014/main" id="{FE63CE1E-97DA-453E-8458-E10287685FD6}"/>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29</a:t>
            </a:r>
          </a:p>
        </p:txBody>
      </p:sp>
      <p:sp>
        <p:nvSpPr>
          <p:cNvPr id="6" name="">
            <a:extLst xmlns:a="http://schemas.openxmlformats.org/drawingml/2006/main">
              <a:ext uri="{FF2B5EF4-FFF2-40B4-BE49-F238E27FC236}">
                <a16:creationId xmlns:a16="http://schemas.microsoft.com/office/drawing/2014/main" id="{4E0AC3CA-1570-4743-BF0C-38676FA2ED38}"/>
              </a:ext>
            </a:extLst>
          </p:cNvPr>
          <p:cNvSpPr>
            <a:spLocks xmlns:a="http://schemas.openxmlformats.org/drawingml/2006/main" noGrp="1"/>
          </p:cNvSpPr>
          <p:nvPr/>
        </p:nvSpPr>
        <p:spPr>
          <a:xfrm xmlns:a="http://schemas.openxmlformats.org/drawingml/2006/main">
            <a:off x="400050" y="10001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Overall architecture result</a:t>
            </a:r>
          </a:p>
        </p:txBody>
      </p:sp>
      <p:sp>
        <p:nvSpPr>
          <p:cNvPr id="7" name="">
            <a:extLst xmlns:a="http://schemas.openxmlformats.org/drawingml/2006/main">
              <a:ext uri="{FF2B5EF4-FFF2-40B4-BE49-F238E27FC236}">
                <a16:creationId xmlns:a16="http://schemas.microsoft.com/office/drawing/2014/main" id="{FC336824-195C-4173-8DF2-4E50B926B236}"/>
              </a:ext>
            </a:extLst>
          </p:cNvPr>
          <p:cNvSpPr>
            <a:spLocks xmlns:a="http://schemas.openxmlformats.org/drawingml/2006/main" noGrp="1"/>
          </p:cNvSpPr>
          <p:nvPr/>
        </p:nvSpPr>
        <p:spPr>
          <a:xfrm xmlns:a="http://schemas.openxmlformats.org/drawingml/2006/main">
            <a:off x="400050" y="13525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New LSTM has higher full-test Sharpe and lower risk at the shared reduced budget.</a:t>
            </a:r>
          </a:p>
        </p:txBody>
      </p:sp>
      <p:sp>
        <p:nvSpPr>
          <p:cNvPr id="8" name="">
            <a:extLst xmlns:a="http://schemas.openxmlformats.org/drawingml/2006/main">
              <a:ext uri="{FF2B5EF4-FFF2-40B4-BE49-F238E27FC236}">
                <a16:creationId xmlns:a16="http://schemas.microsoft.com/office/drawing/2014/main" id="{4BB9854A-8270-41DA-91CC-C75FCE3F8AB7}"/>
              </a:ext>
            </a:extLst>
          </p:cNvPr>
          <p:cNvSpPr>
            <a:spLocks xmlns:a="http://schemas.openxmlformats.org/drawingml/2006/main" noGrp="1"/>
          </p:cNvSpPr>
          <p:nvPr/>
        </p:nvSpPr>
        <p:spPr>
          <a:xfrm xmlns:a="http://schemas.openxmlformats.org/drawingml/2006/main">
            <a:off x="400050" y="20669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Time and regime variation</a:t>
            </a:r>
          </a:p>
        </p:txBody>
      </p:sp>
      <p:sp>
        <p:nvSpPr>
          <p:cNvPr id="9" name="">
            <a:extLst xmlns:a="http://schemas.openxmlformats.org/drawingml/2006/main">
              <a:ext uri="{FF2B5EF4-FFF2-40B4-BE49-F238E27FC236}">
                <a16:creationId xmlns:a16="http://schemas.microsoft.com/office/drawing/2014/main" id="{F4FD92C9-74A4-4593-A50C-FC55550CC5B7}"/>
              </a:ext>
            </a:extLst>
          </p:cNvPr>
          <p:cNvSpPr>
            <a:spLocks xmlns:a="http://schemas.openxmlformats.org/drawingml/2006/main" noGrp="1"/>
          </p:cNvSpPr>
          <p:nvPr/>
        </p:nvSpPr>
        <p:spPr>
          <a:xfrm xmlns:a="http://schemas.openxmlformats.org/drawingml/2006/main">
            <a:off x="400050" y="24193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Relative performance changes. Recession-ending windows differ from recession-only returns.</a:t>
            </a:r>
          </a:p>
        </p:txBody>
      </p:sp>
      <p:sp>
        <p:nvSpPr>
          <p:cNvPr id="10" name="">
            <a:extLst xmlns:a="http://schemas.openxmlformats.org/drawingml/2006/main">
              <a:ext uri="{FF2B5EF4-FFF2-40B4-BE49-F238E27FC236}">
                <a16:creationId xmlns:a16="http://schemas.microsoft.com/office/drawing/2014/main" id="{BDCAC7D8-FE17-4DE3-8AD4-C377F9F2131A}"/>
              </a:ext>
            </a:extLst>
          </p:cNvPr>
          <p:cNvSpPr>
            <a:spLocks xmlns:a="http://schemas.openxmlformats.org/drawingml/2006/main" noGrp="1"/>
          </p:cNvSpPr>
          <p:nvPr/>
        </p:nvSpPr>
        <p:spPr>
          <a:xfrm xmlns:a="http://schemas.openxmlformats.org/drawingml/2006/main">
            <a:off x="400050" y="31337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Combination result</a:t>
            </a:r>
          </a:p>
        </p:txBody>
      </p:sp>
      <p:sp>
        <p:nvSpPr>
          <p:cNvPr id="11" name="">
            <a:extLst xmlns:a="http://schemas.openxmlformats.org/drawingml/2006/main">
              <a:ext uri="{FF2B5EF4-FFF2-40B4-BE49-F238E27FC236}">
                <a16:creationId xmlns:a16="http://schemas.microsoft.com/office/drawing/2014/main" id="{4AA9A59B-7D09-46C2-8CFD-D8342EE88976}"/>
              </a:ext>
            </a:extLst>
          </p:cNvPr>
          <p:cNvSpPr>
            <a:spLocks xmlns:a="http://schemas.openxmlformats.org/drawingml/2006/main" noGrp="1"/>
          </p:cNvSpPr>
          <p:nvPr/>
        </p:nvSpPr>
        <p:spPr>
          <a:xfrm xmlns:a="http://schemas.openxmlformats.org/drawingml/2006/main">
            <a:off x="400050" y="34861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A fixed blend helps in some groups, with only a small full-test Sharpe gain.</a:t>
            </a:r>
          </a:p>
        </p:txBody>
      </p:sp>
    </p:spTree>
    <p:extLst>
      <p:ext uri="{BB962C8B-B14F-4D97-AF65-F5344CB8AC3E}">
        <p14:creationId xmlns:p14="http://schemas.microsoft.com/office/powerpoint/2010/main" val="184401576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69F3202-CDF1-4BDD-AA3A-95B58AE9825C}"/>
              </a:ext>
            </a:extLst>
          </p:cNvPr>
          <p:cNvSpPr>
            <a:spLocks xmlns:a="http://schemas.openxmlformats.org/drawingml/2006/main" noGrp="1"/>
          </p:cNvSpPr>
          <p:nvPr/>
        </p:nvSpPr>
        <p:spPr>
          <a:xfrm xmlns:a="http://schemas.openxmlformats.org/drawingml/2006/main">
            <a:off x="0" y="0"/>
            <a:ext cx="66675" cy="2381250"/>
          </a:xfrm>
          <a:prstGeom xmlns:a="http://schemas.openxmlformats.org/drawingml/2006/main" prst="rect">
            <a:avLst/>
          </a:prstGeom>
          <a:solidFill xmlns:a="http://schemas.openxmlformats.org/drawingml/2006/main">
            <a:srgbClr val="FDB515"/>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059093E-5247-47D7-A8E6-C7ADFC4872BC}"/>
              </a:ext>
            </a:extLst>
          </p:cNvPr>
          <p:cNvSpPr>
            <a:spLocks xmlns:a="http://schemas.openxmlformats.org/drawingml/2006/main" noGrp="1"/>
          </p:cNvSpPr>
          <p:nvPr/>
        </p:nvSpPr>
        <p:spPr>
          <a:xfrm xmlns:a="http://schemas.openxmlformats.org/drawingml/2006/main">
            <a:off x="0" y="2381250"/>
            <a:ext cx="66675" cy="2762250"/>
          </a:xfrm>
          <a:prstGeom xmlns:a="http://schemas.openxmlformats.org/drawingml/2006/main" prst="rect">
            <a:avLst/>
          </a:prstGeom>
          <a:solidFill xmlns:a="http://schemas.openxmlformats.org/drawingml/2006/main">
            <a:srgbClr val="00326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A962E8C-763F-407A-BC87-C8882FD9E526}"/>
              </a:ext>
            </a:extLst>
          </p:cNvPr>
          <p:cNvSpPr>
            <a:spLocks xmlns:a="http://schemas.openxmlformats.org/drawingml/2006/main" noGrp="1"/>
          </p:cNvSpPr>
          <p:nvPr/>
        </p:nvSpPr>
        <p:spPr>
          <a:xfrm xmlns:a="http://schemas.openxmlformats.org/drawingml/2006/main">
            <a:off x="342900" y="238125"/>
            <a:ext cx="8458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03262"/>
                </a:solidFill>
                <a:latin typeface="Arial"/>
                <a:ea typeface="Arial"/>
                <a:cs typeface="Arial"/>
              </a:defRPr>
            </a:pPr>
            <a:r>
              <a:rPr sz="2175" b="1">
                <a:solidFill>
                  <a:srgbClr val="003262"/>
                </a:solidFill>
                <a:latin typeface="Arial"/>
                <a:ea typeface="Arial"/>
                <a:cs typeface="Arial"/>
              </a:rPr>
              <a:t>Limitations and the next experiment</a:t>
            </a:r>
          </a:p>
        </p:txBody>
      </p:sp>
      <p:sp>
        <p:nvSpPr>
          <p:cNvPr id="4" name="">
            <a:extLst xmlns:a="http://schemas.openxmlformats.org/drawingml/2006/main">
              <a:ext uri="{FF2B5EF4-FFF2-40B4-BE49-F238E27FC236}">
                <a16:creationId xmlns:a16="http://schemas.microsoft.com/office/drawing/2014/main" id="{3A751712-3250-47FE-A6F0-EEF13D6806CD}"/>
              </a:ext>
            </a:extLst>
          </p:cNvPr>
          <p:cNvSpPr>
            <a:spLocks xmlns:a="http://schemas.openxmlformats.org/drawingml/2006/main" noGrp="1"/>
          </p:cNvSpPr>
          <p:nvPr/>
        </p:nvSpPr>
        <p:spPr>
          <a:xfrm xmlns:a="http://schemas.openxmlformats.org/drawingml/2006/main">
            <a:off x="342900" y="4781550"/>
            <a:ext cx="781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Codes 08–11</a:t>
            </a:r>
          </a:p>
        </p:txBody>
      </p:sp>
      <p:sp>
        <p:nvSpPr>
          <p:cNvPr id="5" name="">
            <a:extLst xmlns:a="http://schemas.openxmlformats.org/drawingml/2006/main">
              <a:ext uri="{FF2B5EF4-FFF2-40B4-BE49-F238E27FC236}">
                <a16:creationId xmlns:a16="http://schemas.microsoft.com/office/drawing/2014/main" id="{63770AD0-B88E-41D4-AEF4-8F828D0B37F8}"/>
              </a:ext>
            </a:extLst>
          </p:cNvPr>
          <p:cNvSpPr>
            <a:spLocks xmlns:a="http://schemas.openxmlformats.org/drawingml/2006/main" noGrp="1"/>
          </p:cNvSpPr>
          <p:nvPr/>
        </p:nvSpPr>
        <p:spPr>
          <a:xfrm xmlns:a="http://schemas.openxmlformats.org/drawingml/2006/main">
            <a:off x="8458200" y="47815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5B6770"/>
                </a:solidFill>
                <a:latin typeface="Arial"/>
                <a:ea typeface="Arial"/>
                <a:cs typeface="Arial"/>
              </a:defRPr>
            </a:pPr>
            <a:r>
              <a:rPr sz="900" b="0">
                <a:solidFill>
                  <a:srgbClr val="5B6770"/>
                </a:solidFill>
                <a:latin typeface="Arial"/>
                <a:ea typeface="Arial"/>
                <a:cs typeface="Arial"/>
              </a:rPr>
              <a:t>30</a:t>
            </a:r>
          </a:p>
        </p:txBody>
      </p:sp>
      <p:sp>
        <p:nvSpPr>
          <p:cNvPr id="6" name="">
            <a:extLst xmlns:a="http://schemas.openxmlformats.org/drawingml/2006/main">
              <a:ext uri="{FF2B5EF4-FFF2-40B4-BE49-F238E27FC236}">
                <a16:creationId xmlns:a16="http://schemas.microsoft.com/office/drawing/2014/main" id="{681F869A-E11E-4DDB-A3A0-3001B6D258D4}"/>
              </a:ext>
            </a:extLst>
          </p:cNvPr>
          <p:cNvSpPr>
            <a:spLocks xmlns:a="http://schemas.openxmlformats.org/drawingml/2006/main" noGrp="1"/>
          </p:cNvSpPr>
          <p:nvPr/>
        </p:nvSpPr>
        <p:spPr>
          <a:xfrm xmlns:a="http://schemas.openxmlformats.org/drawingml/2006/main">
            <a:off x="400050" y="10001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The training budget limits the conclusion</a:t>
            </a:r>
          </a:p>
        </p:txBody>
      </p:sp>
      <p:sp>
        <p:nvSpPr>
          <p:cNvPr id="7" name="">
            <a:extLst xmlns:a="http://schemas.openxmlformats.org/drawingml/2006/main">
              <a:ext uri="{FF2B5EF4-FFF2-40B4-BE49-F238E27FC236}">
                <a16:creationId xmlns:a16="http://schemas.microsoft.com/office/drawing/2014/main" id="{7BD03C35-5C18-4A46-A2A7-6B738BC727B6}"/>
              </a:ext>
            </a:extLst>
          </p:cNvPr>
          <p:cNvSpPr>
            <a:spLocks xmlns:a="http://schemas.openxmlformats.org/drawingml/2006/main" noGrp="1"/>
          </p:cNvSpPr>
          <p:nvPr/>
        </p:nvSpPr>
        <p:spPr>
          <a:xfrm xmlns:a="http://schemas.openxmlformats.org/drawingml/2006/main">
            <a:off x="400050" y="13525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Our completed 16/4/48 run does not reproduce the authors’ full schedule or tuning search.</a:t>
            </a:r>
          </a:p>
        </p:txBody>
      </p:sp>
      <p:sp>
        <p:nvSpPr>
          <p:cNvPr id="8" name="">
            <a:extLst xmlns:a="http://schemas.openxmlformats.org/drawingml/2006/main">
              <a:ext uri="{FF2B5EF4-FFF2-40B4-BE49-F238E27FC236}">
                <a16:creationId xmlns:a16="http://schemas.microsoft.com/office/drawing/2014/main" id="{C3617CE2-0976-4B76-B9A8-4F2F4F5D57A2}"/>
              </a:ext>
            </a:extLst>
          </p:cNvPr>
          <p:cNvSpPr>
            <a:spLocks xmlns:a="http://schemas.openxmlformats.org/drawingml/2006/main" noGrp="1"/>
          </p:cNvSpPr>
          <p:nvPr/>
        </p:nvSpPr>
        <p:spPr>
          <a:xfrm xmlns:a="http://schemas.openxmlformats.org/drawingml/2006/main">
            <a:off x="400050" y="20669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The evidence is descriptive</a:t>
            </a:r>
          </a:p>
        </p:txBody>
      </p:sp>
      <p:sp>
        <p:nvSpPr>
          <p:cNvPr id="9" name="">
            <a:extLst xmlns:a="http://schemas.openxmlformats.org/drawingml/2006/main">
              <a:ext uri="{FF2B5EF4-FFF2-40B4-BE49-F238E27FC236}">
                <a16:creationId xmlns:a16="http://schemas.microsoft.com/office/drawing/2014/main" id="{42BD06F9-0C31-483E-9105-9E6C73ADAE25}"/>
              </a:ext>
            </a:extLst>
          </p:cNvPr>
          <p:cNvSpPr>
            <a:spLocks xmlns:a="http://schemas.openxmlformats.org/drawingml/2006/main" noGrp="1"/>
          </p:cNvSpPr>
          <p:nvPr/>
        </p:nvSpPr>
        <p:spPr>
          <a:xfrm xmlns:a="http://schemas.openxmlformats.org/drawingml/2006/main">
            <a:off x="400050" y="24193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Windows overlap, recession samples are small, and test results have been examined previously.</a:t>
            </a:r>
          </a:p>
        </p:txBody>
      </p:sp>
      <p:sp>
        <p:nvSpPr>
          <p:cNvPr id="10" name="">
            <a:extLst xmlns:a="http://schemas.openxmlformats.org/drawingml/2006/main">
              <a:ext uri="{FF2B5EF4-FFF2-40B4-BE49-F238E27FC236}">
                <a16:creationId xmlns:a16="http://schemas.microsoft.com/office/drawing/2014/main" id="{D5C741C5-011A-48D1-97E9-112D8BBC3A29}"/>
              </a:ext>
            </a:extLst>
          </p:cNvPr>
          <p:cNvSpPr>
            <a:spLocks xmlns:a="http://schemas.openxmlformats.org/drawingml/2006/main" noGrp="1"/>
          </p:cNvSpPr>
          <p:nvPr/>
        </p:nvSpPr>
        <p:spPr>
          <a:xfrm xmlns:a="http://schemas.openxmlformats.org/drawingml/2006/main">
            <a:off x="400050" y="3133725"/>
            <a:ext cx="809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3262"/>
                </a:solidFill>
                <a:latin typeface="Arial"/>
                <a:ea typeface="Arial"/>
                <a:cs typeface="Arial"/>
              </a:defRPr>
            </a:pPr>
            <a:r>
              <a:rPr sz="1800" b="1">
                <a:solidFill>
                  <a:srgbClr val="003262"/>
                </a:solidFill>
                <a:latin typeface="Arial"/>
                <a:ea typeface="Arial"/>
                <a:cs typeface="Arial"/>
              </a:rPr>
              <a:t>A full GPU experiment is the next test</a:t>
            </a:r>
          </a:p>
        </p:txBody>
      </p:sp>
      <p:sp>
        <p:nvSpPr>
          <p:cNvPr id="11" name="">
            <a:extLst xmlns:a="http://schemas.openxmlformats.org/drawingml/2006/main">
              <a:ext uri="{FF2B5EF4-FFF2-40B4-BE49-F238E27FC236}">
                <a16:creationId xmlns:a16="http://schemas.microsoft.com/office/drawing/2014/main" id="{6B346B0B-DDE6-4328-974E-538A2A3E0435}"/>
              </a:ext>
            </a:extLst>
          </p:cNvPr>
          <p:cNvSpPr>
            <a:spLocks xmlns:a="http://schemas.openxmlformats.org/drawingml/2006/main" noGrp="1"/>
          </p:cNvSpPr>
          <p:nvPr/>
        </p:nvSpPr>
        <p:spPr>
          <a:xfrm xmlns:a="http://schemas.openxmlformats.org/drawingml/2006/main">
            <a:off x="400050" y="3486150"/>
            <a:ext cx="8096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F2A37"/>
                </a:solidFill>
                <a:latin typeface="Arial"/>
                <a:ea typeface="Arial"/>
                <a:cs typeface="Arial"/>
              </a:defRPr>
            </a:pPr>
            <a:r>
              <a:rPr sz="1575" b="0">
                <a:solidFill>
                  <a:srgbClr val="1F2A37"/>
                </a:solidFill>
                <a:latin typeface="Arial"/>
                <a:ea typeface="Arial"/>
                <a:cs typeface="Arial"/>
              </a:rPr>
              <a:t>Benchmark one model, then train both architectures with nine seeds and refresh Codes 09–11.</a:t>
            </a:r>
          </a:p>
        </p:txBody>
      </p:sp>
    </p:spTree>
    <p:extLst>
      <p:ext uri="{BB962C8B-B14F-4D97-AF65-F5344CB8AC3E}">
        <p14:creationId xmlns:p14="http://schemas.microsoft.com/office/powerpoint/2010/main" val="1880489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2026-10-06T01:50:09.7050000Z</dcterms:created>
  <dcterms:modified xsi:type="dcterms:W3CDTF">2026-10-06T01:50:09.7050000Z</dcterms:modified>
</coreProperties>
</file>