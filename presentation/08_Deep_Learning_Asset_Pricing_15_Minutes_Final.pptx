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7a90a7a3f5648f5" /><Relationship Type="http://schemas.openxmlformats.org/officeDocument/2006/relationships/extended-properties" Target="/docProps/app.xml" Id="R8f52bda646784e2d" /><Relationship Type="http://schemas.openxmlformats.org/officeDocument/2006/relationships/officeDocument" Target="/ppt/presentation.xml" Id="R70e0c850e45b44a6" /></Relationships>
</file>

<file path=ppt/presentation.xml><?xml version="1.0" encoding="utf-8"?>
<p:presentation xmlns:p="http://schemas.openxmlformats.org/presentationml/2006/main">
  <p:sldMasterIdLst>
    <p:sldMasterId xmlns:r="http://schemas.openxmlformats.org/officeDocument/2006/relationships" id="2147483648" r:id="R1c7a81aa2806452f"/>
  </p:sldMasterIdLst>
  <p:notesMasterIdLst>
    <p:notesMasterId xmlns:r="http://schemas.openxmlformats.org/officeDocument/2006/relationships" r:id="Rbf85409527864284"/>
  </p:notesMasterIdLst>
  <p:sldIdLst>
    <p:sldId xmlns:r="http://schemas.openxmlformats.org/officeDocument/2006/relationships" id="256" r:id="R296a757887f743ed"/>
    <p:sldId xmlns:r="http://schemas.openxmlformats.org/officeDocument/2006/relationships" id="257" r:id="R8c9b1fd86ffe4f0b"/>
    <p:sldId xmlns:r="http://schemas.openxmlformats.org/officeDocument/2006/relationships" id="258" r:id="R3866e58cd0ea4095"/>
    <p:sldId xmlns:r="http://schemas.openxmlformats.org/officeDocument/2006/relationships" id="259" r:id="R08a7683d085e415d"/>
    <p:sldId xmlns:r="http://schemas.openxmlformats.org/officeDocument/2006/relationships" id="260" r:id="R70b0360aa895425b"/>
    <p:sldId xmlns:r="http://schemas.openxmlformats.org/officeDocument/2006/relationships" id="261" r:id="R3ed8441914214e39"/>
    <p:sldId xmlns:r="http://schemas.openxmlformats.org/officeDocument/2006/relationships" id="262" r:id="Rff09516052f84086"/>
    <p:sldId xmlns:r="http://schemas.openxmlformats.org/officeDocument/2006/relationships" id="263" r:id="R4b4449187ab14bad"/>
    <p:sldId xmlns:r="http://schemas.openxmlformats.org/officeDocument/2006/relationships" id="264" r:id="R990759a0fadb4ce6"/>
    <p:sldId xmlns:r="http://schemas.openxmlformats.org/officeDocument/2006/relationships" id="265" r:id="R308686e059754eda"/>
    <p:sldId xmlns:r="http://schemas.openxmlformats.org/officeDocument/2006/relationships" id="266" r:id="R65c350e0a5a141cf"/>
    <p:sldId xmlns:r="http://schemas.openxmlformats.org/officeDocument/2006/relationships" id="267" r:id="Rf5a4051f39f14906"/>
    <p:sldId xmlns:r="http://schemas.openxmlformats.org/officeDocument/2006/relationships" id="268" r:id="R665909c5342a4f19"/>
    <p:sldId xmlns:r="http://schemas.openxmlformats.org/officeDocument/2006/relationships" id="269" r:id="R9c1a72057b5b4608"/>
    <p:sldId xmlns:r="http://schemas.openxmlformats.org/officeDocument/2006/relationships" id="270" r:id="R4a460a1a30874ee4"/>
    <p:sldId xmlns:r="http://schemas.openxmlformats.org/officeDocument/2006/relationships" id="271" r:id="Rf1586c871dcd4138"/>
    <p:sldId xmlns:r="http://schemas.openxmlformats.org/officeDocument/2006/relationships" id="272" r:id="R8190da0f7f0f40f4"/>
    <p:sldId xmlns:r="http://schemas.openxmlformats.org/officeDocument/2006/relationships" id="273" r:id="Rc486b111100b41f0"/>
    <p:sldId xmlns:r="http://schemas.openxmlformats.org/officeDocument/2006/relationships" id="274" r:id="R7e1ba3d109d244f9"/>
    <p:sldId xmlns:r="http://schemas.openxmlformats.org/officeDocument/2006/relationships" id="275" r:id="Rf924941099f74985"/>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af1a7e3039464a" /><Relationship Type="http://schemas.openxmlformats.org/officeDocument/2006/relationships/slideMaster" Target="/ppt/slideMasters/slideMaster1.xml" Id="R1c7a81aa2806452f" /><Relationship Type="http://schemas.openxmlformats.org/officeDocument/2006/relationships/notesMaster" Target="/ppt/notesMasters/notesMaster1.xml" Id="Rbf85409527864284" /><Relationship Type="http://schemas.openxmlformats.org/officeDocument/2006/relationships/presProps" Target="/ppt/presProps.xml" Id="Rcb76040c5da245cd" /><Relationship Type="http://schemas.openxmlformats.org/officeDocument/2006/relationships/tableStyles" Target="/ppt/tableStyles.xml" Id="Rbfece5bc76fe4617" /><Relationship Type="http://schemas.openxmlformats.org/officeDocument/2006/relationships/slide" Target="/ppt/slides/slide1.xml" Id="R296a757887f743ed" /><Relationship Type="http://schemas.openxmlformats.org/officeDocument/2006/relationships/slide" Target="/ppt/slides/slide2.xml" Id="R8c9b1fd86ffe4f0b" /><Relationship Type="http://schemas.openxmlformats.org/officeDocument/2006/relationships/slide" Target="/ppt/slides/slide3.xml" Id="R3866e58cd0ea4095" /><Relationship Type="http://schemas.openxmlformats.org/officeDocument/2006/relationships/slide" Target="/ppt/slides/slide4.xml" Id="R08a7683d085e415d" /><Relationship Type="http://schemas.openxmlformats.org/officeDocument/2006/relationships/slide" Target="/ppt/slides/slide5.xml" Id="R70b0360aa895425b" /><Relationship Type="http://schemas.openxmlformats.org/officeDocument/2006/relationships/slide" Target="/ppt/slides/slide6.xml" Id="R3ed8441914214e39" /><Relationship Type="http://schemas.openxmlformats.org/officeDocument/2006/relationships/slide" Target="/ppt/slides/slide7.xml" Id="Rff09516052f84086" /><Relationship Type="http://schemas.openxmlformats.org/officeDocument/2006/relationships/slide" Target="/ppt/slides/slide8.xml" Id="R4b4449187ab14bad" /><Relationship Type="http://schemas.openxmlformats.org/officeDocument/2006/relationships/slide" Target="/ppt/slides/slide9.xml" Id="R990759a0fadb4ce6" /><Relationship Type="http://schemas.openxmlformats.org/officeDocument/2006/relationships/slide" Target="/ppt/slides/slide10.xml" Id="R308686e059754eda" /><Relationship Type="http://schemas.openxmlformats.org/officeDocument/2006/relationships/slide" Target="/ppt/slides/slide11.xml" Id="R65c350e0a5a141cf" /><Relationship Type="http://schemas.openxmlformats.org/officeDocument/2006/relationships/slide" Target="/ppt/slides/slide12.xml" Id="Rf5a4051f39f14906" /><Relationship Type="http://schemas.openxmlformats.org/officeDocument/2006/relationships/slide" Target="/ppt/slides/slide13.xml" Id="R665909c5342a4f19" /><Relationship Type="http://schemas.openxmlformats.org/officeDocument/2006/relationships/slide" Target="/ppt/slides/slide14.xml" Id="R9c1a72057b5b4608" /><Relationship Type="http://schemas.openxmlformats.org/officeDocument/2006/relationships/slide" Target="/ppt/slides/slide15.xml" Id="R4a460a1a30874ee4" /><Relationship Type="http://schemas.openxmlformats.org/officeDocument/2006/relationships/slide" Target="/ppt/slides/slide16.xml" Id="Rf1586c871dcd4138" /><Relationship Type="http://schemas.openxmlformats.org/officeDocument/2006/relationships/slide" Target="/ppt/slides/slide17.xml" Id="R8190da0f7f0f40f4" /><Relationship Type="http://schemas.openxmlformats.org/officeDocument/2006/relationships/slide" Target="/ppt/slides/slide18.xml" Id="Rc486b111100b41f0" /><Relationship Type="http://schemas.openxmlformats.org/officeDocument/2006/relationships/slide" Target="/ppt/slides/slide19.xml" Id="R7e1ba3d109d244f9" /><Relationship Type="http://schemas.openxmlformats.org/officeDocument/2006/relationships/slide" Target="/ppt/slides/slide20.xml" Id="Rf924941099f749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6679b3c4de4b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5b6088d0424cc8" /><Relationship Type="http://schemas.openxmlformats.org/officeDocument/2006/relationships/notesMaster" Target="/ppt/notesMasters/notesMaster1.xml" Id="R9e0a6f1c23544c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f01a1527664a7a" /><Relationship Type="http://schemas.openxmlformats.org/officeDocument/2006/relationships/notesMaster" Target="/ppt/notesMasters/notesMaster1.xml" Id="R52f7182128ca41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1389da4b4e4586" /><Relationship Type="http://schemas.openxmlformats.org/officeDocument/2006/relationships/notesMaster" Target="/ppt/notesMasters/notesMaster1.xml" Id="Rb77ef9c0fe6942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819228c81b4c13" /><Relationship Type="http://schemas.openxmlformats.org/officeDocument/2006/relationships/notesMaster" Target="/ppt/notesMasters/notesMaster1.xml" Id="R6bb9a3ba45c445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1cee80a8e94aea" /><Relationship Type="http://schemas.openxmlformats.org/officeDocument/2006/relationships/notesMaster" Target="/ppt/notesMasters/notesMaster1.xml" Id="R470ea373b93342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aefb44096a41b0" /><Relationship Type="http://schemas.openxmlformats.org/officeDocument/2006/relationships/notesMaster" Target="/ppt/notesMasters/notesMaster1.xml" Id="Raf95948e8ad841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52d8ff9b254e6a" /><Relationship Type="http://schemas.openxmlformats.org/officeDocument/2006/relationships/notesMaster" Target="/ppt/notesMasters/notesMaster1.xml" Id="R9ec18fe79b664d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7cafaf65de438a" /><Relationship Type="http://schemas.openxmlformats.org/officeDocument/2006/relationships/notesMaster" Target="/ppt/notesMasters/notesMaster1.xml" Id="Re37e7b8bc5804b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c7dcdb42114f00" /><Relationship Type="http://schemas.openxmlformats.org/officeDocument/2006/relationships/notesMaster" Target="/ppt/notesMasters/notesMaster1.xml" Id="R83b1344ded0844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fba669b84a4851" /><Relationship Type="http://schemas.openxmlformats.org/officeDocument/2006/relationships/notesMaster" Target="/ppt/notesMasters/notesMaster1.xml" Id="R3772963aa2c344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7dad882b004514" /><Relationship Type="http://schemas.openxmlformats.org/officeDocument/2006/relationships/notesMaster" Target="/ppt/notesMasters/notesMaster1.xml" Id="R01edaf5b374b46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e7e796ab5546c5" /><Relationship Type="http://schemas.openxmlformats.org/officeDocument/2006/relationships/notesMaster" Target="/ppt/notesMasters/notesMaster1.xml" Id="R64550172be3144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ccd8bcb7ee42fd" /><Relationship Type="http://schemas.openxmlformats.org/officeDocument/2006/relationships/notesMaster" Target="/ppt/notesMasters/notesMaster1.xml" Id="R42bad54ac96c40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185f0acdfe4e86" /><Relationship Type="http://schemas.openxmlformats.org/officeDocument/2006/relationships/notesMaster" Target="/ppt/notesMasters/notesMaster1.xml" Id="R6a69f135d23340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0211e082c3f4de2" /><Relationship Type="http://schemas.openxmlformats.org/officeDocument/2006/relationships/notesMaster" Target="/ppt/notesMasters/notesMaster1.xml" Id="R24ab696706734a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1506e3ee7c4e9f" /><Relationship Type="http://schemas.openxmlformats.org/officeDocument/2006/relationships/notesMaster" Target="/ppt/notesMasters/notesMaster1.xml" Id="Ree79827c30d44df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34ce0d4ed74788" /><Relationship Type="http://schemas.openxmlformats.org/officeDocument/2006/relationships/notesMaster" Target="/ppt/notesMasters/notesMaster1.xml" Id="R570f89f64d7d41f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8a7cf71fef84555" /><Relationship Type="http://schemas.openxmlformats.org/officeDocument/2006/relationships/notesMaster" Target="/ppt/notesMasters/notesMaster1.xml" Id="Re5a0f2e4f4c04f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452f078e304b58" /><Relationship Type="http://schemas.openxmlformats.org/officeDocument/2006/relationships/notesMaster" Target="/ppt/notesMasters/notesMaster1.xml" Id="R11c141f902174a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52eb5227d0c4ba1" /><Relationship Type="http://schemas.openxmlformats.org/officeDocument/2006/relationships/notesMaster" Target="/ppt/notesMasters/notesMaster1.xml" Id="R585cb343e18645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15 seconds.</a:t>
            </a:r>
          </a:p>
          <a:p xmlns:a="http://schemas.openxmlformats.org/drawingml/2006/main">
            <a:r>
              <a:t>Introduce the asset-pricing question and the team. This talk distinguishes the published paper, our historical replication and the matched extension experiment.</a:t>
            </a:r>
          </a:p>
          <a:p xmlns:a="http://schemas.openxmlformats.org/drawingml/2006/main">
            <a:r>
              <a:t/>
            </a:r>
          </a:p>
          <a:p xmlns:a="http://schemas.openxmlformats.org/drawingml/2006/main">
            <a:r>
              <a:t>Source notes preserved:</a:t>
            </a:r>
          </a:p>
          <a:p xmlns:a="http://schemas.openxmlformats.org/drawingml/2006/main">
            <a:r>
              <a:t>Asset Pricing with Deep Learning: Replication and Extensions. Eight sections: main paper, replication, Transformer, rolling windows, regime change, uncertainty, combination, summary. Source photograph and logo retained from the earlier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25 seconds.</a:t>
            </a:r>
          </a:p>
          <a:p xmlns:a="http://schemas.openxmlformats.org/drawingml/2006/main">
            <a:r>
              <a:t>Give the eight-part roadmap. Four extensions cover Transformer, rolling performance, economic regimes and uncertainty. The final comparison combines these perspectives.</a:t>
            </a:r>
          </a:p>
          <a:p xmlns:a="http://schemas.openxmlformats.org/drawingml/2006/main">
            <a:r>
              <a:t/>
            </a:r>
          </a:p>
          <a:p xmlns:a="http://schemas.openxmlformats.org/drawingml/2006/main">
            <a:r>
              <a:t>Source notes preserved:</a:t>
            </a:r>
          </a:p>
          <a:p xmlns:a="http://schemas.openxmlformats.org/drawingml/2006/main">
            <a:r>
              <a:t>Four extension sections: Transformer, rolling windows, regime change, and uncertainty. The combination section compares results jointly before the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Explain that the pricing network learns a stochastic discount factor and the adversary searches for pricing errors. LSTM summarizes macroeconomic history. State the train, validation and test dates.</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Corrected the earlier slides: 46 firm characteristics, 64 hidden units, and 0.95 dropout retention (0.05 dropout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State the published monthly test Sharpe of 0.750. Published results are the reference, with the model and data definitions shown here.</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All numbers on this slide are monthly Table I Sharpe ratios. Annualized values multiply by square root of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Our replicated GAN reaches monthly test Sharpe 0.612. Distinguish this historical replication from the later extension implementation. The gap from 0.750 does not isolate one implementation choice.</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Local values recomputed with population standard deviation for consistency. This changes the earlier presentation’s GAN test 0.611 to 0.612 after rounding. Source results/rolling_oos_reduced_schedule/tables/all_models_vs_paper_monthly_sharpe.csv.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Summarize validation and common signals. Explain why reproduction checks matter before interpreting architectural extensions.</a:t>
            </a:r>
          </a:p>
          <a:p xmlns:a="http://schemas.openxmlformats.org/drawingml/2006/main">
            <a:r>
              <a:t/>
            </a:r>
          </a:p>
          <a:p xmlns:a="http://schemas.openxmlformats.org/drawingml/2006/main">
            <a:r>
              <a:t>Source notes preserved:</a:t>
            </a:r>
          </a:p>
          <a:p xmlns:a="http://schemas.openxmlformats.org/drawingml/2006/main">
            <a:r>
              <a:t>Sources: previous replication deck slides 11, 14, 15. results/tables/gan_official_sdf_comparison.csv. Fama–French benchmark values retain the earlier deck’s displayed convention.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Extension 1: replace the macro sequence encoder with causal attention. Both new architectures use nine seeds and the same reduced training budget and checkpoint rule. This is shorter than the author schedule.</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Author training repository commit 6c26b9dad01e76b214ab8f5566c42a29e99677c9, https://github.com/LouisChen1992/Deep_Learning_Asset_Pricing. Schedule is from audited executable configuration, not a claim that every source detail matches.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60 seconds.</a:t>
            </a:r>
          </a:p>
          <a:p xmlns:a="http://schemas.openxmlformats.org/drawingml/2006/main">
            <a:r>
              <a:t>Compare train, validation and test on the same schedule. Monthly test Sharpe is 0.459 for extension LSTM and 0.304 for Transformer. A newer architecture does not guarantee improvement.</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Source results/rolling_oos_reduced_schedule/tables/all_models_vs_paper_monthly_sharpe.csv. Original paper and Code 07 use different estimation procedures from the matched new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30 seconds.</a:t>
            </a:r>
          </a:p>
          <a:p xmlns:a="http://schemas.openxmlformats.org/drawingml/2006/main">
            <a:r>
              <a:t>Extension 2: evaluate the saved portfolios using 36- and 60-month rolling Sharpe. This does not refit models. Rolling chart values are annualized.</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Complete windows: 265 for 36 months and 241 for 60 months. Annualized Sharpe equals monthly mean / monthly population std multiplied by sqrt(12).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 Source: results/readme/figures/rolling_sharpe.png from README. Both panels show annualized Sharpe for fixed saved portfolios, using complete 36- and 60-month rolling windows. Authors GAN corresponds to the original-paper portfolio, Code 07 GAN to our replicated GAN, New LSTM to extension LSTM, and 50/50 blend to the equal-weight LSTM–Transformer return combination. Explain how longer windows smooth fluctuations. These are evaluations of fixed models, with no rolling retraining. Overlapping windows do not provide independent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Compare both window lengths. A mean of rolling annualized Sharpes differs from the full-test monthly Sharpe. Keep those quantities separate.</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results/consolidated_comparison/tables/official_extended_rolling_summary.csv. Means of overlapping rolling ratios are not full-period Sharpe ratios.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Extension 3: define NBER expansion/recession and past-volatility regimes. The test includes only 26 recession months, so regime estimates have limited precision.</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results/regime_analysis/tables/monthly_regime_labels.csv. https://fred.stlouisfed.org/series/USREC. Fama–French market returns define lagged volatility with training median threshold 0.039783.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Use the Code 012 figure to compare all local portfolios by regime. Highlight the variation in rankings and treat the recession results as descriptive point estimates.</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results/bootstrap_uncertainty/local_only/figures/local_regime_comparison.png. Interpret with the preceding method and results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Source: results/bootstrap_uncertainty/figures/rolling_difference_uncertainty.png, the exact original README figure from Code 012. Paired circular block bootstrap with 10,000 draws and 12-month blocks, conditional on saved models. Top row compares extension LSTM minus Transformer, middle replicated GAN minus extension LSTM, bottom extension LSTM minus equal-weight combination. Columns show 36 and 60 months. Dashed zero means equal Sharpe. Intervals crossing zero leave that window unresolved. Intervals are pointwise, with no simultaneous adjustment across dates. Overlapping windows do not provide independent evidence. Explain the full-test paired intervals on slide 16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Use the Code 012 intervals to separate observed ranking from precision. Show the paper benchmark and replication alongside the matched architecture comparison.</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results/bootstrap_uncertainty/figures/model_sharpe_intervals.png. Interpret with the preceding method and results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The LSTM minus Transformer point gap is 0.155 monthly Sharpe. Its basic 95% interval includes zero. Simultaneous comparisons also leave that ranking unresolved. This does not prove equivalence.</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paired_sharpe_difference_intervals.csv. Difference is A minus B. Pointwise basic intervals and simultaneous intervals adjust for different families. Simultaneous family contains all ten pairs among the five portfolios.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The fixed 50/50 average combines saved LSTM and Transformer portfolio returns. Its test Sharpe is 0.463 versus LSTM 0.459. This exploratory combination was constructed after inspecting test outcomes.</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results/consolidated_comparison/tables/architecture_blend_split_comparison.csv. Blend returns equal 0.5*LSTM+0.5*Transformer, without additional gross renormalization. Added after prior test review. Weights are fixed and not optimized.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Combine rolling evaluation with regimes labeled at the endpoint. A recession-ending 36-month window includes earlier expansion months. These annualized values answer a different question from conditional monthly regime Sharpe.</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Compare all seven local portfolios across overall, rolling and recession metrics. Read the column units explicitly. Historical replication models and the matched new architecture experiment have different implementations.</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Additional sources: results/bootstrap_uncertainty/local_only/tables/overall_performance.csv, rolling_summary.csv, regime_comparison.csv, paired_intervals.csv. Monthly full-test and recession-only Sharpes differ from mean annualized rolling Sharpe. Local simultaneous intervals recalibrate all 21 local pairs. Regime entries are point estimates with no regime-specific confidence intervals. Recession contains only 26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90 seconds.</a:t>
            </a:r>
          </a:p>
          <a:p xmlns:a="http://schemas.openxmlformats.org/drawingml/2006/main">
            <a:r>
              <a:t>Close with the contribution: matched architecture comparison plus rolling, regime and bootstrap evaluation, with an illustrative portfolio combination. LSTM leads the Transformer in point estimates, but intervals leave the gap unresolved. Full author-schedule GPU runs, a new holdout and trading costs remain future work.</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Code 012 does not establish equivalence from an interval containing zero. Fixed equal-weight combination was considered after test inspection. Recession labels are retrospective. No transaction costs, genuinely unseen holdout, retraining uncertainty, or real-time vintage correction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981807abbe40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10153a2c494841" /><Relationship Type="http://schemas.openxmlformats.org/officeDocument/2006/relationships/slideLayout" Target="/ppt/slideLayouts/slideLayout1.xml" Id="R87f6ae658a424b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f6ae658a424b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6c2c98779a42ce" /><Relationship Type="http://schemas.openxmlformats.org/officeDocument/2006/relationships/image" Target="/ppt/media/image.png" Id="Rb29516a914fa43dc" /><Relationship Type="http://schemas.openxmlformats.org/officeDocument/2006/relationships/image" Target="/ppt/media/image2.png" Id="R952be61b5e034bad" /><Relationship Type="http://schemas.openxmlformats.org/officeDocument/2006/relationships/notesSlide" Target="/ppt/notesSlides/notesSlide1.xml" Id="R279989e78ca548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66ddd9d452495e" /><Relationship Type="http://schemas.openxmlformats.org/officeDocument/2006/relationships/notesSlide" Target="/ppt/notesSlides/notesSlide2.xml" Id="R71a59c8ad3b249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b1362d4fc344ba" /><Relationship Type="http://schemas.openxmlformats.org/officeDocument/2006/relationships/notesSlide" Target="/ppt/notesSlides/notesSlide3.xml" Id="R16953402d6d94a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4b927eafd74b85" /><Relationship Type="http://schemas.openxmlformats.org/officeDocument/2006/relationships/notesSlide" Target="/ppt/notesSlides/notesSlide4.xml" Id="Rae48cdb0afe945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caf1aa630b45fa" /><Relationship Type="http://schemas.openxmlformats.org/officeDocument/2006/relationships/chart" Target="/ppt/slides/charts/chart1.xml" Id="Ra4e17c457b9d40e2" /><Relationship Type="http://schemas.openxmlformats.org/officeDocument/2006/relationships/notesSlide" Target="/ppt/notesSlides/notesSlide5.xml" Id="R97868b2810a34f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0f39d6008c4bc9" /><Relationship Type="http://schemas.openxmlformats.org/officeDocument/2006/relationships/notesSlide" Target="/ppt/notesSlides/notesSlide6.xml" Id="Rbfb6e93f9f094a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9d8c895d194ab3" /><Relationship Type="http://schemas.openxmlformats.org/officeDocument/2006/relationships/notesSlide" Target="/ppt/notesSlides/notesSlide7.xml" Id="R11846a346fbc4f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8647aa050e44b7" /><Relationship Type="http://schemas.openxmlformats.org/officeDocument/2006/relationships/chart" Target="/ppt/slides/charts/chart2.xml" Id="Rd41a784ab1ca4ab7" /><Relationship Type="http://schemas.openxmlformats.org/officeDocument/2006/relationships/notesSlide" Target="/ppt/notesSlides/notesSlide8.xml" Id="Rcdc92d49003743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f200afc9104ef8" /><Relationship Type="http://schemas.openxmlformats.org/officeDocument/2006/relationships/notesSlide" Target="/ppt/notesSlides/notesSlide9.xml" Id="R8990a397240a4f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e59500e1d2e4ed7" /><Relationship Type="http://schemas.openxmlformats.org/officeDocument/2006/relationships/image" Target="/ppt/media/image3.png" Id="R20de15f4d2534da9" /><Relationship Type="http://schemas.openxmlformats.org/officeDocument/2006/relationships/notesSlide" Target="/ppt/notesSlides/notesSlide10.xml" Id="Rc4594141dda04f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81617fa48094e4d" /><Relationship Type="http://schemas.openxmlformats.org/officeDocument/2006/relationships/notesSlide" Target="/ppt/notesSlides/notesSlide11.xml" Id="R8d9f4c0d185c40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7105358233644b9" /><Relationship Type="http://schemas.openxmlformats.org/officeDocument/2006/relationships/notesSlide" Target="/ppt/notesSlides/notesSlide12.xml" Id="R682d473f8dad43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efc25a6b0074e96" /><Relationship Type="http://schemas.openxmlformats.org/officeDocument/2006/relationships/image" Target="/ppt/media/image4.png" Id="Rbe72f5afdbc94056" /><Relationship Type="http://schemas.openxmlformats.org/officeDocument/2006/relationships/notesSlide" Target="/ppt/notesSlides/notesSlide13.xml" Id="R02750aaa60bd46f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28adff716704a56" /><Relationship Type="http://schemas.openxmlformats.org/officeDocument/2006/relationships/image" Target="/ppt/media/image5.png" Id="R2ea219cd7f9248d3" /><Relationship Type="http://schemas.openxmlformats.org/officeDocument/2006/relationships/notesSlide" Target="/ppt/notesSlides/notesSlide14.xml" Id="R9f4b08679fc54c5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56d5bae9d8b4cc5" /><Relationship Type="http://schemas.openxmlformats.org/officeDocument/2006/relationships/image" Target="/ppt/media/image6.png" Id="R2226dddf76cf4311" /><Relationship Type="http://schemas.openxmlformats.org/officeDocument/2006/relationships/notesSlide" Target="/ppt/notesSlides/notesSlide15.xml" Id="Ra3bf920439a140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a8663089c684a3c" /><Relationship Type="http://schemas.openxmlformats.org/officeDocument/2006/relationships/notesSlide" Target="/ppt/notesSlides/notesSlide16.xml" Id="R5bb2c18482e2408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67c5d8a138a40dc" /><Relationship Type="http://schemas.openxmlformats.org/officeDocument/2006/relationships/notesSlide" Target="/ppt/notesSlides/notesSlide17.xml" Id="R22d9264c69d54f8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5dd0f30f12c4e49" /><Relationship Type="http://schemas.openxmlformats.org/officeDocument/2006/relationships/chart" Target="/ppt/slides/charts/chart3.xml" Id="R054bb070405c4a24" /><Relationship Type="http://schemas.openxmlformats.org/officeDocument/2006/relationships/notesSlide" Target="/ppt/notesSlides/notesSlide18.xml" Id="Rcc21ce07a0164e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f35ffcc5e8c49db" /><Relationship Type="http://schemas.openxmlformats.org/officeDocument/2006/relationships/notesSlide" Target="/ppt/notesSlides/notesSlide19.xml" Id="R2610d5773ba540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8fb49a554ed4d5b" /><Relationship Type="http://schemas.openxmlformats.org/officeDocument/2006/relationships/notesSlide" Target="/ppt/notesSlides/notesSlide20.xml" Id="R6418ec9ca79e48b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paper</c:v>
          </c:tx>
          <c:spPr>
            <a:solidFill xmlns:a="http://schemas.openxmlformats.org/drawingml/2006/main">
              <a:srgbClr val="94A3B8"/>
            </a:solidFill>
          </c:spPr>
          <c:cat>
            <c:strRef>
              <c:f>'Chart Data'!$A$2:$A$5</c:f>
              <c:strCache>
                <c:ptCount val="4"/>
                <c:pt idx="0">
                  <c:v>LS</c:v>
                </c:pt>
                <c:pt idx="1">
                  <c:v>EN</c:v>
                </c:pt>
                <c:pt idx="2">
                  <c:v>FFN</c:v>
                </c:pt>
                <c:pt idx="3">
                  <c:v>GAN</c:v>
                </c:pt>
              </c:strCache>
            </c:strRef>
          </c:cat>
          <c:val>
            <c:numRef>
              <c:f>'Chart Data'!$B$2:$B$5</c:f>
              <c:numCache>
                <c:formatCode>0.000</c:formatCode>
                <c:ptCount val="4"/>
                <c:pt idx="0">
                  <c:v>0.42</c:v>
                </c:pt>
                <c:pt idx="1">
                  <c:v>0.5</c:v>
                </c:pt>
                <c:pt idx="2">
                  <c:v>0.44</c:v>
                </c:pt>
                <c:pt idx="3">
                  <c:v>0.75</c:v>
                </c:pt>
              </c:numCache>
            </c:numRef>
          </c:val>
        </c:ser>
        <c:ser>
          <c:idx val="1"/>
          <c:order val="1"/>
          <c:tx>
            <c:v>Code 07 replication</c:v>
          </c:tx>
          <c:spPr>
            <a:solidFill xmlns:a="http://schemas.openxmlformats.org/drawingml/2006/main">
              <a:srgbClr val="003262"/>
            </a:solidFill>
          </c:spPr>
          <c:cat>
            <c:strRef>
              <c:f>'Chart Data'!$C$2:$C$5</c:f>
              <c:strCache>
                <c:ptCount val="4"/>
                <c:pt idx="0">
                  <c:v>LS</c:v>
                </c:pt>
                <c:pt idx="1">
                  <c:v>EN</c:v>
                </c:pt>
                <c:pt idx="2">
                  <c:v>FFN</c:v>
                </c:pt>
                <c:pt idx="3">
                  <c:v>GAN</c:v>
                </c:pt>
              </c:strCache>
            </c:strRef>
          </c:cat>
          <c:val>
            <c:numRef>
              <c:f>'Chart Data'!$D$2:$D$5</c:f>
              <c:numCache>
                <c:formatCode>0.000</c:formatCode>
                <c:ptCount val="4"/>
                <c:pt idx="0">
                  <c:v>0.40639203</c:v>
                </c:pt>
                <c:pt idx="1">
                  <c:v>0.41150844</c:v>
                </c:pt>
                <c:pt idx="2">
                  <c:v>0.56952059</c:v>
                </c:pt>
                <c:pt idx="3">
                  <c:v>0.61188757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Data'!$A$2:$A$4</c:f>
              <c:strCache>
                <c:ptCount val="3"/>
                <c:pt idx="0">
                  <c:v>Train</c:v>
                </c:pt>
                <c:pt idx="1">
                  <c:v>Validation</c:v>
                </c:pt>
                <c:pt idx="2">
                  <c:v>Test</c:v>
                </c:pt>
              </c:strCache>
            </c:strRef>
          </c:cat>
          <c:val>
            <c:numRef>
              <c:f>'Chart Data'!$B$2:$B$4</c:f>
              <c:numCache>
                <c:formatCode>0.000</c:formatCode>
                <c:ptCount val="3"/>
                <c:pt idx="0">
                  <c:v>2.68</c:v>
                </c:pt>
                <c:pt idx="1">
                  <c:v>1.43</c:v>
                </c:pt>
                <c:pt idx="2">
                  <c:v>0.75</c:v>
                </c:pt>
              </c:numCache>
            </c:numRef>
          </c:val>
        </c:ser>
        <c:ser>
          <c:idx val="1"/>
          <c:order val="1"/>
          <c:tx>
            <c:v>Replicated GAN</c:v>
          </c:tx>
          <c:spPr>
            <a:solidFill xmlns:a="http://schemas.openxmlformats.org/drawingml/2006/main">
              <a:srgbClr val="003262"/>
            </a:solidFill>
          </c:spPr>
          <c:cat>
            <c:strRef>
              <c:f>'Chart Data'!$C$2:$C$4</c:f>
              <c:strCache>
                <c:ptCount val="3"/>
                <c:pt idx="0">
                  <c:v>Train</c:v>
                </c:pt>
                <c:pt idx="1">
                  <c:v>Validation</c:v>
                </c:pt>
                <c:pt idx="2">
                  <c:v>Test</c:v>
                </c:pt>
              </c:strCache>
            </c:strRef>
          </c:cat>
          <c:val>
            <c:numRef>
              <c:f>'Chart Data'!$D$2:$D$4</c:f>
              <c:numCache>
                <c:formatCode>0.000</c:formatCode>
                <c:ptCount val="3"/>
                <c:pt idx="0">
                  <c:v>2.22351534</c:v>
                </c:pt>
                <c:pt idx="1">
                  <c:v>1.18540902</c:v>
                </c:pt>
                <c:pt idx="2">
                  <c:v>0.61188757</c:v>
                </c:pt>
              </c:numCache>
            </c:numRef>
          </c:val>
        </c:ser>
        <c:ser>
          <c:idx val="2"/>
          <c:order val="2"/>
          <c:tx>
            <c:v>Extension LSTM</c:v>
          </c:tx>
          <c:spPr>
            <a:solidFill xmlns:a="http://schemas.openxmlformats.org/drawingml/2006/main">
              <a:srgbClr val="2563EB"/>
            </a:solidFill>
          </c:spPr>
          <c:cat>
            <c:strRef>
              <c:f>'Chart Data'!$E$2:$E$4</c:f>
              <c:strCache>
                <c:ptCount val="3"/>
                <c:pt idx="0">
                  <c:v>Train</c:v>
                </c:pt>
                <c:pt idx="1">
                  <c:v>Validation</c:v>
                </c:pt>
                <c:pt idx="2">
                  <c:v>Test</c:v>
                </c:pt>
              </c:strCache>
            </c:strRef>
          </c:cat>
          <c:val>
            <c:numRef>
              <c:f>'Chart Data'!$F$2:$F$4</c:f>
              <c:numCache>
                <c:formatCode>0.000</c:formatCode>
                <c:ptCount val="3"/>
                <c:pt idx="0">
                  <c:v>1.30755655</c:v>
                </c:pt>
                <c:pt idx="1">
                  <c:v>0.75013562</c:v>
                </c:pt>
                <c:pt idx="2">
                  <c:v>0.45929328</c:v>
                </c:pt>
              </c:numCache>
            </c:numRef>
          </c:val>
        </c:ser>
        <c:ser>
          <c:idx val="3"/>
          <c:order val="3"/>
          <c:tx>
            <c:v>Transformer</c:v>
          </c:tx>
          <c:spPr>
            <a:solidFill xmlns:a="http://schemas.openxmlformats.org/drawingml/2006/main">
              <a:srgbClr val="B7790B"/>
            </a:solidFill>
          </c:spPr>
          <c:cat>
            <c:strRef>
              <c:f>'Chart Data'!$G$2:$G$4</c:f>
              <c:strCache>
                <c:ptCount val="3"/>
                <c:pt idx="0">
                  <c:v>Train</c:v>
                </c:pt>
                <c:pt idx="1">
                  <c:v>Validation</c:v>
                </c:pt>
                <c:pt idx="2">
                  <c:v>Test</c:v>
                </c:pt>
              </c:strCache>
            </c:strRef>
          </c:cat>
          <c:val>
            <c:numRef>
              <c:f>'Chart Data'!$H$2:$H$4</c:f>
              <c:numCache>
                <c:formatCode>0.000</c:formatCode>
                <c:ptCount val="3"/>
                <c:pt idx="0">
                  <c:v>1.04903636</c:v>
                </c:pt>
                <c:pt idx="1">
                  <c:v>0.58874548</c:v>
                </c:pt>
                <c:pt idx="2">
                  <c:v>0.3044769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3.70641062</c:v>
                </c:pt>
                <c:pt idx="1">
                  <c:v>3.00443061</c:v>
                </c:pt>
                <c:pt idx="2">
                  <c:v>3.49685192</c:v>
                </c:pt>
                <c:pt idx="3">
                  <c:v>3.74875446</c:v>
                </c:pt>
              </c:numCache>
            </c:numRef>
          </c:val>
        </c:ser>
        <c:ser>
          <c:idx val="1"/>
          <c:order val="1"/>
          <c:tx>
            <c:v>Replicated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2.94245335</c:v>
                </c:pt>
                <c:pt idx="1">
                  <c:v>2.40358567</c:v>
                </c:pt>
                <c:pt idx="2">
                  <c:v>2.6865745</c:v>
                </c:pt>
                <c:pt idx="3">
                  <c:v>3.05007001</c:v>
                </c:pt>
              </c:numCache>
            </c:numRef>
          </c:val>
        </c:ser>
        <c:ser>
          <c:idx val="2"/>
          <c:order val="2"/>
          <c:tx>
            <c:v>Extension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2.05784917</c:v>
                </c:pt>
                <c:pt idx="1">
                  <c:v>1.38254624</c:v>
                </c:pt>
                <c:pt idx="2">
                  <c:v>1.64211907</c:v>
                </c:pt>
                <c:pt idx="3">
                  <c:v>2.26786637</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1.4734821</c:v>
                </c:pt>
                <c:pt idx="1">
                  <c:v>1.40927834</c:v>
                </c:pt>
                <c:pt idx="2">
                  <c:v>0.89283968</c:v>
                </c:pt>
                <c:pt idx="3">
                  <c:v>1.92122442</c:v>
                </c:pt>
              </c:numCache>
            </c:numRef>
          </c:val>
        </c:ser>
        <c:ser>
          <c:idx val="4"/>
          <c:order val="4"/>
          <c:tx>
            <c:v>Equal-weight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2.19054578</c:v>
                </c:pt>
                <c:pt idx="1">
                  <c:v>1.94098684</c:v>
                </c:pt>
                <c:pt idx="2">
                  <c:v>1.48894614</c:v>
                </c:pt>
                <c:pt idx="3">
                  <c:v>2.7013473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29516a914fa43dc"/>
          <a:srcRect xmlns:a="http://schemas.openxmlformats.org/drawingml/2006/main" l="0" t="22546" r="0" b="22546"/>
          <a:stretch xmlns:a="http://schemas.openxmlformats.org/drawingml/2006/main">
            <a:fillRect l="0" t="0" r="0" b="0"/>
          </a:stretch>
        </p:blipFill>
        <p:spPr>
          <a:xfrm xmlns:a="http://schemas.openxmlformats.org/drawingml/2006/main">
            <a:off x="0" y="0"/>
            <a:ext cx="9144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7B2E12-71FE-425D-AA0C-3E48724DFAC5}"/>
              </a:ext>
            </a:extLst>
          </p:cNvPr>
          <p:cNvSpPr>
            <a:spLocks xmlns:a="http://schemas.openxmlformats.org/drawingml/2006/main" noGrp="1"/>
          </p:cNvSpPr>
          <p:nvPr/>
        </p:nvSpPr>
        <p:spPr>
          <a:xfrm xmlns:a="http://schemas.openxmlformats.org/drawingml/2006/main">
            <a:off x="342900" y="2343150"/>
            <a:ext cx="842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FFFFFF"/>
                </a:solidFill>
                <a:latin typeface="Arial"/>
                <a:ea typeface="Arial"/>
                <a:cs typeface="Arial"/>
              </a:defRPr>
            </a:pPr>
            <a:r>
              <a:rPr sz="3000" b="1">
                <a:solidFill>
                  <a:srgbClr val="FFFFFF"/>
                </a:solidFill>
                <a:latin typeface="Arial"/>
                <a:ea typeface="Arial"/>
                <a:cs typeface="Arial"/>
              </a:rPr>
              <a:t>Deep Learning in Asset Pricing</a:t>
            </a:r>
          </a:p>
        </p:txBody>
      </p:sp>
      <p:sp>
        <p:nvSpPr>
          <p:cNvPr id="3" name="">
            <a:extLst xmlns:a="http://schemas.openxmlformats.org/drawingml/2006/main">
              <a:ext uri="{FF2B5EF4-FFF2-40B4-BE49-F238E27FC236}">
                <a16:creationId xmlns:a16="http://schemas.microsoft.com/office/drawing/2014/main" id="{DF695EB0-547D-4965-94D1-D835C4659154}"/>
              </a:ext>
            </a:extLst>
          </p:cNvPr>
          <p:cNvSpPr>
            <a:spLocks xmlns:a="http://schemas.openxmlformats.org/drawingml/2006/main" noGrp="1"/>
          </p:cNvSpPr>
          <p:nvPr/>
        </p:nvSpPr>
        <p:spPr>
          <a:xfrm xmlns:a="http://schemas.openxmlformats.org/drawingml/2006/main">
            <a:off x="361950" y="3476625"/>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3262"/>
                </a:solidFill>
                <a:latin typeface="Arial"/>
                <a:ea typeface="Arial"/>
                <a:cs typeface="Arial"/>
              </a:defRPr>
            </a:pPr>
            <a:r>
              <a:rPr sz="2025" b="1">
                <a:solidFill>
                  <a:srgbClr val="003262"/>
                </a:solidFill>
                <a:latin typeface="Arial"/>
                <a:ea typeface="Arial"/>
                <a:cs typeface="Arial"/>
              </a:rPr>
              <a:t>Replication and Model Comparisons</a:t>
            </a:r>
          </a:p>
        </p:txBody>
      </p:sp>
      <p:sp>
        <p:nvSpPr>
          <p:cNvPr id="4" name="">
            <a:extLst xmlns:a="http://schemas.openxmlformats.org/drawingml/2006/main">
              <a:ext uri="{FF2B5EF4-FFF2-40B4-BE49-F238E27FC236}">
                <a16:creationId xmlns:a16="http://schemas.microsoft.com/office/drawing/2014/main" id="{5481CBCE-E7D6-4BC4-800A-9A7C0A831F5E}"/>
              </a:ext>
            </a:extLst>
          </p:cNvPr>
          <p:cNvSpPr>
            <a:spLocks xmlns:a="http://schemas.openxmlformats.org/drawingml/2006/main" noGrp="1"/>
          </p:cNvSpPr>
          <p:nvPr/>
        </p:nvSpPr>
        <p:spPr>
          <a:xfrm xmlns:a="http://schemas.openxmlformats.org/drawingml/2006/main">
            <a:off x="361950" y="3886200"/>
            <a:ext cx="819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F2A37"/>
                </a:solidFill>
                <a:latin typeface="Arial"/>
                <a:ea typeface="Arial"/>
                <a:cs typeface="Arial"/>
              </a:defRPr>
            </a:pPr>
            <a:r>
              <a:rPr sz="1500" b="0">
                <a:solidFill>
                  <a:srgbClr val="1F2A37"/>
                </a:solidFill>
                <a:latin typeface="Arial"/>
                <a:ea typeface="Arial"/>
                <a:cs typeface="Arial"/>
              </a:rPr>
              <a:t>Transformer, rolling windows, regimes and portfolio combinations</a:t>
            </a:r>
          </a:p>
        </p:txBody>
      </p:sp>
      <p:sp>
        <p:nvSpPr>
          <p:cNvPr id="5" name="">
            <a:extLst xmlns:a="http://schemas.openxmlformats.org/drawingml/2006/main">
              <a:ext uri="{FF2B5EF4-FFF2-40B4-BE49-F238E27FC236}">
                <a16:creationId xmlns:a16="http://schemas.microsoft.com/office/drawing/2014/main" id="{A4983446-7EC0-4107-BF9F-D59958BEF0F6}"/>
              </a:ext>
            </a:extLst>
          </p:cNvPr>
          <p:cNvSpPr>
            <a:spLocks xmlns:a="http://schemas.openxmlformats.org/drawingml/2006/main" noGrp="1"/>
          </p:cNvSpPr>
          <p:nvPr/>
        </p:nvSpPr>
        <p:spPr>
          <a:xfrm xmlns:a="http://schemas.openxmlformats.org/drawingml/2006/main">
            <a:off x="361950" y="4257675"/>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F2A37"/>
                </a:solidFill>
                <a:latin typeface="Arial"/>
                <a:ea typeface="Arial"/>
                <a:cs typeface="Arial"/>
              </a:defRPr>
            </a:pPr>
            <a:r>
              <a:rPr sz="1350" b="0">
                <a:solidFill>
                  <a:srgbClr val="1F2A37"/>
                </a:solidFill>
                <a:latin typeface="Arial"/>
                <a:ea typeface="Arial"/>
                <a:cs typeface="Arial"/>
              </a:rPr>
              <a:t>Reza Zamani, Hrafnhildur Lif Jonsdottir</a:t>
            </a:r>
          </a:p>
        </p:txBody>
      </p:sp>
      <p:sp>
        <p:nvSpPr>
          <p:cNvPr id="6" name="">
            <a:extLst xmlns:a="http://schemas.openxmlformats.org/drawingml/2006/main">
              <a:ext uri="{FF2B5EF4-FFF2-40B4-BE49-F238E27FC236}">
                <a16:creationId xmlns:a16="http://schemas.microsoft.com/office/drawing/2014/main" id="{6558B462-85ED-457A-8617-624E02B58E9C}"/>
              </a:ext>
            </a:extLst>
          </p:cNvPr>
          <p:cNvSpPr>
            <a:spLocks xmlns:a="http://schemas.openxmlformats.org/drawingml/2006/main" noGrp="1"/>
          </p:cNvSpPr>
          <p:nvPr/>
        </p:nvSpPr>
        <p:spPr>
          <a:xfrm xmlns:a="http://schemas.openxmlformats.org/drawingml/2006/main">
            <a:off x="361950" y="4495800"/>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F2A37"/>
                </a:solidFill>
                <a:latin typeface="Arial"/>
                <a:ea typeface="Arial"/>
                <a:cs typeface="Arial"/>
              </a:defRPr>
            </a:pPr>
            <a:r>
              <a:rPr sz="1350" b="0">
                <a:solidFill>
                  <a:srgbClr val="1F2A37"/>
                </a:solidFill>
                <a:latin typeface="Arial"/>
                <a:ea typeface="Arial"/>
                <a:cs typeface="Arial"/>
              </a:rPr>
              <a:t>Paraj Goyal and Elouan Bahri</a:t>
            </a:r>
          </a:p>
        </p:txBody>
      </p:sp>
      <p:sp>
        <p:nvSpPr>
          <p:cNvPr id="7" name="">
            <a:extLst xmlns:a="http://schemas.openxmlformats.org/drawingml/2006/main">
              <a:ext uri="{FF2B5EF4-FFF2-40B4-BE49-F238E27FC236}">
                <a16:creationId xmlns:a16="http://schemas.microsoft.com/office/drawing/2014/main" id="{7AF936C5-CA29-4C4B-B20A-86125B385748}"/>
              </a:ext>
            </a:extLst>
          </p:cNvPr>
          <p:cNvSpPr>
            <a:spLocks xmlns:a="http://schemas.openxmlformats.org/drawingml/2006/main" noGrp="1"/>
          </p:cNvSpPr>
          <p:nvPr/>
        </p:nvSpPr>
        <p:spPr>
          <a:xfrm xmlns:a="http://schemas.openxmlformats.org/drawingml/2006/main">
            <a:off x="361950" y="4743450"/>
            <a:ext cx="676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B6770"/>
                </a:solidFill>
                <a:latin typeface="Arial"/>
                <a:ea typeface="Arial"/>
                <a:cs typeface="Arial"/>
              </a:defRPr>
            </a:pPr>
            <a:r>
              <a:rPr sz="1275" b="0">
                <a:solidFill>
                  <a:srgbClr val="5B6770"/>
                </a:solidFill>
                <a:latin typeface="Arial"/>
                <a:ea typeface="Arial"/>
                <a:cs typeface="Arial"/>
              </a:rPr>
              <a:t>Professor: Ali Kakhbod</a:t>
            </a:r>
          </a:p>
        </p:txBody>
      </p:sp>
      <p:sp>
        <p:nvSpPr>
          <p:cNvPr id="8" name="">
            <a:extLst xmlns:a="http://schemas.openxmlformats.org/drawingml/2006/main">
              <a:ext uri="{FF2B5EF4-FFF2-40B4-BE49-F238E27FC236}">
                <a16:creationId xmlns:a16="http://schemas.microsoft.com/office/drawing/2014/main" id="{7D106F92-9820-4CB8-BF48-38DE4E16A808}"/>
              </a:ext>
            </a:extLst>
          </p:cNvPr>
          <p:cNvSpPr>
            <a:spLocks xmlns:a="http://schemas.openxmlformats.org/drawingml/2006/main" noGrp="1"/>
          </p:cNvSpPr>
          <p:nvPr/>
        </p:nvSpPr>
        <p:spPr>
          <a:xfrm xmlns:a="http://schemas.openxmlformats.org/drawingml/2006/main">
            <a:off x="7277100" y="48958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Group 7 · October 2026</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52be61b5e034bad"/>
          <a:stretch xmlns:a="http://schemas.openxmlformats.org/drawingml/2006/main"/>
        </p:blipFill>
        <p:spPr>
          <a:xfrm xmlns:a="http://schemas.openxmlformats.org/drawingml/2006/main">
            <a:off x="7279079" y="4514850"/>
            <a:ext cx="1520042" cy="285750"/>
          </a:xfrm>
          <a:prstGeom xmlns:a="http://schemas.openxmlformats.org/drawingml/2006/main" prst="rect">
            <a:avLst/>
          </a:prstGeom>
        </p:spPr>
      </p:pic>
    </p:spTree>
    <p:extLst>
      <p:ext uri="{BB962C8B-B14F-4D97-AF65-F5344CB8AC3E}">
        <p14:creationId xmlns:p14="http://schemas.microsoft.com/office/powerpoint/2010/main" val="6245881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7980B7-6EC6-4E30-9639-EA453C0345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B52ECF-E0E9-401B-B1D8-65EEB89FB45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BE4EFE-9E3F-401C-8660-2CC3C1EEDB04}"/>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Presentation overview</a:t>
            </a:r>
          </a:p>
        </p:txBody>
      </p:sp>
      <p:sp>
        <p:nvSpPr>
          <p:cNvPr id="4" name="">
            <a:extLst xmlns:a="http://schemas.openxmlformats.org/drawingml/2006/main">
              <a:ext uri="{FF2B5EF4-FFF2-40B4-BE49-F238E27FC236}">
                <a16:creationId xmlns:a16="http://schemas.microsoft.com/office/drawing/2014/main" id="{815A581A-E841-46B9-8044-106CAEBA053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15-minute presentation</a:t>
            </a:r>
          </a:p>
        </p:txBody>
      </p:sp>
      <p:sp>
        <p:nvSpPr>
          <p:cNvPr id="5" name="">
            <a:extLst xmlns:a="http://schemas.openxmlformats.org/drawingml/2006/main">
              <a:ext uri="{FF2B5EF4-FFF2-40B4-BE49-F238E27FC236}">
                <a16:creationId xmlns:a16="http://schemas.microsoft.com/office/drawing/2014/main" id="{6EDB3EE9-E9C5-44FF-8907-70CCFD3811F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61872CCB-F385-49C3-BB99-836BA8911FB4}"/>
              </a:ext>
            </a:extLst>
          </p:cNvPr>
          <p:cNvSpPr>
            <a:spLocks xmlns:a="http://schemas.openxmlformats.org/drawingml/2006/main" noGrp="1"/>
          </p:cNvSpPr>
          <p:nvPr/>
        </p:nvSpPr>
        <p:spPr>
          <a:xfrm xmlns:a="http://schemas.openxmlformats.org/drawingml/2006/main">
            <a:off x="419100" y="98107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1. Main paper</a:t>
            </a:r>
          </a:p>
        </p:txBody>
      </p:sp>
      <p:sp>
        <p:nvSpPr>
          <p:cNvPr id="14" name="">
            <a:extLst xmlns:a="http://schemas.openxmlformats.org/drawingml/2006/main">
              <a:ext uri="{FF2B5EF4-FFF2-40B4-BE49-F238E27FC236}">
                <a16:creationId xmlns:a16="http://schemas.microsoft.com/office/drawing/2014/main" id="{7CA9D290-0D17-4D0A-A3E0-27664A63086A}"/>
              </a:ext>
            </a:extLst>
          </p:cNvPr>
          <p:cNvSpPr>
            <a:spLocks xmlns:a="http://schemas.openxmlformats.org/drawingml/2006/main" noGrp="1"/>
          </p:cNvSpPr>
          <p:nvPr/>
        </p:nvSpPr>
        <p:spPr>
          <a:xfrm xmlns:a="http://schemas.openxmlformats.org/drawingml/2006/main">
            <a:off x="419100" y="137160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2. Replication</a:t>
            </a:r>
          </a:p>
        </p:txBody>
      </p:sp>
      <p:sp>
        <p:nvSpPr>
          <p:cNvPr id="15" name="">
            <a:extLst xmlns:a="http://schemas.openxmlformats.org/drawingml/2006/main">
              <a:ext uri="{FF2B5EF4-FFF2-40B4-BE49-F238E27FC236}">
                <a16:creationId xmlns:a16="http://schemas.microsoft.com/office/drawing/2014/main" id="{ED379246-1383-4C99-8F72-8762051F65EF}"/>
              </a:ext>
            </a:extLst>
          </p:cNvPr>
          <p:cNvSpPr>
            <a:spLocks xmlns:a="http://schemas.openxmlformats.org/drawingml/2006/main" noGrp="1"/>
          </p:cNvSpPr>
          <p:nvPr/>
        </p:nvSpPr>
        <p:spPr>
          <a:xfrm xmlns:a="http://schemas.openxmlformats.org/drawingml/2006/main">
            <a:off x="419100" y="176212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3. Transformer</a:t>
            </a:r>
          </a:p>
        </p:txBody>
      </p:sp>
      <p:sp>
        <p:nvSpPr>
          <p:cNvPr id="16" name="">
            <a:extLst xmlns:a="http://schemas.openxmlformats.org/drawingml/2006/main">
              <a:ext uri="{FF2B5EF4-FFF2-40B4-BE49-F238E27FC236}">
                <a16:creationId xmlns:a16="http://schemas.microsoft.com/office/drawing/2014/main" id="{70793E91-35E3-408F-8B9A-E58F50BB11E9}"/>
              </a:ext>
            </a:extLst>
          </p:cNvPr>
          <p:cNvSpPr>
            <a:spLocks xmlns:a="http://schemas.openxmlformats.org/drawingml/2006/main" noGrp="1"/>
          </p:cNvSpPr>
          <p:nvPr/>
        </p:nvSpPr>
        <p:spPr>
          <a:xfrm xmlns:a="http://schemas.openxmlformats.org/drawingml/2006/main">
            <a:off x="419100" y="215265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4. Rolling windows</a:t>
            </a:r>
          </a:p>
        </p:txBody>
      </p:sp>
      <p:sp>
        <p:nvSpPr>
          <p:cNvPr id="17" name="">
            <a:extLst xmlns:a="http://schemas.openxmlformats.org/drawingml/2006/main">
              <a:ext uri="{FF2B5EF4-FFF2-40B4-BE49-F238E27FC236}">
                <a16:creationId xmlns:a16="http://schemas.microsoft.com/office/drawing/2014/main" id="{3B10CDF6-7AA4-4389-9B95-7DA57B884B2F}"/>
              </a:ext>
            </a:extLst>
          </p:cNvPr>
          <p:cNvSpPr>
            <a:spLocks xmlns:a="http://schemas.openxmlformats.org/drawingml/2006/main" noGrp="1"/>
          </p:cNvSpPr>
          <p:nvPr/>
        </p:nvSpPr>
        <p:spPr>
          <a:xfrm xmlns:a="http://schemas.openxmlformats.org/drawingml/2006/main">
            <a:off x="419100" y="254317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5. Regime change</a:t>
            </a:r>
          </a:p>
        </p:txBody>
      </p:sp>
      <p:sp>
        <p:nvSpPr>
          <p:cNvPr id="18" name="">
            <a:extLst xmlns:a="http://schemas.openxmlformats.org/drawingml/2006/main">
              <a:ext uri="{FF2B5EF4-FFF2-40B4-BE49-F238E27FC236}">
                <a16:creationId xmlns:a16="http://schemas.microsoft.com/office/drawing/2014/main" id="{DFDA38ED-53C5-49E1-BABA-729B78BD85FF}"/>
              </a:ext>
            </a:extLst>
          </p:cNvPr>
          <p:cNvSpPr>
            <a:spLocks xmlns:a="http://schemas.openxmlformats.org/drawingml/2006/main" noGrp="1"/>
          </p:cNvSpPr>
          <p:nvPr/>
        </p:nvSpPr>
        <p:spPr>
          <a:xfrm xmlns:a="http://schemas.openxmlformats.org/drawingml/2006/main">
            <a:off x="419100" y="293370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6. Uncertainty</a:t>
            </a:r>
          </a:p>
        </p:txBody>
      </p:sp>
      <p:sp>
        <p:nvSpPr>
          <p:cNvPr id="19" name="">
            <a:extLst xmlns:a="http://schemas.openxmlformats.org/drawingml/2006/main">
              <a:ext uri="{FF2B5EF4-FFF2-40B4-BE49-F238E27FC236}">
                <a16:creationId xmlns:a16="http://schemas.microsoft.com/office/drawing/2014/main" id="{411BD56C-9CB6-44BF-BB65-F27E3D2E1995}"/>
              </a:ext>
            </a:extLst>
          </p:cNvPr>
          <p:cNvSpPr>
            <a:spLocks xmlns:a="http://schemas.openxmlformats.org/drawingml/2006/main" noGrp="1"/>
          </p:cNvSpPr>
          <p:nvPr/>
        </p:nvSpPr>
        <p:spPr>
          <a:xfrm xmlns:a="http://schemas.openxmlformats.org/drawingml/2006/main">
            <a:off x="419100" y="332422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7. Combination</a:t>
            </a:r>
          </a:p>
        </p:txBody>
      </p:sp>
      <p:sp>
        <p:nvSpPr>
          <p:cNvPr id="20" name="">
            <a:extLst xmlns:a="http://schemas.openxmlformats.org/drawingml/2006/main">
              <a:ext uri="{FF2B5EF4-FFF2-40B4-BE49-F238E27FC236}">
                <a16:creationId xmlns:a16="http://schemas.microsoft.com/office/drawing/2014/main" id="{7D78D46F-6855-49A8-A7ED-1FF50B26BB81}"/>
              </a:ext>
            </a:extLst>
          </p:cNvPr>
          <p:cNvSpPr>
            <a:spLocks xmlns:a="http://schemas.openxmlformats.org/drawingml/2006/main" noGrp="1"/>
          </p:cNvSpPr>
          <p:nvPr/>
        </p:nvSpPr>
        <p:spPr>
          <a:xfrm xmlns:a="http://schemas.openxmlformats.org/drawingml/2006/main">
            <a:off x="419100" y="371475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8. Summary</a:t>
            </a:r>
          </a:p>
        </p:txBody>
      </p:sp>
    </p:spTree>
    <p:extLst>
      <p:ext uri="{BB962C8B-B14F-4D97-AF65-F5344CB8AC3E}">
        <p14:creationId xmlns:p14="http://schemas.microsoft.com/office/powerpoint/2010/main" val="3557814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19653F-3B5A-47D0-B2D7-8355BF53C991}"/>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600C88-6EE6-4DE8-B6F7-A059329EB01A}"/>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5B9CED-0996-46C0-AD6F-C37867C6D86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Main paper: model architecture and data</a:t>
            </a:r>
          </a:p>
        </p:txBody>
      </p:sp>
      <p:sp>
        <p:nvSpPr>
          <p:cNvPr id="4" name="">
            <a:extLst xmlns:a="http://schemas.openxmlformats.org/drawingml/2006/main">
              <a:ext uri="{FF2B5EF4-FFF2-40B4-BE49-F238E27FC236}">
                <a16:creationId xmlns:a16="http://schemas.microsoft.com/office/drawing/2014/main" id="{EE670733-DBC5-4AEC-8017-BF150C2A5AA1}"/>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1. Main paper</a:t>
            </a:r>
          </a:p>
        </p:txBody>
      </p:sp>
      <p:sp>
        <p:nvSpPr>
          <p:cNvPr id="5" name="">
            <a:extLst xmlns:a="http://schemas.openxmlformats.org/drawingml/2006/main">
              <a:ext uri="{FF2B5EF4-FFF2-40B4-BE49-F238E27FC236}">
                <a16:creationId xmlns:a16="http://schemas.microsoft.com/office/drawing/2014/main" id="{AD17B70D-D8E3-4FD1-9512-A52F6476939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a:t>
            </a:r>
          </a:p>
        </p:txBody>
      </p:sp>
      <p:graphicFrame>
        <p:nvGraphicFramePr>
          <p:cNvPr id="17"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476500"/>
                <a:gridCol w="2933700"/>
                <a:gridCol w="2933700"/>
              </a:tblGrid>
              <a:tr h="571500">
                <a:tc>
                  <a:txBody>
                    <a:bodyPr/>
                    <a:lstStyle/>
                    <a:p>
                      <a:r>
                        <a:rPr sz="1350" b="1">
                          <a:solidFill>
                            <a:srgbClr val="FFFFFF"/>
                          </a:solidFill>
                          <a:latin typeface="Arial"/>
                          <a:ea typeface="Arial"/>
                          <a:cs typeface="Arial"/>
                        </a:rPr>
                        <a:t>Component</a:t>
                      </a:r>
                    </a:p>
                  </a:txBody>
                  <a:tcPr marL="91440" marR="91440" marT="45720" marB="45720">
                    <a:solidFill>
                      <a:srgbClr val="003262"/>
                    </a:solidFill>
                  </a:tcPr>
                </a:tc>
                <a:tc>
                  <a:txBody>
                    <a:bodyPr/>
                    <a:lstStyle/>
                    <a:p>
                      <a:r>
                        <a:rPr sz="1350" b="1">
                          <a:solidFill>
                            <a:srgbClr val="FFFFFF"/>
                          </a:solidFill>
                          <a:latin typeface="Arial"/>
                          <a:ea typeface="Arial"/>
                          <a:cs typeface="Arial"/>
                        </a:rPr>
                        <a:t>Input and role</a:t>
                      </a:r>
                    </a:p>
                  </a:txBody>
                  <a:tcPr marL="91440" marR="91440" marT="45720" marB="45720">
                    <a:solidFill>
                      <a:srgbClr val="003262"/>
                    </a:solidFill>
                  </a:tcPr>
                </a:tc>
                <a:tc>
                  <a:txBody>
                    <a:bodyPr/>
                    <a:lstStyle/>
                    <a:p>
                      <a:r>
                        <a:rPr sz="1350" b="1">
                          <a:solidFill>
                            <a:srgbClr val="FFFFFF"/>
                          </a:solidFill>
                          <a:latin typeface="Arial"/>
                          <a:ea typeface="Arial"/>
                          <a:cs typeface="Arial"/>
                        </a:rPr>
                        <a:t>Output</a:t>
                      </a:r>
                    </a:p>
                  </a:txBody>
                  <a:tcPr marL="91440" marR="91440" marT="45720" marB="45720">
                    <a:solidFill>
                      <a:srgbClr val="003262"/>
                    </a:solidFill>
                  </a:tcPr>
                </a:tc>
              </a:tr>
              <a:tr h="571500">
                <a:tc>
                  <a:txBody>
                    <a:bodyPr/>
                    <a:lstStyle/>
                    <a:p>
                      <a:r>
                        <a:rPr sz="1425" b="0">
                          <a:solidFill>
                            <a:srgbClr val="1F2A37"/>
                          </a:solidFill>
                          <a:latin typeface="Arial"/>
                          <a:ea typeface="Arial"/>
                          <a:cs typeface="Arial"/>
                        </a:rPr>
                        <a:t>Macro SDF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4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Pricing-weight network</a:t>
                      </a:r>
                    </a:p>
                  </a:txBody>
                  <a:tcPr marL="91440" marR="91440" marT="45720" marB="45720">
                    <a:solidFill>
                      <a:srgbClr val="FFFFFF"/>
                    </a:solidFill>
                  </a:tcPr>
                </a:tc>
                <a:tc>
                  <a:txBody>
                    <a:bodyPr/>
                    <a:lstStyle/>
                    <a:p>
                      <a:r>
                        <a:rPr sz="1425" b="0">
                          <a:solidFill>
                            <a:srgbClr val="1F2A37"/>
                          </a:solidFill>
                          <a:latin typeface="Arial"/>
                          <a:ea typeface="Arial"/>
                          <a:cs typeface="Arial"/>
                        </a:rPr>
                        <a:t>46 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Two layers of 64 units</a:t>
                      </a:r>
                    </a:p>
                  </a:txBody>
                  <a:tcPr marL="91440" marR="91440" marT="45720" marB="45720">
                    <a:solidFill>
                      <a:srgbClr val="FFFFFF"/>
                    </a:solidFill>
                  </a:tcPr>
                </a:tc>
              </a:tr>
              <a:tr h="571500">
                <a:tc>
                  <a:txBody>
                    <a:bodyPr/>
                    <a:lstStyle/>
                    <a:p>
                      <a:r>
                        <a:rPr sz="1425" b="0">
                          <a:solidFill>
                            <a:srgbClr val="1F2A37"/>
                          </a:solidFill>
                          <a:latin typeface="Arial"/>
                          <a:ea typeface="Arial"/>
                          <a:cs typeface="Arial"/>
                        </a:rPr>
                        <a:t>Macro instrument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32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Conditional network</a:t>
                      </a:r>
                    </a:p>
                  </a:txBody>
                  <a:tcPr marL="91440" marR="91440" marT="45720" marB="45720">
                    <a:solidFill>
                      <a:srgbClr val="FFFFFF"/>
                    </a:solidFill>
                  </a:tcPr>
                </a:tc>
                <a:tc>
                  <a:txBody>
                    <a:bodyPr/>
                    <a:lstStyle/>
                    <a:p>
                      <a:r>
                        <a:rPr sz="1425" b="0">
                          <a:solidFill>
                            <a:srgbClr val="1F2A37"/>
                          </a:solidFill>
                          <a:latin typeface="Arial"/>
                          <a:ea typeface="Arial"/>
                          <a:cs typeface="Arial"/>
                        </a:rPr>
                        <a:t>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8 bounded instruments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2DB547B-70D5-48D6-B0DC-285D659785D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Train 1967–1986. Validation 1987–1991. Test 1992–2016.</a:t>
            </a:r>
          </a:p>
        </p:txBody>
      </p:sp>
      <p:sp>
        <p:nvSpPr>
          <p:cNvPr id="10" name="">
            <a:extLst xmlns:a="http://schemas.openxmlformats.org/drawingml/2006/main">
              <a:ext uri="{FF2B5EF4-FFF2-40B4-BE49-F238E27FC236}">
                <a16:creationId xmlns:a16="http://schemas.microsoft.com/office/drawing/2014/main" id="{549E0823-13F8-46EA-9053-08FEB3CE12C3}"/>
              </a:ext>
            </a:extLst>
          </p:cNvPr>
          <p:cNvSpPr>
            <a:spLocks xmlns:a="http://schemas.openxmlformats.org/drawingml/2006/main" noGrp="1"/>
          </p:cNvSpPr>
          <p:nvPr/>
        </p:nvSpPr>
        <p:spPr>
          <a:xfrm xmlns:a="http://schemas.openxmlformats.org/drawingml/2006/main">
            <a:off x="419100" y="78105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F2A37"/>
                </a:solidFill>
                <a:latin typeface="Arial"/>
                <a:ea typeface="Arial"/>
                <a:cs typeface="Arial"/>
              </a:defRPr>
            </a:pPr>
            <a:r>
              <a:rPr sz="1275" b="0">
                <a:solidFill>
                  <a:srgbClr val="1F2A37"/>
                </a:solidFill>
                <a:latin typeface="Arial"/>
                <a:ea typeface="Arial"/>
                <a:cs typeface="Arial"/>
              </a:rPr>
              <a:t>Goal: learn a stochastic discount factor through conditional pricing moments.</a:t>
            </a:r>
          </a:p>
        </p:txBody>
      </p:sp>
    </p:spTree>
    <p:extLst>
      <p:ext uri="{BB962C8B-B14F-4D97-AF65-F5344CB8AC3E}">
        <p14:creationId xmlns:p14="http://schemas.microsoft.com/office/powerpoint/2010/main" val="2410890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4B65EB-3C9D-4A0A-A5B6-F43D5650CC6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037A00-CA31-49B7-A348-515295FC980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6F88D0-05A6-4D75-A6AB-BCA7B61A97B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Main paper: published results</a:t>
            </a:r>
          </a:p>
        </p:txBody>
      </p:sp>
      <p:sp>
        <p:nvSpPr>
          <p:cNvPr id="4" name="">
            <a:extLst xmlns:a="http://schemas.openxmlformats.org/drawingml/2006/main">
              <a:ext uri="{FF2B5EF4-FFF2-40B4-BE49-F238E27FC236}">
                <a16:creationId xmlns:a16="http://schemas.microsoft.com/office/drawing/2014/main" id="{26248FE1-8E51-4EA7-AC8B-62E05E017D5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1. Main paper</a:t>
            </a:r>
          </a:p>
        </p:txBody>
      </p:sp>
      <p:sp>
        <p:nvSpPr>
          <p:cNvPr id="5" name="">
            <a:extLst xmlns:a="http://schemas.openxmlformats.org/drawingml/2006/main">
              <a:ext uri="{FF2B5EF4-FFF2-40B4-BE49-F238E27FC236}">
                <a16:creationId xmlns:a16="http://schemas.microsoft.com/office/drawing/2014/main" id="{B8C358BC-7C57-4258-98AB-F5B0C57525E2}"/>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4</a:t>
            </a:r>
          </a:p>
        </p:txBody>
      </p:sp>
      <p:graphicFrame>
        <p:nvGraphicFramePr>
          <p:cNvPr id="15" name=""/>
          <p:cNvGraphicFramePr/>
          <p:nvPr/>
        </p:nvGraphicFramePr>
        <p:xfrm>
          <a:off xmlns:a="http://schemas.openxmlformats.org/drawingml/2006/main" x="400050" y="1019175"/>
          <a:ext xmlns:a="http://schemas.openxmlformats.org/drawingml/2006/main" cx="8343900" cy="2686050"/>
        </p:xfrm>
        <a:graphic xmlns:a="http://schemas.openxmlformats.org/drawingml/2006/main">
          <a:graphicData uri="http://schemas.openxmlformats.org/drawingml/2006/table">
            <a:tbl>
              <a:tblPr/>
              <a:tblGrid>
                <a:gridCol w="2476500"/>
                <a:gridCol w="1955800"/>
                <a:gridCol w="1955800"/>
                <a:gridCol w="1955800"/>
              </a:tblGrid>
              <a:tr h="537210">
                <a:tc>
                  <a:txBody>
                    <a:bodyPr/>
                    <a:lstStyle/>
                    <a:p>
                      <a:r>
                        <a:rPr sz="1425" b="1">
                          <a:solidFill>
                            <a:srgbClr val="FFFFFF"/>
                          </a:solidFill>
                          <a:latin typeface="Arial"/>
                          <a:ea typeface="Arial"/>
                          <a:cs typeface="Arial"/>
                        </a:rPr>
                        <a:t>Model</a:t>
                      </a:r>
                    </a:p>
                  </a:txBody>
                  <a:tcPr marL="91440" marR="91440" marT="45720" marB="45720">
                    <a:solidFill>
                      <a:srgbClr val="003262"/>
                    </a:solidFill>
                  </a:tcPr>
                </a:tc>
                <a:tc>
                  <a:txBody>
                    <a:bodyPr/>
                    <a:lstStyle/>
                    <a:p>
                      <a:r>
                        <a:rPr sz="1425" b="1">
                          <a:solidFill>
                            <a:srgbClr val="FFFFFF"/>
                          </a:solidFill>
                          <a:latin typeface="Arial"/>
                          <a:ea typeface="Arial"/>
                          <a:cs typeface="Arial"/>
                        </a:rPr>
                        <a:t>Train</a:t>
                      </a:r>
                    </a:p>
                  </a:txBody>
                  <a:tcPr marL="91440" marR="91440" marT="45720" marB="45720">
                    <a:solidFill>
                      <a:srgbClr val="003262"/>
                    </a:solidFill>
                  </a:tcPr>
                </a:tc>
                <a:tc>
                  <a:txBody>
                    <a:bodyPr/>
                    <a:lstStyle/>
                    <a:p>
                      <a:r>
                        <a:rPr sz="1425" b="1">
                          <a:solidFill>
                            <a:srgbClr val="FFFFFF"/>
                          </a:solidFill>
                          <a:latin typeface="Arial"/>
                          <a:ea typeface="Arial"/>
                          <a:cs typeface="Arial"/>
                        </a:rPr>
                        <a:t>Validation</a:t>
                      </a:r>
                    </a:p>
                  </a:txBody>
                  <a:tcPr marL="91440" marR="91440" marT="45720" marB="45720">
                    <a:solidFill>
                      <a:srgbClr val="003262"/>
                    </a:solidFill>
                  </a:tcPr>
                </a:tc>
                <a:tc>
                  <a:txBody>
                    <a:bodyPr/>
                    <a:lstStyle/>
                    <a:p>
                      <a:r>
                        <a:rPr sz="1425" b="1">
                          <a:solidFill>
                            <a:srgbClr val="FFFFFF"/>
                          </a:solidFill>
                          <a:latin typeface="Arial"/>
                          <a:ea typeface="Arial"/>
                          <a:cs typeface="Arial"/>
                        </a:rPr>
                        <a:t>Test</a:t>
                      </a:r>
                    </a:p>
                  </a:txBody>
                  <a:tcPr marL="91440" marR="91440" marT="45720" marB="45720">
                    <a:solidFill>
                      <a:srgbClr val="003262"/>
                    </a:solidFill>
                  </a:tcPr>
                </a:tc>
              </a:tr>
              <a:tr h="537210">
                <a:tc>
                  <a:txBody>
                    <a:bodyPr/>
                    <a:lstStyle/>
                    <a:p>
                      <a:r>
                        <a:rPr sz="1500" b="0">
                          <a:solidFill>
                            <a:srgbClr val="1F2A37"/>
                          </a:solidFill>
                          <a:latin typeface="Arial"/>
                          <a:ea typeface="Arial"/>
                          <a:cs typeface="Arial"/>
                        </a:rPr>
                        <a:t>LS</a:t>
                      </a:r>
                    </a:p>
                  </a:txBody>
                  <a:tcPr marL="91440" marR="91440" marT="45720" marB="45720">
                    <a:solidFill>
                      <a:srgbClr val="EEF3F8"/>
                    </a:solidFill>
                  </a:tcPr>
                </a:tc>
                <a:tc>
                  <a:txBody>
                    <a:bodyPr/>
                    <a:lstStyle/>
                    <a:p>
                      <a:r>
                        <a:rPr sz="1500" b="0">
                          <a:solidFill>
                            <a:srgbClr val="1F2A37"/>
                          </a:solidFill>
                          <a:latin typeface="Arial"/>
                          <a:ea typeface="Arial"/>
                          <a:cs typeface="Arial"/>
                        </a:rPr>
                        <a:t>1.800</a:t>
                      </a:r>
                    </a:p>
                  </a:txBody>
                  <a:tcPr marL="91440" marR="91440" marT="45720" marB="45720">
                    <a:solidFill>
                      <a:srgbClr val="EEF3F8"/>
                    </a:solidFill>
                  </a:tcPr>
                </a:tc>
                <a:tc>
                  <a:txBody>
                    <a:bodyPr/>
                    <a:lstStyle/>
                    <a:p>
                      <a:r>
                        <a:rPr sz="1500" b="0">
                          <a:solidFill>
                            <a:srgbClr val="1F2A37"/>
                          </a:solidFill>
                          <a:latin typeface="Arial"/>
                          <a:ea typeface="Arial"/>
                          <a:cs typeface="Arial"/>
                        </a:rPr>
                        <a:t>0.580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EN</a:t>
                      </a:r>
                    </a:p>
                  </a:txBody>
                  <a:tcPr marL="91440" marR="91440" marT="45720" marB="45720">
                    <a:solidFill>
                      <a:srgbClr val="FFFFFF"/>
                    </a:solidFill>
                  </a:tcPr>
                </a:tc>
                <a:tc>
                  <a:txBody>
                    <a:bodyPr/>
                    <a:lstStyle/>
                    <a:p>
                      <a:r>
                        <a:rPr sz="1500" b="0">
                          <a:solidFill>
                            <a:srgbClr val="1F2A37"/>
                          </a:solidFill>
                          <a:latin typeface="Arial"/>
                          <a:ea typeface="Arial"/>
                          <a:cs typeface="Arial"/>
                        </a:rPr>
                        <a:t>1.370</a:t>
                      </a:r>
                    </a:p>
                  </a:txBody>
                  <a:tcPr marL="91440" marR="91440" marT="45720" marB="45720">
                    <a:solidFill>
                      <a:srgbClr val="FFFFFF"/>
                    </a:solidFill>
                  </a:tcPr>
                </a:tc>
                <a:tc>
                  <a:txBody>
                    <a:bodyPr/>
                    <a:lstStyle/>
                    <a:p>
                      <a:r>
                        <a:rPr sz="1500" b="0">
                          <a:solidFill>
                            <a:srgbClr val="1F2A37"/>
                          </a:solidFill>
                          <a:latin typeface="Arial"/>
                          <a:ea typeface="Arial"/>
                          <a:cs typeface="Arial"/>
                        </a:rPr>
                        <a:t>1.150</a:t>
                      </a:r>
                    </a:p>
                  </a:txBody>
                  <a:tcPr marL="91440" marR="91440" marT="45720" marB="45720">
                    <a:solidFill>
                      <a:srgbClr val="FFFFFF"/>
                    </a:solidFill>
                  </a:tcPr>
                </a:tc>
                <a:tc>
                  <a:txBody>
                    <a:bodyPr/>
                    <a:lstStyle/>
                    <a:p>
                      <a:r>
                        <a:rPr sz="1500" b="0">
                          <a:solidFill>
                            <a:srgbClr val="1F2A37"/>
                          </a:solidFill>
                          <a:latin typeface="Arial"/>
                          <a:ea typeface="Arial"/>
                          <a:cs typeface="Arial"/>
                        </a:rPr>
                        <a:t>0.500</a:t>
                      </a:r>
                    </a:p>
                  </a:txBody>
                  <a:tcPr marL="91440" marR="91440" marT="45720" marB="45720">
                    <a:solidFill>
                      <a:srgbClr val="FFFFFF"/>
                    </a:solidFill>
                  </a:tcPr>
                </a:tc>
              </a:tr>
              <a:tr h="537210">
                <a:tc>
                  <a:txBody>
                    <a:bodyPr/>
                    <a:lstStyle/>
                    <a:p>
                      <a:r>
                        <a:rPr sz="1500" b="0">
                          <a:solidFill>
                            <a:srgbClr val="1F2A37"/>
                          </a:solidFill>
                          <a:latin typeface="Arial"/>
                          <a:ea typeface="Arial"/>
                          <a:cs typeface="Arial"/>
                        </a:rPr>
                        <a:t>FFN</a:t>
                      </a:r>
                    </a:p>
                  </a:txBody>
                  <a:tcPr marL="91440" marR="91440" marT="45720" marB="45720">
                    <a:solidFill>
                      <a:srgbClr val="EEF3F8"/>
                    </a:solidFill>
                  </a:tcPr>
                </a:tc>
                <a:tc>
                  <a:txBody>
                    <a:bodyPr/>
                    <a:lstStyle/>
                    <a:p>
                      <a:r>
                        <a:rPr sz="1500" b="0">
                          <a:solidFill>
                            <a:srgbClr val="1F2A37"/>
                          </a:solidFill>
                          <a:latin typeface="Arial"/>
                          <a:ea typeface="Arial"/>
                          <a:cs typeface="Arial"/>
                        </a:rPr>
                        <a:t>0.450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c>
                  <a:txBody>
                    <a:bodyPr/>
                    <a:lstStyle/>
                    <a:p>
                      <a:r>
                        <a:rPr sz="1500" b="0">
                          <a:solidFill>
                            <a:srgbClr val="1F2A37"/>
                          </a:solidFill>
                          <a:latin typeface="Arial"/>
                          <a:ea typeface="Arial"/>
                          <a:cs typeface="Arial"/>
                        </a:rPr>
                        <a:t>0.440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GAN</a:t>
                      </a:r>
                    </a:p>
                  </a:txBody>
                  <a:tcPr marL="91440" marR="91440" marT="45720" marB="45720">
                    <a:solidFill>
                      <a:srgbClr val="FFFFFF"/>
                    </a:solidFill>
                  </a:tcPr>
                </a:tc>
                <a:tc>
                  <a:txBody>
                    <a:bodyPr/>
                    <a:lstStyle/>
                    <a:p>
                      <a:r>
                        <a:rPr sz="1500" b="0">
                          <a:solidFill>
                            <a:srgbClr val="1F2A37"/>
                          </a:solidFill>
                          <a:latin typeface="Arial"/>
                          <a:ea typeface="Arial"/>
                          <a:cs typeface="Arial"/>
                        </a:rPr>
                        <a:t>2.680</a:t>
                      </a:r>
                    </a:p>
                  </a:txBody>
                  <a:tcPr marL="91440" marR="91440" marT="45720" marB="45720">
                    <a:solidFill>
                      <a:srgbClr val="FFFFFF"/>
                    </a:solidFill>
                  </a:tcPr>
                </a:tc>
                <a:tc>
                  <a:txBody>
                    <a:bodyPr/>
                    <a:lstStyle/>
                    <a:p>
                      <a:r>
                        <a:rPr sz="1500" b="0">
                          <a:solidFill>
                            <a:srgbClr val="1F2A37"/>
                          </a:solidFill>
                          <a:latin typeface="Arial"/>
                          <a:ea typeface="Arial"/>
                          <a:cs typeface="Arial"/>
                        </a:rPr>
                        <a:t>1.430</a:t>
                      </a:r>
                    </a:p>
                  </a:txBody>
                  <a:tcPr marL="91440" marR="91440" marT="45720" marB="45720">
                    <a:solidFill>
                      <a:srgbClr val="FFFFFF"/>
                    </a:solidFill>
                  </a:tcPr>
                </a:tc>
                <a:tc>
                  <a:txBody>
                    <a:bodyPr/>
                    <a:lstStyle/>
                    <a:p>
                      <a:r>
                        <a:rPr sz="1500" b="0">
                          <a:solidFill>
                            <a:srgbClr val="1F2A37"/>
                          </a:solidFill>
                          <a:latin typeface="Arial"/>
                          <a:ea typeface="Arial"/>
                          <a:cs typeface="Arial"/>
                        </a:rPr>
                        <a:t>0.750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020EE53-7272-425D-86F6-E30D3DA2878B}"/>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GAN has the highest published monthly Sharpe in every split.</a:t>
            </a:r>
          </a:p>
        </p:txBody>
      </p:sp>
    </p:spTree>
    <p:extLst>
      <p:ext uri="{BB962C8B-B14F-4D97-AF65-F5344CB8AC3E}">
        <p14:creationId xmlns:p14="http://schemas.microsoft.com/office/powerpoint/2010/main" val="5513012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1089D9-1563-44C8-9239-8F2DD8B5FEA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31BE8F-AA89-476B-91FE-CC5063C98979}"/>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ACBCC0-67AE-43F4-BDFC-C6776354450F}"/>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Replication: comparison with the main paper</a:t>
            </a:r>
          </a:p>
        </p:txBody>
      </p:sp>
      <p:sp>
        <p:nvSpPr>
          <p:cNvPr id="4" name="">
            <a:extLst xmlns:a="http://schemas.openxmlformats.org/drawingml/2006/main">
              <a:ext uri="{FF2B5EF4-FFF2-40B4-BE49-F238E27FC236}">
                <a16:creationId xmlns:a16="http://schemas.microsoft.com/office/drawing/2014/main" id="{455A9CFE-0B65-4701-B6FA-F0A4C683D33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2. Replication</a:t>
            </a:r>
          </a:p>
        </p:txBody>
      </p:sp>
      <p:sp>
        <p:nvSpPr>
          <p:cNvPr id="5" name="">
            <a:extLst xmlns:a="http://schemas.openxmlformats.org/drawingml/2006/main">
              <a:ext uri="{FF2B5EF4-FFF2-40B4-BE49-F238E27FC236}">
                <a16:creationId xmlns:a16="http://schemas.microsoft.com/office/drawing/2014/main" id="{CACB040B-69F3-452C-914A-CAD15924BA7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5</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a4e17c457b9d40e2"/>
          </a:graphicData>
        </a:graphic>
      </p:graphicFrame>
      <p:sp>
        <p:nvSpPr>
          <p:cNvPr id="7" name="">
            <a:extLst xmlns:a="http://schemas.openxmlformats.org/drawingml/2006/main">
              <a:ext uri="{FF2B5EF4-FFF2-40B4-BE49-F238E27FC236}">
                <a16:creationId xmlns:a16="http://schemas.microsoft.com/office/drawing/2014/main" id="{C9EFEDBA-C313-4BFA-832E-B0E771BFDDD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GAN stays first, while FFN and EN exchange test-period ranks.</a:t>
            </a:r>
          </a:p>
        </p:txBody>
      </p:sp>
    </p:spTree>
    <p:extLst>
      <p:ext uri="{BB962C8B-B14F-4D97-AF65-F5344CB8AC3E}">
        <p14:creationId xmlns:p14="http://schemas.microsoft.com/office/powerpoint/2010/main" val="10209341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9BE11B-4261-4CF5-9249-013190E84BC2}"/>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166329-D555-4B4B-B517-9F976DFD5E5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FFADD75-D94A-448B-924C-D90C51A96C3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Replication: validation and common signals</a:t>
            </a:r>
          </a:p>
        </p:txBody>
      </p:sp>
      <p:sp>
        <p:nvSpPr>
          <p:cNvPr id="4" name="">
            <a:extLst xmlns:a="http://schemas.openxmlformats.org/drawingml/2006/main">
              <a:ext uri="{FF2B5EF4-FFF2-40B4-BE49-F238E27FC236}">
                <a16:creationId xmlns:a16="http://schemas.microsoft.com/office/drawing/2014/main" id="{0DE48038-808C-4205-B9C5-761686BAF99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2. Replication</a:t>
            </a:r>
          </a:p>
        </p:txBody>
      </p:sp>
      <p:sp>
        <p:nvSpPr>
          <p:cNvPr id="5" name="">
            <a:extLst xmlns:a="http://schemas.openxmlformats.org/drawingml/2006/main">
              <a:ext uri="{FF2B5EF4-FFF2-40B4-BE49-F238E27FC236}">
                <a16:creationId xmlns:a16="http://schemas.microsoft.com/office/drawing/2014/main" id="{EA5EF2CC-5A0F-44CD-95D6-09752255A97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6</a:t>
            </a:r>
          </a:p>
        </p:txBody>
      </p:sp>
      <p:graphicFrame>
        <p:nvGraphicFramePr>
          <p:cNvPr id="15" name=""/>
          <p:cNvGraphicFramePr/>
          <p:nvPr/>
        </p:nvGraphicFramePr>
        <p:xfrm>
          <a:off xmlns:a="http://schemas.openxmlformats.org/drawingml/2006/main" x="400050" y="1019175"/>
          <a:ext xmlns:a="http://schemas.openxmlformats.org/drawingml/2006/main" cx="8343900" cy="2781300"/>
        </p:xfrm>
        <a:graphic xmlns:a="http://schemas.openxmlformats.org/drawingml/2006/main">
          <a:graphicData uri="http://schemas.openxmlformats.org/drawingml/2006/table">
            <a:tbl>
              <a:tblPr/>
              <a:tblGrid>
                <a:gridCol w="2714625"/>
                <a:gridCol w="2814638"/>
                <a:gridCol w="2814638"/>
              </a:tblGrid>
              <a:tr h="556260">
                <a:tc>
                  <a:txBody>
                    <a:bodyPr/>
                    <a:lstStyle/>
                    <a:p>
                      <a:r>
                        <a:rPr sz="1350" b="1">
                          <a:solidFill>
                            <a:srgbClr val="FFFFFF"/>
                          </a:solidFill>
                          <a:latin typeface="Arial"/>
                          <a:ea typeface="Arial"/>
                          <a:cs typeface="Arial"/>
                        </a:rPr>
                        <a:t>Check</a:t>
                      </a:r>
                    </a:p>
                  </a:txBody>
                  <a:tcPr marL="91440" marR="91440" marT="45720" marB="45720">
                    <a:solidFill>
                      <a:srgbClr val="003262"/>
                    </a:solidFill>
                  </a:tcPr>
                </a:tc>
                <a:tc>
                  <a:txBody>
                    <a:bodyPr/>
                    <a:lstStyle/>
                    <a:p>
                      <a:r>
                        <a:rPr sz="1350" b="1">
                          <a:solidFill>
                            <a:srgbClr val="FFFFFF"/>
                          </a:solidFill>
                          <a:latin typeface="Arial"/>
                          <a:ea typeface="Arial"/>
                          <a:cs typeface="Arial"/>
                        </a:rPr>
                        <a:t>Our result</a:t>
                      </a:r>
                    </a:p>
                  </a:txBody>
                  <a:tcPr marL="91440" marR="91440" marT="45720" marB="45720">
                    <a:solidFill>
                      <a:srgbClr val="003262"/>
                    </a:solidFill>
                  </a:tcPr>
                </a:tc>
                <a:tc>
                  <a:txBody>
                    <a:bodyPr/>
                    <a:lstStyle/>
                    <a:p>
                      <a:r>
                        <a:rPr sz="1350" b="1">
                          <a:solidFill>
                            <a:srgbClr val="FFFFFF"/>
                          </a:solidFill>
                          <a:latin typeface="Arial"/>
                          <a:ea typeface="Arial"/>
                          <a:cs typeface="Arial"/>
                        </a:rPr>
                        <a:t>Reference</a:t>
                      </a:r>
                    </a:p>
                  </a:txBody>
                  <a:tcPr marL="91440" marR="91440" marT="45720" marB="45720">
                    <a:solidFill>
                      <a:srgbClr val="003262"/>
                    </a:solidFill>
                  </a:tcPr>
                </a:tc>
              </a:tr>
              <a:tr h="556260">
                <a:tc>
                  <a:txBody>
                    <a:bodyPr/>
                    <a:lstStyle/>
                    <a:p>
                      <a:r>
                        <a:rPr sz="1425" b="0">
                          <a:solidFill>
                            <a:srgbClr val="1F2A37"/>
                          </a:solidFill>
                          <a:latin typeface="Arial"/>
                          <a:ea typeface="Arial"/>
                          <a:cs typeface="Arial"/>
                        </a:rPr>
                        <a:t>FF-3 test Sharpe</a:t>
                      </a:r>
                    </a:p>
                  </a:txBody>
                  <a:tcPr marL="91440" marR="91440" marT="45720" marB="45720">
                    <a:solidFill>
                      <a:srgbClr val="EEF3F8"/>
                    </a:solidFill>
                  </a:tcPr>
                </a:tc>
                <a:tc>
                  <a:txBody>
                    <a:bodyPr/>
                    <a:lstStyle/>
                    <a:p>
                      <a:r>
                        <a:rPr sz="1425" b="0">
                          <a:solidFill>
                            <a:srgbClr val="1F2A37"/>
                          </a:solidFill>
                          <a:latin typeface="Arial"/>
                          <a:ea typeface="Arial"/>
                          <a:cs typeface="Arial"/>
                        </a:rPr>
                        <a:t>0.196</a:t>
                      </a:r>
                    </a:p>
                  </a:txBody>
                  <a:tcPr marL="91440" marR="91440" marT="45720" marB="45720">
                    <a:solidFill>
                      <a:srgbClr val="EEF3F8"/>
                    </a:solidFill>
                  </a:tcPr>
                </a:tc>
                <a:tc>
                  <a:txBody>
                    <a:bodyPr/>
                    <a:lstStyle/>
                    <a:p>
                      <a:r>
                        <a:rPr sz="1425" b="0">
                          <a:solidFill>
                            <a:srgbClr val="1F2A37"/>
                          </a:solidFill>
                          <a:latin typeface="Arial"/>
                          <a:ea typeface="Arial"/>
                          <a:cs typeface="Arial"/>
                        </a:rPr>
                        <a:t>Paper 0.190</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FF-5 test Sharpe</a:t>
                      </a:r>
                    </a:p>
                  </a:txBody>
                  <a:tcPr marL="91440" marR="91440" marT="45720" marB="45720">
                    <a:solidFill>
                      <a:srgbClr val="FFFFFF"/>
                    </a:solidFill>
                  </a:tcPr>
                </a:tc>
                <a:tc>
                  <a:txBody>
                    <a:bodyPr/>
                    <a:lstStyle/>
                    <a:p>
                      <a:r>
                        <a:rPr sz="1425" b="0">
                          <a:solidFill>
                            <a:srgbClr val="1F2A37"/>
                          </a:solidFill>
                          <a:latin typeface="Arial"/>
                          <a:ea typeface="Arial"/>
                          <a:cs typeface="Arial"/>
                        </a:rPr>
                        <a:t>0.223</a:t>
                      </a:r>
                    </a:p>
                  </a:txBody>
                  <a:tcPr marL="91440" marR="91440" marT="45720" marB="45720">
                    <a:solidFill>
                      <a:srgbClr val="FFFFFF"/>
                    </a:solidFill>
                  </a:tcPr>
                </a:tc>
                <a:tc>
                  <a:txBody>
                    <a:bodyPr/>
                    <a:lstStyle/>
                    <a:p>
                      <a:r>
                        <a:rPr sz="1425" b="0">
                          <a:solidFill>
                            <a:srgbClr val="1F2A37"/>
                          </a:solidFill>
                          <a:latin typeface="Arial"/>
                          <a:ea typeface="Arial"/>
                          <a:cs typeface="Arial"/>
                        </a:rPr>
                        <a:t>Paper 0.220</a:t>
                      </a:r>
                    </a:p>
                  </a:txBody>
                  <a:tcPr marL="91440" marR="91440" marT="45720" marB="45720">
                    <a:solidFill>
                      <a:srgbClr val="FFFFFF"/>
                    </a:solidFill>
                  </a:tcPr>
                </a:tc>
              </a:tr>
              <a:tr h="556260">
                <a:tc>
                  <a:txBody>
                    <a:bodyPr/>
                    <a:lstStyle/>
                    <a:p>
                      <a:r>
                        <a:rPr sz="1425" b="0">
                          <a:solidFill>
                            <a:srgbClr val="1F2A37"/>
                          </a:solidFill>
                          <a:latin typeface="Arial"/>
                          <a:ea typeface="Arial"/>
                          <a:cs typeface="Arial"/>
                        </a:rPr>
                        <a:t>GAN test correlation</a:t>
                      </a:r>
                    </a:p>
                  </a:txBody>
                  <a:tcPr marL="91440" marR="91440" marT="45720" marB="45720">
                    <a:solidFill>
                      <a:srgbClr val="EEF3F8"/>
                    </a:solidFill>
                  </a:tcPr>
                </a:tc>
                <a:tc>
                  <a:txBody>
                    <a:bodyPr/>
                    <a:lstStyle/>
                    <a:p>
                      <a:r>
                        <a:rPr sz="1425" b="0">
                          <a:solidFill>
                            <a:srgbClr val="1F2A37"/>
                          </a:solidFill>
                          <a:latin typeface="Arial"/>
                          <a:ea typeface="Arial"/>
                          <a:cs typeface="Arial"/>
                        </a:rPr>
                        <a:t>0.800</a:t>
                      </a:r>
                    </a:p>
                  </a:txBody>
                  <a:tcPr marL="91440" marR="91440" marT="45720" marB="45720">
                    <a:solidFill>
                      <a:srgbClr val="EEF3F8"/>
                    </a:solidFill>
                  </a:tcPr>
                </a:tc>
                <a:tc>
                  <a:txBody>
                    <a:bodyPr/>
                    <a:lstStyle/>
                    <a:p>
                      <a:r>
                        <a:rPr sz="1425" b="0">
                          <a:solidFill>
                            <a:srgbClr val="1F2A37"/>
                          </a:solidFill>
                          <a:latin typeface="Arial"/>
                          <a:ea typeface="Arial"/>
                          <a:cs typeface="Arial"/>
                        </a:rPr>
                        <a:t>Authors’ monthly GAN</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Leading characteristics</a:t>
                      </a:r>
                    </a:p>
                  </a:txBody>
                  <a:tcPr marL="91440" marR="91440" marT="45720" marB="45720">
                    <a:solidFill>
                      <a:srgbClr val="FFFFFF"/>
                    </a:solidFill>
                  </a:tcPr>
                </a:tc>
                <a:tc>
                  <a:txBody>
                    <a:bodyPr/>
                    <a:lstStyle/>
                    <a:p>
                      <a:r>
                        <a:rPr sz="1425" b="0">
                          <a:solidFill>
                            <a:srgbClr val="1F2A37"/>
                          </a:solidFill>
                          <a:latin typeface="Arial"/>
                          <a:ea typeface="Arial"/>
                          <a:cs typeface="Arial"/>
                        </a:rPr>
                        <a:t>ST_REV, SUV, r12_2</a:t>
                      </a:r>
                    </a:p>
                  </a:txBody>
                  <a:tcPr marL="91440" marR="91440" marT="45720" marB="45720">
                    <a:solidFill>
                      <a:srgbClr val="FFFFFF"/>
                    </a:solidFill>
                  </a:tcPr>
                </a:tc>
                <a:tc>
                  <a:txBody>
                    <a:bodyPr/>
                    <a:lstStyle/>
                    <a:p>
                      <a:r>
                        <a:rPr sz="1425" b="0">
                          <a:solidFill>
                            <a:srgbClr val="1F2A37"/>
                          </a:solidFill>
                          <a:latin typeface="Arial"/>
                          <a:ea typeface="Arial"/>
                          <a:cs typeface="Arial"/>
                        </a:rPr>
                        <a:t>Same top three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C5407A2-5FDF-4208-BF0D-A440477DFB2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These checks support the replication’s economic similarity to the original.</a:t>
            </a:r>
          </a:p>
        </p:txBody>
      </p:sp>
    </p:spTree>
    <p:extLst>
      <p:ext uri="{BB962C8B-B14F-4D97-AF65-F5344CB8AC3E}">
        <p14:creationId xmlns:p14="http://schemas.microsoft.com/office/powerpoint/2010/main" val="5485320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166DBE-344C-49BA-843F-C0722674AE2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8C96F4-9E47-47DC-987E-185E99AF0A2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09ADAE-25E3-42A0-AB06-F1332454AEE1}"/>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Transformer: the common training budget</a:t>
            </a:r>
          </a:p>
        </p:txBody>
      </p:sp>
      <p:sp>
        <p:nvSpPr>
          <p:cNvPr id="4" name="">
            <a:extLst xmlns:a="http://schemas.openxmlformats.org/drawingml/2006/main">
              <a:ext uri="{FF2B5EF4-FFF2-40B4-BE49-F238E27FC236}">
                <a16:creationId xmlns:a16="http://schemas.microsoft.com/office/drawing/2014/main" id="{3F78C370-320C-4285-8BE6-17F488CD4FC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5" name="">
            <a:extLst xmlns:a="http://schemas.openxmlformats.org/drawingml/2006/main">
              <a:ext uri="{FF2B5EF4-FFF2-40B4-BE49-F238E27FC236}">
                <a16:creationId xmlns:a16="http://schemas.microsoft.com/office/drawing/2014/main" id="{4D5826CC-CE4B-4A27-A695-09F2260D895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7</a:t>
            </a:r>
          </a:p>
        </p:txBody>
      </p:sp>
      <p:graphicFrame>
        <p:nvGraphicFramePr>
          <p:cNvPr id="15"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857500"/>
                <a:gridCol w="2743200"/>
                <a:gridCol w="2743200"/>
              </a:tblGrid>
              <a:tr h="476250">
                <a:tc>
                  <a:txBody>
                    <a:bodyPr/>
                    <a:lstStyle/>
                    <a:p>
                      <a:r>
                        <a:rPr sz="1350" b="1">
                          <a:solidFill>
                            <a:srgbClr val="FFFFFF"/>
                          </a:solidFill>
                          <a:latin typeface="Arial"/>
                          <a:ea typeface="Arial"/>
                          <a:cs typeface="Arial"/>
                        </a:rPr>
                        <a:t>Setting</a:t>
                      </a:r>
                    </a:p>
                  </a:txBody>
                  <a:tcPr marL="91440" marR="91440" marT="45720" marB="45720">
                    <a:solidFill>
                      <a:srgbClr val="003262"/>
                    </a:solidFill>
                  </a:tcPr>
                </a:tc>
                <a:tc>
                  <a:txBody>
                    <a:bodyPr/>
                    <a:lstStyle/>
                    <a:p>
                      <a:r>
                        <a:rPr sz="1350" b="1">
                          <a:solidFill>
                            <a:srgbClr val="FFFFFF"/>
                          </a:solidFill>
                          <a:latin typeface="Arial"/>
                          <a:ea typeface="Arial"/>
                          <a:cs typeface="Arial"/>
                        </a:rPr>
                        <a:t>Audited author setup</a:t>
                      </a:r>
                    </a:p>
                  </a:txBody>
                  <a:tcPr marL="91440" marR="91440" marT="45720" marB="45720">
                    <a:solidFill>
                      <a:srgbClr val="003262"/>
                    </a:solidFill>
                  </a:tcPr>
                </a:tc>
                <a:tc>
                  <a:txBody>
                    <a:bodyPr/>
                    <a:lstStyle/>
                    <a:p>
                      <a:r>
                        <a:rPr sz="1350" b="1">
                          <a:solidFill>
                            <a:srgbClr val="FFFFFF"/>
                          </a:solidFill>
                          <a:latin typeface="Arial"/>
                          <a:ea typeface="Arial"/>
                          <a:cs typeface="Arial"/>
                        </a:rPr>
                        <a:t>Our completed run</a:t>
                      </a:r>
                    </a:p>
                  </a:txBody>
                  <a:tcPr marL="91440" marR="91440" marT="45720" marB="45720">
                    <a:solidFill>
                      <a:srgbClr val="003262"/>
                    </a:solidFill>
                  </a:tcPr>
                </a:tc>
              </a:tr>
              <a:tr h="476250">
                <a:tc>
                  <a:txBody>
                    <a:bodyPr/>
                    <a:lstStyle/>
                    <a:p>
                      <a:r>
                        <a:rPr sz="1425" b="0">
                          <a:solidFill>
                            <a:srgbClr val="1F2A37"/>
                          </a:solidFill>
                          <a:latin typeface="Arial"/>
                          <a:ea typeface="Arial"/>
                          <a:cs typeface="Arial"/>
                        </a:rPr>
                        <a:t>Stage 1 / 2 / 3 epochs</a:t>
                      </a:r>
                    </a:p>
                  </a:txBody>
                  <a:tcPr marL="91440" marR="91440" marT="45720" marB="45720">
                    <a:solidFill>
                      <a:srgbClr val="EEF3F8"/>
                    </a:solidFill>
                  </a:tcPr>
                </a:tc>
                <a:tc>
                  <a:txBody>
                    <a:bodyPr/>
                    <a:lstStyle/>
                    <a:p>
                      <a:r>
                        <a:rPr sz="1425" b="0">
                          <a:solidFill>
                            <a:srgbClr val="1F2A37"/>
                          </a:solidFill>
                          <a:latin typeface="Arial"/>
                          <a:ea typeface="Arial"/>
                          <a:cs typeface="Arial"/>
                        </a:rPr>
                        <a:t>256 / 64 / 1024</a:t>
                      </a:r>
                    </a:p>
                  </a:txBody>
                  <a:tcPr marL="91440" marR="91440" marT="45720" marB="45720">
                    <a:solidFill>
                      <a:srgbClr val="EEF3F8"/>
                    </a:solidFill>
                  </a:tcPr>
                </a:tc>
                <a:tc>
                  <a:txBody>
                    <a:bodyPr/>
                    <a:lstStyle/>
                    <a:p>
                      <a:r>
                        <a:rPr sz="1425" b="0">
                          <a:solidFill>
                            <a:srgbClr val="1F2A37"/>
                          </a:solidFill>
                          <a:latin typeface="Arial"/>
                          <a:ea typeface="Arial"/>
                          <a:cs typeface="Arial"/>
                        </a:rPr>
                        <a:t>16 / 4 / 48</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Optimizer passes</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Checkpoint warm-up</a:t>
                      </a:r>
                    </a:p>
                  </a:txBody>
                  <a:tcPr marL="91440" marR="91440" marT="45720" marB="45720">
                    <a:solidFill>
                      <a:srgbClr val="EEF3F8"/>
                    </a:solidFill>
                  </a:tcPr>
                </a:tc>
                <a:tc>
                  <a:txBody>
                    <a:bodyPr/>
                    <a:lstStyle/>
                    <a:p>
                      <a:r>
                        <a:rPr sz="1425" b="0">
                          <a:solidFill>
                            <a:srgbClr val="1F2A37"/>
                          </a:solidFill>
                          <a:latin typeface="Arial"/>
                          <a:ea typeface="Arial"/>
                          <a:cs typeface="Arial"/>
                        </a:rPr>
                        <a:t>64 epochs</a:t>
                      </a:r>
                    </a:p>
                  </a:txBody>
                  <a:tcPr marL="91440" marR="91440" marT="45720" marB="45720">
                    <a:solidFill>
                      <a:srgbClr val="EEF3F8"/>
                    </a:solidFill>
                  </a:tcPr>
                </a:tc>
                <a:tc>
                  <a:txBody>
                    <a:bodyPr/>
                    <a:lstStyle/>
                    <a:p>
                      <a:r>
                        <a:rPr sz="1425" b="0">
                          <a:solidFill>
                            <a:srgbClr val="1F2A37"/>
                          </a:solidFill>
                          <a:latin typeface="Arial"/>
                          <a:ea typeface="Arial"/>
                          <a:cs typeface="Arial"/>
                        </a:rPr>
                        <a:t>4 epochs</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Seeds per architecture</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Training framework</a:t>
                      </a:r>
                    </a:p>
                  </a:txBody>
                  <a:tcPr marL="91440" marR="91440" marT="45720" marB="45720">
                    <a:solidFill>
                      <a:srgbClr val="EEF3F8"/>
                    </a:solidFill>
                  </a:tcPr>
                </a:tc>
                <a:tc>
                  <a:txBody>
                    <a:bodyPr/>
                    <a:lstStyle/>
                    <a:p>
                      <a:r>
                        <a:rPr sz="1425" b="0">
                          <a:solidFill>
                            <a:srgbClr val="1F2A37"/>
                          </a:solidFill>
                          <a:latin typeface="Arial"/>
                          <a:ea typeface="Arial"/>
                          <a:cs typeface="Arial"/>
                        </a:rPr>
                        <a:t>TensorFlow author code</a:t>
                      </a:r>
                    </a:p>
                  </a:txBody>
                  <a:tcPr marL="91440" marR="91440" marT="45720" marB="45720">
                    <a:solidFill>
                      <a:srgbClr val="EEF3F8"/>
                    </a:solidFill>
                  </a:tcPr>
                </a:tc>
                <a:tc>
                  <a:txBody>
                    <a:bodyPr/>
                    <a:lstStyle/>
                    <a:p>
                      <a:r>
                        <a:rPr sz="1425" b="0">
                          <a:solidFill>
                            <a:srgbClr val="1F2A37"/>
                          </a:solidFill>
                          <a:latin typeface="Arial"/>
                          <a:ea typeface="Arial"/>
                          <a:cs typeface="Arial"/>
                        </a:rPr>
                        <a:t>PyTorch port</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883618E6-C473-4773-BCBA-A3EF6C31F05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All 18 new models completed in 12.9 minutes. Full training remains a separate test.</a:t>
            </a:r>
          </a:p>
        </p:txBody>
      </p:sp>
    </p:spTree>
    <p:extLst>
      <p:ext uri="{BB962C8B-B14F-4D97-AF65-F5344CB8AC3E}">
        <p14:creationId xmlns:p14="http://schemas.microsoft.com/office/powerpoint/2010/main" val="17261830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00D548-CD4D-413E-AD30-5A44507AFBDE}"/>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36E9CD-0600-4E31-A07F-ADDD8F6A58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300B09-DD34-41F4-8BA7-2536FAF5AF8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Transformer: train, validation and test results</a:t>
            </a:r>
          </a:p>
        </p:txBody>
      </p:sp>
      <p:sp>
        <p:nvSpPr>
          <p:cNvPr id="4" name="">
            <a:extLst xmlns:a="http://schemas.openxmlformats.org/drawingml/2006/main">
              <a:ext uri="{FF2B5EF4-FFF2-40B4-BE49-F238E27FC236}">
                <a16:creationId xmlns:a16="http://schemas.microsoft.com/office/drawing/2014/main" id="{2D271C58-2903-4859-91E8-D524505C822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5" name="">
            <a:extLst xmlns:a="http://schemas.openxmlformats.org/drawingml/2006/main">
              <a:ext uri="{FF2B5EF4-FFF2-40B4-BE49-F238E27FC236}">
                <a16:creationId xmlns:a16="http://schemas.microsoft.com/office/drawing/2014/main" id="{218538B8-CE65-40DB-9125-1A3ECA8F009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8</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d41a784ab1ca4ab7"/>
          </a:graphicData>
        </a:graphic>
      </p:graphicFrame>
      <p:sp>
        <p:nvSpPr>
          <p:cNvPr id="7" name="">
            <a:extLst xmlns:a="http://schemas.openxmlformats.org/drawingml/2006/main">
              <a:ext uri="{FF2B5EF4-FFF2-40B4-BE49-F238E27FC236}">
                <a16:creationId xmlns:a16="http://schemas.microsoft.com/office/drawing/2014/main" id="{7429AC2E-F16A-401C-8BD1-7EEEB3CC505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new LSTM exceeds Transformer in all three splits under the reduced budget.</a:t>
            </a:r>
          </a:p>
        </p:txBody>
      </p:sp>
    </p:spTree>
    <p:extLst>
      <p:ext uri="{BB962C8B-B14F-4D97-AF65-F5344CB8AC3E}">
        <p14:creationId xmlns:p14="http://schemas.microsoft.com/office/powerpoint/2010/main" val="20379542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3869B9-2101-4069-81C0-29135000AE4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97E64C-7EDA-4C1A-B55C-AE2096D2225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D529E9-95AC-4B91-85F6-BB684B3665B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evaluation method</a:t>
            </a:r>
          </a:p>
        </p:txBody>
      </p:sp>
      <p:sp>
        <p:nvSpPr>
          <p:cNvPr id="4" name="">
            <a:extLst xmlns:a="http://schemas.openxmlformats.org/drawingml/2006/main">
              <a:ext uri="{FF2B5EF4-FFF2-40B4-BE49-F238E27FC236}">
                <a16:creationId xmlns:a16="http://schemas.microsoft.com/office/drawing/2014/main" id="{B8C98099-D8AB-4624-A4AA-696AE6FD73B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8383DE2C-E69F-4F84-971A-43AB596E9A0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9</a:t>
            </a:r>
          </a:p>
        </p:txBody>
      </p:sp>
      <p:graphicFrame>
        <p:nvGraphicFramePr>
          <p:cNvPr id="16" name=""/>
          <p:cNvGraphicFramePr/>
          <p:nvPr/>
        </p:nvGraphicFramePr>
        <p:xfrm>
          <a:off xmlns:a="http://schemas.openxmlformats.org/drawingml/2006/main" x="400050" y="1019175"/>
          <a:ext xmlns:a="http://schemas.openxmlformats.org/drawingml/2006/main" cx="8343900" cy="2524125"/>
        </p:xfrm>
        <a:graphic xmlns:a="http://schemas.openxmlformats.org/drawingml/2006/main">
          <a:graphicData uri="http://schemas.openxmlformats.org/drawingml/2006/table">
            <a:tbl>
              <a:tblPr/>
              <a:tblGrid>
                <a:gridCol w="2762250"/>
                <a:gridCol w="2790825"/>
                <a:gridCol w="2790825"/>
              </a:tblGrid>
              <a:tr h="504825">
                <a:tc>
                  <a:txBody>
                    <a:bodyPr/>
                    <a:lstStyle/>
                    <a:p>
                      <a:r>
                        <a:rPr sz="1350" b="1">
                          <a:solidFill>
                            <a:srgbClr val="FFFFFF"/>
                          </a:solidFill>
                          <a:latin typeface="Arial"/>
                          <a:ea typeface="Arial"/>
                          <a:cs typeface="Arial"/>
                        </a:rPr>
                        <a:t>Definition</a:t>
                      </a:r>
                    </a:p>
                  </a:txBody>
                  <a:tcPr marL="91440" marR="91440" marT="45720" marB="45720">
                    <a:solidFill>
                      <a:srgbClr val="003262"/>
                    </a:solidFill>
                  </a:tcPr>
                </a:tc>
                <a:tc>
                  <a:txBody>
                    <a:bodyPr/>
                    <a:lstStyle/>
                    <a:p>
                      <a:r>
                        <a:rPr sz="1350" b="1">
                          <a:solidFill>
                            <a:srgbClr val="FFFFFF"/>
                          </a:solidFill>
                          <a:latin typeface="Arial"/>
                          <a:ea typeface="Arial"/>
                          <a:cs typeface="Arial"/>
                        </a:rPr>
                        <a:t>36 months</a:t>
                      </a:r>
                    </a:p>
                  </a:txBody>
                  <a:tcPr marL="91440" marR="91440" marT="45720" marB="45720">
                    <a:solidFill>
                      <a:srgbClr val="003262"/>
                    </a:solidFill>
                  </a:tcPr>
                </a:tc>
                <a:tc>
                  <a:txBody>
                    <a:bodyPr/>
                    <a:lstStyle/>
                    <a:p>
                      <a:r>
                        <a:rPr sz="1350" b="1">
                          <a:solidFill>
                            <a:srgbClr val="FFFFFF"/>
                          </a:solidFill>
                          <a:latin typeface="Arial"/>
                          <a:ea typeface="Arial"/>
                          <a:cs typeface="Arial"/>
                        </a:rPr>
                        <a:t>60 months</a:t>
                      </a:r>
                    </a:p>
                  </a:txBody>
                  <a:tcPr marL="91440" marR="91440" marT="45720" marB="45720">
                    <a:solidFill>
                      <a:srgbClr val="003262"/>
                    </a:solidFill>
                  </a:tcPr>
                </a:tc>
              </a:tr>
              <a:tr h="504825">
                <a:tc>
                  <a:txBody>
                    <a:bodyPr/>
                    <a:lstStyle/>
                    <a:p>
                      <a:r>
                        <a:rPr sz="1425" b="0">
                          <a:solidFill>
                            <a:srgbClr val="1F2A37"/>
                          </a:solidFill>
                          <a:latin typeface="Arial"/>
                          <a:ea typeface="Arial"/>
                          <a:cs typeface="Arial"/>
                        </a:rPr>
                        <a:t>Complete windows</a:t>
                      </a:r>
                    </a:p>
                  </a:txBody>
                  <a:tcPr marL="91440" marR="91440" marT="45720" marB="45720">
                    <a:solidFill>
                      <a:srgbClr val="EEF3F8"/>
                    </a:solidFill>
                  </a:tcPr>
                </a:tc>
                <a:tc>
                  <a:txBody>
                    <a:bodyPr/>
                    <a:lstStyle/>
                    <a:p>
                      <a:r>
                        <a:rPr sz="1425" b="0">
                          <a:solidFill>
                            <a:srgbClr val="1F2A37"/>
                          </a:solidFill>
                          <a:latin typeface="Arial"/>
                          <a:ea typeface="Arial"/>
                          <a:cs typeface="Arial"/>
                        </a:rPr>
                        <a:t>265</a:t>
                      </a:r>
                    </a:p>
                  </a:txBody>
                  <a:tcPr marL="91440" marR="91440" marT="45720" marB="45720">
                    <a:solidFill>
                      <a:srgbClr val="EEF3F8"/>
                    </a:solidFill>
                  </a:tcPr>
                </a:tc>
                <a:tc>
                  <a:txBody>
                    <a:bodyPr/>
                    <a:lstStyle/>
                    <a:p>
                      <a:r>
                        <a:rPr sz="1425" b="0">
                          <a:solidFill>
                            <a:srgbClr val="1F2A37"/>
                          </a:solidFill>
                          <a:latin typeface="Arial"/>
                          <a:ea typeface="Arial"/>
                          <a:cs typeface="Arial"/>
                        </a:rPr>
                        <a:t>241</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First endpoint</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1994</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1996</a:t>
                      </a:r>
                    </a:p>
                  </a:txBody>
                  <a:tcPr marL="91440" marR="91440" marT="45720" marB="45720">
                    <a:solidFill>
                      <a:srgbClr val="FFFFFF"/>
                    </a:solidFill>
                  </a:tcPr>
                </a:tc>
              </a:tr>
              <a:tr h="504825">
                <a:tc>
                  <a:txBody>
                    <a:bodyPr/>
                    <a:lstStyle/>
                    <a:p>
                      <a:r>
                        <a:rPr sz="1425" b="0">
                          <a:solidFill>
                            <a:srgbClr val="1F2A37"/>
                          </a:solidFill>
                          <a:latin typeface="Arial"/>
                          <a:ea typeface="Arial"/>
                          <a:cs typeface="Arial"/>
                        </a:rPr>
                        <a:t>Last endpoint</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Statistic</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706FECD-096C-4D33-B362-BC3250BA0112}"/>
              </a:ext>
            </a:extLst>
          </p:cNvPr>
          <p:cNvSpPr>
            <a:spLocks xmlns:a="http://schemas.openxmlformats.org/drawingml/2006/main" noGrp="1"/>
          </p:cNvSpPr>
          <p:nvPr/>
        </p:nvSpPr>
        <p:spPr>
          <a:xfrm xmlns:a="http://schemas.openxmlformats.org/drawingml/2006/main">
            <a:off x="419100" y="3743325"/>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F2A37"/>
                </a:solidFill>
                <a:latin typeface="Arial"/>
                <a:ea typeface="Arial"/>
                <a:cs typeface="Arial"/>
              </a:defRPr>
            </a:pPr>
            <a:r>
              <a:rPr sz="1500" b="0">
                <a:solidFill>
                  <a:srgbClr val="1F2A37"/>
                </a:solidFill>
                <a:latin typeface="Arial"/>
                <a:ea typeface="Arial"/>
                <a:cs typeface="Arial"/>
              </a:rPr>
              <a:t>Each window reuses earlier returns. Longer windows smooth short episodes.</a:t>
            </a:r>
          </a:p>
        </p:txBody>
      </p:sp>
      <p:sp>
        <p:nvSpPr>
          <p:cNvPr id="8" name="">
            <a:extLst xmlns:a="http://schemas.openxmlformats.org/drawingml/2006/main">
              <a:ext uri="{FF2B5EF4-FFF2-40B4-BE49-F238E27FC236}">
                <a16:creationId xmlns:a16="http://schemas.microsoft.com/office/drawing/2014/main" id="{B651E15A-E374-4C06-B390-EC7648703C08}"/>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This experiment evaluates fixed models. It does not refit an expanding-window model.</a:t>
            </a:r>
          </a:p>
        </p:txBody>
      </p:sp>
    </p:spTree>
    <p:extLst>
      <p:ext uri="{BB962C8B-B14F-4D97-AF65-F5344CB8AC3E}">
        <p14:creationId xmlns:p14="http://schemas.microsoft.com/office/powerpoint/2010/main" val="7677270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66F3AD-AB2C-46C9-A764-C82928CDD4CD}"/>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5C9FE0-4892-415D-BDDA-B96FA88720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D8B698-64C8-4609-9EBC-EBD49393650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36- and 60-month Sharpe</a:t>
            </a:r>
          </a:p>
        </p:txBody>
      </p:sp>
      <p:sp>
        <p:nvSpPr>
          <p:cNvPr id="4" name="">
            <a:extLst xmlns:a="http://schemas.openxmlformats.org/drawingml/2006/main">
              <a:ext uri="{FF2B5EF4-FFF2-40B4-BE49-F238E27FC236}">
                <a16:creationId xmlns:a16="http://schemas.microsoft.com/office/drawing/2014/main" id="{29C225ED-7FEF-4671-B713-F8C687A0375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33563EF8-0359-4721-8AFE-4463B97AA99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10</a:t>
            </a:r>
          </a:p>
        </p:txBody>
      </p:sp>
      <p:sp>
        <p:nvSpPr>
          <p:cNvPr id="14" name="">
            <a:extLst xmlns:a="http://schemas.openxmlformats.org/drawingml/2006/main">
              <a:ext uri="{FF2B5EF4-FFF2-40B4-BE49-F238E27FC236}">
                <a16:creationId xmlns:a16="http://schemas.microsoft.com/office/drawing/2014/main" id="{170403B4-870F-47A9-A49C-3F6591CE0E8B}"/>
              </a:ext>
            </a:extLst>
          </p:cNvPr>
          <p:cNvSpPr>
            <a:spLocks xmlns:a="http://schemas.openxmlformats.org/drawingml/2006/main" noGrp="1"/>
          </p:cNvSpPr>
          <p:nvPr/>
        </p:nvSpPr>
        <p:spPr>
          <a:xfrm xmlns:a="http://schemas.openxmlformats.org/drawingml/2006/main">
            <a:off x="419100" y="4286250"/>
            <a:ext cx="828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03262"/>
                </a:solidFill>
                <a:latin typeface="Arial"/>
                <a:ea typeface="Arial"/>
                <a:cs typeface="Arial"/>
              </a:defRPr>
            </a:pPr>
            <a:r>
              <a:rPr sz="1500" b="1">
                <a:solidFill>
                  <a:srgbClr val="003262"/>
                </a:solidFill>
                <a:latin typeface="Arial"/>
                <a:ea typeface="Arial"/>
                <a:cs typeface="Arial"/>
              </a:rPr>
              <a:t>Both window lengths show changes in relative performance.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0de15f4d2534da9"/>
          <a:stretch xmlns:a="http://schemas.openxmlformats.org/drawingml/2006/main"/>
        </p:blipFill>
        <p:spPr>
          <a:xfrm xmlns:a="http://schemas.openxmlformats.org/drawingml/2006/main">
            <a:off x="1909763" y="857250"/>
            <a:ext cx="5324475" cy="3276600"/>
          </a:xfrm>
          <a:prstGeom xmlns:a="http://schemas.openxmlformats.org/drawingml/2006/main" prst="rect">
            <a:avLst/>
          </a:prstGeom>
        </p:spPr>
      </p:pic>
    </p:spTree>
    <p:extLst>
      <p:ext uri="{BB962C8B-B14F-4D97-AF65-F5344CB8AC3E}">
        <p14:creationId xmlns:p14="http://schemas.microsoft.com/office/powerpoint/2010/main" val="14677675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684BC9-CA6F-402B-8EA3-FB842427B8A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1C0E0C-EE9E-48E8-BB18-B23D28C2B7A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D997F5-B0D1-43D2-AF04-C2B4C225D23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comparison across window lengths</a:t>
            </a:r>
          </a:p>
        </p:txBody>
      </p:sp>
      <p:sp>
        <p:nvSpPr>
          <p:cNvPr id="4" name="">
            <a:extLst xmlns:a="http://schemas.openxmlformats.org/drawingml/2006/main">
              <a:ext uri="{FF2B5EF4-FFF2-40B4-BE49-F238E27FC236}">
                <a16:creationId xmlns:a16="http://schemas.microsoft.com/office/drawing/2014/main" id="{C1614DA6-E92A-4541-8667-D8767936BAA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83F57E94-0C2E-463E-AB6F-FA2155D67CEF}"/>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11</a:t>
            </a:r>
          </a:p>
        </p:txBody>
      </p:sp>
      <p:graphicFrame>
        <p:nvGraphicFramePr>
          <p:cNvPr id="15"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952750"/>
                <a:gridCol w="2695575"/>
                <a:gridCol w="2695575"/>
              </a:tblGrid>
              <a:tr h="476250">
                <a:tc>
                  <a:txBody>
                    <a:bodyPr/>
                    <a:lstStyle/>
                    <a:p>
                      <a:r>
                        <a:rPr sz="1575" b="1">
                          <a:solidFill>
                            <a:srgbClr val="FFFFFF"/>
                          </a:solidFill>
                          <a:latin typeface="Arial"/>
                          <a:ea typeface="Arial"/>
                          <a:cs typeface="Arial"/>
                        </a:rPr>
                        <a:t>Portfolio</a:t>
                      </a:r>
                    </a:p>
                  </a:txBody>
                  <a:tcPr marL="91440" marR="91440" marT="45720" marB="45720">
                    <a:solidFill>
                      <a:srgbClr val="003262"/>
                    </a:solidFill>
                  </a:tcPr>
                </a:tc>
                <a:tc>
                  <a:txBody>
                    <a:bodyPr/>
                    <a:lstStyle/>
                    <a:p>
                      <a:r>
                        <a:rPr sz="1575" b="1">
                          <a:solidFill>
                            <a:srgbClr val="FFFFFF"/>
                          </a:solidFill>
                          <a:latin typeface="Arial"/>
                          <a:ea typeface="Arial"/>
                          <a:cs typeface="Arial"/>
                        </a:rPr>
                        <a:t>36-month mean</a:t>
                      </a:r>
                    </a:p>
                  </a:txBody>
                  <a:tcPr marL="91440" marR="91440" marT="45720" marB="45720">
                    <a:solidFill>
                      <a:srgbClr val="003262"/>
                    </a:solidFill>
                  </a:tcPr>
                </a:tc>
                <a:tc>
                  <a:txBody>
                    <a:bodyPr/>
                    <a:lstStyle/>
                    <a:p>
                      <a:r>
                        <a:rPr sz="1575" b="1">
                          <a:solidFill>
                            <a:srgbClr val="FFFFFF"/>
                          </a:solidFill>
                          <a:latin typeface="Arial"/>
                          <a:ea typeface="Arial"/>
                          <a:cs typeface="Arial"/>
                        </a:rPr>
                        <a:t>60-month mean</a:t>
                      </a:r>
                    </a:p>
                  </a:txBody>
                  <a:tcPr marL="91440" marR="91440" marT="45720" marB="45720">
                    <a:solidFill>
                      <a:srgbClr val="003262"/>
                    </a:solidFill>
                  </a:tcPr>
                </a:tc>
              </a:tr>
              <a:tr h="476250">
                <a:tc>
                  <a:txBody>
                    <a:bodyPr/>
                    <a:lstStyle/>
                    <a:p>
                      <a:r>
                        <a:rPr sz="1650" b="0">
                          <a:solidFill>
                            <a:srgbClr val="1F2A37"/>
                          </a:solidFill>
                          <a:latin typeface="Arial"/>
                          <a:ea typeface="Arial"/>
                          <a:cs typeface="Arial"/>
                        </a:rPr>
                        <a:t>Paper GAN</a:t>
                      </a:r>
                    </a:p>
                  </a:txBody>
                  <a:tcPr marL="91440" marR="91440" marT="45720" marB="45720">
                    <a:solidFill>
                      <a:srgbClr val="EEF3F8"/>
                    </a:solidFill>
                  </a:tcPr>
                </a:tc>
                <a:tc>
                  <a:txBody>
                    <a:bodyPr/>
                    <a:lstStyle/>
                    <a:p>
                      <a:r>
                        <a:rPr sz="1650" b="0">
                          <a:solidFill>
                            <a:srgbClr val="1F2A37"/>
                          </a:solidFill>
                          <a:latin typeface="Arial"/>
                          <a:ea typeface="Arial"/>
                          <a:cs typeface="Arial"/>
                        </a:rPr>
                        <a:t>3.638</a:t>
                      </a:r>
                    </a:p>
                  </a:txBody>
                  <a:tcPr marL="91440" marR="91440" marT="45720" marB="45720">
                    <a:solidFill>
                      <a:srgbClr val="EEF3F8"/>
                    </a:solidFill>
                  </a:tcPr>
                </a:tc>
                <a:tc>
                  <a:txBody>
                    <a:bodyPr/>
                    <a:lstStyle/>
                    <a:p>
                      <a:r>
                        <a:rPr sz="1650" b="0">
                          <a:solidFill>
                            <a:srgbClr val="1F2A37"/>
                          </a:solidFill>
                          <a:latin typeface="Arial"/>
                          <a:ea typeface="Arial"/>
                          <a:cs typeface="Arial"/>
                        </a:rPr>
                        <a:t>3.199</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Replicated GAN</a:t>
                      </a:r>
                    </a:p>
                  </a:txBody>
                  <a:tcPr marL="91440" marR="91440" marT="45720" marB="45720">
                    <a:solidFill>
                      <a:srgbClr val="FFFFFF"/>
                    </a:solidFill>
                  </a:tcPr>
                </a:tc>
                <a:tc>
                  <a:txBody>
                    <a:bodyPr/>
                    <a:lstStyle/>
                    <a:p>
                      <a:r>
                        <a:rPr sz="1650" b="0">
                          <a:solidFill>
                            <a:srgbClr val="1F2A37"/>
                          </a:solidFill>
                          <a:latin typeface="Arial"/>
                          <a:ea typeface="Arial"/>
                          <a:cs typeface="Arial"/>
                        </a:rPr>
                        <a:t>2.890</a:t>
                      </a:r>
                    </a:p>
                  </a:txBody>
                  <a:tcPr marL="91440" marR="91440" marT="45720" marB="45720">
                    <a:solidFill>
                      <a:srgbClr val="FFFFFF"/>
                    </a:solidFill>
                  </a:tcPr>
                </a:tc>
                <a:tc>
                  <a:txBody>
                    <a:bodyPr/>
                    <a:lstStyle/>
                    <a:p>
                      <a:r>
                        <a:rPr sz="1650" b="0">
                          <a:solidFill>
                            <a:srgbClr val="1F2A37"/>
                          </a:solidFill>
                          <a:latin typeface="Arial"/>
                          <a:ea typeface="Arial"/>
                          <a:cs typeface="Arial"/>
                        </a:rPr>
                        <a:t>2.504</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Extension LSTM</a:t>
                      </a:r>
                    </a:p>
                  </a:txBody>
                  <a:tcPr marL="91440" marR="91440" marT="45720" marB="45720">
                    <a:solidFill>
                      <a:srgbClr val="EEF3F8"/>
                    </a:solidFill>
                  </a:tcPr>
                </a:tc>
                <a:tc>
                  <a:txBody>
                    <a:bodyPr/>
                    <a:lstStyle/>
                    <a:p>
                      <a:r>
                        <a:rPr sz="1650" b="0">
                          <a:solidFill>
                            <a:srgbClr val="1F2A37"/>
                          </a:solidFill>
                          <a:latin typeface="Arial"/>
                          <a:ea typeface="Arial"/>
                          <a:cs typeface="Arial"/>
                        </a:rPr>
                        <a:t>1.992</a:t>
                      </a:r>
                    </a:p>
                  </a:txBody>
                  <a:tcPr marL="91440" marR="91440" marT="45720" marB="45720">
                    <a:solidFill>
                      <a:srgbClr val="EEF3F8"/>
                    </a:solidFill>
                  </a:tcPr>
                </a:tc>
                <a:tc>
                  <a:txBody>
                    <a:bodyPr/>
                    <a:lstStyle/>
                    <a:p>
                      <a:r>
                        <a:rPr sz="1650" b="0">
                          <a:solidFill>
                            <a:srgbClr val="1F2A37"/>
                          </a:solidFill>
                          <a:latin typeface="Arial"/>
                          <a:ea typeface="Arial"/>
                          <a:cs typeface="Arial"/>
                        </a:rPr>
                        <a:t>1.795</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Transformer</a:t>
                      </a:r>
                    </a:p>
                  </a:txBody>
                  <a:tcPr marL="91440" marR="91440" marT="45720" marB="45720">
                    <a:solidFill>
                      <a:srgbClr val="FFFFFF"/>
                    </a:solidFill>
                  </a:tcPr>
                </a:tc>
                <a:tc>
                  <a:txBody>
                    <a:bodyPr/>
                    <a:lstStyle/>
                    <a:p>
                      <a:r>
                        <a:rPr sz="1650" b="0">
                          <a:solidFill>
                            <a:srgbClr val="1F2A37"/>
                          </a:solidFill>
                          <a:latin typeface="Arial"/>
                          <a:ea typeface="Arial"/>
                          <a:cs typeface="Arial"/>
                        </a:rPr>
                        <a:t>1.467</a:t>
                      </a:r>
                    </a:p>
                  </a:txBody>
                  <a:tcPr marL="91440" marR="91440" marT="45720" marB="45720">
                    <a:solidFill>
                      <a:srgbClr val="FFFFFF"/>
                    </a:solidFill>
                  </a:tcPr>
                </a:tc>
                <a:tc>
                  <a:txBody>
                    <a:bodyPr/>
                    <a:lstStyle/>
                    <a:p>
                      <a:r>
                        <a:rPr sz="1650" b="0">
                          <a:solidFill>
                            <a:srgbClr val="1F2A37"/>
                          </a:solidFill>
                          <a:latin typeface="Arial"/>
                          <a:ea typeface="Arial"/>
                          <a:cs typeface="Arial"/>
                        </a:rPr>
                        <a:t>1.228</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650" b="0">
                          <a:solidFill>
                            <a:srgbClr val="1F2A37"/>
                          </a:solidFill>
                          <a:latin typeface="Arial"/>
                          <a:ea typeface="Arial"/>
                          <a:cs typeface="Arial"/>
                        </a:rPr>
                        <a:t>2.166</a:t>
                      </a:r>
                    </a:p>
                  </a:txBody>
                  <a:tcPr marL="91440" marR="91440" marT="45720" marB="45720">
                    <a:solidFill>
                      <a:srgbClr val="EEF3F8"/>
                    </a:solidFill>
                  </a:tcPr>
                </a:tc>
                <a:tc>
                  <a:txBody>
                    <a:bodyPr/>
                    <a:lstStyle/>
                    <a:p>
                      <a:r>
                        <a:rPr sz="1650" b="0">
                          <a:solidFill>
                            <a:srgbClr val="1F2A37"/>
                          </a:solidFill>
                          <a:latin typeface="Arial"/>
                          <a:ea typeface="Arial"/>
                          <a:cs typeface="Arial"/>
                        </a:rPr>
                        <a:t>1.871</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889A1406-2FAC-4EE6-923B-2441B6AB8BD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LSTM has the higher average, while the 36-month Transformer median is slightly higher.</a:t>
            </a:r>
          </a:p>
        </p:txBody>
      </p:sp>
    </p:spTree>
    <p:extLst>
      <p:ext uri="{BB962C8B-B14F-4D97-AF65-F5344CB8AC3E}">
        <p14:creationId xmlns:p14="http://schemas.microsoft.com/office/powerpoint/2010/main" val="2675683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5E5558-6D3D-4419-AB34-A274CB1C6EDC}"/>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322014-C91C-46FD-AE54-1880BE263DDD}"/>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F230A8-3FFC-4E6D-8351-21107C8D574C}"/>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Regimes: definitions and sample sizes</a:t>
            </a:r>
          </a:p>
        </p:txBody>
      </p:sp>
      <p:sp>
        <p:nvSpPr>
          <p:cNvPr id="4" name="">
            <a:extLst xmlns:a="http://schemas.openxmlformats.org/drawingml/2006/main">
              <a:ext uri="{FF2B5EF4-FFF2-40B4-BE49-F238E27FC236}">
                <a16:creationId xmlns:a16="http://schemas.microsoft.com/office/drawing/2014/main" id="{DFCBBE1D-8D0C-4815-9EC8-A51897F62AF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5. Regime change</a:t>
            </a:r>
          </a:p>
        </p:txBody>
      </p:sp>
      <p:sp>
        <p:nvSpPr>
          <p:cNvPr id="5" name="">
            <a:extLst xmlns:a="http://schemas.openxmlformats.org/drawingml/2006/main">
              <a:ext uri="{FF2B5EF4-FFF2-40B4-BE49-F238E27FC236}">
                <a16:creationId xmlns:a16="http://schemas.microsoft.com/office/drawing/2014/main" id="{A33275F8-AEDE-492C-A99A-DDDA6FC4BD3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12</a:t>
            </a:r>
          </a:p>
        </p:txBody>
      </p:sp>
      <p:graphicFrame>
        <p:nvGraphicFramePr>
          <p:cNvPr id="16" name=""/>
          <p:cNvGraphicFramePr/>
          <p:nvPr/>
        </p:nvGraphicFramePr>
        <p:xfrm>
          <a:off xmlns:a="http://schemas.openxmlformats.org/drawingml/2006/main" x="400050" y="1019175"/>
          <a:ext xmlns:a="http://schemas.openxmlformats.org/drawingml/2006/main" cx="8343900" cy="1714500"/>
        </p:xfrm>
        <a:graphic xmlns:a="http://schemas.openxmlformats.org/drawingml/2006/main">
          <a:graphicData uri="http://schemas.openxmlformats.org/drawingml/2006/table">
            <a:tbl>
              <a:tblPr/>
              <a:tblGrid>
                <a:gridCol w="2095500"/>
                <a:gridCol w="3124200"/>
                <a:gridCol w="3124200"/>
              </a:tblGrid>
              <a:tr h="571500">
                <a:tc>
                  <a:txBody>
                    <a:bodyPr/>
                    <a:lstStyle/>
                    <a:p>
                      <a:r>
                        <a:rPr sz="1425" b="1">
                          <a:solidFill>
                            <a:srgbClr val="FFFFFF"/>
                          </a:solidFill>
                          <a:latin typeface="Arial"/>
                          <a:ea typeface="Arial"/>
                          <a:cs typeface="Arial"/>
                        </a:rPr>
                        <a:t>Regime family</a:t>
                      </a:r>
                    </a:p>
                  </a:txBody>
                  <a:tcPr marL="91440" marR="91440" marT="45720" marB="45720">
                    <a:solidFill>
                      <a:srgbClr val="003262"/>
                    </a:solidFill>
                  </a:tcPr>
                </a:tc>
                <a:tc>
                  <a:txBody>
                    <a:bodyPr/>
                    <a:lstStyle/>
                    <a:p>
                      <a:r>
                        <a:rPr sz="1425" b="1">
                          <a:solidFill>
                            <a:srgbClr val="FFFFFF"/>
                          </a:solidFill>
                          <a:latin typeface="Arial"/>
                          <a:ea typeface="Arial"/>
                          <a:cs typeface="Arial"/>
                        </a:rPr>
                        <a:t>Definition</a:t>
                      </a:r>
                    </a:p>
                  </a:txBody>
                  <a:tcPr marL="91440" marR="91440" marT="45720" marB="45720">
                    <a:solidFill>
                      <a:srgbClr val="003262"/>
                    </a:solidFill>
                  </a:tcPr>
                </a:tc>
                <a:tc>
                  <a:txBody>
                    <a:bodyPr/>
                    <a:lstStyle/>
                    <a:p>
                      <a:r>
                        <a:rPr sz="1425" b="1">
                          <a:solidFill>
                            <a:srgbClr val="FFFFFF"/>
                          </a:solidFill>
                          <a:latin typeface="Arial"/>
                          <a:ea typeface="Arial"/>
                          <a:cs typeface="Arial"/>
                        </a:rPr>
                        <a:t>Test months</a:t>
                      </a:r>
                    </a:p>
                  </a:txBody>
                  <a:tcPr marL="91440" marR="91440" marT="45720" marB="45720">
                    <a:solidFill>
                      <a:srgbClr val="003262"/>
                    </a:solidFill>
                  </a:tcPr>
                </a:tc>
              </a:tr>
              <a:tr h="571500">
                <a:tc>
                  <a:txBody>
                    <a:bodyPr/>
                    <a:lstStyle/>
                    <a:p>
                      <a:r>
                        <a:rPr sz="1500" b="0">
                          <a:solidFill>
                            <a:srgbClr val="1F2A37"/>
                          </a:solidFill>
                          <a:latin typeface="Arial"/>
                          <a:ea typeface="Arial"/>
                          <a:cs typeface="Arial"/>
                        </a:rPr>
                        <a:t>Business cycle</a:t>
                      </a:r>
                    </a:p>
                  </a:txBody>
                  <a:tcPr marL="91440" marR="91440" marT="45720" marB="45720">
                    <a:solidFill>
                      <a:srgbClr val="EEF3F8"/>
                    </a:solidFill>
                  </a:tcPr>
                </a:tc>
                <a:tc>
                  <a:txBody>
                    <a:bodyPr/>
                    <a:lstStyle/>
                    <a:p>
                      <a:r>
                        <a:rPr sz="1500" b="0">
                          <a:solidFill>
                            <a:srgbClr val="1F2A37"/>
                          </a:solidFill>
                          <a:latin typeface="Arial"/>
                          <a:ea typeface="Arial"/>
                          <a:cs typeface="Arial"/>
                        </a:rPr>
                        <a:t>NBER expansion / recession</a:t>
                      </a:r>
                    </a:p>
                  </a:txBody>
                  <a:tcPr marL="91440" marR="91440" marT="45720" marB="45720">
                    <a:solidFill>
                      <a:srgbClr val="EEF3F8"/>
                    </a:solidFill>
                  </a:tcPr>
                </a:tc>
                <a:tc>
                  <a:txBody>
                    <a:bodyPr/>
                    <a:lstStyle/>
                    <a:p>
                      <a:r>
                        <a:rPr sz="1500" b="0">
                          <a:solidFill>
                            <a:srgbClr val="1F2A37"/>
                          </a:solidFill>
                          <a:latin typeface="Arial"/>
                          <a:ea typeface="Arial"/>
                          <a:cs typeface="Arial"/>
                        </a:rPr>
                        <a:t>274 / 26</a:t>
                      </a:r>
                    </a:p>
                  </a:txBody>
                  <a:tcPr marL="91440" marR="91440" marT="45720" marB="45720">
                    <a:solidFill>
                      <a:srgbClr val="EEF3F8"/>
                    </a:solidFill>
                  </a:tcPr>
                </a:tc>
              </a:tr>
              <a:tr h="571500">
                <a:tc>
                  <a:txBody>
                    <a:bodyPr/>
                    <a:lstStyle/>
                    <a:p>
                      <a:r>
                        <a:rPr sz="1500" b="0">
                          <a:solidFill>
                            <a:srgbClr val="1F2A37"/>
                          </a:solidFill>
                          <a:latin typeface="Arial"/>
                          <a:ea typeface="Arial"/>
                          <a:cs typeface="Arial"/>
                        </a:rPr>
                        <a:t>Market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High / low previous-12-month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123 / 177</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32CA22B-6AFC-459D-9663-7BE494B42B45}"/>
              </a:ext>
            </a:extLst>
          </p:cNvPr>
          <p:cNvSpPr>
            <a:spLocks xmlns:a="http://schemas.openxmlformats.org/drawingml/2006/main" noGrp="1"/>
          </p:cNvSpPr>
          <p:nvPr/>
        </p:nvSpPr>
        <p:spPr>
          <a:xfrm xmlns:a="http://schemas.openxmlformats.org/drawingml/2006/main">
            <a:off x="419100" y="30003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F2A37"/>
                </a:solidFill>
                <a:latin typeface="Arial"/>
                <a:ea typeface="Arial"/>
                <a:cs typeface="Arial"/>
              </a:defRPr>
            </a:pPr>
            <a:r>
              <a:rPr sz="1725" b="0">
                <a:solidFill>
                  <a:srgbClr val="1F2A37"/>
                </a:solidFill>
                <a:latin typeface="Arial"/>
                <a:ea typeface="Arial"/>
                <a:cs typeface="Arial"/>
              </a:rPr>
              <a:t>The volatility cutoff comes from the training sample. Recession dates are retrospective.</a:t>
            </a:r>
          </a:p>
        </p:txBody>
      </p:sp>
      <p:sp>
        <p:nvSpPr>
          <p:cNvPr id="8" name="">
            <a:extLst xmlns:a="http://schemas.openxmlformats.org/drawingml/2006/main">
              <a:ext uri="{FF2B5EF4-FFF2-40B4-BE49-F238E27FC236}">
                <a16:creationId xmlns:a16="http://schemas.microsoft.com/office/drawing/2014/main" id="{44D9039A-A541-4AD4-9CA7-494649B8D9F6}"/>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These are separate partitions. Recession estimates depend on only 26 months.</a:t>
            </a:r>
          </a:p>
        </p:txBody>
      </p:sp>
    </p:spTree>
    <p:extLst>
      <p:ext uri="{BB962C8B-B14F-4D97-AF65-F5344CB8AC3E}">
        <p14:creationId xmlns:p14="http://schemas.microsoft.com/office/powerpoint/2010/main" val="2589247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E07DDD-E7B8-4EA3-9649-23508D781D75}"/>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AEA006-A383-4DD8-9A61-17200858636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64E306-5B97-4FC3-80A1-2ECF8446746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Regimes: comparison among our models</a:t>
            </a:r>
          </a:p>
        </p:txBody>
      </p:sp>
      <p:sp>
        <p:nvSpPr>
          <p:cNvPr id="4" name="">
            <a:extLst xmlns:a="http://schemas.openxmlformats.org/drawingml/2006/main">
              <a:ext uri="{FF2B5EF4-FFF2-40B4-BE49-F238E27FC236}">
                <a16:creationId xmlns:a16="http://schemas.microsoft.com/office/drawing/2014/main" id="{EDEF3DD9-A8F5-4FC0-B80F-F53973C90AC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5. Regime change</a:t>
            </a:r>
          </a:p>
        </p:txBody>
      </p:sp>
      <p:sp>
        <p:nvSpPr>
          <p:cNvPr id="5" name="">
            <a:extLst xmlns:a="http://schemas.openxmlformats.org/drawingml/2006/main">
              <a:ext uri="{FF2B5EF4-FFF2-40B4-BE49-F238E27FC236}">
                <a16:creationId xmlns:a16="http://schemas.microsoft.com/office/drawing/2014/main" id="{C2C842B4-2656-4E27-8170-29C06494A6C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e72f5afdbc94056"/>
          <a:stretch xmlns:a="http://schemas.openxmlformats.org/drawingml/2006/main"/>
        </p:blipFill>
        <p:spPr>
          <a:xfrm xmlns:a="http://schemas.openxmlformats.org/drawingml/2006/main">
            <a:off x="266700" y="948418"/>
            <a:ext cx="8610600" cy="30752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90AED53-B374-4B7A-A12E-21DB511BB2F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Conditional monthly Sharpe. These regime estimates do not include confidence intervals.</a:t>
            </a:r>
          </a:p>
        </p:txBody>
      </p:sp>
    </p:spTree>
    <p:extLst>
      <p:ext uri="{BB962C8B-B14F-4D97-AF65-F5344CB8AC3E}">
        <p14:creationId xmlns:p14="http://schemas.microsoft.com/office/powerpoint/2010/main" val="20768140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66F3AD-AB2C-46C9-A764-C82928CDD4CD}"/>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5C9FE0-4892-415D-BDDA-B96FA88720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D8B698-64C8-4609-9EBC-EBD49393650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rolling Sharpe differences</a:t>
            </a:r>
          </a:p>
        </p:txBody>
      </p:sp>
      <p:sp>
        <p:nvSpPr>
          <p:cNvPr id="4" name="">
            <a:extLst xmlns:a="http://schemas.openxmlformats.org/drawingml/2006/main">
              <a:ext uri="{FF2B5EF4-FFF2-40B4-BE49-F238E27FC236}">
                <a16:creationId xmlns:a16="http://schemas.microsoft.com/office/drawing/2014/main" id="{29C225ED-7FEF-4671-B713-F8C687A0375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33563EF8-0359-4721-8AFE-4463B97AA99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14</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ea219cd7f9248d3"/>
          <a:stretch xmlns:a="http://schemas.openxmlformats.org/drawingml/2006/main"/>
        </p:blipFill>
        <p:spPr>
          <a:xfrm xmlns:a="http://schemas.openxmlformats.org/drawingml/2006/main">
            <a:off x="902277" y="742950"/>
            <a:ext cx="5091545" cy="40005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691E2767-8387-4EFC-A199-B157CAF21585}"/>
              </a:ext>
            </a:extLst>
          </p:cNvPr>
          <p:cNvSpPr>
            <a:spLocks xmlns:a="http://schemas.openxmlformats.org/drawingml/2006/main" noGrp="1"/>
          </p:cNvSpPr>
          <p:nvPr/>
        </p:nvSpPr>
        <p:spPr>
          <a:xfrm xmlns:a="http://schemas.openxmlformats.org/drawingml/2006/main">
            <a:off x="6800850" y="1066800"/>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3262"/>
                </a:solidFill>
                <a:latin typeface="Arial"/>
                <a:ea typeface="Arial"/>
                <a:cs typeface="Arial"/>
              </a:defRPr>
            </a:pPr>
            <a:r>
              <a:rPr sz="1650" b="1">
                <a:solidFill>
                  <a:srgbClr val="003262"/>
                </a:solidFill>
                <a:latin typeface="Arial"/>
                <a:ea typeface="Arial"/>
                <a:cs typeface="Arial"/>
              </a:rPr>
              <a:t>36- and 60-month windows</a:t>
            </a:r>
          </a:p>
        </p:txBody>
      </p:sp>
      <p:sp>
        <p:nvSpPr>
          <p:cNvPr id="16" name="">
            <a:extLst xmlns:a="http://schemas.openxmlformats.org/drawingml/2006/main">
              <a:ext uri="{FF2B5EF4-FFF2-40B4-BE49-F238E27FC236}">
                <a16:creationId xmlns:a16="http://schemas.microsoft.com/office/drawing/2014/main" id="{99C3D0D2-7D5A-4D65-808F-FD54E24779DC}"/>
              </a:ext>
            </a:extLst>
          </p:cNvPr>
          <p:cNvSpPr>
            <a:spLocks xmlns:a="http://schemas.openxmlformats.org/drawingml/2006/main" noGrp="1"/>
          </p:cNvSpPr>
          <p:nvPr/>
        </p:nvSpPr>
        <p:spPr>
          <a:xfrm xmlns:a="http://schemas.openxmlformats.org/drawingml/2006/main">
            <a:off x="6800850" y="1924050"/>
            <a:ext cx="2133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003262"/>
                </a:solidFill>
                <a:latin typeface="Arial"/>
                <a:ea typeface="Arial"/>
                <a:cs typeface="Arial"/>
              </a:defRPr>
            </a:pPr>
            <a:r>
              <a:rPr sz="1500" b="0">
                <a:solidFill>
                  <a:srgbClr val="003262"/>
                </a:solidFill>
                <a:latin typeface="Arial"/>
                <a:ea typeface="Arial"/>
                <a:cs typeface="Arial"/>
              </a:rPr>
              <a:t>Line: observed annualized Sharpe gap.</a:t>
            </a:r>
          </a:p>
          <a:p xmlns:a="http://schemas.openxmlformats.org/drawingml/2006/main">
            <a:pPr>
              <a:defRPr sz="1500" b="0">
                <a:solidFill>
                  <a:srgbClr val="003262"/>
                </a:solidFill>
                <a:latin typeface="Arial"/>
                <a:ea typeface="Arial"/>
                <a:cs typeface="Arial"/>
              </a:defRPr>
            </a:pPr>
            <a:r>
              <a:rPr sz="1500" b="0">
                <a:solidFill>
                  <a:srgbClr val="003262"/>
                </a:solidFill>
                <a:latin typeface="Arial"/>
                <a:ea typeface="Arial"/>
                <a:cs typeface="Arial"/>
              </a:rPr>
              <a:t>Band: pointwise 95% basic interval.</a:t>
            </a:r>
          </a:p>
        </p:txBody>
      </p:sp>
      <p:sp>
        <p:nvSpPr>
          <p:cNvPr id="17" name="">
            <a:extLst xmlns:a="http://schemas.openxmlformats.org/drawingml/2006/main">
              <a:ext uri="{FF2B5EF4-FFF2-40B4-BE49-F238E27FC236}">
                <a16:creationId xmlns:a16="http://schemas.microsoft.com/office/drawing/2014/main" id="{EA078016-6D95-42DD-9D1A-8FDF3281167E}"/>
              </a:ext>
            </a:extLst>
          </p:cNvPr>
          <p:cNvSpPr>
            <a:spLocks xmlns:a="http://schemas.openxmlformats.org/drawingml/2006/main" noGrp="1"/>
          </p:cNvSpPr>
          <p:nvPr/>
        </p:nvSpPr>
        <p:spPr>
          <a:xfrm xmlns:a="http://schemas.openxmlformats.org/drawingml/2006/main">
            <a:off x="6800850" y="3305175"/>
            <a:ext cx="21336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3262"/>
                </a:solidFill>
                <a:latin typeface="Arial"/>
                <a:ea typeface="Arial"/>
                <a:cs typeface="Arial"/>
              </a:defRPr>
            </a:pPr>
            <a:r>
              <a:rPr sz="1575" b="1">
                <a:solidFill>
                  <a:srgbClr val="003262"/>
                </a:solidFill>
                <a:latin typeface="Arial"/>
                <a:ea typeface="Arial"/>
                <a:cs typeface="Arial"/>
              </a:rPr>
              <a:t>Bands often cross zero. Many rankings remain unresolved.</a:t>
            </a:r>
          </a:p>
        </p:txBody>
      </p:sp>
    </p:spTree>
    <p:extLst>
      <p:ext uri="{BB962C8B-B14F-4D97-AF65-F5344CB8AC3E}">
        <p14:creationId xmlns:p14="http://schemas.microsoft.com/office/powerpoint/2010/main" val="14677675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373195-FBC3-44DA-B1AF-D529FE88CE5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1FBE87-149A-40D1-BD61-CDDD3C9D2F4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7FF820-30EE-4631-9070-8C36B8E2A08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model Sharpe intervals</a:t>
            </a:r>
          </a:p>
        </p:txBody>
      </p:sp>
      <p:sp>
        <p:nvSpPr>
          <p:cNvPr id="4" name="">
            <a:extLst xmlns:a="http://schemas.openxmlformats.org/drawingml/2006/main">
              <a:ext uri="{FF2B5EF4-FFF2-40B4-BE49-F238E27FC236}">
                <a16:creationId xmlns:a16="http://schemas.microsoft.com/office/drawing/2014/main" id="{DDE91750-1914-4238-AFB3-BBD5310842E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7475D90D-55A5-4ABB-9C86-5FE9FD712B9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226dddf76cf4311"/>
          <a:stretch xmlns:a="http://schemas.openxmlformats.org/drawingml/2006/main"/>
        </p:blipFill>
        <p:spPr>
          <a:xfrm xmlns:a="http://schemas.openxmlformats.org/drawingml/2006/main">
            <a:off x="952500" y="857250"/>
            <a:ext cx="7239000" cy="3257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D3F9032-17EE-4A21-8820-36E9934DBA0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Monthly test Sharpe, with 95% basic intervals using 12-month blocks.</a:t>
            </a:r>
          </a:p>
        </p:txBody>
      </p:sp>
    </p:spTree>
    <p:extLst>
      <p:ext uri="{BB962C8B-B14F-4D97-AF65-F5344CB8AC3E}">
        <p14:creationId xmlns:p14="http://schemas.microsoft.com/office/powerpoint/2010/main" val="15868008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CBEAE4-DF3D-49AC-AC77-3827D0C8A47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711BCB-0BD7-4367-BC9A-E3DEAC4DC03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518004-C98E-4EF1-B645-A32BD34E91F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paired Sharpe differences</a:t>
            </a:r>
          </a:p>
        </p:txBody>
      </p:sp>
      <p:sp>
        <p:nvSpPr>
          <p:cNvPr id="4" name="">
            <a:extLst xmlns:a="http://schemas.openxmlformats.org/drawingml/2006/main">
              <a:ext uri="{FF2B5EF4-FFF2-40B4-BE49-F238E27FC236}">
                <a16:creationId xmlns:a16="http://schemas.microsoft.com/office/drawing/2014/main" id="{C13BD07D-E50E-4FED-84C3-175A0A2A1A6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FA565141-3A51-404A-9DA1-2E8A04D56C2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16</a:t>
            </a:r>
          </a:p>
        </p:txBody>
      </p:sp>
      <p:graphicFrame>
        <p:nvGraphicFramePr>
          <p:cNvPr id="16" name=""/>
          <p:cNvGraphicFramePr/>
          <p:nvPr/>
        </p:nvGraphicFramePr>
        <p:xfrm>
          <a:off xmlns:a="http://schemas.openxmlformats.org/drawingml/2006/main" x="400050" y="1019175"/>
          <a:ext xmlns:a="http://schemas.openxmlformats.org/drawingml/2006/main" cx="8343900" cy="2571750"/>
        </p:xfrm>
        <a:graphic xmlns:a="http://schemas.openxmlformats.org/drawingml/2006/main">
          <a:graphicData uri="http://schemas.openxmlformats.org/drawingml/2006/table">
            <a:tbl>
              <a:tblPr/>
              <a:tblGrid>
                <a:gridCol w="2857500"/>
                <a:gridCol w="1828800"/>
                <a:gridCol w="1828800"/>
                <a:gridCol w="1828800"/>
              </a:tblGrid>
              <a:tr h="642938">
                <a:tc>
                  <a:txBody>
                    <a:bodyPr/>
                    <a:lstStyle/>
                    <a:p>
                      <a:r>
                        <a:rPr sz="1425" b="1">
                          <a:solidFill>
                            <a:srgbClr val="FFFFFF"/>
                          </a:solidFill>
                          <a:latin typeface="Arial"/>
                          <a:ea typeface="Arial"/>
                          <a:cs typeface="Arial"/>
                        </a:rPr>
                        <a:t>A minus B</a:t>
                      </a:r>
                    </a:p>
                  </a:txBody>
                  <a:tcPr marL="91440" marR="91440" marT="45720" marB="45720">
                    <a:solidFill>
                      <a:srgbClr val="003262"/>
                    </a:solidFill>
                  </a:tcPr>
                </a:tc>
                <a:tc>
                  <a:txBody>
                    <a:bodyPr/>
                    <a:lstStyle/>
                    <a:p>
                      <a:r>
                        <a:rPr sz="1425" b="1">
                          <a:solidFill>
                            <a:srgbClr val="FFFFFF"/>
                          </a:solidFill>
                          <a:latin typeface="Arial"/>
                          <a:ea typeface="Arial"/>
                          <a:cs typeface="Arial"/>
                        </a:rPr>
                        <a:t>Difference</a:t>
                      </a:r>
                    </a:p>
                  </a:txBody>
                  <a:tcPr marL="91440" marR="91440" marT="45720" marB="45720">
                    <a:solidFill>
                      <a:srgbClr val="003262"/>
                    </a:solidFill>
                  </a:tcPr>
                </a:tc>
                <a:tc>
                  <a:txBody>
                    <a:bodyPr/>
                    <a:lstStyle/>
                    <a:p>
                      <a:r>
                        <a:rPr sz="1425" b="1">
                          <a:solidFill>
                            <a:srgbClr val="FFFFFF"/>
                          </a:solidFill>
                          <a:latin typeface="Arial"/>
                          <a:ea typeface="Arial"/>
                          <a:cs typeface="Arial"/>
                        </a:rPr>
                        <a:t>95% basic</a:t>
                      </a:r>
                    </a:p>
                  </a:txBody>
                  <a:tcPr marL="91440" marR="91440" marT="45720" marB="45720">
                    <a:solidFill>
                      <a:srgbClr val="003262"/>
                    </a:solidFill>
                  </a:tcPr>
                </a:tc>
                <a:tc>
                  <a:txBody>
                    <a:bodyPr/>
                    <a:lstStyle/>
                    <a:p>
                      <a:r>
                        <a:rPr sz="1425" b="1">
                          <a:solidFill>
                            <a:srgbClr val="FFFFFF"/>
                          </a:solidFill>
                          <a:latin typeface="Arial"/>
                          <a:ea typeface="Arial"/>
                          <a:cs typeface="Arial"/>
                        </a:rPr>
                        <a:t>95% simultaneous</a:t>
                      </a:r>
                    </a:p>
                  </a:txBody>
                  <a:tcPr marL="91440" marR="91440" marT="45720" marB="45720">
                    <a:solidFill>
                      <a:srgbClr val="003262"/>
                    </a:solidFill>
                  </a:tcPr>
                </a:tc>
              </a:tr>
              <a:tr h="642938">
                <a:tc>
                  <a:txBody>
                    <a:bodyPr/>
                    <a:lstStyle/>
                    <a:p>
                      <a:r>
                        <a:rPr sz="1500" b="0">
                          <a:solidFill>
                            <a:srgbClr val="1F2A37"/>
                          </a:solidFill>
                          <a:latin typeface="Arial"/>
                          <a:ea typeface="Arial"/>
                          <a:cs typeface="Arial"/>
                        </a:rPr>
                        <a:t>Paper GAN minus</a:t>
                      </a:r>
                    </a:p>
                    <a:p>
                      <a:r>
                        <a:rPr sz="150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500" b="0">
                          <a:solidFill>
                            <a:srgbClr val="1F2A37"/>
                          </a:solidFill>
                          <a:latin typeface="Arial"/>
                          <a:ea typeface="Arial"/>
                          <a:cs typeface="Arial"/>
                        </a:rPr>
                        <a:t>0.138</a:t>
                      </a:r>
                    </a:p>
                  </a:txBody>
                  <a:tcPr marL="91440" marR="91440" marT="45720" marB="45720">
                    <a:solidFill>
                      <a:srgbClr val="EEF3F8"/>
                    </a:solidFill>
                  </a:tcPr>
                </a:tc>
                <a:tc>
                  <a:txBody>
                    <a:bodyPr/>
                    <a:lstStyle/>
                    <a:p>
                      <a:r>
                        <a:rPr sz="1500" b="0">
                          <a:solidFill>
                            <a:srgbClr val="1F2A37"/>
                          </a:solidFill>
                          <a:latin typeface="Arial"/>
                          <a:ea typeface="Arial"/>
                          <a:cs typeface="Arial"/>
                        </a:rPr>
                        <a:t>[-0.037, 0.256]</a:t>
                      </a:r>
                    </a:p>
                  </a:txBody>
                  <a:tcPr marL="91440" marR="91440" marT="45720" marB="45720">
                    <a:solidFill>
                      <a:srgbClr val="EEF3F8"/>
                    </a:solidFill>
                  </a:tcPr>
                </a:tc>
                <a:tc>
                  <a:txBody>
                    <a:bodyPr/>
                    <a:lstStyle/>
                    <a:p>
                      <a:r>
                        <a:rPr sz="1500" b="0">
                          <a:solidFill>
                            <a:srgbClr val="1F2A37"/>
                          </a:solidFill>
                          <a:latin typeface="Arial"/>
                          <a:ea typeface="Arial"/>
                          <a:cs typeface="Arial"/>
                        </a:rPr>
                        <a:t>[-0.148, 0.425]</a:t>
                      </a:r>
                    </a:p>
                  </a:txBody>
                  <a:tcPr marL="91440" marR="91440" marT="45720" marB="45720">
                    <a:solidFill>
                      <a:srgbClr val="EEF3F8"/>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Transformer</a:t>
                      </a:r>
                    </a:p>
                  </a:txBody>
                  <a:tcPr marL="91440" marR="91440" marT="45720" marB="45720">
                    <a:solidFill>
                      <a:srgbClr val="FFFFFF"/>
                    </a:solidFill>
                  </a:tcPr>
                </a:tc>
                <a:tc>
                  <a:txBody>
                    <a:bodyPr/>
                    <a:lstStyle/>
                    <a:p>
                      <a:r>
                        <a:rPr sz="1500" b="0">
                          <a:solidFill>
                            <a:srgbClr val="1F2A37"/>
                          </a:solidFill>
                          <a:latin typeface="Arial"/>
                          <a:ea typeface="Arial"/>
                          <a:cs typeface="Arial"/>
                        </a:rPr>
                        <a:t>0.155</a:t>
                      </a:r>
                    </a:p>
                  </a:txBody>
                  <a:tcPr marL="91440" marR="91440" marT="45720" marB="45720">
                    <a:solidFill>
                      <a:srgbClr val="FFFFFF"/>
                    </a:solidFill>
                  </a:tcPr>
                </a:tc>
                <a:tc>
                  <a:txBody>
                    <a:bodyPr/>
                    <a:lstStyle/>
                    <a:p>
                      <a:r>
                        <a:rPr sz="1500" b="0">
                          <a:solidFill>
                            <a:srgbClr val="1F2A37"/>
                          </a:solidFill>
                          <a:latin typeface="Arial"/>
                          <a:ea typeface="Arial"/>
                          <a:cs typeface="Arial"/>
                        </a:rPr>
                        <a:t>[-0.049, 0.365]</a:t>
                      </a:r>
                    </a:p>
                  </a:txBody>
                  <a:tcPr marL="91440" marR="91440" marT="45720" marB="45720">
                    <a:solidFill>
                      <a:srgbClr val="FFFFFF"/>
                    </a:solidFill>
                  </a:tcPr>
                </a:tc>
                <a:tc>
                  <a:txBody>
                    <a:bodyPr/>
                    <a:lstStyle/>
                    <a:p>
                      <a:r>
                        <a:rPr sz="1500" b="0">
                          <a:solidFill>
                            <a:srgbClr val="1F2A37"/>
                          </a:solidFill>
                          <a:latin typeface="Arial"/>
                          <a:ea typeface="Arial"/>
                          <a:cs typeface="Arial"/>
                        </a:rPr>
                        <a:t>[-0.132, 0.441]</a:t>
                      </a:r>
                    </a:p>
                  </a:txBody>
                  <a:tcPr marL="91440" marR="91440" marT="45720" marB="45720">
                    <a:solidFill>
                      <a:srgbClr val="FFFFFF"/>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500" b="0">
                          <a:solidFill>
                            <a:srgbClr val="1F2A37"/>
                          </a:solidFill>
                          <a:latin typeface="Arial"/>
                          <a:ea typeface="Arial"/>
                          <a:cs typeface="Arial"/>
                        </a:rPr>
                        <a:t>-0.004</a:t>
                      </a:r>
                    </a:p>
                  </a:txBody>
                  <a:tcPr marL="91440" marR="91440" marT="45720" marB="45720">
                    <a:solidFill>
                      <a:srgbClr val="EEF3F8"/>
                    </a:solidFill>
                  </a:tcPr>
                </a:tc>
                <a:tc>
                  <a:txBody>
                    <a:bodyPr/>
                    <a:lstStyle/>
                    <a:p>
                      <a:r>
                        <a:rPr sz="1500" b="0">
                          <a:solidFill>
                            <a:srgbClr val="1F2A37"/>
                          </a:solidFill>
                          <a:latin typeface="Arial"/>
                          <a:ea typeface="Arial"/>
                          <a:cs typeface="Arial"/>
                        </a:rPr>
                        <a:t>[-0.132, 0.119]</a:t>
                      </a:r>
                    </a:p>
                  </a:txBody>
                  <a:tcPr marL="91440" marR="91440" marT="45720" marB="45720">
                    <a:solidFill>
                      <a:srgbClr val="EEF3F8"/>
                    </a:solidFill>
                  </a:tcPr>
                </a:tc>
                <a:tc>
                  <a:txBody>
                    <a:bodyPr/>
                    <a:lstStyle/>
                    <a:p>
                      <a:r>
                        <a:rPr sz="1500" b="0">
                          <a:solidFill>
                            <a:srgbClr val="1F2A37"/>
                          </a:solidFill>
                          <a:latin typeface="Arial"/>
                          <a:ea typeface="Arial"/>
                          <a:cs typeface="Arial"/>
                        </a:rPr>
                        <a:t>[-0.290, 0.283]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48BC5BE1-AD53-4907-9DA1-64D2556CB971}"/>
              </a:ext>
            </a:extLst>
          </p:cNvPr>
          <p:cNvSpPr>
            <a:spLocks xmlns:a="http://schemas.openxmlformats.org/drawingml/2006/main" noGrp="1"/>
          </p:cNvSpPr>
          <p:nvPr/>
        </p:nvSpPr>
        <p:spPr>
          <a:xfrm xmlns:a="http://schemas.openxmlformats.org/drawingml/2006/main">
            <a:off x="419100" y="3771900"/>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F2A37"/>
                </a:solidFill>
                <a:latin typeface="Arial"/>
                <a:ea typeface="Arial"/>
                <a:cs typeface="Arial"/>
              </a:defRPr>
            </a:pPr>
            <a:r>
              <a:rPr sz="1650" b="0">
                <a:solidFill>
                  <a:srgbClr val="1F2A37"/>
                </a:solidFill>
                <a:latin typeface="Arial"/>
                <a:ea typeface="Arial"/>
                <a:cs typeface="Arial"/>
              </a:rPr>
              <a:t>A positive point estimate can coexist with an interval containing zero.</a:t>
            </a:r>
          </a:p>
        </p:txBody>
      </p:sp>
      <p:sp>
        <p:nvSpPr>
          <p:cNvPr id="8" name="">
            <a:extLst xmlns:a="http://schemas.openxmlformats.org/drawingml/2006/main">
              <a:ext uri="{FF2B5EF4-FFF2-40B4-BE49-F238E27FC236}">
                <a16:creationId xmlns:a16="http://schemas.microsoft.com/office/drawing/2014/main" id="{3BAF0132-950B-4822-BA33-0A7136420AC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LSTM minus Transformer is 0.155, with basic interval spanning zero.</a:t>
            </a:r>
          </a:p>
        </p:txBody>
      </p:sp>
    </p:spTree>
    <p:extLst>
      <p:ext uri="{BB962C8B-B14F-4D97-AF65-F5344CB8AC3E}">
        <p14:creationId xmlns:p14="http://schemas.microsoft.com/office/powerpoint/2010/main" val="16609693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94D9E8-B03D-45E3-9690-E6ABF21524F7}"/>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4A16DC-AFFE-4E3E-8F3B-D514FB7BE67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5F4658-1DED-492A-8404-CB19961A18E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equal-weight architecture portfolio</a:t>
            </a:r>
          </a:p>
        </p:txBody>
      </p:sp>
      <p:sp>
        <p:nvSpPr>
          <p:cNvPr id="4" name="">
            <a:extLst xmlns:a="http://schemas.openxmlformats.org/drawingml/2006/main">
              <a:ext uri="{FF2B5EF4-FFF2-40B4-BE49-F238E27FC236}">
                <a16:creationId xmlns:a16="http://schemas.microsoft.com/office/drawing/2014/main" id="{557FCD5B-A371-45DD-A32A-F8921A1B040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5587A2AA-703A-4DD7-ADD9-77E7EFBB5C6E}"/>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17</a:t>
            </a:r>
          </a:p>
        </p:txBody>
      </p:sp>
      <p:graphicFrame>
        <p:nvGraphicFramePr>
          <p:cNvPr id="16" name=""/>
          <p:cNvGraphicFramePr/>
          <p:nvPr/>
        </p:nvGraphicFramePr>
        <p:xfrm>
          <a:off xmlns:a="http://schemas.openxmlformats.org/drawingml/2006/main" x="400050" y="1019175"/>
          <a:ext xmlns:a="http://schemas.openxmlformats.org/drawingml/2006/main" cx="8343900" cy="2286000"/>
        </p:xfrm>
        <a:graphic xmlns:a="http://schemas.openxmlformats.org/drawingml/2006/main">
          <a:graphicData uri="http://schemas.openxmlformats.org/drawingml/2006/table">
            <a:tbl>
              <a:tblPr/>
              <a:tblGrid>
                <a:gridCol w="2857500"/>
                <a:gridCol w="1828800"/>
                <a:gridCol w="1828800"/>
                <a:gridCol w="1828800"/>
              </a:tblGrid>
              <a:tr h="571500">
                <a:tc>
                  <a:txBody>
                    <a:bodyPr/>
                    <a:lstStyle/>
                    <a:p>
                      <a:r>
                        <a:rPr sz="1650" b="1">
                          <a:solidFill>
                            <a:srgbClr val="FFFFFF"/>
                          </a:solidFill>
                          <a:latin typeface="Arial"/>
                          <a:ea typeface="Arial"/>
                          <a:cs typeface="Arial"/>
                        </a:rPr>
                        <a:t>Portfolio</a:t>
                      </a:r>
                    </a:p>
                  </a:txBody>
                  <a:tcPr marL="91440" marR="91440" marT="45720" marB="45720">
                    <a:solidFill>
                      <a:srgbClr val="003262"/>
                    </a:solidFill>
                  </a:tcPr>
                </a:tc>
                <a:tc>
                  <a:txBody>
                    <a:bodyPr/>
                    <a:lstStyle/>
                    <a:p>
                      <a:r>
                        <a:rPr sz="1650" b="1">
                          <a:solidFill>
                            <a:srgbClr val="FFFFFF"/>
                          </a:solidFill>
                          <a:latin typeface="Arial"/>
                          <a:ea typeface="Arial"/>
                          <a:cs typeface="Arial"/>
                        </a:rPr>
                        <a:t>Train</a:t>
                      </a:r>
                    </a:p>
                  </a:txBody>
                  <a:tcPr marL="91440" marR="91440" marT="45720" marB="45720">
                    <a:solidFill>
                      <a:srgbClr val="003262"/>
                    </a:solidFill>
                  </a:tcPr>
                </a:tc>
                <a:tc>
                  <a:txBody>
                    <a:bodyPr/>
                    <a:lstStyle/>
                    <a:p>
                      <a:r>
                        <a:rPr sz="1650" b="1">
                          <a:solidFill>
                            <a:srgbClr val="FFFFFF"/>
                          </a:solidFill>
                          <a:latin typeface="Arial"/>
                          <a:ea typeface="Arial"/>
                          <a:cs typeface="Arial"/>
                        </a:rPr>
                        <a:t>Validation</a:t>
                      </a:r>
                    </a:p>
                  </a:txBody>
                  <a:tcPr marL="91440" marR="91440" marT="45720" marB="45720">
                    <a:solidFill>
                      <a:srgbClr val="003262"/>
                    </a:solidFill>
                  </a:tcPr>
                </a:tc>
                <a:tc>
                  <a:txBody>
                    <a:bodyPr/>
                    <a:lstStyle/>
                    <a:p>
                      <a:r>
                        <a:rPr sz="1650" b="1">
                          <a:solidFill>
                            <a:srgbClr val="FFFFFF"/>
                          </a:solidFill>
                          <a:latin typeface="Arial"/>
                          <a:ea typeface="Arial"/>
                          <a:cs typeface="Arial"/>
                        </a:rPr>
                        <a:t>Test</a:t>
                      </a:r>
                    </a:p>
                  </a:txBody>
                  <a:tcPr marL="91440" marR="91440" marT="45720" marB="45720">
                    <a:solidFill>
                      <a:srgbClr val="003262"/>
                    </a:solidFill>
                  </a:tcPr>
                </a:tc>
              </a:tr>
              <a:tr h="571500">
                <a:tc>
                  <a:txBody>
                    <a:bodyPr/>
                    <a:lstStyle/>
                    <a:p>
                      <a:r>
                        <a:rPr sz="1725" b="0">
                          <a:solidFill>
                            <a:srgbClr val="1F2A37"/>
                          </a:solidFill>
                          <a:latin typeface="Arial"/>
                          <a:ea typeface="Arial"/>
                          <a:cs typeface="Arial"/>
                        </a:rPr>
                        <a:t>LSTM</a:t>
                      </a:r>
                    </a:p>
                  </a:txBody>
                  <a:tcPr marL="91440" marR="91440" marT="45720" marB="45720">
                    <a:solidFill>
                      <a:srgbClr val="EEF3F8"/>
                    </a:solidFill>
                  </a:tcPr>
                </a:tc>
                <a:tc>
                  <a:txBody>
                    <a:bodyPr/>
                    <a:lstStyle/>
                    <a:p>
                      <a:r>
                        <a:rPr sz="1725" b="0">
                          <a:solidFill>
                            <a:srgbClr val="1F2A37"/>
                          </a:solidFill>
                          <a:latin typeface="Arial"/>
                          <a:ea typeface="Arial"/>
                          <a:cs typeface="Arial"/>
                        </a:rPr>
                        <a:t>1.308</a:t>
                      </a:r>
                    </a:p>
                  </a:txBody>
                  <a:tcPr marL="91440" marR="91440" marT="45720" marB="45720">
                    <a:solidFill>
                      <a:srgbClr val="EEF3F8"/>
                    </a:solidFill>
                  </a:tcPr>
                </a:tc>
                <a:tc>
                  <a:txBody>
                    <a:bodyPr/>
                    <a:lstStyle/>
                    <a:p>
                      <a:r>
                        <a:rPr sz="1725" b="0">
                          <a:solidFill>
                            <a:srgbClr val="1F2A37"/>
                          </a:solidFill>
                          <a:latin typeface="Arial"/>
                          <a:ea typeface="Arial"/>
                          <a:cs typeface="Arial"/>
                        </a:rPr>
                        <a:t>0.750</a:t>
                      </a:r>
                    </a:p>
                  </a:txBody>
                  <a:tcPr marL="91440" marR="91440" marT="45720" marB="45720">
                    <a:solidFill>
                      <a:srgbClr val="EEF3F8"/>
                    </a:solidFill>
                  </a:tcPr>
                </a:tc>
                <a:tc>
                  <a:txBody>
                    <a:bodyPr/>
                    <a:lstStyle/>
                    <a:p>
                      <a:r>
                        <a:rPr sz="1725" b="0">
                          <a:solidFill>
                            <a:srgbClr val="1F2A37"/>
                          </a:solidFill>
                          <a:latin typeface="Arial"/>
                          <a:ea typeface="Arial"/>
                          <a:cs typeface="Arial"/>
                        </a:rPr>
                        <a:t>0.459</a:t>
                      </a:r>
                    </a:p>
                  </a:txBody>
                  <a:tcPr marL="91440" marR="91440" marT="45720" marB="45720">
                    <a:solidFill>
                      <a:srgbClr val="EEF3F8"/>
                    </a:solidFill>
                  </a:tcPr>
                </a:tc>
              </a:tr>
              <a:tr h="571500">
                <a:tc>
                  <a:txBody>
                    <a:bodyPr/>
                    <a:lstStyle/>
                    <a:p>
                      <a:r>
                        <a:rPr sz="1725" b="0">
                          <a:solidFill>
                            <a:srgbClr val="1F2A37"/>
                          </a:solidFill>
                          <a:latin typeface="Arial"/>
                          <a:ea typeface="Arial"/>
                          <a:cs typeface="Arial"/>
                        </a:rPr>
                        <a:t>Transformer</a:t>
                      </a:r>
                    </a:p>
                  </a:txBody>
                  <a:tcPr marL="91440" marR="91440" marT="45720" marB="45720">
                    <a:solidFill>
                      <a:srgbClr val="FFFFFF"/>
                    </a:solidFill>
                  </a:tcPr>
                </a:tc>
                <a:tc>
                  <a:txBody>
                    <a:bodyPr/>
                    <a:lstStyle/>
                    <a:p>
                      <a:r>
                        <a:rPr sz="1725" b="0">
                          <a:solidFill>
                            <a:srgbClr val="1F2A37"/>
                          </a:solidFill>
                          <a:latin typeface="Arial"/>
                          <a:ea typeface="Arial"/>
                          <a:cs typeface="Arial"/>
                        </a:rPr>
                        <a:t>1.049</a:t>
                      </a:r>
                    </a:p>
                  </a:txBody>
                  <a:tcPr marL="91440" marR="91440" marT="45720" marB="45720">
                    <a:solidFill>
                      <a:srgbClr val="FFFFFF"/>
                    </a:solidFill>
                  </a:tcPr>
                </a:tc>
                <a:tc>
                  <a:txBody>
                    <a:bodyPr/>
                    <a:lstStyle/>
                    <a:p>
                      <a:r>
                        <a:rPr sz="1725" b="0">
                          <a:solidFill>
                            <a:srgbClr val="1F2A37"/>
                          </a:solidFill>
                          <a:latin typeface="Arial"/>
                          <a:ea typeface="Arial"/>
                          <a:cs typeface="Arial"/>
                        </a:rPr>
                        <a:t>0.589</a:t>
                      </a:r>
                    </a:p>
                  </a:txBody>
                  <a:tcPr marL="91440" marR="91440" marT="45720" marB="45720">
                    <a:solidFill>
                      <a:srgbClr val="FFFFFF"/>
                    </a:solidFill>
                  </a:tcPr>
                </a:tc>
                <a:tc>
                  <a:txBody>
                    <a:bodyPr/>
                    <a:lstStyle/>
                    <a:p>
                      <a:r>
                        <a:rPr sz="1725" b="0">
                          <a:solidFill>
                            <a:srgbClr val="1F2A37"/>
                          </a:solidFill>
                          <a:latin typeface="Arial"/>
                          <a:ea typeface="Arial"/>
                          <a:cs typeface="Arial"/>
                        </a:rPr>
                        <a:t>0.304</a:t>
                      </a:r>
                    </a:p>
                  </a:txBody>
                  <a:tcPr marL="91440" marR="91440" marT="45720" marB="45720">
                    <a:solidFill>
                      <a:srgbClr val="FFFFFF"/>
                    </a:solidFill>
                  </a:tcPr>
                </a:tc>
              </a:tr>
              <a:tr h="571500">
                <a:tc>
                  <a:txBody>
                    <a:bodyPr/>
                    <a:lstStyle/>
                    <a:p>
                      <a:r>
                        <a:rPr sz="1725" b="0">
                          <a:solidFill>
                            <a:srgbClr val="1F2A37"/>
                          </a:solidFill>
                          <a:latin typeface="Arial"/>
                          <a:ea typeface="Arial"/>
                          <a:cs typeface="Arial"/>
                        </a:rPr>
                        <a:t>50/50 blend</a:t>
                      </a:r>
                    </a:p>
                  </a:txBody>
                  <a:tcPr marL="91440" marR="91440" marT="45720" marB="45720">
                    <a:solidFill>
                      <a:srgbClr val="EEF3F8"/>
                    </a:solidFill>
                  </a:tcPr>
                </a:tc>
                <a:tc>
                  <a:txBody>
                    <a:bodyPr/>
                    <a:lstStyle/>
                    <a:p>
                      <a:r>
                        <a:rPr sz="1725" b="0">
                          <a:solidFill>
                            <a:srgbClr val="1F2A37"/>
                          </a:solidFill>
                          <a:latin typeface="Arial"/>
                          <a:ea typeface="Arial"/>
                          <a:cs typeface="Arial"/>
                        </a:rPr>
                        <a:t>1.414</a:t>
                      </a:r>
                    </a:p>
                  </a:txBody>
                  <a:tcPr marL="91440" marR="91440" marT="45720" marB="45720">
                    <a:solidFill>
                      <a:srgbClr val="EEF3F8"/>
                    </a:solidFill>
                  </a:tcPr>
                </a:tc>
                <a:tc>
                  <a:txBody>
                    <a:bodyPr/>
                    <a:lstStyle/>
                    <a:p>
                      <a:r>
                        <a:rPr sz="1725" b="0">
                          <a:solidFill>
                            <a:srgbClr val="1F2A37"/>
                          </a:solidFill>
                          <a:latin typeface="Arial"/>
                          <a:ea typeface="Arial"/>
                          <a:cs typeface="Arial"/>
                        </a:rPr>
                        <a:t>0.915</a:t>
                      </a:r>
                    </a:p>
                  </a:txBody>
                  <a:tcPr marL="91440" marR="91440" marT="45720" marB="45720">
                    <a:solidFill>
                      <a:srgbClr val="EEF3F8"/>
                    </a:solidFill>
                  </a:tcPr>
                </a:tc>
                <a:tc>
                  <a:txBody>
                    <a:bodyPr/>
                    <a:lstStyle/>
                    <a:p>
                      <a:r>
                        <a:rPr sz="1725" b="0">
                          <a:solidFill>
                            <a:srgbClr val="1F2A37"/>
                          </a:solidFill>
                          <a:latin typeface="Arial"/>
                          <a:ea typeface="Arial"/>
                          <a:cs typeface="Arial"/>
                        </a:rPr>
                        <a:t>0.463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0FC919DC-B92E-4C58-9020-10967D75D7E8}"/>
              </a:ext>
            </a:extLst>
          </p:cNvPr>
          <p:cNvSpPr>
            <a:spLocks xmlns:a="http://schemas.openxmlformats.org/drawingml/2006/main" noGrp="1"/>
          </p:cNvSpPr>
          <p:nvPr/>
        </p:nvSpPr>
        <p:spPr>
          <a:xfrm xmlns:a="http://schemas.openxmlformats.org/drawingml/2006/main">
            <a:off x="419100" y="353377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Test correlation between architectures is 0.292. Averaging lowers volatility.</a:t>
            </a:r>
          </a:p>
        </p:txBody>
      </p:sp>
      <p:sp>
        <p:nvSpPr>
          <p:cNvPr id="8" name="">
            <a:extLst xmlns:a="http://schemas.openxmlformats.org/drawingml/2006/main">
              <a:ext uri="{FF2B5EF4-FFF2-40B4-BE49-F238E27FC236}">
                <a16:creationId xmlns:a16="http://schemas.microsoft.com/office/drawing/2014/main" id="{8992F0A9-022A-4C77-A101-70B40B9CBA9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Blend test Sharpe improves only slightly: 0.463 versus LSTM 0.459.</a:t>
            </a:r>
          </a:p>
        </p:txBody>
      </p:sp>
    </p:spTree>
    <p:extLst>
      <p:ext uri="{BB962C8B-B14F-4D97-AF65-F5344CB8AC3E}">
        <p14:creationId xmlns:p14="http://schemas.microsoft.com/office/powerpoint/2010/main" val="4628198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5238D6-5086-432D-98AA-7DDBE213212F}"/>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9AB788-A3CB-4EEF-AC86-E36CEFE24C2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BD27E0-1B6C-4952-9327-18EC64F6A78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36-month rolling results by regime</a:t>
            </a:r>
          </a:p>
        </p:txBody>
      </p:sp>
      <p:sp>
        <p:nvSpPr>
          <p:cNvPr id="4" name="">
            <a:extLst xmlns:a="http://schemas.openxmlformats.org/drawingml/2006/main">
              <a:ext uri="{FF2B5EF4-FFF2-40B4-BE49-F238E27FC236}">
                <a16:creationId xmlns:a16="http://schemas.microsoft.com/office/drawing/2014/main" id="{A86CDF18-B593-4A19-B134-0A48AEC1C48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ADD87B3E-7529-4B7C-8BF9-638E6E3CCCE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18</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054bb070405c4a24"/>
          </a:graphicData>
        </a:graphic>
      </p:graphicFrame>
      <p:sp>
        <p:nvSpPr>
          <p:cNvPr id="7" name="">
            <a:extLst xmlns:a="http://schemas.openxmlformats.org/drawingml/2006/main">
              <a:ext uri="{FF2B5EF4-FFF2-40B4-BE49-F238E27FC236}">
                <a16:creationId xmlns:a16="http://schemas.microsoft.com/office/drawing/2014/main" id="{8B4F6AFE-170B-43B1-9D94-8AA0213CF5B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In recession-ending windows, Transformer 1.409 slightly exceeds new LSTM 1.383.</a:t>
            </a:r>
          </a:p>
        </p:txBody>
      </p:sp>
    </p:spTree>
    <p:extLst>
      <p:ext uri="{BB962C8B-B14F-4D97-AF65-F5344CB8AC3E}">
        <p14:creationId xmlns:p14="http://schemas.microsoft.com/office/powerpoint/2010/main" val="14779240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BA5D51-E367-4934-9161-1A9AA29B882B}"/>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F77CDE-17F8-443C-A072-4E45D948A7C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C6496D-D32A-43E8-A621-7E656AA7F7B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overall, rolling and recession results</a:t>
            </a:r>
          </a:p>
        </p:txBody>
      </p:sp>
      <p:sp>
        <p:nvSpPr>
          <p:cNvPr id="4" name="">
            <a:extLst xmlns:a="http://schemas.openxmlformats.org/drawingml/2006/main">
              <a:ext uri="{FF2B5EF4-FFF2-40B4-BE49-F238E27FC236}">
                <a16:creationId xmlns:a16="http://schemas.microsoft.com/office/drawing/2014/main" id="{E2DB1C94-88D7-4A6C-AC02-94343312E21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20C572EC-5677-4400-B899-B8F048EE011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19</a:t>
            </a:r>
          </a:p>
        </p:txBody>
      </p:sp>
      <p:graphicFrame>
        <p:nvGraphicFramePr>
          <p:cNvPr id="15"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571750"/>
                <a:gridCol w="1924050"/>
                <a:gridCol w="1924050"/>
                <a:gridCol w="1924050"/>
              </a:tblGrid>
              <a:tr h="357188">
                <a:tc>
                  <a:txBody>
                    <a:bodyPr/>
                    <a:lstStyle/>
                    <a:p>
                      <a:r>
                        <a:rPr sz="1275" b="1">
                          <a:solidFill>
                            <a:srgbClr val="FFFFFF"/>
                          </a:solidFill>
                          <a:latin typeface="Arial"/>
                          <a:ea typeface="Arial"/>
                          <a:cs typeface="Arial"/>
                        </a:rPr>
                        <a:t>Local portfolio</a:t>
                      </a:r>
                    </a:p>
                  </a:txBody>
                  <a:tcPr marL="91440" marR="91440" marT="45720" marB="45720">
                    <a:solidFill>
                      <a:srgbClr val="003262"/>
                    </a:solidFill>
                  </a:tcPr>
                </a:tc>
                <a:tc>
                  <a:txBody>
                    <a:bodyPr/>
                    <a:lstStyle/>
                    <a:p>
                      <a:r>
                        <a:rPr sz="1275" b="1">
                          <a:solidFill>
                            <a:srgbClr val="FFFFFF"/>
                          </a:solidFill>
                          <a:latin typeface="Arial"/>
                          <a:ea typeface="Arial"/>
                          <a:cs typeface="Arial"/>
                        </a:rPr>
                        <a:t>Test Sharpe</a:t>
                      </a:r>
                    </a:p>
                    <a:p>
                      <a:r>
                        <a:rPr sz="1275" b="1">
                          <a:solidFill>
                            <a:srgbClr val="FFFFFF"/>
                          </a:solidFill>
                          <a:latin typeface="Arial"/>
                          <a:ea typeface="Arial"/>
                          <a:cs typeface="Arial"/>
                        </a:rPr>
                        <a:t>monthly</a:t>
                      </a:r>
                    </a:p>
                  </a:txBody>
                  <a:tcPr marL="91440" marR="91440" marT="45720" marB="45720">
                    <a:solidFill>
                      <a:srgbClr val="003262"/>
                    </a:solidFill>
                  </a:tcPr>
                </a:tc>
                <a:tc>
                  <a:txBody>
                    <a:bodyPr/>
                    <a:lstStyle/>
                    <a:p>
                      <a:r>
                        <a:rPr sz="1275" b="1">
                          <a:solidFill>
                            <a:srgbClr val="FFFFFF"/>
                          </a:solidFill>
                          <a:latin typeface="Arial"/>
                          <a:ea typeface="Arial"/>
                          <a:cs typeface="Arial"/>
                        </a:rPr>
                        <a:t>36-month mean</a:t>
                      </a:r>
                    </a:p>
                    <a:p>
                      <a:r>
                        <a:rPr sz="1275" b="1">
                          <a:solidFill>
                            <a:srgbClr val="FFFFFF"/>
                          </a:solidFill>
                          <a:latin typeface="Arial"/>
                          <a:ea typeface="Arial"/>
                          <a:cs typeface="Arial"/>
                        </a:rPr>
                        <a:t>annualized</a:t>
                      </a:r>
                    </a:p>
                  </a:txBody>
                  <a:tcPr marL="91440" marR="91440" marT="45720" marB="45720">
                    <a:solidFill>
                      <a:srgbClr val="003262"/>
                    </a:solidFill>
                  </a:tcPr>
                </a:tc>
                <a:tc>
                  <a:txBody>
                    <a:bodyPr/>
                    <a:lstStyle/>
                    <a:p>
                      <a:r>
                        <a:rPr sz="1275" b="1">
                          <a:solidFill>
                            <a:srgbClr val="FFFFFF"/>
                          </a:solidFill>
                          <a:latin typeface="Arial"/>
                          <a:ea typeface="Arial"/>
                          <a:cs typeface="Arial"/>
                        </a:rPr>
                        <a:t>Recession Sharpe</a:t>
                      </a:r>
                    </a:p>
                    <a:p>
                      <a:r>
                        <a:rPr sz="1275" b="1">
                          <a:solidFill>
                            <a:srgbClr val="FFFFFF"/>
                          </a:solidFill>
                          <a:latin typeface="Arial"/>
                          <a:ea typeface="Arial"/>
                          <a:cs typeface="Arial"/>
                        </a:rPr>
                        <a:t>monthly</a:t>
                      </a:r>
                    </a:p>
                  </a:txBody>
                  <a:tcPr marL="91440" marR="91440" marT="45720" marB="45720">
                    <a:solidFill>
                      <a:srgbClr val="003262"/>
                    </a:solidFill>
                  </a:tcPr>
                </a:tc>
              </a:tr>
              <a:tr h="357188">
                <a:tc>
                  <a:txBody>
                    <a:bodyPr/>
                    <a:lstStyle/>
                    <a:p>
                      <a:r>
                        <a:rPr sz="135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350" b="0">
                          <a:solidFill>
                            <a:srgbClr val="1F2A37"/>
                          </a:solidFill>
                          <a:latin typeface="Arial"/>
                          <a:ea typeface="Arial"/>
                          <a:cs typeface="Arial"/>
                        </a:rPr>
                        <a:t>0.612</a:t>
                      </a:r>
                    </a:p>
                  </a:txBody>
                  <a:tcPr marL="91440" marR="91440" marT="45720" marB="45720">
                    <a:solidFill>
                      <a:srgbClr val="EEF3F8"/>
                    </a:solidFill>
                  </a:tcPr>
                </a:tc>
                <a:tc>
                  <a:txBody>
                    <a:bodyPr/>
                    <a:lstStyle/>
                    <a:p>
                      <a:r>
                        <a:rPr sz="1350" b="0">
                          <a:solidFill>
                            <a:srgbClr val="1F2A37"/>
                          </a:solidFill>
                          <a:latin typeface="Arial"/>
                          <a:ea typeface="Arial"/>
                          <a:cs typeface="Arial"/>
                        </a:rPr>
                        <a:t>2.890</a:t>
                      </a:r>
                    </a:p>
                  </a:txBody>
                  <a:tcPr marL="91440" marR="91440" marT="45720" marB="45720">
                    <a:solidFill>
                      <a:srgbClr val="EEF3F8"/>
                    </a:solidFill>
                  </a:tcPr>
                </a:tc>
                <a:tc>
                  <a:txBody>
                    <a:bodyPr/>
                    <a:lstStyle/>
                    <a:p>
                      <a:r>
                        <a:rPr sz="1350" b="0">
                          <a:solidFill>
                            <a:srgbClr val="1F2A37"/>
                          </a:solidFill>
                          <a:latin typeface="Arial"/>
                          <a:ea typeface="Arial"/>
                          <a:cs typeface="Arial"/>
                        </a:rPr>
                        <a:t>0.455</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Feedforward</a:t>
                      </a:r>
                    </a:p>
                  </a:txBody>
                  <a:tcPr marL="91440" marR="91440" marT="45720" marB="45720">
                    <a:solidFill>
                      <a:srgbClr val="FFFFFF"/>
                    </a:solidFill>
                  </a:tcPr>
                </a:tc>
                <a:tc>
                  <a:txBody>
                    <a:bodyPr/>
                    <a:lstStyle/>
                    <a:p>
                      <a:r>
                        <a:rPr sz="1350" b="0">
                          <a:solidFill>
                            <a:srgbClr val="1F2A37"/>
                          </a:solidFill>
                          <a:latin typeface="Arial"/>
                          <a:ea typeface="Arial"/>
                          <a:cs typeface="Arial"/>
                        </a:rPr>
                        <a:t>0.570</a:t>
                      </a:r>
                    </a:p>
                  </a:txBody>
                  <a:tcPr marL="91440" marR="91440" marT="45720" marB="45720">
                    <a:solidFill>
                      <a:srgbClr val="FFFFFF"/>
                    </a:solidFill>
                  </a:tcPr>
                </a:tc>
                <a:tc>
                  <a:txBody>
                    <a:bodyPr/>
                    <a:lstStyle/>
                    <a:p>
                      <a:r>
                        <a:rPr sz="1350" b="0">
                          <a:solidFill>
                            <a:srgbClr val="1F2A37"/>
                          </a:solidFill>
                          <a:latin typeface="Arial"/>
                          <a:ea typeface="Arial"/>
                          <a:cs typeface="Arial"/>
                        </a:rPr>
                        <a:t>2.620</a:t>
                      </a:r>
                    </a:p>
                  </a:txBody>
                  <a:tcPr marL="91440" marR="91440" marT="45720" marB="45720">
                    <a:solidFill>
                      <a:srgbClr val="FFFFFF"/>
                    </a:solidFill>
                  </a:tcPr>
                </a:tc>
                <a:tc>
                  <a:txBody>
                    <a:bodyPr/>
                    <a:lstStyle/>
                    <a:p>
                      <a:r>
                        <a:rPr sz="1350" b="0">
                          <a:solidFill>
                            <a:srgbClr val="1F2A37"/>
                          </a:solidFill>
                          <a:latin typeface="Arial"/>
                          <a:ea typeface="Arial"/>
                          <a:cs typeface="Arial"/>
                        </a:rPr>
                        <a:t>0.570</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350" b="0">
                          <a:solidFill>
                            <a:srgbClr val="1F2A37"/>
                          </a:solidFill>
                          <a:latin typeface="Arial"/>
                          <a:ea typeface="Arial"/>
                          <a:cs typeface="Arial"/>
                        </a:rPr>
                        <a:t>0.463</a:t>
                      </a:r>
                    </a:p>
                  </a:txBody>
                  <a:tcPr marL="91440" marR="91440" marT="45720" marB="45720">
                    <a:solidFill>
                      <a:srgbClr val="EEF3F8"/>
                    </a:solidFill>
                  </a:tcPr>
                </a:tc>
                <a:tc>
                  <a:txBody>
                    <a:bodyPr/>
                    <a:lstStyle/>
                    <a:p>
                      <a:r>
                        <a:rPr sz="1350" b="0">
                          <a:solidFill>
                            <a:srgbClr val="1F2A37"/>
                          </a:solidFill>
                          <a:latin typeface="Arial"/>
                          <a:ea typeface="Arial"/>
                          <a:cs typeface="Arial"/>
                        </a:rPr>
                        <a:t>2.166</a:t>
                      </a:r>
                    </a:p>
                  </a:txBody>
                  <a:tcPr marL="91440" marR="91440" marT="45720" marB="45720">
                    <a:solidFill>
                      <a:srgbClr val="EEF3F8"/>
                    </a:solidFill>
                  </a:tcPr>
                </a:tc>
                <a:tc>
                  <a:txBody>
                    <a:bodyPr/>
                    <a:lstStyle/>
                    <a:p>
                      <a:r>
                        <a:rPr sz="1350" b="0">
                          <a:solidFill>
                            <a:srgbClr val="1F2A37"/>
                          </a:solidFill>
                          <a:latin typeface="Arial"/>
                          <a:ea typeface="Arial"/>
                          <a:cs typeface="Arial"/>
                        </a:rPr>
                        <a:t>0.076</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Extension LSTM</a:t>
                      </a:r>
                    </a:p>
                  </a:txBody>
                  <a:tcPr marL="91440" marR="91440" marT="45720" marB="45720">
                    <a:solidFill>
                      <a:srgbClr val="FFFFFF"/>
                    </a:solidFill>
                  </a:tcPr>
                </a:tc>
                <a:tc>
                  <a:txBody>
                    <a:bodyPr/>
                    <a:lstStyle/>
                    <a:p>
                      <a:r>
                        <a:rPr sz="1350" b="0">
                          <a:solidFill>
                            <a:srgbClr val="1F2A37"/>
                          </a:solidFill>
                          <a:latin typeface="Arial"/>
                          <a:ea typeface="Arial"/>
                          <a:cs typeface="Arial"/>
                        </a:rPr>
                        <a:t>0.459</a:t>
                      </a:r>
                    </a:p>
                  </a:txBody>
                  <a:tcPr marL="91440" marR="91440" marT="45720" marB="45720">
                    <a:solidFill>
                      <a:srgbClr val="FFFFFF"/>
                    </a:solidFill>
                  </a:tcPr>
                </a:tc>
                <a:tc>
                  <a:txBody>
                    <a:bodyPr/>
                    <a:lstStyle/>
                    <a:p>
                      <a:r>
                        <a:rPr sz="1350" b="0">
                          <a:solidFill>
                            <a:srgbClr val="1F2A37"/>
                          </a:solidFill>
                          <a:latin typeface="Arial"/>
                          <a:ea typeface="Arial"/>
                          <a:cs typeface="Arial"/>
                        </a:rPr>
                        <a:t>1.992</a:t>
                      </a:r>
                    </a:p>
                  </a:txBody>
                  <a:tcPr marL="91440" marR="91440" marT="45720" marB="45720">
                    <a:solidFill>
                      <a:srgbClr val="FFFFFF"/>
                    </a:solidFill>
                  </a:tcPr>
                </a:tc>
                <a:tc>
                  <a:txBody>
                    <a:bodyPr/>
                    <a:lstStyle/>
                    <a:p>
                      <a:r>
                        <a:rPr sz="1350" b="0">
                          <a:solidFill>
                            <a:srgbClr val="1F2A37"/>
                          </a:solidFill>
                          <a:latin typeface="Arial"/>
                          <a:ea typeface="Arial"/>
                          <a:cs typeface="Arial"/>
                        </a:rPr>
                        <a:t>0.264</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Elastic Net</a:t>
                      </a:r>
                    </a:p>
                  </a:txBody>
                  <a:tcPr marL="91440" marR="91440" marT="45720" marB="45720">
                    <a:solidFill>
                      <a:srgbClr val="EEF3F8"/>
                    </a:solidFill>
                  </a:tcPr>
                </a:tc>
                <a:tc>
                  <a:txBody>
                    <a:bodyPr/>
                    <a:lstStyle/>
                    <a:p>
                      <a:r>
                        <a:rPr sz="1350" b="0">
                          <a:solidFill>
                            <a:srgbClr val="1F2A37"/>
                          </a:solidFill>
                          <a:latin typeface="Arial"/>
                          <a:ea typeface="Arial"/>
                          <a:cs typeface="Arial"/>
                        </a:rPr>
                        <a:t>0.412</a:t>
                      </a:r>
                    </a:p>
                  </a:txBody>
                  <a:tcPr marL="91440" marR="91440" marT="45720" marB="45720">
                    <a:solidFill>
                      <a:srgbClr val="EEF3F8"/>
                    </a:solidFill>
                  </a:tcPr>
                </a:tc>
                <a:tc>
                  <a:txBody>
                    <a:bodyPr/>
                    <a:lstStyle/>
                    <a:p>
                      <a:r>
                        <a:rPr sz="1350" b="0">
                          <a:solidFill>
                            <a:srgbClr val="1F2A37"/>
                          </a:solidFill>
                          <a:latin typeface="Arial"/>
                          <a:ea typeface="Arial"/>
                          <a:cs typeface="Arial"/>
                        </a:rPr>
                        <a:t>2.074</a:t>
                      </a:r>
                    </a:p>
                  </a:txBody>
                  <a:tcPr marL="91440" marR="91440" marT="45720" marB="45720">
                    <a:solidFill>
                      <a:srgbClr val="EEF3F8"/>
                    </a:solidFill>
                  </a:tcPr>
                </a:tc>
                <a:tc>
                  <a:txBody>
                    <a:bodyPr/>
                    <a:lstStyle/>
                    <a:p>
                      <a:r>
                        <a:rPr sz="1350" b="0">
                          <a:solidFill>
                            <a:srgbClr val="1F2A37"/>
                          </a:solidFill>
                          <a:latin typeface="Arial"/>
                          <a:ea typeface="Arial"/>
                          <a:cs typeface="Arial"/>
                        </a:rPr>
                        <a:t>0.254</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Linear</a:t>
                      </a:r>
                    </a:p>
                  </a:txBody>
                  <a:tcPr marL="91440" marR="91440" marT="45720" marB="45720">
                    <a:solidFill>
                      <a:srgbClr val="FFFFFF"/>
                    </a:solidFill>
                  </a:tcPr>
                </a:tc>
                <a:tc>
                  <a:txBody>
                    <a:bodyPr/>
                    <a:lstStyle/>
                    <a:p>
                      <a:r>
                        <a:rPr sz="1350" b="0">
                          <a:solidFill>
                            <a:srgbClr val="1F2A37"/>
                          </a:solidFill>
                          <a:latin typeface="Arial"/>
                          <a:ea typeface="Arial"/>
                          <a:cs typeface="Arial"/>
                        </a:rPr>
                        <a:t>0.406</a:t>
                      </a:r>
                    </a:p>
                  </a:txBody>
                  <a:tcPr marL="91440" marR="91440" marT="45720" marB="45720">
                    <a:solidFill>
                      <a:srgbClr val="FFFFFF"/>
                    </a:solidFill>
                  </a:tcPr>
                </a:tc>
                <a:tc>
                  <a:txBody>
                    <a:bodyPr/>
                    <a:lstStyle/>
                    <a:p>
                      <a:r>
                        <a:rPr sz="1350" b="0">
                          <a:solidFill>
                            <a:srgbClr val="1F2A37"/>
                          </a:solidFill>
                          <a:latin typeface="Arial"/>
                          <a:ea typeface="Arial"/>
                          <a:cs typeface="Arial"/>
                        </a:rPr>
                        <a:t>1.740</a:t>
                      </a:r>
                    </a:p>
                  </a:txBody>
                  <a:tcPr marL="91440" marR="91440" marT="45720" marB="45720">
                    <a:solidFill>
                      <a:srgbClr val="FFFFFF"/>
                    </a:solidFill>
                  </a:tcPr>
                </a:tc>
                <a:tc>
                  <a:txBody>
                    <a:bodyPr/>
                    <a:lstStyle/>
                    <a:p>
                      <a:r>
                        <a:rPr sz="1350" b="0">
                          <a:solidFill>
                            <a:srgbClr val="1F2A37"/>
                          </a:solidFill>
                          <a:latin typeface="Arial"/>
                          <a:ea typeface="Arial"/>
                          <a:cs typeface="Arial"/>
                        </a:rPr>
                        <a:t>0.404</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Transformer</a:t>
                      </a:r>
                    </a:p>
                  </a:txBody>
                  <a:tcPr marL="91440" marR="91440" marT="45720" marB="45720">
                    <a:solidFill>
                      <a:srgbClr val="EEF3F8"/>
                    </a:solidFill>
                  </a:tcPr>
                </a:tc>
                <a:tc>
                  <a:txBody>
                    <a:bodyPr/>
                    <a:lstStyle/>
                    <a:p>
                      <a:r>
                        <a:rPr sz="1350" b="0">
                          <a:solidFill>
                            <a:srgbClr val="1F2A37"/>
                          </a:solidFill>
                          <a:latin typeface="Arial"/>
                          <a:ea typeface="Arial"/>
                          <a:cs typeface="Arial"/>
                        </a:rPr>
                        <a:t>0.304</a:t>
                      </a:r>
                    </a:p>
                  </a:txBody>
                  <a:tcPr marL="91440" marR="91440" marT="45720" marB="45720">
                    <a:solidFill>
                      <a:srgbClr val="EEF3F8"/>
                    </a:solidFill>
                  </a:tcPr>
                </a:tc>
                <a:tc>
                  <a:txBody>
                    <a:bodyPr/>
                    <a:lstStyle/>
                    <a:p>
                      <a:r>
                        <a:rPr sz="1350" b="0">
                          <a:solidFill>
                            <a:srgbClr val="1F2A37"/>
                          </a:solidFill>
                          <a:latin typeface="Arial"/>
                          <a:ea typeface="Arial"/>
                          <a:cs typeface="Arial"/>
                        </a:rPr>
                        <a:t>1.467</a:t>
                      </a:r>
                    </a:p>
                  </a:txBody>
                  <a:tcPr marL="91440" marR="91440" marT="45720" marB="45720">
                    <a:solidFill>
                      <a:srgbClr val="EEF3F8"/>
                    </a:solidFill>
                  </a:tcPr>
                </a:tc>
                <a:tc>
                  <a:txBody>
                    <a:bodyPr/>
                    <a:lstStyle/>
                    <a:p>
                      <a:r>
                        <a:rPr sz="1350" b="0">
                          <a:solidFill>
                            <a:srgbClr val="1F2A37"/>
                          </a:solidFill>
                          <a:latin typeface="Arial"/>
                          <a:ea typeface="Arial"/>
                          <a:cs typeface="Arial"/>
                        </a:rPr>
                        <a:t>-0.071</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31206935-53F7-4ABA-8DD8-91909E420DB2}"/>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paper benchmark remains in earlier comparisons. This adds seven local portfolios.</a:t>
            </a:r>
          </a:p>
        </p:txBody>
      </p:sp>
    </p:spTree>
    <p:extLst>
      <p:ext uri="{BB962C8B-B14F-4D97-AF65-F5344CB8AC3E}">
        <p14:creationId xmlns:p14="http://schemas.microsoft.com/office/powerpoint/2010/main" val="5616335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01E8C3-1DCC-4E85-92A6-66CC0CBFEE7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74995C-121F-414F-B645-644EDF71B69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FF864F-D740-4428-953A-32F614C80A9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Summary: findings and next steps</a:t>
            </a:r>
          </a:p>
        </p:txBody>
      </p:sp>
      <p:sp>
        <p:nvSpPr>
          <p:cNvPr id="4" name="">
            <a:extLst xmlns:a="http://schemas.openxmlformats.org/drawingml/2006/main">
              <a:ext uri="{FF2B5EF4-FFF2-40B4-BE49-F238E27FC236}">
                <a16:creationId xmlns:a16="http://schemas.microsoft.com/office/drawing/2014/main" id="{6DDDBBEA-F23A-4ADB-972A-F61DC40B706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8. Summary</a:t>
            </a:r>
          </a:p>
        </p:txBody>
      </p:sp>
      <p:sp>
        <p:nvSpPr>
          <p:cNvPr id="5" name="">
            <a:extLst xmlns:a="http://schemas.openxmlformats.org/drawingml/2006/main">
              <a:ext uri="{FF2B5EF4-FFF2-40B4-BE49-F238E27FC236}">
                <a16:creationId xmlns:a16="http://schemas.microsoft.com/office/drawing/2014/main" id="{73145E81-73FE-42B4-8FA2-7F83EDB2382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2BF1B0E0-CB9C-4205-84CE-FADFDA20B85D}"/>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we add</a:t>
            </a:r>
          </a:p>
        </p:txBody>
      </p:sp>
      <p:sp>
        <p:nvSpPr>
          <p:cNvPr id="7" name="">
            <a:extLst xmlns:a="http://schemas.openxmlformats.org/drawingml/2006/main">
              <a:ext uri="{FF2B5EF4-FFF2-40B4-BE49-F238E27FC236}">
                <a16:creationId xmlns:a16="http://schemas.microsoft.com/office/drawing/2014/main" id="{6A78B5E2-A11D-40F2-B58B-7C3EE8B62B11}"/>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A common-budget encoder comparison, rolling and regime evaluation, a fixed combination, and paired uncertainty.</a:t>
            </a:r>
          </a:p>
        </p:txBody>
      </p:sp>
      <p:sp>
        <p:nvSpPr>
          <p:cNvPr id="8" name="">
            <a:extLst xmlns:a="http://schemas.openxmlformats.org/drawingml/2006/main">
              <a:ext uri="{FF2B5EF4-FFF2-40B4-BE49-F238E27FC236}">
                <a16:creationId xmlns:a16="http://schemas.microsoft.com/office/drawing/2014/main" id="{CDCA378D-6329-481B-A219-8273096AF7CE}"/>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the evidence supports</a:t>
            </a:r>
          </a:p>
        </p:txBody>
      </p:sp>
      <p:sp>
        <p:nvSpPr>
          <p:cNvPr id="9" name="">
            <a:extLst xmlns:a="http://schemas.openxmlformats.org/drawingml/2006/main">
              <a:ext uri="{FF2B5EF4-FFF2-40B4-BE49-F238E27FC236}">
                <a16:creationId xmlns:a16="http://schemas.microsoft.com/office/drawing/2014/main" id="{B114AB3E-811C-4B4C-9233-EB852CC9840B}"/>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LSTM has higher observed test Sharpe. Bootstrap intervals leave its advantage over Transformer unresolved.</a:t>
            </a:r>
          </a:p>
        </p:txBody>
      </p:sp>
      <p:sp>
        <p:nvSpPr>
          <p:cNvPr id="10" name="">
            <a:extLst xmlns:a="http://schemas.openxmlformats.org/drawingml/2006/main">
              <a:ext uri="{FF2B5EF4-FFF2-40B4-BE49-F238E27FC236}">
                <a16:creationId xmlns:a16="http://schemas.microsoft.com/office/drawing/2014/main" id="{23138FAA-5FB2-4EA1-A541-B08A503D5A01}"/>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remains open</a:t>
            </a:r>
          </a:p>
        </p:txBody>
      </p:sp>
      <p:sp>
        <p:nvSpPr>
          <p:cNvPr id="11" name="">
            <a:extLst xmlns:a="http://schemas.openxmlformats.org/drawingml/2006/main">
              <a:ext uri="{FF2B5EF4-FFF2-40B4-BE49-F238E27FC236}">
                <a16:creationId xmlns:a16="http://schemas.microsoft.com/office/drawing/2014/main" id="{975CC6A3-F469-4177-8B8E-F3299805EBF6}"/>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Full author-schedule GPU training, a new holdout, transaction costs and uncertainty across training runs.</a:t>
            </a:r>
          </a:p>
        </p:txBody>
      </p:sp>
      <p:sp>
        <p:nvSpPr>
          <p:cNvPr id="12" name="">
            <a:extLst xmlns:a="http://schemas.openxmlformats.org/drawingml/2006/main">
              <a:ext uri="{FF2B5EF4-FFF2-40B4-BE49-F238E27FC236}">
                <a16:creationId xmlns:a16="http://schemas.microsoft.com/office/drawing/2014/main" id="{7041D236-D17B-4DE1-93D2-11EA9292527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extensions explain performance differences and the limits of those conclusions.</a:t>
            </a:r>
          </a:p>
        </p:txBody>
      </p:sp>
    </p:spTree>
    <p:extLst>
      <p:ext uri="{BB962C8B-B14F-4D97-AF65-F5344CB8AC3E}">
        <p14:creationId xmlns:p14="http://schemas.microsoft.com/office/powerpoint/2010/main" val="111821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2026-10-07T00:27:37.1160000Z</dcterms:created>
  <dcterms:modified xsi:type="dcterms:W3CDTF">2026-10-07T00:27:37.1160000Z</dcterms:modified>
</coreProperties>
</file>