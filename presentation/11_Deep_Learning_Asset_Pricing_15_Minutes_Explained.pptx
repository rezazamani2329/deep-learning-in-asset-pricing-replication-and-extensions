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24c3f0941364e48" /><Relationship Type="http://schemas.openxmlformats.org/officeDocument/2006/relationships/extended-properties" Target="/docProps/app.xml" Id="R8099e21d1d6641e5" /><Relationship Type="http://schemas.openxmlformats.org/officeDocument/2006/relationships/officeDocument" Target="/ppt/presentation.xml" Id="Rd3e042f4a5604098" /></Relationships>
</file>

<file path=ppt/presentation.xml><?xml version="1.0" encoding="utf-8"?>
<p:presentation xmlns:p="http://schemas.openxmlformats.org/presentationml/2006/main">
  <p:sldMasterIdLst>
    <p:sldMasterId xmlns:r="http://schemas.openxmlformats.org/officeDocument/2006/relationships" id="2147483648" r:id="Rc72b81e1df4e4738"/>
  </p:sldMasterIdLst>
  <p:notesMasterIdLst>
    <p:notesMasterId xmlns:r="http://schemas.openxmlformats.org/officeDocument/2006/relationships" r:id="R8ba427af763e4a21"/>
  </p:notesMasterIdLst>
  <p:sldIdLst>
    <p:sldId xmlns:r="http://schemas.openxmlformats.org/officeDocument/2006/relationships" id="256" r:id="R45f5c0907c6240d1"/>
    <p:sldId xmlns:r="http://schemas.openxmlformats.org/officeDocument/2006/relationships" id="257" r:id="R2808192d718d4e31"/>
    <p:sldId xmlns:r="http://schemas.openxmlformats.org/officeDocument/2006/relationships" id="258" r:id="R6cbd471d78024688"/>
    <p:sldId xmlns:r="http://schemas.openxmlformats.org/officeDocument/2006/relationships" id="259" r:id="R486f95ccace44d7c"/>
    <p:sldId xmlns:r="http://schemas.openxmlformats.org/officeDocument/2006/relationships" id="260" r:id="R3074609e948540e1"/>
    <p:sldId xmlns:r="http://schemas.openxmlformats.org/officeDocument/2006/relationships" id="261" r:id="Ra45a34d50d3942d8"/>
    <p:sldId xmlns:r="http://schemas.openxmlformats.org/officeDocument/2006/relationships" id="262" r:id="R26bd6364f0b24b15"/>
    <p:sldId xmlns:r="http://schemas.openxmlformats.org/officeDocument/2006/relationships" id="263" r:id="R8cf211cd6090433d"/>
    <p:sldId xmlns:r="http://schemas.openxmlformats.org/officeDocument/2006/relationships" id="264" r:id="R72452590862b4a3c"/>
    <p:sldId xmlns:r="http://schemas.openxmlformats.org/officeDocument/2006/relationships" id="265" r:id="Rd9bbda89e80e4d5e"/>
    <p:sldId xmlns:r="http://schemas.openxmlformats.org/officeDocument/2006/relationships" id="266" r:id="R81dcfdfbe85941b4"/>
    <p:sldId xmlns:r="http://schemas.openxmlformats.org/officeDocument/2006/relationships" id="267" r:id="Rcffda47375af49f8"/>
    <p:sldId xmlns:r="http://schemas.openxmlformats.org/officeDocument/2006/relationships" id="268" r:id="Rb11e74983469466c"/>
    <p:sldId xmlns:r="http://schemas.openxmlformats.org/officeDocument/2006/relationships" id="269" r:id="R6122e02664c14d20"/>
    <p:sldId xmlns:r="http://schemas.openxmlformats.org/officeDocument/2006/relationships" id="270" r:id="R664ad22d09724d4e"/>
    <p:sldId xmlns:r="http://schemas.openxmlformats.org/officeDocument/2006/relationships" id="271" r:id="R0c42b024c52142ee"/>
    <p:sldId xmlns:r="http://schemas.openxmlformats.org/officeDocument/2006/relationships" id="272" r:id="Rc791f052532243b9"/>
    <p:sldId xmlns:r="http://schemas.openxmlformats.org/officeDocument/2006/relationships" id="273" r:id="Ra3a0312d8867475f"/>
    <p:sldId xmlns:r="http://schemas.openxmlformats.org/officeDocument/2006/relationships" id="274" r:id="R63f2f4ecffdc45c5"/>
    <p:sldId xmlns:r="http://schemas.openxmlformats.org/officeDocument/2006/relationships" id="275" r:id="R88f596316adc44a5"/>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fed7ac3e3f41dc" /><Relationship Type="http://schemas.openxmlformats.org/officeDocument/2006/relationships/slideMaster" Target="/ppt/slideMasters/slideMaster1.xml" Id="Rc72b81e1df4e4738" /><Relationship Type="http://schemas.openxmlformats.org/officeDocument/2006/relationships/notesMaster" Target="/ppt/notesMasters/notesMaster1.xml" Id="R8ba427af763e4a21" /><Relationship Type="http://schemas.openxmlformats.org/officeDocument/2006/relationships/presProps" Target="/ppt/presProps.xml" Id="R161a783c03e545cc" /><Relationship Type="http://schemas.openxmlformats.org/officeDocument/2006/relationships/tableStyles" Target="/ppt/tableStyles.xml" Id="R146abc30575e4431" /><Relationship Type="http://schemas.openxmlformats.org/officeDocument/2006/relationships/slide" Target="/ppt/slides/slide1.xml" Id="R45f5c0907c6240d1" /><Relationship Type="http://schemas.openxmlformats.org/officeDocument/2006/relationships/slide" Target="/ppt/slides/slide2.xml" Id="R2808192d718d4e31" /><Relationship Type="http://schemas.openxmlformats.org/officeDocument/2006/relationships/slide" Target="/ppt/slides/slide3.xml" Id="R6cbd471d78024688" /><Relationship Type="http://schemas.openxmlformats.org/officeDocument/2006/relationships/slide" Target="/ppt/slides/slide4.xml" Id="R486f95ccace44d7c" /><Relationship Type="http://schemas.openxmlformats.org/officeDocument/2006/relationships/slide" Target="/ppt/slides/slide5.xml" Id="R3074609e948540e1" /><Relationship Type="http://schemas.openxmlformats.org/officeDocument/2006/relationships/slide" Target="/ppt/slides/slide6.xml" Id="Ra45a34d50d3942d8" /><Relationship Type="http://schemas.openxmlformats.org/officeDocument/2006/relationships/slide" Target="/ppt/slides/slide7.xml" Id="R26bd6364f0b24b15" /><Relationship Type="http://schemas.openxmlformats.org/officeDocument/2006/relationships/slide" Target="/ppt/slides/slide8.xml" Id="R8cf211cd6090433d" /><Relationship Type="http://schemas.openxmlformats.org/officeDocument/2006/relationships/slide" Target="/ppt/slides/slide9.xml" Id="R72452590862b4a3c" /><Relationship Type="http://schemas.openxmlformats.org/officeDocument/2006/relationships/slide" Target="/ppt/slides/slide10.xml" Id="Rd9bbda89e80e4d5e" /><Relationship Type="http://schemas.openxmlformats.org/officeDocument/2006/relationships/slide" Target="/ppt/slides/slide11.xml" Id="R81dcfdfbe85941b4" /><Relationship Type="http://schemas.openxmlformats.org/officeDocument/2006/relationships/slide" Target="/ppt/slides/slide12.xml" Id="Rcffda47375af49f8" /><Relationship Type="http://schemas.openxmlformats.org/officeDocument/2006/relationships/slide" Target="/ppt/slides/slide13.xml" Id="Rb11e74983469466c" /><Relationship Type="http://schemas.openxmlformats.org/officeDocument/2006/relationships/slide" Target="/ppt/slides/slide14.xml" Id="R6122e02664c14d20" /><Relationship Type="http://schemas.openxmlformats.org/officeDocument/2006/relationships/slide" Target="/ppt/slides/slide15.xml" Id="R664ad22d09724d4e" /><Relationship Type="http://schemas.openxmlformats.org/officeDocument/2006/relationships/slide" Target="/ppt/slides/slide16.xml" Id="R0c42b024c52142ee" /><Relationship Type="http://schemas.openxmlformats.org/officeDocument/2006/relationships/slide" Target="/ppt/slides/slide17.xml" Id="Rc791f052532243b9" /><Relationship Type="http://schemas.openxmlformats.org/officeDocument/2006/relationships/slide" Target="/ppt/slides/slide18.xml" Id="Ra3a0312d8867475f" /><Relationship Type="http://schemas.openxmlformats.org/officeDocument/2006/relationships/slide" Target="/ppt/slides/slide19.xml" Id="R63f2f4ecffdc45c5" /><Relationship Type="http://schemas.openxmlformats.org/officeDocument/2006/relationships/slide" Target="/ppt/slides/slide20.xml" Id="R88f596316adc44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d42ab603b742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a9ca7ab89b4f23" /><Relationship Type="http://schemas.openxmlformats.org/officeDocument/2006/relationships/notesMaster" Target="/ppt/notesMasters/notesMaster1.xml" Id="Ra80191f61f2743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abb6cbe7d04ed2" /><Relationship Type="http://schemas.openxmlformats.org/officeDocument/2006/relationships/notesMaster" Target="/ppt/notesMasters/notesMaster1.xml" Id="R1eb80c02a9da49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d56bb49e884110" /><Relationship Type="http://schemas.openxmlformats.org/officeDocument/2006/relationships/notesMaster" Target="/ppt/notesMasters/notesMaster1.xml" Id="Re3da5c855ddf4b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650b204b1c4102" /><Relationship Type="http://schemas.openxmlformats.org/officeDocument/2006/relationships/notesMaster" Target="/ppt/notesMasters/notesMaster1.xml" Id="R92c522beaa6346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8f46aabf464f3a" /><Relationship Type="http://schemas.openxmlformats.org/officeDocument/2006/relationships/notesMaster" Target="/ppt/notesMasters/notesMaster1.xml" Id="Rcc4293dd05cf42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c764cb46c9486a" /><Relationship Type="http://schemas.openxmlformats.org/officeDocument/2006/relationships/notesMaster" Target="/ppt/notesMasters/notesMaster1.xml" Id="R084cea0840c246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d510f8db074ca6" /><Relationship Type="http://schemas.openxmlformats.org/officeDocument/2006/relationships/notesMaster" Target="/ppt/notesMasters/notesMaster1.xml" Id="R2326b8d698ac44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39109ec6c2493d" /><Relationship Type="http://schemas.openxmlformats.org/officeDocument/2006/relationships/notesMaster" Target="/ppt/notesMasters/notesMaster1.xml" Id="Ree630e50937640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3283e1841a418e" /><Relationship Type="http://schemas.openxmlformats.org/officeDocument/2006/relationships/notesMaster" Target="/ppt/notesMasters/notesMaster1.xml" Id="Rd772f03bfe9d4f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633ce5818944db" /><Relationship Type="http://schemas.openxmlformats.org/officeDocument/2006/relationships/notesMaster" Target="/ppt/notesMasters/notesMaster1.xml" Id="R15e510bc2de64a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d205881bb84f77" /><Relationship Type="http://schemas.openxmlformats.org/officeDocument/2006/relationships/notesMaster" Target="/ppt/notesMasters/notesMaster1.xml" Id="Rf5b24a11f6be4a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d35d96e45a4904" /><Relationship Type="http://schemas.openxmlformats.org/officeDocument/2006/relationships/notesMaster" Target="/ppt/notesMasters/notesMaster1.xml" Id="R275501c4200e40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66ce525652498e" /><Relationship Type="http://schemas.openxmlformats.org/officeDocument/2006/relationships/notesMaster" Target="/ppt/notesMasters/notesMaster1.xml" Id="R798068d7cb7443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a91ce6c0dc4cb2" /><Relationship Type="http://schemas.openxmlformats.org/officeDocument/2006/relationships/notesMaster" Target="/ppt/notesMasters/notesMaster1.xml" Id="R1ec3c714dbaf4a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d09139593445a2" /><Relationship Type="http://schemas.openxmlformats.org/officeDocument/2006/relationships/notesMaster" Target="/ppt/notesMasters/notesMaster1.xml" Id="R0c9c06ffae1a44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376259be1e47a8" /><Relationship Type="http://schemas.openxmlformats.org/officeDocument/2006/relationships/notesMaster" Target="/ppt/notesMasters/notesMaster1.xml" Id="Rd0c02fe33be14e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3c490b3f2a7482c" /><Relationship Type="http://schemas.openxmlformats.org/officeDocument/2006/relationships/notesMaster" Target="/ppt/notesMasters/notesMaster1.xml" Id="R3e172686935545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31122e36bb45a4" /><Relationship Type="http://schemas.openxmlformats.org/officeDocument/2006/relationships/notesMaster" Target="/ppt/notesMasters/notesMaster1.xml" Id="R78fa3ca210f742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137e8fd962a4f25" /><Relationship Type="http://schemas.openxmlformats.org/officeDocument/2006/relationships/notesMaster" Target="/ppt/notesMasters/notesMaster1.xml" Id="R0180c7b4a4c0478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52e23867358443a" /><Relationship Type="http://schemas.openxmlformats.org/officeDocument/2006/relationships/notesMaster" Target="/ppt/notesMasters/notesMaster1.xml" Id="R2ffa3887a9cf4a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15 seconds.</a:t>
            </a:r>
          </a:p>
          <a:p xmlns:a="http://schemas.openxmlformats.org/drawingml/2006/main">
            <a:r>
              <a:t>Introduce the asset-pricing question and the team. This talk distinguishes the published paper, our historical replication and the matched extension experiment.</a:t>
            </a:r>
          </a:p>
          <a:p xmlns:a="http://schemas.openxmlformats.org/drawingml/2006/main">
            <a:r>
              <a:t/>
            </a:r>
          </a:p>
          <a:p xmlns:a="http://schemas.openxmlformats.org/drawingml/2006/main">
            <a:r>
              <a:t>Source notes preserved:</a:t>
            </a:r>
          </a:p>
          <a:p xmlns:a="http://schemas.openxmlformats.org/drawingml/2006/main">
            <a:r>
              <a:t>Asset Pricing with Deep Learning: Replication and Extensions. Eight sections: main paper, replication, Transformer, rolling windows, regime change, uncertainty, combination, summary. Source photograph and logo retained from the earlier presentation.</a:t>
            </a:r>
          </a:p>
          <a:p xmlns:a="http://schemas.openxmlformats.org/drawingml/2006/main">
            <a:r>
              <a:t/>
            </a:r>
          </a:p>
          <a:p xmlns:a="http://schemas.openxmlformats.org/drawingml/2006/main">
            <a:r>
              <a:t>Presenter points:</a:t>
            </a:r>
          </a:p>
          <a:p xmlns:a="http://schemas.openxmlformats.org/drawingml/2006/main">
            <a:r>
              <a:t>1. Research question: can model changes improve asset-pricing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25 seconds.</a:t>
            </a:r>
          </a:p>
          <a:p xmlns:a="http://schemas.openxmlformats.org/drawingml/2006/main">
            <a:r>
              <a:t>Give the eight-part roadmap. Four extensions cover Transformer, rolling performance, economic regimes and uncertainty. The final comparison combines these perspectives.</a:t>
            </a:r>
          </a:p>
          <a:p xmlns:a="http://schemas.openxmlformats.org/drawingml/2006/main">
            <a:r>
              <a:t/>
            </a:r>
          </a:p>
          <a:p xmlns:a="http://schemas.openxmlformats.org/drawingml/2006/main">
            <a:r>
              <a:t>Source notes preserved:</a:t>
            </a:r>
          </a:p>
          <a:p xmlns:a="http://schemas.openxmlformats.org/drawingml/2006/main">
            <a:r>
              <a:t>Four extension sections: Transformer, rolling windows, regime change, and uncertainty. The combination section compares results jointly before the summary.</a:t>
            </a:r>
          </a:p>
          <a:p xmlns:a="http://schemas.openxmlformats.org/drawingml/2006/main">
            <a:r>
              <a:t/>
            </a:r>
          </a:p>
          <a:p xmlns:a="http://schemas.openxmlformats.org/drawingml/2006/main">
            <a:r>
              <a:t>Presenter points:</a:t>
            </a:r>
          </a:p>
          <a:p xmlns:a="http://schemas.openxmlformats.org/drawingml/2006/main">
            <a:r>
              <a:t>1. Establish the published paper and replication benchmarks.</a:t>
            </a:r>
          </a:p>
          <a:p xmlns:a="http://schemas.openxmlformats.org/drawingml/2006/main">
            <a:r>
              <a:t>2. Evaluate four extensions, then compare combined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Explain that the pricing network learns a stochastic discount factor and the adversary searches for pricing errors. LSTM summarizes macroeconomic history. State the train, validation and test dates.</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Corrected the earlier slides: 46 firm characteristics, 64 hidden units, and 0.95 dropout retention (0.05 dropout probability).</a:t>
            </a:r>
          </a:p>
          <a:p xmlns:a="http://schemas.openxmlformats.org/drawingml/2006/main">
            <a:r>
              <a:t/>
            </a:r>
          </a:p>
          <a:p xmlns:a="http://schemas.openxmlformats.org/drawingml/2006/main">
            <a:r>
              <a:t>Presenter points:</a:t>
            </a:r>
          </a:p>
          <a:p xmlns:a="http://schemas.openxmlformats.org/drawingml/2006/main">
            <a:r>
              <a:t>1. The SDF network minimizes pricing errors, while an adversary exposes remaining errors.</a:t>
            </a:r>
          </a:p>
          <a:p xmlns:a="http://schemas.openxmlformats.org/drawingml/2006/main">
            <a:r>
              <a:t>2. Train 1967–86, validate 1987–91, and test 1992–2016.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State the published monthly test Sharpe of 0.750. Published results are the reference, with the model and data definitions shown here.</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All numbers on this slide are monthly Table I Sharpe ratios. Annualized values multiply by square root of 12.</a:t>
            </a:r>
          </a:p>
          <a:p xmlns:a="http://schemas.openxmlformats.org/drawingml/2006/main">
            <a:r>
              <a:t/>
            </a:r>
          </a:p>
          <a:p xmlns:a="http://schemas.openxmlformats.org/drawingml/2006/main">
            <a:r>
              <a:t>Presenter points:</a:t>
            </a:r>
          </a:p>
          <a:p xmlns:a="http://schemas.openxmlformats.org/drawingml/2006/main">
            <a:r>
              <a:t>1. GAN has the highest published monthly Sharpe in every split.</a:t>
            </a:r>
          </a:p>
          <a:p xmlns:a="http://schemas.openxmlformats.org/drawingml/2006/main">
            <a:r>
              <a:t>2. Use these results as the reference benchmark for our replication and extensions.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Our replicated GAN reaches monthly test Sharpe 0.612. Distinguish this historical replication from the later extension implementation. The gap from 0.750 does not isolate one implementation choice.</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Local values recomputed with population standard deviation for consistency. This changes the earlier presentation’s GAN test 0.611 to 0.612 after rounding. Source results/rolling_oos_reduced_schedule/tables/all_models_vs_paper_monthly_sharpe.csv.</a:t>
            </a:r>
          </a:p>
          <a:p xmlns:a="http://schemas.openxmlformats.org/drawingml/2006/main">
            <a:r>
              <a:t/>
            </a:r>
          </a:p>
          <a:p xmlns:a="http://schemas.openxmlformats.org/drawingml/2006/main">
            <a:r>
              <a:t>Presenter points:</a:t>
            </a:r>
          </a:p>
          <a:p xmlns:a="http://schemas.openxmlformats.org/drawingml/2006/main">
            <a:r>
              <a:t>1. Our GAN test Sharpe is 0.612, compared with the paper’s 0.750.</a:t>
            </a:r>
          </a:p>
          <a:p xmlns:a="http://schemas.openxmlformats.org/drawingml/2006/main">
            <a:r>
              <a:t>2. Similar rankings support replication, but do not imply exact numerical reproduction.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Summarize validation and common signals. Explain why reproduction checks matter before interpreting architectural extensions.</a:t>
            </a:r>
          </a:p>
          <a:p xmlns:a="http://schemas.openxmlformats.org/drawingml/2006/main">
            <a:r>
              <a:t/>
            </a:r>
          </a:p>
          <a:p xmlns:a="http://schemas.openxmlformats.org/drawingml/2006/main">
            <a:r>
              <a:t>Source notes preserved:</a:t>
            </a:r>
          </a:p>
          <a:p xmlns:a="http://schemas.openxmlformats.org/drawingml/2006/main">
            <a:r>
              <a:t>Sources: previous replication deck slides 11, 14, 15. results/tables/gan_official_sdf_comparison.csv. Fama–French benchmark values retain the earlier deck’s displayed convention.</a:t>
            </a:r>
          </a:p>
          <a:p xmlns:a="http://schemas.openxmlformats.org/drawingml/2006/main">
            <a:r>
              <a:t/>
            </a:r>
          </a:p>
          <a:p xmlns:a="http://schemas.openxmlformats.org/drawingml/2006/main">
            <a:r>
              <a:t>Presenter points:</a:t>
            </a:r>
          </a:p>
          <a:p xmlns:a="http://schemas.openxmlformats.org/drawingml/2006/main">
            <a:r>
              <a:t>1. Factor Sharpe, return correlation and leading characteristics show economic similarity.</a:t>
            </a:r>
          </a:p>
          <a:p xmlns:a="http://schemas.openxmlformats.org/drawingml/2006/main">
            <a:r>
              <a:t>2. Implementation differences can still affect the replication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Extension 1: replace the macro sequence encoder with causal attention. Both new architectures use nine seeds and the same reduced training budget and checkpoint rule. This is shorter than the author schedule.</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Author training repository commit 6c26b9dad01e76b214ab8f5566c42a29e99677c9, https://github.com/LouisChen1992/Deep_Learning_Asset_Pricing. Schedule is from audited executable configuration, not a claim that every source detail matches.</a:t>
            </a:r>
          </a:p>
          <a:p xmlns:a="http://schemas.openxmlformats.org/drawingml/2006/main">
            <a:r>
              <a:t/>
            </a:r>
          </a:p>
          <a:p xmlns:a="http://schemas.openxmlformats.org/drawingml/2006/main">
            <a:r>
              <a:t>Presenter points:</a:t>
            </a:r>
          </a:p>
          <a:p xmlns:a="http://schemas.openxmlformats.org/drawingml/2006/main">
            <a:r>
              <a:t>1. Causal attention replaces both macro LSTM encoders.</a:t>
            </a:r>
          </a:p>
          <a:p xmlns:a="http://schemas.openxmlformats.org/drawingml/2006/main">
            <a:r>
              <a:t>2. Both architectures use nine seeds and the same reduced training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60 seconds.</a:t>
            </a:r>
          </a:p>
          <a:p xmlns:a="http://schemas.openxmlformats.org/drawingml/2006/main">
            <a:r>
              <a:t>Compare train, validation and test on the same schedule. Monthly test Sharpe is 0.459 for extension LSTM and 0.304 for Transformer. A newer architecture does not guarantee improvement.</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Source results/rolling_oos_reduced_schedule/tables/all_models_vs_paper_monthly_sharpe.csv. Original paper and Code 07 use different estimation procedures from the matched new pair.</a:t>
            </a:r>
          </a:p>
          <a:p xmlns:a="http://schemas.openxmlformats.org/drawingml/2006/main">
            <a:r>
              <a:t/>
            </a:r>
          </a:p>
          <a:p xmlns:a="http://schemas.openxmlformats.org/drawingml/2006/main">
            <a:r>
              <a:t>Presenter points:</a:t>
            </a:r>
          </a:p>
          <a:p xmlns:a="http://schemas.openxmlformats.org/drawingml/2006/main">
            <a:r>
              <a:t>1. Extension LSTM leads Transformer: test monthly Sharpe is 0.459 versus 0.304.</a:t>
            </a:r>
          </a:p>
          <a:p xmlns:a="http://schemas.openxmlformats.org/drawingml/2006/main">
            <a:r>
              <a:t>2. This comparison holds under our reduced budget, not the full author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 Source: results/readme/figures/rolling_sharpe.png from README. Both panels show annualized Sharpe for fixed saved portfolios, using complete 36- and 60-month rolling windows. Authors GAN corresponds to the original-paper portfolio, Code 07 GAN to our replicated GAN, New LSTM to extension LSTM, and 50/50 blend to the equal-weight LSTM–Transformer return combination. Explain how longer windows smooth fluctuations. These are evaluations of fixed models, with no rolling retraining. Overlapping windows do not provide independent evidence.</a:t>
            </a:r>
          </a:p>
          <a:p xmlns:a="http://schemas.openxmlformats.org/drawingml/2006/main">
            <a:r>
              <a:t/>
            </a:r>
          </a:p>
          <a:p xmlns:a="http://schemas.openxmlformats.org/drawingml/2006/main">
            <a:r>
              <a:t>Presenter points:</a:t>
            </a:r>
          </a:p>
          <a:p xmlns:a="http://schemas.openxmlformats.org/drawingml/2006/main">
            <a:r>
              <a:t>1. Curves show annualized Sharpe over the previous 36 or 60 months.</a:t>
            </a:r>
          </a:p>
          <a:p xmlns:a="http://schemas.openxmlformats.org/drawingml/2006/main">
            <a:r>
              <a:t>2. Longer windows smooth fluctuations. These fixed models are not retrained.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 Source: results/bootstrap_uncertainty/figures/rolling_difference_uncertainty.png. Annualized paired rolling differences, pointwise 95% basic intervals, six-month blocks and 2,000 paired draws. Top: LSTM minus Transformer. Middle: replication minus extension LSTM. Bottom: LSTM minus equal-weight combination. Overlapping windows are dependent. A band containing zero leaves that window unresolved.</a:t>
            </a:r>
          </a:p>
          <a:p xmlns:a="http://schemas.openxmlformats.org/drawingml/2006/main">
            <a:r>
              <a:t/>
            </a:r>
          </a:p>
          <a:p xmlns:a="http://schemas.openxmlformats.org/drawingml/2006/main">
            <a:r>
              <a:t>Presenter points:</a:t>
            </a:r>
          </a:p>
          <a:p xmlns:a="http://schemas.openxmlformats.org/drawingml/2006/main">
            <a:r>
              <a:t>1. Line: observed paired Sharpe gap. Shading: pointwise 95% basic interval.</a:t>
            </a:r>
          </a:p>
          <a:p xmlns:a="http://schemas.openxmlformats.org/drawingml/2006/main">
            <a:r>
              <a:t>2. A band crossing zero leaves that window’s ranking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Extension 3: define NBER expansion/recession and past-volatility regimes. The test includes only 26 recession months, so regime estimates have limited precision.</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results/regime_analysis/tables/monthly_regime_labels.csv. https://fred.stlouisfed.org/series/USREC. Fama–French market returns define lagged volatility with training median threshold 0.039783.</a:t>
            </a:r>
          </a:p>
          <a:p xmlns:a="http://schemas.openxmlformats.org/drawingml/2006/main">
            <a:r>
              <a:t/>
            </a:r>
          </a:p>
          <a:p xmlns:a="http://schemas.openxmlformats.org/drawingml/2006/main">
            <a:r>
              <a:t>Presenter points:</a:t>
            </a:r>
          </a:p>
          <a:p xmlns:a="http://schemas.openxmlformats.org/drawingml/2006/main">
            <a:r>
              <a:t>1. Business-cycle and volatility regimes classify different economic conditions.</a:t>
            </a:r>
          </a:p>
          <a:p xmlns:a="http://schemas.openxmlformats.org/drawingml/2006/main">
            <a:r>
              <a:t>2. Only 26 recession months limit precision. NBER labels are retrospective.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Use the Code 012 figure to compare all local portfolios by regime. Highlight the variation in rankings and treat the recession results as descriptive point estimates.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results/bootstrap_uncertainty/local_only/figures/local_regime_comparison.png. Interpret with the preceding method and results tables.</a:t>
            </a:r>
          </a:p>
          <a:p xmlns:a="http://schemas.openxmlformats.org/drawingml/2006/main">
            <a:r>
              <a:t/>
            </a:r>
          </a:p>
          <a:p xmlns:a="http://schemas.openxmlformats.org/drawingml/2006/main">
            <a:r>
              <a:t>Presenter points:</a:t>
            </a:r>
          </a:p>
          <a:p xmlns:a="http://schemas.openxmlformats.org/drawingml/2006/main">
            <a:r>
              <a:t>1. Bars show monthly Sharpe using only months in each regime.</a:t>
            </a:r>
          </a:p>
          <a:p xmlns:a="http://schemas.openxmlformats.org/drawingml/2006/main">
            <a:r>
              <a:t>2. Feedforward leads recession Sharpe at 0.570, while Transformer has -0.071.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 Source: results/bootstrap_uncertainty/figures/rolling_model_uncertainty.png, Code 012. Original-paper GAN and our replicated GAN, both window lengths. The original figure is split across slides 13 and 14 without omitting any model panel. Curves show annualized rolling model Sharpe, bands pointwise 95% basic intervals with six-month blocks. These are marginal model intervals. Their overlap does not establish uncertainty in paired differences. The paired-difference figure on slide 10 uses six-month blocks. Both analyses condition on saved models. Overlapping windows are not independent observations.</a:t>
            </a:r>
          </a:p>
          <a:p xmlns:a="http://schemas.openxmlformats.org/drawingml/2006/main">
            <a:r>
              <a:t/>
            </a:r>
          </a:p>
          <a:p xmlns:a="http://schemas.openxmlformats.org/drawingml/2006/main">
            <a:r>
              <a:t>Presenter points:</a:t>
            </a:r>
          </a:p>
          <a:p xmlns:a="http://schemas.openxmlformats.org/drawingml/2006/main">
            <a:r>
              <a:t>1. Lines show annualized rolling Sharpe for the paper and replicated GAN.</a:t>
            </a:r>
          </a:p>
          <a:p xmlns:a="http://schemas.openxmlformats.org/drawingml/2006/main">
            <a:r>
              <a:t>2. Some bands cross zero, leaving positive Sharpe unresolved in those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 Source: results/bootstrap_uncertainty/figures/rolling_model_uncertainty.png, Code 012. Extension LSTM, Transformer and equal-weight combination, both window lengths. The original figure is split across slides 13 and 14 without omitting any model panel. Curves show annualized rolling model Sharpe, bands pointwise 95% basic intervals with six-month blocks. These are marginal model intervals. Their overlap does not establish uncertainty in paired differences. The paired-difference figure on slide 10 uses six-month blocks. Both analyses condition on saved models. Overlapping windows are not independent observations.</a:t>
            </a:r>
          </a:p>
          <a:p xmlns:a="http://schemas.openxmlformats.org/drawingml/2006/main">
            <a:r>
              <a:t/>
            </a:r>
          </a:p>
          <a:p xmlns:a="http://schemas.openxmlformats.org/drawingml/2006/main">
            <a:r>
              <a:t>Presenter points:</a:t>
            </a:r>
          </a:p>
          <a:p xmlns:a="http://schemas.openxmlformats.org/drawingml/2006/main">
            <a:r>
              <a:t>1. Separate confidence bands show sampling uncertainty for each extension model.</a:t>
            </a:r>
          </a:p>
          <a:p xmlns:a="http://schemas.openxmlformats.org/drawingml/2006/main">
            <a:r>
              <a:t>2. Several bands cross zero. Use the paired comparison on slide 15 to assess model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The LSTM minus Transformer point gap is 0.155 monthly Sharpe. Its basic 95% interval includes zero. Simultaneous comparisons also leave that ranking unresolved. This does not prove equivalence.</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paired_sharpe_difference_intervals.csv. Difference is A minus B. Pointwise basic intervals and simultaneous intervals adjust for different families. Simultaneous family contains all ten pairs among the five portfolios.</a:t>
            </a:r>
          </a:p>
          <a:p xmlns:a="http://schemas.openxmlformats.org/drawingml/2006/main">
            <a:r>
              <a:t/>
            </a:r>
          </a:p>
          <a:p xmlns:a="http://schemas.openxmlformats.org/drawingml/2006/main">
            <a:r>
              <a:t>Presenter points:</a:t>
            </a:r>
          </a:p>
          <a:p xmlns:a="http://schemas.openxmlformats.org/drawingml/2006/main">
            <a:r>
              <a:t>1. LSTM exceeds Transformer by 0.155 monthly Sharpe, but both intervals include zero.</a:t>
            </a:r>
          </a:p>
          <a:p xmlns:a="http://schemas.openxmlformats.org/drawingml/2006/main">
            <a:r>
              <a:t>2. The observed advantage remains statistically unresolved. This does not prove equality.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30 seconds. Source: results/bootstrap_uncertainty/figures/bootstrap_difference_distributions.png, Code 012. These are 10,000 paired circular bootstrap draws using 12-month blocks over the full 300-month test sample. X axis is a monthly Sharpe difference and y axis counts bootstrap replicates. Dashed black indicates zero and gold the observed gap. The LSTM minus Transformer point gap is 0.155, with 95% basic interval [-0.049,0.365]. The LSTM minus combination gap is -0.004, interval [-0.132,0.119]. These distributions are conditional on saved models and are not posterior probabilities or null-test distributions. Both paired basic intervals include zero.</a:t>
            </a:r>
          </a:p>
          <a:p xmlns:a="http://schemas.openxmlformats.org/drawingml/2006/main">
            <a:r>
              <a:t/>
            </a:r>
          </a:p>
          <a:p xmlns:a="http://schemas.openxmlformats.org/drawingml/2006/main">
            <a:r>
              <a:t>Presenter points:</a:t>
            </a:r>
          </a:p>
          <a:p xmlns:a="http://schemas.openxmlformats.org/drawingml/2006/main">
            <a:r>
              <a:t>1. Bars count 10,000 draws. Gold marks the observed gap, black marks zero.</a:t>
            </a:r>
          </a:p>
          <a:p xmlns:a="http://schemas.openxmlformats.org/drawingml/2006/main">
            <a:r>
              <a:t>2. Both paired 95% basic intervals include zero, despite different point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The fixed 50/50 average combines saved LSTM and Transformer portfolio returns. Its test Sharpe is 0.463 versus LSTM 0.459. This exploratory combination was constructed after inspecting test outcomes.</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results/consolidated_comparison/tables/architecture_blend_split_comparison.csv. Blend returns equal 0.5*LSTM+0.5*Transformer, without additional gross renormalization. Added after prior test review. Weights are fixed and not optimized.</a:t>
            </a:r>
          </a:p>
          <a:p xmlns:a="http://schemas.openxmlformats.org/drawingml/2006/main">
            <a:r>
              <a:t/>
            </a:r>
          </a:p>
          <a:p xmlns:a="http://schemas.openxmlformats.org/drawingml/2006/main">
            <a:r>
              <a:t>Presenter points:</a:t>
            </a:r>
          </a:p>
          <a:p xmlns:a="http://schemas.openxmlformats.org/drawingml/2006/main">
            <a:r>
              <a:t>1. Averaging saved LSTM and Transformer returns lowers volatility.</a:t>
            </a:r>
          </a:p>
          <a:p xmlns:a="http://schemas.openxmlformats.org/drawingml/2006/main">
            <a:r>
              <a:t>2. Test Sharpe rises only from 0.459 to 0.463. The combination is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Combine rolling evaluation with regimes labeled at the endpoint. A recession-ending 36-month window includes earlier expansion months. These annualized values answer a different question from conditional monthly regime Sharpe.</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a:p xmlns:a="http://schemas.openxmlformats.org/drawingml/2006/main">
            <a:r>
              <a:t/>
            </a:r>
          </a:p>
          <a:p xmlns:a="http://schemas.openxmlformats.org/drawingml/2006/main">
            <a:r>
              <a:t>Presenter points:</a:t>
            </a:r>
          </a:p>
          <a:p xmlns:a="http://schemas.openxmlformats.org/drawingml/2006/main">
            <a:r>
              <a:t>1. Bars group rolling windows by the economic regime at their endpoint.</a:t>
            </a:r>
          </a:p>
          <a:p xmlns:a="http://schemas.openxmlformats.org/drawingml/2006/main">
            <a:r>
              <a:t>2. A recession-ending window includes expansion months, unlike conditional regime Sharpe.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Compare all seven local portfolios across overall, rolling and recession metrics. Read the column units explicitly. Historical replication models and the matched new architecture experiment have different implementations.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Additional sources: results/bootstrap_uncertainty/local_only/tables/overall_performance.csv, rolling_summary.csv, regime_comparison.csv, paired_intervals.csv. Monthly full-test and recession-only Sharpes differ from mean annualized rolling Sharpe. Local simultaneous intervals recalibrate all 21 local pairs. Regime entries are point estimates with no regime-specific confidence intervals. Recession contains only 26 months.</a:t>
            </a:r>
          </a:p>
          <a:p xmlns:a="http://schemas.openxmlformats.org/drawingml/2006/main">
            <a:r>
              <a:t/>
            </a:r>
          </a:p>
          <a:p xmlns:a="http://schemas.openxmlformats.org/drawingml/2006/main">
            <a:r>
              <a:t>Presenter points:</a:t>
            </a:r>
          </a:p>
          <a:p xmlns:a="http://schemas.openxmlformats.org/drawingml/2006/main">
            <a:r>
              <a:t>1. Overall, rolling and recession columns answer different questions and use different units.</a:t>
            </a:r>
          </a:p>
          <a:p xmlns:a="http://schemas.openxmlformats.org/drawingml/2006/main">
            <a:r>
              <a:t>2. Replication leads local test Sharpe at 0.612. Feedforward leads recessions at 0.570.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90 seconds.</a:t>
            </a:r>
          </a:p>
          <a:p xmlns:a="http://schemas.openxmlformats.org/drawingml/2006/main">
            <a:r>
              <a:t>Close with the contribution: matched architecture comparison plus rolling, regime and bootstrap evaluation, with an illustrative portfolio combination. LSTM leads the Transformer in point estimates, but intervals leave the gap unresolved. Full author-schedule GPU runs, a new holdout and trading costs remain future work.</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Code 012 does not establish equivalence from an interval containing zero. Fixed equal-weight combination was considered after test inspection. Recession labels are retrospective. No transaction costs, genuinely unseen holdout, retraining uncertainty, or real-time vintage correction is included.</a:t>
            </a:r>
          </a:p>
          <a:p xmlns:a="http://schemas.openxmlformats.org/drawingml/2006/main">
            <a:r>
              <a:t/>
            </a:r>
          </a:p>
          <a:p xmlns:a="http://schemas.openxmlformats.org/drawingml/2006/main">
            <a:r>
              <a:t>Presenter points:</a:t>
            </a:r>
          </a:p>
          <a:p xmlns:a="http://schemas.openxmlformats.org/drawingml/2006/main">
            <a:r>
              <a:t>1. Our contribution combines architecture, rolling, regime and uncertainty evaluation.</a:t>
            </a:r>
          </a:p>
          <a:p xmlns:a="http://schemas.openxmlformats.org/drawingml/2006/main">
            <a:r>
              <a:t>2. Higher point estimates still need uncertainty checks and a new holdout.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d0c19556724c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09ac507e614433" /><Relationship Type="http://schemas.openxmlformats.org/officeDocument/2006/relationships/slideLayout" Target="/ppt/slideLayouts/slideLayout1.xml" Id="R262d2d2aa1f341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2d2d2aa1f341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92bef30109417c" /><Relationship Type="http://schemas.openxmlformats.org/officeDocument/2006/relationships/image" Target="/ppt/media/image.png" Id="R42be5858eea84e9a" /><Relationship Type="http://schemas.openxmlformats.org/officeDocument/2006/relationships/image" Target="/ppt/media/image2.png" Id="Rf6e222f01f6a4d89" /><Relationship Type="http://schemas.openxmlformats.org/officeDocument/2006/relationships/notesSlide" Target="/ppt/notesSlides/notesSlide1.xml" Id="R1513c325ce9e4d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7740a4e6a740c5" /><Relationship Type="http://schemas.openxmlformats.org/officeDocument/2006/relationships/notesSlide" Target="/ppt/notesSlides/notesSlide2.xml" Id="R90a6fc93ad2a4d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e98005f85a4585" /><Relationship Type="http://schemas.openxmlformats.org/officeDocument/2006/relationships/notesSlide" Target="/ppt/notesSlides/notesSlide3.xml" Id="R4563928084b94e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bdb8ca927a439e" /><Relationship Type="http://schemas.openxmlformats.org/officeDocument/2006/relationships/notesSlide" Target="/ppt/notesSlides/notesSlide4.xml" Id="R69d6b82a0ba544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0d85f8104a4e53" /><Relationship Type="http://schemas.openxmlformats.org/officeDocument/2006/relationships/chart" Target="/ppt/slides/charts/chart1.xml" Id="Rcd536a704ceb49fa" /><Relationship Type="http://schemas.openxmlformats.org/officeDocument/2006/relationships/notesSlide" Target="/ppt/notesSlides/notesSlide5.xml" Id="Radccce267da447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1844b08ad8450a" /><Relationship Type="http://schemas.openxmlformats.org/officeDocument/2006/relationships/notesSlide" Target="/ppt/notesSlides/notesSlide6.xml" Id="R852240ddf8ab45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a8f3b94d2e4cae" /><Relationship Type="http://schemas.openxmlformats.org/officeDocument/2006/relationships/notesSlide" Target="/ppt/notesSlides/notesSlide7.xml" Id="R65a15903a0ab4a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86515db916475c" /><Relationship Type="http://schemas.openxmlformats.org/officeDocument/2006/relationships/chart" Target="/ppt/slides/charts/chart2.xml" Id="R04a8a2bf7b0d4459" /><Relationship Type="http://schemas.openxmlformats.org/officeDocument/2006/relationships/notesSlide" Target="/ppt/notesSlides/notesSlide8.xml" Id="R1e576990e33b42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06da80ed1e4a90" /><Relationship Type="http://schemas.openxmlformats.org/officeDocument/2006/relationships/image" Target="/ppt/media/image3.png" Id="Re54e199b9ed94d6e" /><Relationship Type="http://schemas.openxmlformats.org/officeDocument/2006/relationships/notesSlide" Target="/ppt/notesSlides/notesSlide9.xml" Id="R019fa151a31541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4746bc63bc947e1" /><Relationship Type="http://schemas.openxmlformats.org/officeDocument/2006/relationships/image" Target="/ppt/media/image4.png" Id="R898b0d9cbfdc4554" /><Relationship Type="http://schemas.openxmlformats.org/officeDocument/2006/relationships/notesSlide" Target="/ppt/notesSlides/notesSlide10.xml" Id="Rc5afab4647df4d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e6c2062e1fb469b" /><Relationship Type="http://schemas.openxmlformats.org/officeDocument/2006/relationships/notesSlide" Target="/ppt/notesSlides/notesSlide11.xml" Id="R706d3b01018145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83622daf9248f5" /><Relationship Type="http://schemas.openxmlformats.org/officeDocument/2006/relationships/image" Target="/ppt/media/image5.png" Id="R41136fc0e1ec4162" /><Relationship Type="http://schemas.openxmlformats.org/officeDocument/2006/relationships/notesSlide" Target="/ppt/notesSlides/notesSlide12.xml" Id="R4e76d650df804a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b33988089844a7" /><Relationship Type="http://schemas.openxmlformats.org/officeDocument/2006/relationships/image" Target="/ppt/media/image6.png" Id="R5d9abeaaac8e4f0e" /><Relationship Type="http://schemas.openxmlformats.org/officeDocument/2006/relationships/notesSlide" Target="/ppt/notesSlides/notesSlide13.xml" Id="R756407f1284d4d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a75f81e44342d6" /><Relationship Type="http://schemas.openxmlformats.org/officeDocument/2006/relationships/image" Target="/ppt/media/image7.png" Id="R74a8be45f43f4744" /><Relationship Type="http://schemas.openxmlformats.org/officeDocument/2006/relationships/notesSlide" Target="/ppt/notesSlides/notesSlide14.xml" Id="R22c16d6821d449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881029c79204924" /><Relationship Type="http://schemas.openxmlformats.org/officeDocument/2006/relationships/notesSlide" Target="/ppt/notesSlides/notesSlide15.xml" Id="R60f5adc054f549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1ee55524f44457" /><Relationship Type="http://schemas.openxmlformats.org/officeDocument/2006/relationships/image" Target="/ppt/media/image8.png" Id="R99ffff4d77874b6b" /><Relationship Type="http://schemas.openxmlformats.org/officeDocument/2006/relationships/notesSlide" Target="/ppt/notesSlides/notesSlide16.xml" Id="R07f21dcb4cb848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b5a6808fc564b2d" /><Relationship Type="http://schemas.openxmlformats.org/officeDocument/2006/relationships/notesSlide" Target="/ppt/notesSlides/notesSlide17.xml" Id="R9beccfe0428f48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75dfa92289b44b3" /><Relationship Type="http://schemas.openxmlformats.org/officeDocument/2006/relationships/chart" Target="/ppt/slides/charts/chart3.xml" Id="Rcfd3b804e0ba4f21" /><Relationship Type="http://schemas.openxmlformats.org/officeDocument/2006/relationships/notesSlide" Target="/ppt/notesSlides/notesSlide18.xml" Id="Rdf8bb880354541a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ac6f9d357794af6" /><Relationship Type="http://schemas.openxmlformats.org/officeDocument/2006/relationships/notesSlide" Target="/ppt/notesSlides/notesSlide19.xml" Id="R55f78ce7d19a43c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66d813a411845da" /><Relationship Type="http://schemas.openxmlformats.org/officeDocument/2006/relationships/notesSlide" Target="/ppt/notesSlides/notesSlide20.xml" Id="Re03ddf5831e64cb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paper</c:v>
          </c:tx>
          <c:spPr>
            <a:solidFill xmlns:a="http://schemas.openxmlformats.org/drawingml/2006/main">
              <a:srgbClr val="94A3B8"/>
            </a:solidFill>
          </c:spPr>
          <c:cat>
            <c:strRef>
              <c:f>'Chart Data'!$A$2:$A$5</c:f>
              <c:strCache>
                <c:ptCount val="4"/>
                <c:pt idx="0">
                  <c:v>LS</c:v>
                </c:pt>
                <c:pt idx="1">
                  <c:v>EN</c:v>
                </c:pt>
                <c:pt idx="2">
                  <c:v>FFN</c:v>
                </c:pt>
                <c:pt idx="3">
                  <c:v>GAN</c:v>
                </c:pt>
              </c:strCache>
            </c:strRef>
          </c:cat>
          <c:val>
            <c:numRef>
              <c:f>'Chart Data'!$B$2:$B$5</c:f>
              <c:numCache>
                <c:formatCode>0.000</c:formatCode>
                <c:ptCount val="4"/>
                <c:pt idx="0">
                  <c:v>0.42</c:v>
                </c:pt>
                <c:pt idx="1">
                  <c:v>0.5</c:v>
                </c:pt>
                <c:pt idx="2">
                  <c:v>0.44</c:v>
                </c:pt>
                <c:pt idx="3">
                  <c:v>0.75</c:v>
                </c:pt>
              </c:numCache>
            </c:numRef>
          </c:val>
        </c:ser>
        <c:ser>
          <c:idx val="1"/>
          <c:order val="1"/>
          <c:tx>
            <c:v>Code 07 replication</c:v>
          </c:tx>
          <c:spPr>
            <a:solidFill xmlns:a="http://schemas.openxmlformats.org/drawingml/2006/main">
              <a:srgbClr val="003262"/>
            </a:solidFill>
          </c:spPr>
          <c:cat>
            <c:strRef>
              <c:f>'Chart Data'!$C$2:$C$5</c:f>
              <c:strCache>
                <c:ptCount val="4"/>
                <c:pt idx="0">
                  <c:v>LS</c:v>
                </c:pt>
                <c:pt idx="1">
                  <c:v>EN</c:v>
                </c:pt>
                <c:pt idx="2">
                  <c:v>FFN</c:v>
                </c:pt>
                <c:pt idx="3">
                  <c:v>GAN</c:v>
                </c:pt>
              </c:strCache>
            </c:strRef>
          </c:cat>
          <c:val>
            <c:numRef>
              <c:f>'Chart Data'!$D$2:$D$5</c:f>
              <c:numCache>
                <c:formatCode>0.000</c:formatCode>
                <c:ptCount val="4"/>
                <c:pt idx="0">
                  <c:v>0.40639203</c:v>
                </c:pt>
                <c:pt idx="1">
                  <c:v>0.41150844</c:v>
                </c:pt>
                <c:pt idx="2">
                  <c:v>0.56952059</c:v>
                </c:pt>
                <c:pt idx="3">
                  <c:v>0.61188757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Data'!$A$2:$A$4</c:f>
              <c:strCache>
                <c:ptCount val="3"/>
                <c:pt idx="0">
                  <c:v>Train</c:v>
                </c:pt>
                <c:pt idx="1">
                  <c:v>Validation</c:v>
                </c:pt>
                <c:pt idx="2">
                  <c:v>Test</c:v>
                </c:pt>
              </c:strCache>
            </c:strRef>
          </c:cat>
          <c:val>
            <c:numRef>
              <c:f>'Chart Data'!$B$2:$B$4</c:f>
              <c:numCache>
                <c:formatCode>0.000</c:formatCode>
                <c:ptCount val="3"/>
                <c:pt idx="0">
                  <c:v>2.68</c:v>
                </c:pt>
                <c:pt idx="1">
                  <c:v>1.43</c:v>
                </c:pt>
                <c:pt idx="2">
                  <c:v>0.75</c:v>
                </c:pt>
              </c:numCache>
            </c:numRef>
          </c:val>
        </c:ser>
        <c:ser>
          <c:idx val="1"/>
          <c:order val="1"/>
          <c:tx>
            <c:v>Replicated GAN</c:v>
          </c:tx>
          <c:spPr>
            <a:solidFill xmlns:a="http://schemas.openxmlformats.org/drawingml/2006/main">
              <a:srgbClr val="003262"/>
            </a:solidFill>
          </c:spPr>
          <c:cat>
            <c:strRef>
              <c:f>'Chart Data'!$C$2:$C$4</c:f>
              <c:strCache>
                <c:ptCount val="3"/>
                <c:pt idx="0">
                  <c:v>Train</c:v>
                </c:pt>
                <c:pt idx="1">
                  <c:v>Validation</c:v>
                </c:pt>
                <c:pt idx="2">
                  <c:v>Test</c:v>
                </c:pt>
              </c:strCache>
            </c:strRef>
          </c:cat>
          <c:val>
            <c:numRef>
              <c:f>'Chart Data'!$D$2:$D$4</c:f>
              <c:numCache>
                <c:formatCode>0.000</c:formatCode>
                <c:ptCount val="3"/>
                <c:pt idx="0">
                  <c:v>2.22351534</c:v>
                </c:pt>
                <c:pt idx="1">
                  <c:v>1.18540902</c:v>
                </c:pt>
                <c:pt idx="2">
                  <c:v>0.61188757</c:v>
                </c:pt>
              </c:numCache>
            </c:numRef>
          </c:val>
        </c:ser>
        <c:ser>
          <c:idx val="2"/>
          <c:order val="2"/>
          <c:tx>
            <c:v>Extension LSTM</c:v>
          </c:tx>
          <c:spPr>
            <a:solidFill xmlns:a="http://schemas.openxmlformats.org/drawingml/2006/main">
              <a:srgbClr val="2563EB"/>
            </a:solidFill>
          </c:spPr>
          <c:cat>
            <c:strRef>
              <c:f>'Chart Data'!$E$2:$E$4</c:f>
              <c:strCache>
                <c:ptCount val="3"/>
                <c:pt idx="0">
                  <c:v>Train</c:v>
                </c:pt>
                <c:pt idx="1">
                  <c:v>Validation</c:v>
                </c:pt>
                <c:pt idx="2">
                  <c:v>Test</c:v>
                </c:pt>
              </c:strCache>
            </c:strRef>
          </c:cat>
          <c:val>
            <c:numRef>
              <c:f>'Chart Data'!$F$2:$F$4</c:f>
              <c:numCache>
                <c:formatCode>0.000</c:formatCode>
                <c:ptCount val="3"/>
                <c:pt idx="0">
                  <c:v>1.30755655</c:v>
                </c:pt>
                <c:pt idx="1">
                  <c:v>0.75013562</c:v>
                </c:pt>
                <c:pt idx="2">
                  <c:v>0.45929328</c:v>
                </c:pt>
              </c:numCache>
            </c:numRef>
          </c:val>
        </c:ser>
        <c:ser>
          <c:idx val="3"/>
          <c:order val="3"/>
          <c:tx>
            <c:v>Transformer</c:v>
          </c:tx>
          <c:spPr>
            <a:solidFill xmlns:a="http://schemas.openxmlformats.org/drawingml/2006/main">
              <a:srgbClr val="B7790B"/>
            </a:solidFill>
          </c:spPr>
          <c:cat>
            <c:strRef>
              <c:f>'Chart Data'!$G$2:$G$4</c:f>
              <c:strCache>
                <c:ptCount val="3"/>
                <c:pt idx="0">
                  <c:v>Train</c:v>
                </c:pt>
                <c:pt idx="1">
                  <c:v>Validation</c:v>
                </c:pt>
                <c:pt idx="2">
                  <c:v>Test</c:v>
                </c:pt>
              </c:strCache>
            </c:strRef>
          </c:cat>
          <c:val>
            <c:numRef>
              <c:f>'Chart Data'!$H$2:$H$4</c:f>
              <c:numCache>
                <c:formatCode>0.000</c:formatCode>
                <c:ptCount val="3"/>
                <c:pt idx="0">
                  <c:v>1.04903636</c:v>
                </c:pt>
                <c:pt idx="1">
                  <c:v>0.58874548</c:v>
                </c:pt>
                <c:pt idx="2">
                  <c:v>0.3044769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3.70641062</c:v>
                </c:pt>
                <c:pt idx="1">
                  <c:v>3.00443061</c:v>
                </c:pt>
                <c:pt idx="2">
                  <c:v>3.49685192</c:v>
                </c:pt>
                <c:pt idx="3">
                  <c:v>3.74875446</c:v>
                </c:pt>
              </c:numCache>
            </c:numRef>
          </c:val>
        </c:ser>
        <c:ser>
          <c:idx val="1"/>
          <c:order val="1"/>
          <c:tx>
            <c:v>Replicated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2.94245335</c:v>
                </c:pt>
                <c:pt idx="1">
                  <c:v>2.40358567</c:v>
                </c:pt>
                <c:pt idx="2">
                  <c:v>2.6865745</c:v>
                </c:pt>
                <c:pt idx="3">
                  <c:v>3.05007001</c:v>
                </c:pt>
              </c:numCache>
            </c:numRef>
          </c:val>
        </c:ser>
        <c:ser>
          <c:idx val="2"/>
          <c:order val="2"/>
          <c:tx>
            <c:v>Extension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2.05784917</c:v>
                </c:pt>
                <c:pt idx="1">
                  <c:v>1.38254624</c:v>
                </c:pt>
                <c:pt idx="2">
                  <c:v>1.64211907</c:v>
                </c:pt>
                <c:pt idx="3">
                  <c:v>2.26786637</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1.4734821</c:v>
                </c:pt>
                <c:pt idx="1">
                  <c:v>1.40927834</c:v>
                </c:pt>
                <c:pt idx="2">
                  <c:v>0.89283968</c:v>
                </c:pt>
                <c:pt idx="3">
                  <c:v>1.92122442</c:v>
                </c:pt>
              </c:numCache>
            </c:numRef>
          </c:val>
        </c:ser>
        <c:ser>
          <c:idx val="4"/>
          <c:order val="4"/>
          <c:tx>
            <c:v>Equal-weight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2.19054578</c:v>
                </c:pt>
                <c:pt idx="1">
                  <c:v>1.94098684</c:v>
                </c:pt>
                <c:pt idx="2">
                  <c:v>1.48894614</c:v>
                </c:pt>
                <c:pt idx="3">
                  <c:v>2.7013473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2be5858eea84e9a"/>
          <a:srcRect xmlns:a="http://schemas.openxmlformats.org/drawingml/2006/main" l="0" t="22546" r="0" b="22546"/>
          <a:stretch xmlns:a="http://schemas.openxmlformats.org/drawingml/2006/main">
            <a:fillRect l="0" t="0" r="0" b="0"/>
          </a:stretch>
        </p:blipFill>
        <p:spPr>
          <a:xfrm xmlns:a="http://schemas.openxmlformats.org/drawingml/2006/main">
            <a:off x="0" y="0"/>
            <a:ext cx="9144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7B2E12-71FE-425D-AA0C-3E48724DFAC5}"/>
              </a:ext>
            </a:extLst>
          </p:cNvPr>
          <p:cNvSpPr>
            <a:spLocks xmlns:a="http://schemas.openxmlformats.org/drawingml/2006/main" noGrp="1"/>
          </p:cNvSpPr>
          <p:nvPr/>
        </p:nvSpPr>
        <p:spPr>
          <a:xfrm xmlns:a="http://schemas.openxmlformats.org/drawingml/2006/main">
            <a:off x="342900" y="2343150"/>
            <a:ext cx="842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FFFFFF"/>
                </a:solidFill>
                <a:latin typeface="Arial"/>
                <a:ea typeface="Arial"/>
                <a:cs typeface="Arial"/>
              </a:defRPr>
            </a:pPr>
            <a:r>
              <a:rPr sz="3000" b="1">
                <a:solidFill>
                  <a:srgbClr val="FFFFFF"/>
                </a:solidFill>
                <a:latin typeface="Arial"/>
                <a:ea typeface="Arial"/>
                <a:cs typeface="Arial"/>
              </a:rPr>
              <a:t>Deep Learning in Asset Pricing</a:t>
            </a:r>
          </a:p>
        </p:txBody>
      </p:sp>
      <p:sp>
        <p:nvSpPr>
          <p:cNvPr id="3" name="">
            <a:extLst xmlns:a="http://schemas.openxmlformats.org/drawingml/2006/main">
              <a:ext uri="{FF2B5EF4-FFF2-40B4-BE49-F238E27FC236}">
                <a16:creationId xmlns:a16="http://schemas.microsoft.com/office/drawing/2014/main" id="{DF695EB0-547D-4965-94D1-D835C4659154}"/>
              </a:ext>
            </a:extLst>
          </p:cNvPr>
          <p:cNvSpPr>
            <a:spLocks xmlns:a="http://schemas.openxmlformats.org/drawingml/2006/main" noGrp="1"/>
          </p:cNvSpPr>
          <p:nvPr/>
        </p:nvSpPr>
        <p:spPr>
          <a:xfrm xmlns:a="http://schemas.openxmlformats.org/drawingml/2006/main">
            <a:off x="361950" y="3476625"/>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3262"/>
                </a:solidFill>
                <a:latin typeface="Arial"/>
                <a:ea typeface="Arial"/>
                <a:cs typeface="Arial"/>
              </a:defRPr>
            </a:pPr>
            <a:r>
              <a:rPr sz="2025" b="1">
                <a:solidFill>
                  <a:srgbClr val="003262"/>
                </a:solidFill>
                <a:latin typeface="Arial"/>
                <a:ea typeface="Arial"/>
                <a:cs typeface="Arial"/>
              </a:rPr>
              <a:t>Replication and Model Comparisons</a:t>
            </a:r>
          </a:p>
        </p:txBody>
      </p:sp>
      <p:sp>
        <p:nvSpPr>
          <p:cNvPr id="4" name="">
            <a:extLst xmlns:a="http://schemas.openxmlformats.org/drawingml/2006/main">
              <a:ext uri="{FF2B5EF4-FFF2-40B4-BE49-F238E27FC236}">
                <a16:creationId xmlns:a16="http://schemas.microsoft.com/office/drawing/2014/main" id="{5481CBCE-E7D6-4BC4-800A-9A7C0A831F5E}"/>
              </a:ext>
            </a:extLst>
          </p:cNvPr>
          <p:cNvSpPr>
            <a:spLocks xmlns:a="http://schemas.openxmlformats.org/drawingml/2006/main" noGrp="1"/>
          </p:cNvSpPr>
          <p:nvPr/>
        </p:nvSpPr>
        <p:spPr>
          <a:xfrm xmlns:a="http://schemas.openxmlformats.org/drawingml/2006/main">
            <a:off x="361950" y="3886200"/>
            <a:ext cx="819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F2A37"/>
                </a:solidFill>
                <a:latin typeface="Arial"/>
                <a:ea typeface="Arial"/>
                <a:cs typeface="Arial"/>
              </a:defRPr>
            </a:pPr>
            <a:r>
              <a:rPr sz="1500" b="0">
                <a:solidFill>
                  <a:srgbClr val="1F2A37"/>
                </a:solidFill>
                <a:latin typeface="Arial"/>
                <a:ea typeface="Arial"/>
                <a:cs typeface="Arial"/>
              </a:rPr>
              <a:t>Transformer, rolling windows, regimes and portfolio combinations</a:t>
            </a:r>
          </a:p>
        </p:txBody>
      </p:sp>
      <p:sp>
        <p:nvSpPr>
          <p:cNvPr id="5" name="">
            <a:extLst xmlns:a="http://schemas.openxmlformats.org/drawingml/2006/main">
              <a:ext uri="{FF2B5EF4-FFF2-40B4-BE49-F238E27FC236}">
                <a16:creationId xmlns:a16="http://schemas.microsoft.com/office/drawing/2014/main" id="{A4983446-7EC0-4107-BF9F-D59958BEF0F6}"/>
              </a:ext>
            </a:extLst>
          </p:cNvPr>
          <p:cNvSpPr>
            <a:spLocks xmlns:a="http://schemas.openxmlformats.org/drawingml/2006/main" noGrp="1"/>
          </p:cNvSpPr>
          <p:nvPr/>
        </p:nvSpPr>
        <p:spPr>
          <a:xfrm xmlns:a="http://schemas.openxmlformats.org/drawingml/2006/main">
            <a:off x="361950" y="4257675"/>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F2A37"/>
                </a:solidFill>
                <a:latin typeface="Arial"/>
                <a:ea typeface="Arial"/>
                <a:cs typeface="Arial"/>
              </a:defRPr>
            </a:pPr>
            <a:r>
              <a:rPr sz="1350" b="0">
                <a:solidFill>
                  <a:srgbClr val="1F2A37"/>
                </a:solidFill>
                <a:latin typeface="Arial"/>
                <a:ea typeface="Arial"/>
                <a:cs typeface="Arial"/>
              </a:rPr>
              <a:t>Reza Zamani, Hrafnhildur Lif Jonsdottir</a:t>
            </a:r>
          </a:p>
        </p:txBody>
      </p:sp>
      <p:sp>
        <p:nvSpPr>
          <p:cNvPr id="6" name="">
            <a:extLst xmlns:a="http://schemas.openxmlformats.org/drawingml/2006/main">
              <a:ext uri="{FF2B5EF4-FFF2-40B4-BE49-F238E27FC236}">
                <a16:creationId xmlns:a16="http://schemas.microsoft.com/office/drawing/2014/main" id="{6558B462-85ED-457A-8617-624E02B58E9C}"/>
              </a:ext>
            </a:extLst>
          </p:cNvPr>
          <p:cNvSpPr>
            <a:spLocks xmlns:a="http://schemas.openxmlformats.org/drawingml/2006/main" noGrp="1"/>
          </p:cNvSpPr>
          <p:nvPr/>
        </p:nvSpPr>
        <p:spPr>
          <a:xfrm xmlns:a="http://schemas.openxmlformats.org/drawingml/2006/main">
            <a:off x="361950" y="4495800"/>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F2A37"/>
                </a:solidFill>
                <a:latin typeface="Arial"/>
                <a:ea typeface="Arial"/>
                <a:cs typeface="Arial"/>
              </a:defRPr>
            </a:pPr>
            <a:r>
              <a:rPr sz="1350" b="0">
                <a:solidFill>
                  <a:srgbClr val="1F2A37"/>
                </a:solidFill>
                <a:latin typeface="Arial"/>
                <a:ea typeface="Arial"/>
                <a:cs typeface="Arial"/>
              </a:rPr>
              <a:t>Paraj Goyal and Elouan Bahri</a:t>
            </a:r>
          </a:p>
        </p:txBody>
      </p:sp>
      <p:sp>
        <p:nvSpPr>
          <p:cNvPr id="7" name="">
            <a:extLst xmlns:a="http://schemas.openxmlformats.org/drawingml/2006/main">
              <a:ext uri="{FF2B5EF4-FFF2-40B4-BE49-F238E27FC236}">
                <a16:creationId xmlns:a16="http://schemas.microsoft.com/office/drawing/2014/main" id="{7AF936C5-CA29-4C4B-B20A-86125B385748}"/>
              </a:ext>
            </a:extLst>
          </p:cNvPr>
          <p:cNvSpPr>
            <a:spLocks xmlns:a="http://schemas.openxmlformats.org/drawingml/2006/main" noGrp="1"/>
          </p:cNvSpPr>
          <p:nvPr/>
        </p:nvSpPr>
        <p:spPr>
          <a:xfrm xmlns:a="http://schemas.openxmlformats.org/drawingml/2006/main">
            <a:off x="361950" y="4743450"/>
            <a:ext cx="676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B6770"/>
                </a:solidFill>
                <a:latin typeface="Arial"/>
                <a:ea typeface="Arial"/>
                <a:cs typeface="Arial"/>
              </a:defRPr>
            </a:pPr>
            <a:r>
              <a:rPr sz="1275" b="0">
                <a:solidFill>
                  <a:srgbClr val="5B6770"/>
                </a:solidFill>
                <a:latin typeface="Arial"/>
                <a:ea typeface="Arial"/>
                <a:cs typeface="Arial"/>
              </a:rPr>
              <a:t>Professor: Ali Kakhbod</a:t>
            </a:r>
          </a:p>
        </p:txBody>
      </p:sp>
      <p:sp>
        <p:nvSpPr>
          <p:cNvPr id="8" name="">
            <a:extLst xmlns:a="http://schemas.openxmlformats.org/drawingml/2006/main">
              <a:ext uri="{FF2B5EF4-FFF2-40B4-BE49-F238E27FC236}">
                <a16:creationId xmlns:a16="http://schemas.microsoft.com/office/drawing/2014/main" id="{7D106F92-9820-4CB8-BF48-38DE4E16A808}"/>
              </a:ext>
            </a:extLst>
          </p:cNvPr>
          <p:cNvSpPr>
            <a:spLocks xmlns:a="http://schemas.openxmlformats.org/drawingml/2006/main" noGrp="1"/>
          </p:cNvSpPr>
          <p:nvPr/>
        </p:nvSpPr>
        <p:spPr>
          <a:xfrm xmlns:a="http://schemas.openxmlformats.org/drawingml/2006/main">
            <a:off x="7277100" y="48958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Group 7 · October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6e222f01f6a4d89"/>
          <a:stretch xmlns:a="http://schemas.openxmlformats.org/drawingml/2006/main"/>
        </p:blipFill>
        <p:spPr>
          <a:xfrm xmlns:a="http://schemas.openxmlformats.org/drawingml/2006/main">
            <a:off x="7279079" y="4514850"/>
            <a:ext cx="1520042" cy="285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5FF583E-8111-4644-B27C-6C46792DD834}"/>
              </a:ext>
            </a:extLst>
          </p:cNvPr>
          <p:cNvSpPr>
            <a:spLocks xmlns:a="http://schemas.openxmlformats.org/drawingml/2006/main" noGrp="1"/>
          </p:cNvSpPr>
          <p:nvPr/>
        </p:nvSpPr>
        <p:spPr>
          <a:xfrm xmlns:a="http://schemas.openxmlformats.org/drawingml/2006/main">
            <a:off x="361950" y="3267075"/>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00" b="0">
                <a:solidFill>
                  <a:srgbClr val="003262"/>
                </a:solidFill>
                <a:latin typeface="Arial"/>
                <a:ea typeface="Arial"/>
                <a:cs typeface="Arial"/>
              </a:defRPr>
            </a:pPr>
            <a:r>
              <a:rPr sz="1200" b="0">
                <a:solidFill>
                  <a:srgbClr val="003262"/>
                </a:solidFill>
                <a:latin typeface="Arial"/>
                <a:ea typeface="Arial"/>
                <a:cs typeface="Arial"/>
              </a:rPr>
              <a:t>Research question: can model changes improve asset-pricing performance?</a:t>
            </a:r>
          </a:p>
        </p:txBody>
      </p:sp>
    </p:spTree>
    <p:extLst>
      <p:ext uri="{BB962C8B-B14F-4D97-AF65-F5344CB8AC3E}">
        <p14:creationId xmlns:p14="http://schemas.microsoft.com/office/powerpoint/2010/main" val="6245881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7980B7-6EC6-4E30-9639-EA453C0345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52ECF-E0E9-401B-B1D8-65EEB89FB45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BE4EFE-9E3F-401C-8660-2CC3C1EEDB04}"/>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Presentation overview</a:t>
            </a:r>
          </a:p>
        </p:txBody>
      </p:sp>
      <p:sp>
        <p:nvSpPr>
          <p:cNvPr id="4" name="">
            <a:extLst xmlns:a="http://schemas.openxmlformats.org/drawingml/2006/main">
              <a:ext uri="{FF2B5EF4-FFF2-40B4-BE49-F238E27FC236}">
                <a16:creationId xmlns:a16="http://schemas.microsoft.com/office/drawing/2014/main" id="{815A581A-E841-46B9-8044-106CAEBA053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15-minute presentation</a:t>
            </a:r>
          </a:p>
        </p:txBody>
      </p:sp>
      <p:sp>
        <p:nvSpPr>
          <p:cNvPr id="5" name="">
            <a:extLst xmlns:a="http://schemas.openxmlformats.org/drawingml/2006/main">
              <a:ext uri="{FF2B5EF4-FFF2-40B4-BE49-F238E27FC236}">
                <a16:creationId xmlns:a16="http://schemas.microsoft.com/office/drawing/2014/main" id="{6EDB3EE9-E9C5-44FF-8907-70CCFD3811F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1872CCB-F385-49C3-BB99-836BA8911FB4}"/>
              </a:ext>
            </a:extLst>
          </p:cNvPr>
          <p:cNvSpPr>
            <a:spLocks xmlns:a="http://schemas.openxmlformats.org/drawingml/2006/main" noGrp="1"/>
          </p:cNvSpPr>
          <p:nvPr/>
        </p:nvSpPr>
        <p:spPr>
          <a:xfrm xmlns:a="http://schemas.openxmlformats.org/drawingml/2006/main">
            <a:off x="419100" y="98107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1. Main paper</a:t>
            </a:r>
          </a:p>
        </p:txBody>
      </p:sp>
      <p:sp>
        <p:nvSpPr>
          <p:cNvPr id="14" name="">
            <a:extLst xmlns:a="http://schemas.openxmlformats.org/drawingml/2006/main">
              <a:ext uri="{FF2B5EF4-FFF2-40B4-BE49-F238E27FC236}">
                <a16:creationId xmlns:a16="http://schemas.microsoft.com/office/drawing/2014/main" id="{7CA9D290-0D17-4D0A-A3E0-27664A63086A}"/>
              </a:ext>
            </a:extLst>
          </p:cNvPr>
          <p:cNvSpPr>
            <a:spLocks xmlns:a="http://schemas.openxmlformats.org/drawingml/2006/main" noGrp="1"/>
          </p:cNvSpPr>
          <p:nvPr/>
        </p:nvSpPr>
        <p:spPr>
          <a:xfrm xmlns:a="http://schemas.openxmlformats.org/drawingml/2006/main">
            <a:off x="419100" y="137160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2. Replication</a:t>
            </a:r>
          </a:p>
        </p:txBody>
      </p:sp>
      <p:sp>
        <p:nvSpPr>
          <p:cNvPr id="15" name="">
            <a:extLst xmlns:a="http://schemas.openxmlformats.org/drawingml/2006/main">
              <a:ext uri="{FF2B5EF4-FFF2-40B4-BE49-F238E27FC236}">
                <a16:creationId xmlns:a16="http://schemas.microsoft.com/office/drawing/2014/main" id="{ED379246-1383-4C99-8F72-8762051F65EF}"/>
              </a:ext>
            </a:extLst>
          </p:cNvPr>
          <p:cNvSpPr>
            <a:spLocks xmlns:a="http://schemas.openxmlformats.org/drawingml/2006/main" noGrp="1"/>
          </p:cNvSpPr>
          <p:nvPr/>
        </p:nvSpPr>
        <p:spPr>
          <a:xfrm xmlns:a="http://schemas.openxmlformats.org/drawingml/2006/main">
            <a:off x="419100" y="176212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3. Transformer</a:t>
            </a:r>
          </a:p>
        </p:txBody>
      </p:sp>
      <p:sp>
        <p:nvSpPr>
          <p:cNvPr id="16" name="">
            <a:extLst xmlns:a="http://schemas.openxmlformats.org/drawingml/2006/main">
              <a:ext uri="{FF2B5EF4-FFF2-40B4-BE49-F238E27FC236}">
                <a16:creationId xmlns:a16="http://schemas.microsoft.com/office/drawing/2014/main" id="{70793E91-35E3-408F-8B9A-E58F50BB11E9}"/>
              </a:ext>
            </a:extLst>
          </p:cNvPr>
          <p:cNvSpPr>
            <a:spLocks xmlns:a="http://schemas.openxmlformats.org/drawingml/2006/main" noGrp="1"/>
          </p:cNvSpPr>
          <p:nvPr/>
        </p:nvSpPr>
        <p:spPr>
          <a:xfrm xmlns:a="http://schemas.openxmlformats.org/drawingml/2006/main">
            <a:off x="419100" y="215265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4. Rolling windows</a:t>
            </a:r>
          </a:p>
        </p:txBody>
      </p:sp>
      <p:sp>
        <p:nvSpPr>
          <p:cNvPr id="17" name="">
            <a:extLst xmlns:a="http://schemas.openxmlformats.org/drawingml/2006/main">
              <a:ext uri="{FF2B5EF4-FFF2-40B4-BE49-F238E27FC236}">
                <a16:creationId xmlns:a16="http://schemas.microsoft.com/office/drawing/2014/main" id="{3B10CDF6-7AA4-4389-9B95-7DA57B884B2F}"/>
              </a:ext>
            </a:extLst>
          </p:cNvPr>
          <p:cNvSpPr>
            <a:spLocks xmlns:a="http://schemas.openxmlformats.org/drawingml/2006/main" noGrp="1"/>
          </p:cNvSpPr>
          <p:nvPr/>
        </p:nvSpPr>
        <p:spPr>
          <a:xfrm xmlns:a="http://schemas.openxmlformats.org/drawingml/2006/main">
            <a:off x="419100" y="254317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5. Regime change</a:t>
            </a:r>
          </a:p>
        </p:txBody>
      </p:sp>
      <p:sp>
        <p:nvSpPr>
          <p:cNvPr id="18" name="">
            <a:extLst xmlns:a="http://schemas.openxmlformats.org/drawingml/2006/main">
              <a:ext uri="{FF2B5EF4-FFF2-40B4-BE49-F238E27FC236}">
                <a16:creationId xmlns:a16="http://schemas.microsoft.com/office/drawing/2014/main" id="{DFDA38ED-53C5-49E1-BABA-729B78BD85FF}"/>
              </a:ext>
            </a:extLst>
          </p:cNvPr>
          <p:cNvSpPr>
            <a:spLocks xmlns:a="http://schemas.openxmlformats.org/drawingml/2006/main" noGrp="1"/>
          </p:cNvSpPr>
          <p:nvPr/>
        </p:nvSpPr>
        <p:spPr>
          <a:xfrm xmlns:a="http://schemas.openxmlformats.org/drawingml/2006/main">
            <a:off x="419100" y="293370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6. Uncertainty</a:t>
            </a:r>
          </a:p>
        </p:txBody>
      </p:sp>
      <p:sp>
        <p:nvSpPr>
          <p:cNvPr id="19" name="">
            <a:extLst xmlns:a="http://schemas.openxmlformats.org/drawingml/2006/main">
              <a:ext uri="{FF2B5EF4-FFF2-40B4-BE49-F238E27FC236}">
                <a16:creationId xmlns:a16="http://schemas.microsoft.com/office/drawing/2014/main" id="{411BD56C-9CB6-44BF-BB65-F27E3D2E1995}"/>
              </a:ext>
            </a:extLst>
          </p:cNvPr>
          <p:cNvSpPr>
            <a:spLocks xmlns:a="http://schemas.openxmlformats.org/drawingml/2006/main" noGrp="1"/>
          </p:cNvSpPr>
          <p:nvPr/>
        </p:nvSpPr>
        <p:spPr>
          <a:xfrm xmlns:a="http://schemas.openxmlformats.org/drawingml/2006/main">
            <a:off x="419100" y="332422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7. Combination</a:t>
            </a:r>
          </a:p>
        </p:txBody>
      </p:sp>
      <p:sp>
        <p:nvSpPr>
          <p:cNvPr id="20" name="">
            <a:extLst xmlns:a="http://schemas.openxmlformats.org/drawingml/2006/main">
              <a:ext uri="{FF2B5EF4-FFF2-40B4-BE49-F238E27FC236}">
                <a16:creationId xmlns:a16="http://schemas.microsoft.com/office/drawing/2014/main" id="{7D78D46F-6855-49A8-A7ED-1FF50B26BB81}"/>
              </a:ext>
            </a:extLst>
          </p:cNvPr>
          <p:cNvSpPr>
            <a:spLocks xmlns:a="http://schemas.openxmlformats.org/drawingml/2006/main" noGrp="1"/>
          </p:cNvSpPr>
          <p:nvPr/>
        </p:nvSpPr>
        <p:spPr>
          <a:xfrm xmlns:a="http://schemas.openxmlformats.org/drawingml/2006/main">
            <a:off x="419100" y="371475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8. Summary</a:t>
            </a:r>
          </a:p>
        </p:txBody>
      </p:sp>
      <p:sp>
        <p:nvSpPr>
          <p:cNvPr id="21" name="">
            <a:extLst xmlns:a="http://schemas.openxmlformats.org/drawingml/2006/main">
              <a:ext uri="{FF2B5EF4-FFF2-40B4-BE49-F238E27FC236}">
                <a16:creationId xmlns:a16="http://schemas.microsoft.com/office/drawing/2014/main" id="{60184AF2-CAE6-43A6-8292-02A626BDCC5C}"/>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Establish the published paper and replication benchmarks.</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Evaluate four extensions, then compare combined results.</a:t>
            </a:r>
          </a:p>
        </p:txBody>
      </p:sp>
    </p:spTree>
    <p:extLst>
      <p:ext uri="{BB962C8B-B14F-4D97-AF65-F5344CB8AC3E}">
        <p14:creationId xmlns:p14="http://schemas.microsoft.com/office/powerpoint/2010/main" val="3557814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9653F-3B5A-47D0-B2D7-8355BF53C99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600C88-6EE6-4DE8-B6F7-A059329EB01A}"/>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5B9CED-0996-46C0-AD6F-C37867C6D86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Main paper: model architecture and data</a:t>
            </a:r>
          </a:p>
        </p:txBody>
      </p:sp>
      <p:sp>
        <p:nvSpPr>
          <p:cNvPr id="4" name="">
            <a:extLst xmlns:a="http://schemas.openxmlformats.org/drawingml/2006/main">
              <a:ext uri="{FF2B5EF4-FFF2-40B4-BE49-F238E27FC236}">
                <a16:creationId xmlns:a16="http://schemas.microsoft.com/office/drawing/2014/main" id="{EE670733-DBC5-4AEC-8017-BF150C2A5AA1}"/>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1. Main paper</a:t>
            </a:r>
          </a:p>
        </p:txBody>
      </p:sp>
      <p:sp>
        <p:nvSpPr>
          <p:cNvPr id="5" name="">
            <a:extLst xmlns:a="http://schemas.openxmlformats.org/drawingml/2006/main">
              <a:ext uri="{FF2B5EF4-FFF2-40B4-BE49-F238E27FC236}">
                <a16:creationId xmlns:a16="http://schemas.microsoft.com/office/drawing/2014/main" id="{AD17B70D-D8E3-4FD1-9512-A52F6476939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a:t>
            </a:r>
          </a:p>
        </p:txBody>
      </p:sp>
      <p:graphicFrame>
        <p:nvGraphicFramePr>
          <p:cNvPr id="18"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476500"/>
                <a:gridCol w="2933700"/>
                <a:gridCol w="2933700"/>
              </a:tblGrid>
              <a:tr h="571500">
                <a:tc>
                  <a:txBody>
                    <a:bodyPr/>
                    <a:lstStyle/>
                    <a:p>
                      <a:r>
                        <a:rPr sz="1350" b="1">
                          <a:solidFill>
                            <a:srgbClr val="FFFFFF"/>
                          </a:solidFill>
                          <a:latin typeface="Arial"/>
                          <a:ea typeface="Arial"/>
                          <a:cs typeface="Arial"/>
                        </a:rPr>
                        <a:t>Component</a:t>
                      </a:r>
                    </a:p>
                  </a:txBody>
                  <a:tcPr marL="91440" marR="91440" marT="45720" marB="45720">
                    <a:solidFill>
                      <a:srgbClr val="003262"/>
                    </a:solidFill>
                  </a:tcPr>
                </a:tc>
                <a:tc>
                  <a:txBody>
                    <a:bodyPr/>
                    <a:lstStyle/>
                    <a:p>
                      <a:r>
                        <a:rPr sz="1350" b="1">
                          <a:solidFill>
                            <a:srgbClr val="FFFFFF"/>
                          </a:solidFill>
                          <a:latin typeface="Arial"/>
                          <a:ea typeface="Arial"/>
                          <a:cs typeface="Arial"/>
                        </a:rPr>
                        <a:t>Input and role</a:t>
                      </a:r>
                    </a:p>
                  </a:txBody>
                  <a:tcPr marL="91440" marR="91440" marT="45720" marB="45720">
                    <a:solidFill>
                      <a:srgbClr val="003262"/>
                    </a:solidFill>
                  </a:tcPr>
                </a:tc>
                <a:tc>
                  <a:txBody>
                    <a:bodyPr/>
                    <a:lstStyle/>
                    <a:p>
                      <a:r>
                        <a:rPr sz="1350" b="1">
                          <a:solidFill>
                            <a:srgbClr val="FFFFFF"/>
                          </a:solidFill>
                          <a:latin typeface="Arial"/>
                          <a:ea typeface="Arial"/>
                          <a:cs typeface="Arial"/>
                        </a:rPr>
                        <a:t>Output</a:t>
                      </a:r>
                    </a:p>
                  </a:txBody>
                  <a:tcPr marL="91440" marR="91440" marT="45720" marB="45720">
                    <a:solidFill>
                      <a:srgbClr val="003262"/>
                    </a:solidFill>
                  </a:tcPr>
                </a:tc>
              </a:tr>
              <a:tr h="571500">
                <a:tc>
                  <a:txBody>
                    <a:bodyPr/>
                    <a:lstStyle/>
                    <a:p>
                      <a:r>
                        <a:rPr sz="1425" b="0">
                          <a:solidFill>
                            <a:srgbClr val="1F2A37"/>
                          </a:solidFill>
                          <a:latin typeface="Arial"/>
                          <a:ea typeface="Arial"/>
                          <a:cs typeface="Arial"/>
                        </a:rPr>
                        <a:t>Macro SDF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4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Pricing-weight network</a:t>
                      </a:r>
                    </a:p>
                  </a:txBody>
                  <a:tcPr marL="91440" marR="91440" marT="45720" marB="45720">
                    <a:solidFill>
                      <a:srgbClr val="FFFFFF"/>
                    </a:solidFill>
                  </a:tcPr>
                </a:tc>
                <a:tc>
                  <a:txBody>
                    <a:bodyPr/>
                    <a:lstStyle/>
                    <a:p>
                      <a:r>
                        <a:rPr sz="1425" b="0">
                          <a:solidFill>
                            <a:srgbClr val="1F2A37"/>
                          </a:solidFill>
                          <a:latin typeface="Arial"/>
                          <a:ea typeface="Arial"/>
                          <a:cs typeface="Arial"/>
                        </a:rPr>
                        <a:t>46 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Two layers of 64 units</a:t>
                      </a:r>
                    </a:p>
                  </a:txBody>
                  <a:tcPr marL="91440" marR="91440" marT="45720" marB="45720">
                    <a:solidFill>
                      <a:srgbClr val="FFFFFF"/>
                    </a:solidFill>
                  </a:tcPr>
                </a:tc>
              </a:tr>
              <a:tr h="571500">
                <a:tc>
                  <a:txBody>
                    <a:bodyPr/>
                    <a:lstStyle/>
                    <a:p>
                      <a:r>
                        <a:rPr sz="1425" b="0">
                          <a:solidFill>
                            <a:srgbClr val="1F2A37"/>
                          </a:solidFill>
                          <a:latin typeface="Arial"/>
                          <a:ea typeface="Arial"/>
                          <a:cs typeface="Arial"/>
                        </a:rPr>
                        <a:t>Macro instrument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32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Conditional network</a:t>
                      </a:r>
                    </a:p>
                  </a:txBody>
                  <a:tcPr marL="91440" marR="91440" marT="45720" marB="45720">
                    <a:solidFill>
                      <a:srgbClr val="FFFFFF"/>
                    </a:solidFill>
                  </a:tcPr>
                </a:tc>
                <a:tc>
                  <a:txBody>
                    <a:bodyPr/>
                    <a:lstStyle/>
                    <a:p>
                      <a:r>
                        <a:rPr sz="1425" b="0">
                          <a:solidFill>
                            <a:srgbClr val="1F2A37"/>
                          </a:solidFill>
                          <a:latin typeface="Arial"/>
                          <a:ea typeface="Arial"/>
                          <a:cs typeface="Arial"/>
                        </a:rPr>
                        <a:t>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8 bounded instruments</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549E0823-13F8-46EA-9053-08FEB3CE12C3}"/>
              </a:ext>
            </a:extLst>
          </p:cNvPr>
          <p:cNvSpPr>
            <a:spLocks xmlns:a="http://schemas.openxmlformats.org/drawingml/2006/main" noGrp="1"/>
          </p:cNvSpPr>
          <p:nvPr/>
        </p:nvSpPr>
        <p:spPr>
          <a:xfrm xmlns:a="http://schemas.openxmlformats.org/drawingml/2006/main">
            <a:off x="419100" y="78105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F2A37"/>
                </a:solidFill>
                <a:latin typeface="Arial"/>
                <a:ea typeface="Arial"/>
                <a:cs typeface="Arial"/>
              </a:defRPr>
            </a:pPr>
            <a:r>
              <a:rPr sz="1275" b="0">
                <a:solidFill>
                  <a:srgbClr val="1F2A37"/>
                </a:solidFill>
                <a:latin typeface="Arial"/>
                <a:ea typeface="Arial"/>
                <a:cs typeface="Arial"/>
              </a:rPr>
              <a:t>Goal: learn a stochastic discount factor through conditional pricing moments.</a:t>
            </a:r>
          </a:p>
        </p:txBody>
      </p:sp>
      <p:sp>
        <p:nvSpPr>
          <p:cNvPr id="12" name="">
            <a:extLst xmlns:a="http://schemas.openxmlformats.org/drawingml/2006/main">
              <a:ext uri="{FF2B5EF4-FFF2-40B4-BE49-F238E27FC236}">
                <a16:creationId xmlns:a16="http://schemas.microsoft.com/office/drawing/2014/main" id="{D0CD2774-67DF-44C3-BAEF-1EB247BE1153}"/>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The SDF network minimizes pricing errors, while an adversary exposes remaining errors.</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Train 1967–86, validate 1987–91, and test 1992–2016.</a:t>
            </a:r>
          </a:p>
        </p:txBody>
      </p:sp>
    </p:spTree>
    <p:extLst>
      <p:ext uri="{BB962C8B-B14F-4D97-AF65-F5344CB8AC3E}">
        <p14:creationId xmlns:p14="http://schemas.microsoft.com/office/powerpoint/2010/main" val="2410890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4B65EB-3C9D-4A0A-A5B6-F43D5650CC6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037A00-CA31-49B7-A348-515295FC980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6F88D0-05A6-4D75-A6AB-BCA7B61A97B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Main paper: published results</a:t>
            </a:r>
          </a:p>
        </p:txBody>
      </p:sp>
      <p:sp>
        <p:nvSpPr>
          <p:cNvPr id="4" name="">
            <a:extLst xmlns:a="http://schemas.openxmlformats.org/drawingml/2006/main">
              <a:ext uri="{FF2B5EF4-FFF2-40B4-BE49-F238E27FC236}">
                <a16:creationId xmlns:a16="http://schemas.microsoft.com/office/drawing/2014/main" id="{26248FE1-8E51-4EA7-AC8B-62E05E017D5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1. Main paper</a:t>
            </a:r>
          </a:p>
        </p:txBody>
      </p:sp>
      <p:sp>
        <p:nvSpPr>
          <p:cNvPr id="5" name="">
            <a:extLst xmlns:a="http://schemas.openxmlformats.org/drawingml/2006/main">
              <a:ext uri="{FF2B5EF4-FFF2-40B4-BE49-F238E27FC236}">
                <a16:creationId xmlns:a16="http://schemas.microsoft.com/office/drawing/2014/main" id="{B8C358BC-7C57-4258-98AB-F5B0C57525E2}"/>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4</a:t>
            </a:r>
          </a:p>
        </p:txBody>
      </p:sp>
      <p:graphicFrame>
        <p:nvGraphicFramePr>
          <p:cNvPr id="16" name=""/>
          <p:cNvGraphicFramePr/>
          <p:nvPr/>
        </p:nvGraphicFramePr>
        <p:xfrm>
          <a:off xmlns:a="http://schemas.openxmlformats.org/drawingml/2006/main" x="400050" y="1019175"/>
          <a:ext xmlns:a="http://schemas.openxmlformats.org/drawingml/2006/main" cx="8343900" cy="2686050"/>
        </p:xfrm>
        <a:graphic xmlns:a="http://schemas.openxmlformats.org/drawingml/2006/main">
          <a:graphicData uri="http://schemas.openxmlformats.org/drawingml/2006/table">
            <a:tbl>
              <a:tblPr/>
              <a:tblGrid>
                <a:gridCol w="2476500"/>
                <a:gridCol w="1955800"/>
                <a:gridCol w="1955800"/>
                <a:gridCol w="1955800"/>
              </a:tblGrid>
              <a:tr h="537210">
                <a:tc>
                  <a:txBody>
                    <a:bodyPr/>
                    <a:lstStyle/>
                    <a:p>
                      <a:r>
                        <a:rPr sz="1425" b="1">
                          <a:solidFill>
                            <a:srgbClr val="FFFFFF"/>
                          </a:solidFill>
                          <a:latin typeface="Arial"/>
                          <a:ea typeface="Arial"/>
                          <a:cs typeface="Arial"/>
                        </a:rPr>
                        <a:t>Model</a:t>
                      </a:r>
                    </a:p>
                  </a:txBody>
                  <a:tcPr marL="91440" marR="91440" marT="45720" marB="45720">
                    <a:solidFill>
                      <a:srgbClr val="003262"/>
                    </a:solidFill>
                  </a:tcPr>
                </a:tc>
                <a:tc>
                  <a:txBody>
                    <a:bodyPr/>
                    <a:lstStyle/>
                    <a:p>
                      <a:r>
                        <a:rPr sz="1425" b="1">
                          <a:solidFill>
                            <a:srgbClr val="FFFFFF"/>
                          </a:solidFill>
                          <a:latin typeface="Arial"/>
                          <a:ea typeface="Arial"/>
                          <a:cs typeface="Arial"/>
                        </a:rPr>
                        <a:t>Train</a:t>
                      </a:r>
                    </a:p>
                  </a:txBody>
                  <a:tcPr marL="91440" marR="91440" marT="45720" marB="45720">
                    <a:solidFill>
                      <a:srgbClr val="003262"/>
                    </a:solidFill>
                  </a:tcPr>
                </a:tc>
                <a:tc>
                  <a:txBody>
                    <a:bodyPr/>
                    <a:lstStyle/>
                    <a:p>
                      <a:r>
                        <a:rPr sz="1425" b="1">
                          <a:solidFill>
                            <a:srgbClr val="FFFFFF"/>
                          </a:solidFill>
                          <a:latin typeface="Arial"/>
                          <a:ea typeface="Arial"/>
                          <a:cs typeface="Arial"/>
                        </a:rPr>
                        <a:t>Validation</a:t>
                      </a:r>
                    </a:p>
                  </a:txBody>
                  <a:tcPr marL="91440" marR="91440" marT="45720" marB="45720">
                    <a:solidFill>
                      <a:srgbClr val="003262"/>
                    </a:solidFill>
                  </a:tcPr>
                </a:tc>
                <a:tc>
                  <a:txBody>
                    <a:bodyPr/>
                    <a:lstStyle/>
                    <a:p>
                      <a:r>
                        <a:rPr sz="1425" b="1">
                          <a:solidFill>
                            <a:srgbClr val="FFFFFF"/>
                          </a:solidFill>
                          <a:latin typeface="Arial"/>
                          <a:ea typeface="Arial"/>
                          <a:cs typeface="Arial"/>
                        </a:rPr>
                        <a:t>Test</a:t>
                      </a:r>
                    </a:p>
                  </a:txBody>
                  <a:tcPr marL="91440" marR="91440" marT="45720" marB="45720">
                    <a:solidFill>
                      <a:srgbClr val="003262"/>
                    </a:solidFill>
                  </a:tcPr>
                </a:tc>
              </a:tr>
              <a:tr h="537210">
                <a:tc>
                  <a:txBody>
                    <a:bodyPr/>
                    <a:lstStyle/>
                    <a:p>
                      <a:r>
                        <a:rPr sz="1500" b="0">
                          <a:solidFill>
                            <a:srgbClr val="1F2A37"/>
                          </a:solidFill>
                          <a:latin typeface="Arial"/>
                          <a:ea typeface="Arial"/>
                          <a:cs typeface="Arial"/>
                        </a:rPr>
                        <a:t>LS</a:t>
                      </a:r>
                    </a:p>
                  </a:txBody>
                  <a:tcPr marL="91440" marR="91440" marT="45720" marB="45720">
                    <a:solidFill>
                      <a:srgbClr val="EEF3F8"/>
                    </a:solidFill>
                  </a:tcPr>
                </a:tc>
                <a:tc>
                  <a:txBody>
                    <a:bodyPr/>
                    <a:lstStyle/>
                    <a:p>
                      <a:r>
                        <a:rPr sz="1500" b="0">
                          <a:solidFill>
                            <a:srgbClr val="1F2A37"/>
                          </a:solidFill>
                          <a:latin typeface="Arial"/>
                          <a:ea typeface="Arial"/>
                          <a:cs typeface="Arial"/>
                        </a:rPr>
                        <a:t>1.800</a:t>
                      </a:r>
                    </a:p>
                  </a:txBody>
                  <a:tcPr marL="91440" marR="91440" marT="45720" marB="45720">
                    <a:solidFill>
                      <a:srgbClr val="EEF3F8"/>
                    </a:solidFill>
                  </a:tcPr>
                </a:tc>
                <a:tc>
                  <a:txBody>
                    <a:bodyPr/>
                    <a:lstStyle/>
                    <a:p>
                      <a:r>
                        <a:rPr sz="1500" b="0">
                          <a:solidFill>
                            <a:srgbClr val="1F2A37"/>
                          </a:solidFill>
                          <a:latin typeface="Arial"/>
                          <a:ea typeface="Arial"/>
                          <a:cs typeface="Arial"/>
                        </a:rPr>
                        <a:t>0.580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EN</a:t>
                      </a:r>
                    </a:p>
                  </a:txBody>
                  <a:tcPr marL="91440" marR="91440" marT="45720" marB="45720">
                    <a:solidFill>
                      <a:srgbClr val="FFFFFF"/>
                    </a:solidFill>
                  </a:tcPr>
                </a:tc>
                <a:tc>
                  <a:txBody>
                    <a:bodyPr/>
                    <a:lstStyle/>
                    <a:p>
                      <a:r>
                        <a:rPr sz="1500" b="0">
                          <a:solidFill>
                            <a:srgbClr val="1F2A37"/>
                          </a:solidFill>
                          <a:latin typeface="Arial"/>
                          <a:ea typeface="Arial"/>
                          <a:cs typeface="Arial"/>
                        </a:rPr>
                        <a:t>1.370</a:t>
                      </a:r>
                    </a:p>
                  </a:txBody>
                  <a:tcPr marL="91440" marR="91440" marT="45720" marB="45720">
                    <a:solidFill>
                      <a:srgbClr val="FFFFFF"/>
                    </a:solidFill>
                  </a:tcPr>
                </a:tc>
                <a:tc>
                  <a:txBody>
                    <a:bodyPr/>
                    <a:lstStyle/>
                    <a:p>
                      <a:r>
                        <a:rPr sz="1500" b="0">
                          <a:solidFill>
                            <a:srgbClr val="1F2A37"/>
                          </a:solidFill>
                          <a:latin typeface="Arial"/>
                          <a:ea typeface="Arial"/>
                          <a:cs typeface="Arial"/>
                        </a:rPr>
                        <a:t>1.150</a:t>
                      </a:r>
                    </a:p>
                  </a:txBody>
                  <a:tcPr marL="91440" marR="91440" marT="45720" marB="45720">
                    <a:solidFill>
                      <a:srgbClr val="FFFFFF"/>
                    </a:solidFill>
                  </a:tcPr>
                </a:tc>
                <a:tc>
                  <a:txBody>
                    <a:bodyPr/>
                    <a:lstStyle/>
                    <a:p>
                      <a:r>
                        <a:rPr sz="1500" b="0">
                          <a:solidFill>
                            <a:srgbClr val="1F2A37"/>
                          </a:solidFill>
                          <a:latin typeface="Arial"/>
                          <a:ea typeface="Arial"/>
                          <a:cs typeface="Arial"/>
                        </a:rPr>
                        <a:t>0.500</a:t>
                      </a:r>
                    </a:p>
                  </a:txBody>
                  <a:tcPr marL="91440" marR="91440" marT="45720" marB="45720">
                    <a:solidFill>
                      <a:srgbClr val="FFFFFF"/>
                    </a:solidFill>
                  </a:tcPr>
                </a:tc>
              </a:tr>
              <a:tr h="537210">
                <a:tc>
                  <a:txBody>
                    <a:bodyPr/>
                    <a:lstStyle/>
                    <a:p>
                      <a:r>
                        <a:rPr sz="1500" b="0">
                          <a:solidFill>
                            <a:srgbClr val="1F2A37"/>
                          </a:solidFill>
                          <a:latin typeface="Arial"/>
                          <a:ea typeface="Arial"/>
                          <a:cs typeface="Arial"/>
                        </a:rPr>
                        <a:t>FFN</a:t>
                      </a:r>
                    </a:p>
                  </a:txBody>
                  <a:tcPr marL="91440" marR="91440" marT="45720" marB="45720">
                    <a:solidFill>
                      <a:srgbClr val="EEF3F8"/>
                    </a:solidFill>
                  </a:tcPr>
                </a:tc>
                <a:tc>
                  <a:txBody>
                    <a:bodyPr/>
                    <a:lstStyle/>
                    <a:p>
                      <a:r>
                        <a:rPr sz="1500" b="0">
                          <a:solidFill>
                            <a:srgbClr val="1F2A37"/>
                          </a:solidFill>
                          <a:latin typeface="Arial"/>
                          <a:ea typeface="Arial"/>
                          <a:cs typeface="Arial"/>
                        </a:rPr>
                        <a:t>0.450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c>
                  <a:txBody>
                    <a:bodyPr/>
                    <a:lstStyle/>
                    <a:p>
                      <a:r>
                        <a:rPr sz="1500" b="0">
                          <a:solidFill>
                            <a:srgbClr val="1F2A37"/>
                          </a:solidFill>
                          <a:latin typeface="Arial"/>
                          <a:ea typeface="Arial"/>
                          <a:cs typeface="Arial"/>
                        </a:rPr>
                        <a:t>0.440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GAN</a:t>
                      </a:r>
                    </a:p>
                  </a:txBody>
                  <a:tcPr marL="91440" marR="91440" marT="45720" marB="45720">
                    <a:solidFill>
                      <a:srgbClr val="FFFFFF"/>
                    </a:solidFill>
                  </a:tcPr>
                </a:tc>
                <a:tc>
                  <a:txBody>
                    <a:bodyPr/>
                    <a:lstStyle/>
                    <a:p>
                      <a:r>
                        <a:rPr sz="1500" b="0">
                          <a:solidFill>
                            <a:srgbClr val="1F2A37"/>
                          </a:solidFill>
                          <a:latin typeface="Arial"/>
                          <a:ea typeface="Arial"/>
                          <a:cs typeface="Arial"/>
                        </a:rPr>
                        <a:t>2.680</a:t>
                      </a:r>
                    </a:p>
                  </a:txBody>
                  <a:tcPr marL="91440" marR="91440" marT="45720" marB="45720">
                    <a:solidFill>
                      <a:srgbClr val="FFFFFF"/>
                    </a:solidFill>
                  </a:tcPr>
                </a:tc>
                <a:tc>
                  <a:txBody>
                    <a:bodyPr/>
                    <a:lstStyle/>
                    <a:p>
                      <a:r>
                        <a:rPr sz="1500" b="0">
                          <a:solidFill>
                            <a:srgbClr val="1F2A37"/>
                          </a:solidFill>
                          <a:latin typeface="Arial"/>
                          <a:ea typeface="Arial"/>
                          <a:cs typeface="Arial"/>
                        </a:rPr>
                        <a:t>1.430</a:t>
                      </a:r>
                    </a:p>
                  </a:txBody>
                  <a:tcPr marL="91440" marR="91440" marT="45720" marB="45720">
                    <a:solidFill>
                      <a:srgbClr val="FFFFFF"/>
                    </a:solidFill>
                  </a:tcPr>
                </a:tc>
                <a:tc>
                  <a:txBody>
                    <a:bodyPr/>
                    <a:lstStyle/>
                    <a:p>
                      <a:r>
                        <a:rPr sz="1500" b="0">
                          <a:solidFill>
                            <a:srgbClr val="1F2A37"/>
                          </a:solidFill>
                          <a:latin typeface="Arial"/>
                          <a:ea typeface="Arial"/>
                          <a:cs typeface="Arial"/>
                        </a:rPr>
                        <a:t>0.750</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AB9BC73-6FE2-414D-A10D-7E7859018E26}"/>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GAN has the highest published monthly Sharpe in every split.</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Use these results as the reference benchmark for our replication and extensions.</a:t>
            </a:r>
          </a:p>
        </p:txBody>
      </p:sp>
    </p:spTree>
    <p:extLst>
      <p:ext uri="{BB962C8B-B14F-4D97-AF65-F5344CB8AC3E}">
        <p14:creationId xmlns:p14="http://schemas.microsoft.com/office/powerpoint/2010/main" val="5513012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1089D9-1563-44C8-9239-8F2DD8B5FEA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31BE8F-AA89-476B-91FE-CC5063C98979}"/>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ACBCC0-67AE-43F4-BDFC-C6776354450F}"/>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Replication: comparison with the main paper</a:t>
            </a:r>
          </a:p>
        </p:txBody>
      </p:sp>
      <p:sp>
        <p:nvSpPr>
          <p:cNvPr id="4" name="">
            <a:extLst xmlns:a="http://schemas.openxmlformats.org/drawingml/2006/main">
              <a:ext uri="{FF2B5EF4-FFF2-40B4-BE49-F238E27FC236}">
                <a16:creationId xmlns:a16="http://schemas.microsoft.com/office/drawing/2014/main" id="{455A9CFE-0B65-4701-B6FA-F0A4C683D33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2. Replication</a:t>
            </a:r>
          </a:p>
        </p:txBody>
      </p:sp>
      <p:sp>
        <p:nvSpPr>
          <p:cNvPr id="5" name="">
            <a:extLst xmlns:a="http://schemas.openxmlformats.org/drawingml/2006/main">
              <a:ext uri="{FF2B5EF4-FFF2-40B4-BE49-F238E27FC236}">
                <a16:creationId xmlns:a16="http://schemas.microsoft.com/office/drawing/2014/main" id="{CACB040B-69F3-452C-914A-CAD15924BA7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5</a:t>
            </a:r>
          </a:p>
        </p:txBody>
      </p:sp>
      <p:graphicFrame>
        <p:nvGraphicFramePr>
          <p:cNvPr id="16"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cd536a704ceb49fa"/>
          </a:graphicData>
        </a:graphic>
      </p:graphicFrame>
      <p:sp>
        <p:nvSpPr>
          <p:cNvPr id="10" name="">
            <a:extLst xmlns:a="http://schemas.openxmlformats.org/drawingml/2006/main">
              <a:ext uri="{FF2B5EF4-FFF2-40B4-BE49-F238E27FC236}">
                <a16:creationId xmlns:a16="http://schemas.microsoft.com/office/drawing/2014/main" id="{ECE7A36E-BA5F-4318-A592-20FB24A644B4}"/>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Our GAN test Sharpe is 0.612, compared with the paper’s 0.750.</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Similar rankings support replication, but do not imply exact numerical reproduction.</a:t>
            </a:r>
          </a:p>
        </p:txBody>
      </p:sp>
    </p:spTree>
    <p:extLst>
      <p:ext uri="{BB962C8B-B14F-4D97-AF65-F5344CB8AC3E}">
        <p14:creationId xmlns:p14="http://schemas.microsoft.com/office/powerpoint/2010/main" val="10209341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9BE11B-4261-4CF5-9249-013190E84BC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166329-D555-4B4B-B517-9F976DFD5E5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FFADD75-D94A-448B-924C-D90C51A96C3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Replication: validation and common signals</a:t>
            </a:r>
          </a:p>
        </p:txBody>
      </p:sp>
      <p:sp>
        <p:nvSpPr>
          <p:cNvPr id="4" name="">
            <a:extLst xmlns:a="http://schemas.openxmlformats.org/drawingml/2006/main">
              <a:ext uri="{FF2B5EF4-FFF2-40B4-BE49-F238E27FC236}">
                <a16:creationId xmlns:a16="http://schemas.microsoft.com/office/drawing/2014/main" id="{0DE48038-808C-4205-B9C5-761686BAF99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2. Replication</a:t>
            </a:r>
          </a:p>
        </p:txBody>
      </p:sp>
      <p:sp>
        <p:nvSpPr>
          <p:cNvPr id="5" name="">
            <a:extLst xmlns:a="http://schemas.openxmlformats.org/drawingml/2006/main">
              <a:ext uri="{FF2B5EF4-FFF2-40B4-BE49-F238E27FC236}">
                <a16:creationId xmlns:a16="http://schemas.microsoft.com/office/drawing/2014/main" id="{EA5EF2CC-5A0F-44CD-95D6-09752255A97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6</a:t>
            </a:r>
          </a:p>
        </p:txBody>
      </p:sp>
      <p:graphicFrame>
        <p:nvGraphicFramePr>
          <p:cNvPr id="16" name=""/>
          <p:cNvGraphicFramePr/>
          <p:nvPr/>
        </p:nvGraphicFramePr>
        <p:xfrm>
          <a:off xmlns:a="http://schemas.openxmlformats.org/drawingml/2006/main" x="400050" y="1019175"/>
          <a:ext xmlns:a="http://schemas.openxmlformats.org/drawingml/2006/main" cx="8343900" cy="2781300"/>
        </p:xfrm>
        <a:graphic xmlns:a="http://schemas.openxmlformats.org/drawingml/2006/main">
          <a:graphicData uri="http://schemas.openxmlformats.org/drawingml/2006/table">
            <a:tbl>
              <a:tblPr/>
              <a:tblGrid>
                <a:gridCol w="2714625"/>
                <a:gridCol w="2814638"/>
                <a:gridCol w="2814638"/>
              </a:tblGrid>
              <a:tr h="556260">
                <a:tc>
                  <a:txBody>
                    <a:bodyPr/>
                    <a:lstStyle/>
                    <a:p>
                      <a:r>
                        <a:rPr sz="1350" b="1">
                          <a:solidFill>
                            <a:srgbClr val="FFFFFF"/>
                          </a:solidFill>
                          <a:latin typeface="Arial"/>
                          <a:ea typeface="Arial"/>
                          <a:cs typeface="Arial"/>
                        </a:rPr>
                        <a:t>Check</a:t>
                      </a:r>
                    </a:p>
                  </a:txBody>
                  <a:tcPr marL="91440" marR="91440" marT="45720" marB="45720">
                    <a:solidFill>
                      <a:srgbClr val="003262"/>
                    </a:solidFill>
                  </a:tcPr>
                </a:tc>
                <a:tc>
                  <a:txBody>
                    <a:bodyPr/>
                    <a:lstStyle/>
                    <a:p>
                      <a:r>
                        <a:rPr sz="1350" b="1">
                          <a:solidFill>
                            <a:srgbClr val="FFFFFF"/>
                          </a:solidFill>
                          <a:latin typeface="Arial"/>
                          <a:ea typeface="Arial"/>
                          <a:cs typeface="Arial"/>
                        </a:rPr>
                        <a:t>Our result</a:t>
                      </a:r>
                    </a:p>
                  </a:txBody>
                  <a:tcPr marL="91440" marR="91440" marT="45720" marB="45720">
                    <a:solidFill>
                      <a:srgbClr val="003262"/>
                    </a:solidFill>
                  </a:tcPr>
                </a:tc>
                <a:tc>
                  <a:txBody>
                    <a:bodyPr/>
                    <a:lstStyle/>
                    <a:p>
                      <a:r>
                        <a:rPr sz="1350" b="1">
                          <a:solidFill>
                            <a:srgbClr val="FFFFFF"/>
                          </a:solidFill>
                          <a:latin typeface="Arial"/>
                          <a:ea typeface="Arial"/>
                          <a:cs typeface="Arial"/>
                        </a:rPr>
                        <a:t>Reference</a:t>
                      </a:r>
                    </a:p>
                  </a:txBody>
                  <a:tcPr marL="91440" marR="91440" marT="45720" marB="45720">
                    <a:solidFill>
                      <a:srgbClr val="003262"/>
                    </a:solidFill>
                  </a:tcPr>
                </a:tc>
              </a:tr>
              <a:tr h="556260">
                <a:tc>
                  <a:txBody>
                    <a:bodyPr/>
                    <a:lstStyle/>
                    <a:p>
                      <a:r>
                        <a:rPr sz="1425" b="0">
                          <a:solidFill>
                            <a:srgbClr val="1F2A37"/>
                          </a:solidFill>
                          <a:latin typeface="Arial"/>
                          <a:ea typeface="Arial"/>
                          <a:cs typeface="Arial"/>
                        </a:rPr>
                        <a:t>FF-3 test Sharpe</a:t>
                      </a:r>
                    </a:p>
                  </a:txBody>
                  <a:tcPr marL="91440" marR="91440" marT="45720" marB="45720">
                    <a:solidFill>
                      <a:srgbClr val="EEF3F8"/>
                    </a:solidFill>
                  </a:tcPr>
                </a:tc>
                <a:tc>
                  <a:txBody>
                    <a:bodyPr/>
                    <a:lstStyle/>
                    <a:p>
                      <a:r>
                        <a:rPr sz="1425" b="0">
                          <a:solidFill>
                            <a:srgbClr val="1F2A37"/>
                          </a:solidFill>
                          <a:latin typeface="Arial"/>
                          <a:ea typeface="Arial"/>
                          <a:cs typeface="Arial"/>
                        </a:rPr>
                        <a:t>0.196</a:t>
                      </a:r>
                    </a:p>
                  </a:txBody>
                  <a:tcPr marL="91440" marR="91440" marT="45720" marB="45720">
                    <a:solidFill>
                      <a:srgbClr val="EEF3F8"/>
                    </a:solidFill>
                  </a:tcPr>
                </a:tc>
                <a:tc>
                  <a:txBody>
                    <a:bodyPr/>
                    <a:lstStyle/>
                    <a:p>
                      <a:r>
                        <a:rPr sz="1425" b="0">
                          <a:solidFill>
                            <a:srgbClr val="1F2A37"/>
                          </a:solidFill>
                          <a:latin typeface="Arial"/>
                          <a:ea typeface="Arial"/>
                          <a:cs typeface="Arial"/>
                        </a:rPr>
                        <a:t>Paper 0.190</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FF-5 test Sharpe</a:t>
                      </a:r>
                    </a:p>
                  </a:txBody>
                  <a:tcPr marL="91440" marR="91440" marT="45720" marB="45720">
                    <a:solidFill>
                      <a:srgbClr val="FFFFFF"/>
                    </a:solidFill>
                  </a:tcPr>
                </a:tc>
                <a:tc>
                  <a:txBody>
                    <a:bodyPr/>
                    <a:lstStyle/>
                    <a:p>
                      <a:r>
                        <a:rPr sz="1425" b="0">
                          <a:solidFill>
                            <a:srgbClr val="1F2A37"/>
                          </a:solidFill>
                          <a:latin typeface="Arial"/>
                          <a:ea typeface="Arial"/>
                          <a:cs typeface="Arial"/>
                        </a:rPr>
                        <a:t>0.223</a:t>
                      </a:r>
                    </a:p>
                  </a:txBody>
                  <a:tcPr marL="91440" marR="91440" marT="45720" marB="45720">
                    <a:solidFill>
                      <a:srgbClr val="FFFFFF"/>
                    </a:solidFill>
                  </a:tcPr>
                </a:tc>
                <a:tc>
                  <a:txBody>
                    <a:bodyPr/>
                    <a:lstStyle/>
                    <a:p>
                      <a:r>
                        <a:rPr sz="1425" b="0">
                          <a:solidFill>
                            <a:srgbClr val="1F2A37"/>
                          </a:solidFill>
                          <a:latin typeface="Arial"/>
                          <a:ea typeface="Arial"/>
                          <a:cs typeface="Arial"/>
                        </a:rPr>
                        <a:t>Paper 0.220</a:t>
                      </a:r>
                    </a:p>
                  </a:txBody>
                  <a:tcPr marL="91440" marR="91440" marT="45720" marB="45720">
                    <a:solidFill>
                      <a:srgbClr val="FFFFFF"/>
                    </a:solidFill>
                  </a:tcPr>
                </a:tc>
              </a:tr>
              <a:tr h="556260">
                <a:tc>
                  <a:txBody>
                    <a:bodyPr/>
                    <a:lstStyle/>
                    <a:p>
                      <a:r>
                        <a:rPr sz="1425" b="0">
                          <a:solidFill>
                            <a:srgbClr val="1F2A37"/>
                          </a:solidFill>
                          <a:latin typeface="Arial"/>
                          <a:ea typeface="Arial"/>
                          <a:cs typeface="Arial"/>
                        </a:rPr>
                        <a:t>GAN test correlation</a:t>
                      </a:r>
                    </a:p>
                  </a:txBody>
                  <a:tcPr marL="91440" marR="91440" marT="45720" marB="45720">
                    <a:solidFill>
                      <a:srgbClr val="EEF3F8"/>
                    </a:solidFill>
                  </a:tcPr>
                </a:tc>
                <a:tc>
                  <a:txBody>
                    <a:bodyPr/>
                    <a:lstStyle/>
                    <a:p>
                      <a:r>
                        <a:rPr sz="1425" b="0">
                          <a:solidFill>
                            <a:srgbClr val="1F2A37"/>
                          </a:solidFill>
                          <a:latin typeface="Arial"/>
                          <a:ea typeface="Arial"/>
                          <a:cs typeface="Arial"/>
                        </a:rPr>
                        <a:t>0.800</a:t>
                      </a:r>
                    </a:p>
                  </a:txBody>
                  <a:tcPr marL="91440" marR="91440" marT="45720" marB="45720">
                    <a:solidFill>
                      <a:srgbClr val="EEF3F8"/>
                    </a:solidFill>
                  </a:tcPr>
                </a:tc>
                <a:tc>
                  <a:txBody>
                    <a:bodyPr/>
                    <a:lstStyle/>
                    <a:p>
                      <a:r>
                        <a:rPr sz="1425" b="0">
                          <a:solidFill>
                            <a:srgbClr val="1F2A37"/>
                          </a:solidFill>
                          <a:latin typeface="Arial"/>
                          <a:ea typeface="Arial"/>
                          <a:cs typeface="Arial"/>
                        </a:rPr>
                        <a:t>Authors’ monthly GAN</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Leading characteristics</a:t>
                      </a:r>
                    </a:p>
                  </a:txBody>
                  <a:tcPr marL="91440" marR="91440" marT="45720" marB="45720">
                    <a:solidFill>
                      <a:srgbClr val="FFFFFF"/>
                    </a:solidFill>
                  </a:tcPr>
                </a:tc>
                <a:tc>
                  <a:txBody>
                    <a:bodyPr/>
                    <a:lstStyle/>
                    <a:p>
                      <a:r>
                        <a:rPr sz="1425" b="0">
                          <a:solidFill>
                            <a:srgbClr val="1F2A37"/>
                          </a:solidFill>
                          <a:latin typeface="Arial"/>
                          <a:ea typeface="Arial"/>
                          <a:cs typeface="Arial"/>
                        </a:rPr>
                        <a:t>ST_REV, SUV, r12_2</a:t>
                      </a:r>
                    </a:p>
                  </a:txBody>
                  <a:tcPr marL="91440" marR="91440" marT="45720" marB="45720">
                    <a:solidFill>
                      <a:srgbClr val="FFFFFF"/>
                    </a:solidFill>
                  </a:tcPr>
                </a:tc>
                <a:tc>
                  <a:txBody>
                    <a:bodyPr/>
                    <a:lstStyle/>
                    <a:p>
                      <a:r>
                        <a:rPr sz="1425" b="0">
                          <a:solidFill>
                            <a:srgbClr val="1F2A37"/>
                          </a:solidFill>
                          <a:latin typeface="Arial"/>
                          <a:ea typeface="Arial"/>
                          <a:cs typeface="Arial"/>
                        </a:rPr>
                        <a:t>Same top three</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5A5B4478-583B-4CCC-B7F8-06102F755121}"/>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Factor Sharpe, return correlation and leading characteristics show economic similarity.</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Implementation differences can still affect the replication gap.</a:t>
            </a:r>
          </a:p>
        </p:txBody>
      </p:sp>
    </p:spTree>
    <p:extLst>
      <p:ext uri="{BB962C8B-B14F-4D97-AF65-F5344CB8AC3E}">
        <p14:creationId xmlns:p14="http://schemas.microsoft.com/office/powerpoint/2010/main" val="5485320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166DBE-344C-49BA-843F-C0722674AE2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8C96F4-9E47-47DC-987E-185E99AF0A2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09ADAE-25E3-42A0-AB06-F1332454AEE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the common training budget</a:t>
            </a:r>
          </a:p>
        </p:txBody>
      </p:sp>
      <p:sp>
        <p:nvSpPr>
          <p:cNvPr id="4" name="">
            <a:extLst xmlns:a="http://schemas.openxmlformats.org/drawingml/2006/main">
              <a:ext uri="{FF2B5EF4-FFF2-40B4-BE49-F238E27FC236}">
                <a16:creationId xmlns:a16="http://schemas.microsoft.com/office/drawing/2014/main" id="{3F78C370-320C-4285-8BE6-17F488CD4FC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4D5826CC-CE4B-4A27-A695-09F2260D895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7</a:t>
            </a:r>
          </a:p>
        </p:txBody>
      </p:sp>
      <p:graphicFrame>
        <p:nvGraphicFramePr>
          <p:cNvPr id="16"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857500"/>
                <a:gridCol w="2743200"/>
                <a:gridCol w="2743200"/>
              </a:tblGrid>
              <a:tr h="476250">
                <a:tc>
                  <a:txBody>
                    <a:bodyPr/>
                    <a:lstStyle/>
                    <a:p>
                      <a:r>
                        <a:rPr sz="1350" b="1">
                          <a:solidFill>
                            <a:srgbClr val="FFFFFF"/>
                          </a:solidFill>
                          <a:latin typeface="Arial"/>
                          <a:ea typeface="Arial"/>
                          <a:cs typeface="Arial"/>
                        </a:rPr>
                        <a:t>Setting</a:t>
                      </a:r>
                    </a:p>
                  </a:txBody>
                  <a:tcPr marL="91440" marR="91440" marT="45720" marB="45720">
                    <a:solidFill>
                      <a:srgbClr val="003262"/>
                    </a:solidFill>
                  </a:tcPr>
                </a:tc>
                <a:tc>
                  <a:txBody>
                    <a:bodyPr/>
                    <a:lstStyle/>
                    <a:p>
                      <a:r>
                        <a:rPr sz="1350" b="1">
                          <a:solidFill>
                            <a:srgbClr val="FFFFFF"/>
                          </a:solidFill>
                          <a:latin typeface="Arial"/>
                          <a:ea typeface="Arial"/>
                          <a:cs typeface="Arial"/>
                        </a:rPr>
                        <a:t>Audited author setup</a:t>
                      </a:r>
                    </a:p>
                  </a:txBody>
                  <a:tcPr marL="91440" marR="91440" marT="45720" marB="45720">
                    <a:solidFill>
                      <a:srgbClr val="003262"/>
                    </a:solidFill>
                  </a:tcPr>
                </a:tc>
                <a:tc>
                  <a:txBody>
                    <a:bodyPr/>
                    <a:lstStyle/>
                    <a:p>
                      <a:r>
                        <a:rPr sz="1350" b="1">
                          <a:solidFill>
                            <a:srgbClr val="FFFFFF"/>
                          </a:solidFill>
                          <a:latin typeface="Arial"/>
                          <a:ea typeface="Arial"/>
                          <a:cs typeface="Arial"/>
                        </a:rPr>
                        <a:t>Our completed run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Stage 1 / 2 / 3 epochs</a:t>
                      </a:r>
                    </a:p>
                  </a:txBody>
                  <a:tcPr marL="91440" marR="91440" marT="45720" marB="45720">
                    <a:solidFill>
                      <a:srgbClr val="EEF3F8"/>
                    </a:solidFill>
                  </a:tcPr>
                </a:tc>
                <a:tc>
                  <a:txBody>
                    <a:bodyPr/>
                    <a:lstStyle/>
                    <a:p>
                      <a:r>
                        <a:rPr sz="1425" b="0">
                          <a:solidFill>
                            <a:srgbClr val="1F2A37"/>
                          </a:solidFill>
                          <a:latin typeface="Arial"/>
                          <a:ea typeface="Arial"/>
                          <a:cs typeface="Arial"/>
                        </a:rPr>
                        <a:t>256 / 64 / 1024</a:t>
                      </a:r>
                    </a:p>
                  </a:txBody>
                  <a:tcPr marL="91440" marR="91440" marT="45720" marB="45720">
                    <a:solidFill>
                      <a:srgbClr val="EEF3F8"/>
                    </a:solidFill>
                  </a:tcPr>
                </a:tc>
                <a:tc>
                  <a:txBody>
                    <a:bodyPr/>
                    <a:lstStyle/>
                    <a:p>
                      <a:r>
                        <a:rPr sz="1425" b="0">
                          <a:solidFill>
                            <a:srgbClr val="1F2A37"/>
                          </a:solidFill>
                          <a:latin typeface="Arial"/>
                          <a:ea typeface="Arial"/>
                          <a:cs typeface="Arial"/>
                        </a:rPr>
                        <a:t>16 / 4 / 48</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Optimizer passes</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Checkpoint warm-up</a:t>
                      </a:r>
                    </a:p>
                  </a:txBody>
                  <a:tcPr marL="91440" marR="91440" marT="45720" marB="45720">
                    <a:solidFill>
                      <a:srgbClr val="EEF3F8"/>
                    </a:solidFill>
                  </a:tcPr>
                </a:tc>
                <a:tc>
                  <a:txBody>
                    <a:bodyPr/>
                    <a:lstStyle/>
                    <a:p>
                      <a:r>
                        <a:rPr sz="1425" b="0">
                          <a:solidFill>
                            <a:srgbClr val="1F2A37"/>
                          </a:solidFill>
                          <a:latin typeface="Arial"/>
                          <a:ea typeface="Arial"/>
                          <a:cs typeface="Arial"/>
                        </a:rPr>
                        <a:t>64 epochs</a:t>
                      </a:r>
                    </a:p>
                  </a:txBody>
                  <a:tcPr marL="91440" marR="91440" marT="45720" marB="45720">
                    <a:solidFill>
                      <a:srgbClr val="EEF3F8"/>
                    </a:solidFill>
                  </a:tcPr>
                </a:tc>
                <a:tc>
                  <a:txBody>
                    <a:bodyPr/>
                    <a:lstStyle/>
                    <a:p>
                      <a:r>
                        <a:rPr sz="1425" b="0">
                          <a:solidFill>
                            <a:srgbClr val="1F2A37"/>
                          </a:solidFill>
                          <a:latin typeface="Arial"/>
                          <a:ea typeface="Arial"/>
                          <a:cs typeface="Arial"/>
                        </a:rPr>
                        <a:t>4 epochs</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Seeds per architecture</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Training framework</a:t>
                      </a:r>
                    </a:p>
                  </a:txBody>
                  <a:tcPr marL="91440" marR="91440" marT="45720" marB="45720">
                    <a:solidFill>
                      <a:srgbClr val="EEF3F8"/>
                    </a:solidFill>
                  </a:tcPr>
                </a:tc>
                <a:tc>
                  <a:txBody>
                    <a:bodyPr/>
                    <a:lstStyle/>
                    <a:p>
                      <a:r>
                        <a:rPr sz="1425" b="0">
                          <a:solidFill>
                            <a:srgbClr val="1F2A37"/>
                          </a:solidFill>
                          <a:latin typeface="Arial"/>
                          <a:ea typeface="Arial"/>
                          <a:cs typeface="Arial"/>
                        </a:rPr>
                        <a:t>TensorFlow author code</a:t>
                      </a:r>
                    </a:p>
                  </a:txBody>
                  <a:tcPr marL="91440" marR="91440" marT="45720" marB="45720">
                    <a:solidFill>
                      <a:srgbClr val="EEF3F8"/>
                    </a:solidFill>
                  </a:tcPr>
                </a:tc>
                <a:tc>
                  <a:txBody>
                    <a:bodyPr/>
                    <a:lstStyle/>
                    <a:p>
                      <a:r>
                        <a:rPr sz="1425" b="0">
                          <a:solidFill>
                            <a:srgbClr val="1F2A37"/>
                          </a:solidFill>
                          <a:latin typeface="Arial"/>
                          <a:ea typeface="Arial"/>
                          <a:cs typeface="Arial"/>
                        </a:rPr>
                        <a:t>PyTorch port</a:t>
                      </a:r>
                    </a:p>
                  </a:txBody>
                  <a:tcPr marL="91440" marR="91440" marT="45720" marB="45720">
                    <a:solidFill>
                      <a:srgbClr val="EEF3F8"/>
                    </a:solidFill>
                  </a:tcPr>
                </a:tc>
              </a:tr>
            </a:tbl>
          </a:graphicData>
        </a:graphic>
      </p:graphicFrame>
      <p:sp>
        <p:nvSpPr>
          <p:cNvPr id="10" name="">
            <a:extLst xmlns:a="http://schemas.openxmlformats.org/drawingml/2006/main">
              <a:ext uri="{FF2B5EF4-FFF2-40B4-BE49-F238E27FC236}">
                <a16:creationId xmlns:a16="http://schemas.microsoft.com/office/drawing/2014/main" id="{72597300-5C58-4EA4-90DA-98BE390214F6}"/>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Causal attention replaces both macro LSTM encoders.</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Both architectures use nine seeds and the same reduced training schedule.</a:t>
            </a:r>
          </a:p>
        </p:txBody>
      </p:sp>
    </p:spTree>
    <p:extLst>
      <p:ext uri="{BB962C8B-B14F-4D97-AF65-F5344CB8AC3E}">
        <p14:creationId xmlns:p14="http://schemas.microsoft.com/office/powerpoint/2010/main" val="17261830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00D548-CD4D-413E-AD30-5A44507AFBDE}"/>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36E9CD-0600-4E31-A07F-ADDD8F6A58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300B09-DD34-41F4-8BA7-2536FAF5AF8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train, validation and test results</a:t>
            </a:r>
          </a:p>
        </p:txBody>
      </p:sp>
      <p:sp>
        <p:nvSpPr>
          <p:cNvPr id="4" name="">
            <a:extLst xmlns:a="http://schemas.openxmlformats.org/drawingml/2006/main">
              <a:ext uri="{FF2B5EF4-FFF2-40B4-BE49-F238E27FC236}">
                <a16:creationId xmlns:a16="http://schemas.microsoft.com/office/drawing/2014/main" id="{2D271C58-2903-4859-91E8-D524505C822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218538B8-CE65-40DB-9125-1A3ECA8F009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8</a:t>
            </a:r>
          </a:p>
        </p:txBody>
      </p:sp>
      <p:graphicFrame>
        <p:nvGraphicFramePr>
          <p:cNvPr id="16"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04a8a2bf7b0d4459"/>
          </a:graphicData>
        </a:graphic>
      </p:graphicFrame>
      <p:sp>
        <p:nvSpPr>
          <p:cNvPr id="10" name="">
            <a:extLst xmlns:a="http://schemas.openxmlformats.org/drawingml/2006/main">
              <a:ext uri="{FF2B5EF4-FFF2-40B4-BE49-F238E27FC236}">
                <a16:creationId xmlns:a16="http://schemas.microsoft.com/office/drawing/2014/main" id="{1457C092-7A5A-4724-BCC1-140AAFECED82}"/>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Extension LSTM leads Transformer: test monthly Sharpe is 0.459 versus 0.304.</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This comparison holds under our reduced budget, not the full author schedule.</a:t>
            </a:r>
          </a:p>
        </p:txBody>
      </p:sp>
    </p:spTree>
    <p:extLst>
      <p:ext uri="{BB962C8B-B14F-4D97-AF65-F5344CB8AC3E}">
        <p14:creationId xmlns:p14="http://schemas.microsoft.com/office/powerpoint/2010/main" val="20379542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66F3AD-AB2C-46C9-A764-C82928CDD4C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5C9FE0-4892-415D-BDDA-B96FA88720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D8B698-64C8-4609-9EBC-EBD49393650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36- and 60-month Sharpe</a:t>
            </a:r>
          </a:p>
        </p:txBody>
      </p:sp>
      <p:sp>
        <p:nvSpPr>
          <p:cNvPr id="4" name="">
            <a:extLst xmlns:a="http://schemas.openxmlformats.org/drawingml/2006/main">
              <a:ext uri="{FF2B5EF4-FFF2-40B4-BE49-F238E27FC236}">
                <a16:creationId xmlns:a16="http://schemas.microsoft.com/office/drawing/2014/main" id="{29C225ED-7FEF-4671-B713-F8C687A0375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33563EF8-0359-4721-8AFE-4463B97AA99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9</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54e199b9ed94d6e"/>
          <a:stretch xmlns:a="http://schemas.openxmlformats.org/drawingml/2006/main"/>
        </p:blipFill>
        <p:spPr>
          <a:xfrm xmlns:a="http://schemas.openxmlformats.org/drawingml/2006/main">
            <a:off x="1909763" y="857250"/>
            <a:ext cx="5324475" cy="3276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A2FFD10-B8A2-4896-827A-7D5EE12E3A21}"/>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Curves show annualized Sharpe over the previous 36 or 60 months.</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Longer windows smooth fluctuations. These fixed models are not retrained.</a:t>
            </a:r>
          </a:p>
        </p:txBody>
      </p:sp>
    </p:spTree>
    <p:extLst>
      <p:ext uri="{BB962C8B-B14F-4D97-AF65-F5344CB8AC3E}">
        <p14:creationId xmlns:p14="http://schemas.microsoft.com/office/powerpoint/2010/main" val="14677675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66F3AD-AB2C-46C9-A764-C82928CDD4C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5C9FE0-4892-415D-BDDA-B96FA88720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D8B698-64C8-4609-9EBC-EBD49393650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paired Sharpe differences</a:t>
            </a:r>
          </a:p>
        </p:txBody>
      </p:sp>
      <p:sp>
        <p:nvSpPr>
          <p:cNvPr id="4" name="">
            <a:extLst xmlns:a="http://schemas.openxmlformats.org/drawingml/2006/main">
              <a:ext uri="{FF2B5EF4-FFF2-40B4-BE49-F238E27FC236}">
                <a16:creationId xmlns:a16="http://schemas.microsoft.com/office/drawing/2014/main" id="{29C225ED-7FEF-4671-B713-F8C687A0375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33563EF8-0359-4721-8AFE-4463B97AA99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10</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98b0d9cbfdc4554"/>
          <a:stretch xmlns:a="http://schemas.openxmlformats.org/drawingml/2006/main"/>
        </p:blipFill>
        <p:spPr>
          <a:xfrm xmlns:a="http://schemas.openxmlformats.org/drawingml/2006/main">
            <a:off x="1235652" y="742950"/>
            <a:ext cx="4424795" cy="34766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CFFA772-2692-4148-BCFF-354C15928372}"/>
              </a:ext>
            </a:extLst>
          </p:cNvPr>
          <p:cNvSpPr>
            <a:spLocks xmlns:a="http://schemas.openxmlformats.org/drawingml/2006/main" noGrp="1"/>
          </p:cNvSpPr>
          <p:nvPr/>
        </p:nvSpPr>
        <p:spPr>
          <a:xfrm xmlns:a="http://schemas.openxmlformats.org/drawingml/2006/main">
            <a:off x="6800850" y="1066800"/>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3262"/>
                </a:solidFill>
                <a:latin typeface="Arial"/>
                <a:ea typeface="Arial"/>
                <a:cs typeface="Arial"/>
              </a:defRPr>
            </a:pPr>
            <a:r>
              <a:rPr sz="1650" b="1">
                <a:solidFill>
                  <a:srgbClr val="003262"/>
                </a:solidFill>
                <a:latin typeface="Arial"/>
                <a:ea typeface="Arial"/>
                <a:cs typeface="Arial"/>
              </a:rPr>
              <a:t>36- and 60-month windows</a:t>
            </a:r>
          </a:p>
        </p:txBody>
      </p:sp>
      <p:sp>
        <p:nvSpPr>
          <p:cNvPr id="16" name="">
            <a:extLst xmlns:a="http://schemas.openxmlformats.org/drawingml/2006/main">
              <a:ext uri="{FF2B5EF4-FFF2-40B4-BE49-F238E27FC236}">
                <a16:creationId xmlns:a16="http://schemas.microsoft.com/office/drawing/2014/main" id="{5219C44E-FA2B-45E2-A4B3-E22300D07256}"/>
              </a:ext>
            </a:extLst>
          </p:cNvPr>
          <p:cNvSpPr>
            <a:spLocks xmlns:a="http://schemas.openxmlformats.org/drawingml/2006/main" noGrp="1"/>
          </p:cNvSpPr>
          <p:nvPr/>
        </p:nvSpPr>
        <p:spPr>
          <a:xfrm xmlns:a="http://schemas.openxmlformats.org/drawingml/2006/main">
            <a:off x="6800850" y="1924050"/>
            <a:ext cx="2133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003262"/>
                </a:solidFill>
                <a:latin typeface="Arial"/>
                <a:ea typeface="Arial"/>
                <a:cs typeface="Arial"/>
              </a:defRPr>
            </a:pPr>
            <a:r>
              <a:rPr sz="1500" b="0">
                <a:solidFill>
                  <a:srgbClr val="003262"/>
                </a:solidFill>
                <a:latin typeface="Arial"/>
                <a:ea typeface="Arial"/>
                <a:cs typeface="Arial"/>
              </a:rPr>
              <a:t>Line: observed annualized Sharpe gap.</a:t>
            </a:r>
          </a:p>
          <a:p xmlns:a="http://schemas.openxmlformats.org/drawingml/2006/main">
            <a:pPr>
              <a:defRPr sz="1500" b="0">
                <a:solidFill>
                  <a:srgbClr val="003262"/>
                </a:solidFill>
                <a:latin typeface="Arial"/>
                <a:ea typeface="Arial"/>
                <a:cs typeface="Arial"/>
              </a:defRPr>
            </a:pPr>
            <a:r>
              <a:rPr sz="1500" b="0">
                <a:solidFill>
                  <a:srgbClr val="003262"/>
                </a:solidFill>
                <a:latin typeface="Arial"/>
                <a:ea typeface="Arial"/>
                <a:cs typeface="Arial"/>
              </a:rPr>
              <a:t>Band: pointwise 95% basic interval.</a:t>
            </a:r>
          </a:p>
        </p:txBody>
      </p:sp>
      <p:sp>
        <p:nvSpPr>
          <p:cNvPr id="18" name="">
            <a:extLst xmlns:a="http://schemas.openxmlformats.org/drawingml/2006/main">
              <a:ext uri="{FF2B5EF4-FFF2-40B4-BE49-F238E27FC236}">
                <a16:creationId xmlns:a16="http://schemas.microsoft.com/office/drawing/2014/main" id="{4ECA9557-D389-4EB7-BB58-A17C9511530B}"/>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Line: observed paired Sharpe gap. Shading: pointwise 95% basic interval.</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A band crossing zero leaves that window’s ranking unresolved.</a:t>
            </a:r>
          </a:p>
        </p:txBody>
      </p:sp>
    </p:spTree>
    <p:extLst>
      <p:ext uri="{BB962C8B-B14F-4D97-AF65-F5344CB8AC3E}">
        <p14:creationId xmlns:p14="http://schemas.microsoft.com/office/powerpoint/2010/main" val="14677675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5E5558-6D3D-4419-AB34-A274CB1C6EDC}"/>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322014-C91C-46FD-AE54-1880BE263DDD}"/>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F230A8-3FFC-4E6D-8351-21107C8D574C}"/>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Regimes: definitions and sample sizes</a:t>
            </a:r>
          </a:p>
        </p:txBody>
      </p:sp>
      <p:sp>
        <p:nvSpPr>
          <p:cNvPr id="4" name="">
            <a:extLst xmlns:a="http://schemas.openxmlformats.org/drawingml/2006/main">
              <a:ext uri="{FF2B5EF4-FFF2-40B4-BE49-F238E27FC236}">
                <a16:creationId xmlns:a16="http://schemas.microsoft.com/office/drawing/2014/main" id="{DFCBBE1D-8D0C-4815-9EC8-A51897F62AF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5" name="">
            <a:extLst xmlns:a="http://schemas.openxmlformats.org/drawingml/2006/main">
              <a:ext uri="{FF2B5EF4-FFF2-40B4-BE49-F238E27FC236}">
                <a16:creationId xmlns:a16="http://schemas.microsoft.com/office/drawing/2014/main" id="{A33275F8-AEDE-492C-A99A-DDDA6FC4BD3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11</a:t>
            </a:r>
          </a:p>
        </p:txBody>
      </p:sp>
      <p:graphicFrame>
        <p:nvGraphicFramePr>
          <p:cNvPr id="17" name=""/>
          <p:cNvGraphicFramePr/>
          <p:nvPr/>
        </p:nvGraphicFramePr>
        <p:xfrm>
          <a:off xmlns:a="http://schemas.openxmlformats.org/drawingml/2006/main" x="400050" y="1019175"/>
          <a:ext xmlns:a="http://schemas.openxmlformats.org/drawingml/2006/main" cx="8343900" cy="1714500"/>
        </p:xfrm>
        <a:graphic xmlns:a="http://schemas.openxmlformats.org/drawingml/2006/main">
          <a:graphicData uri="http://schemas.openxmlformats.org/drawingml/2006/table">
            <a:tbl>
              <a:tblPr/>
              <a:tblGrid>
                <a:gridCol w="2095500"/>
                <a:gridCol w="3124200"/>
                <a:gridCol w="3124200"/>
              </a:tblGrid>
              <a:tr h="571500">
                <a:tc>
                  <a:txBody>
                    <a:bodyPr/>
                    <a:lstStyle/>
                    <a:p>
                      <a:r>
                        <a:rPr sz="1425" b="1">
                          <a:solidFill>
                            <a:srgbClr val="FFFFFF"/>
                          </a:solidFill>
                          <a:latin typeface="Arial"/>
                          <a:ea typeface="Arial"/>
                          <a:cs typeface="Arial"/>
                        </a:rPr>
                        <a:t>Regime family</a:t>
                      </a:r>
                    </a:p>
                  </a:txBody>
                  <a:tcPr marL="91440" marR="91440" marT="45720" marB="45720">
                    <a:solidFill>
                      <a:srgbClr val="003262"/>
                    </a:solidFill>
                  </a:tcPr>
                </a:tc>
                <a:tc>
                  <a:txBody>
                    <a:bodyPr/>
                    <a:lstStyle/>
                    <a:p>
                      <a:r>
                        <a:rPr sz="1425" b="1">
                          <a:solidFill>
                            <a:srgbClr val="FFFFFF"/>
                          </a:solidFill>
                          <a:latin typeface="Arial"/>
                          <a:ea typeface="Arial"/>
                          <a:cs typeface="Arial"/>
                        </a:rPr>
                        <a:t>Definition</a:t>
                      </a:r>
                    </a:p>
                  </a:txBody>
                  <a:tcPr marL="91440" marR="91440" marT="45720" marB="45720">
                    <a:solidFill>
                      <a:srgbClr val="003262"/>
                    </a:solidFill>
                  </a:tcPr>
                </a:tc>
                <a:tc>
                  <a:txBody>
                    <a:bodyPr/>
                    <a:lstStyle/>
                    <a:p>
                      <a:r>
                        <a:rPr sz="1425" b="1">
                          <a:solidFill>
                            <a:srgbClr val="FFFFFF"/>
                          </a:solidFill>
                          <a:latin typeface="Arial"/>
                          <a:ea typeface="Arial"/>
                          <a:cs typeface="Arial"/>
                        </a:rPr>
                        <a:t>Test months</a:t>
                      </a:r>
                    </a:p>
                  </a:txBody>
                  <a:tcPr marL="91440" marR="91440" marT="45720" marB="45720">
                    <a:solidFill>
                      <a:srgbClr val="003262"/>
                    </a:solidFill>
                  </a:tcPr>
                </a:tc>
              </a:tr>
              <a:tr h="571500">
                <a:tc>
                  <a:txBody>
                    <a:bodyPr/>
                    <a:lstStyle/>
                    <a:p>
                      <a:r>
                        <a:rPr sz="1500" b="0">
                          <a:solidFill>
                            <a:srgbClr val="1F2A37"/>
                          </a:solidFill>
                          <a:latin typeface="Arial"/>
                          <a:ea typeface="Arial"/>
                          <a:cs typeface="Arial"/>
                        </a:rPr>
                        <a:t>Business cycle</a:t>
                      </a:r>
                    </a:p>
                  </a:txBody>
                  <a:tcPr marL="91440" marR="91440" marT="45720" marB="45720">
                    <a:solidFill>
                      <a:srgbClr val="EEF3F8"/>
                    </a:solidFill>
                  </a:tcPr>
                </a:tc>
                <a:tc>
                  <a:txBody>
                    <a:bodyPr/>
                    <a:lstStyle/>
                    <a:p>
                      <a:r>
                        <a:rPr sz="1500" b="0">
                          <a:solidFill>
                            <a:srgbClr val="1F2A37"/>
                          </a:solidFill>
                          <a:latin typeface="Arial"/>
                          <a:ea typeface="Arial"/>
                          <a:cs typeface="Arial"/>
                        </a:rPr>
                        <a:t>NBER expansion / recession</a:t>
                      </a:r>
                    </a:p>
                  </a:txBody>
                  <a:tcPr marL="91440" marR="91440" marT="45720" marB="45720">
                    <a:solidFill>
                      <a:srgbClr val="EEF3F8"/>
                    </a:solidFill>
                  </a:tcPr>
                </a:tc>
                <a:tc>
                  <a:txBody>
                    <a:bodyPr/>
                    <a:lstStyle/>
                    <a:p>
                      <a:r>
                        <a:rPr sz="1500" b="0">
                          <a:solidFill>
                            <a:srgbClr val="1F2A37"/>
                          </a:solidFill>
                          <a:latin typeface="Arial"/>
                          <a:ea typeface="Arial"/>
                          <a:cs typeface="Arial"/>
                        </a:rPr>
                        <a:t>274 / 26</a:t>
                      </a:r>
                    </a:p>
                  </a:txBody>
                  <a:tcPr marL="91440" marR="91440" marT="45720" marB="45720">
                    <a:solidFill>
                      <a:srgbClr val="EEF3F8"/>
                    </a:solidFill>
                  </a:tcPr>
                </a:tc>
              </a:tr>
              <a:tr h="571500">
                <a:tc>
                  <a:txBody>
                    <a:bodyPr/>
                    <a:lstStyle/>
                    <a:p>
                      <a:r>
                        <a:rPr sz="1500" b="0">
                          <a:solidFill>
                            <a:srgbClr val="1F2A37"/>
                          </a:solidFill>
                          <a:latin typeface="Arial"/>
                          <a:ea typeface="Arial"/>
                          <a:cs typeface="Arial"/>
                        </a:rPr>
                        <a:t>Market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High / low previous-12-month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123 / 177</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32CA22B-6AFC-459D-9663-7BE494B42B45}"/>
              </a:ext>
            </a:extLst>
          </p:cNvPr>
          <p:cNvSpPr>
            <a:spLocks xmlns:a="http://schemas.openxmlformats.org/drawingml/2006/main" noGrp="1"/>
          </p:cNvSpPr>
          <p:nvPr/>
        </p:nvSpPr>
        <p:spPr>
          <a:xfrm xmlns:a="http://schemas.openxmlformats.org/drawingml/2006/main">
            <a:off x="419100" y="30003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F2A37"/>
                </a:solidFill>
                <a:latin typeface="Arial"/>
                <a:ea typeface="Arial"/>
                <a:cs typeface="Arial"/>
              </a:defRPr>
            </a:pPr>
            <a:r>
              <a:rPr sz="1725" b="0">
                <a:solidFill>
                  <a:srgbClr val="1F2A37"/>
                </a:solidFill>
                <a:latin typeface="Arial"/>
                <a:ea typeface="Arial"/>
                <a:cs typeface="Arial"/>
              </a:rPr>
              <a:t>The volatility cutoff comes from the training sample. Recession dates are retrospective.</a:t>
            </a:r>
          </a:p>
        </p:txBody>
      </p:sp>
      <p:sp>
        <p:nvSpPr>
          <p:cNvPr id="11" name="">
            <a:extLst xmlns:a="http://schemas.openxmlformats.org/drawingml/2006/main">
              <a:ext uri="{FF2B5EF4-FFF2-40B4-BE49-F238E27FC236}">
                <a16:creationId xmlns:a16="http://schemas.microsoft.com/office/drawing/2014/main" id="{67DFFB2F-0349-4CAC-9C97-E7D1A1FED030}"/>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Business-cycle and volatility regimes classify different economic conditions.</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Only 26 recession months limit precision. NBER labels are retrospective.</a:t>
            </a:r>
          </a:p>
        </p:txBody>
      </p:sp>
    </p:spTree>
    <p:extLst>
      <p:ext uri="{BB962C8B-B14F-4D97-AF65-F5344CB8AC3E}">
        <p14:creationId xmlns:p14="http://schemas.microsoft.com/office/powerpoint/2010/main" val="2589247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E07DDD-E7B8-4EA3-9649-23508D781D75}"/>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AEA006-A383-4DD8-9A61-17200858636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64E306-5B97-4FC3-80A1-2ECF8446746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Regimes: comparison among our models</a:t>
            </a:r>
          </a:p>
        </p:txBody>
      </p:sp>
      <p:sp>
        <p:nvSpPr>
          <p:cNvPr id="4" name="">
            <a:extLst xmlns:a="http://schemas.openxmlformats.org/drawingml/2006/main">
              <a:ext uri="{FF2B5EF4-FFF2-40B4-BE49-F238E27FC236}">
                <a16:creationId xmlns:a16="http://schemas.microsoft.com/office/drawing/2014/main" id="{EDEF3DD9-A8F5-4FC0-B80F-F53973C90AC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5" name="">
            <a:extLst xmlns:a="http://schemas.openxmlformats.org/drawingml/2006/main">
              <a:ext uri="{FF2B5EF4-FFF2-40B4-BE49-F238E27FC236}">
                <a16:creationId xmlns:a16="http://schemas.microsoft.com/office/drawing/2014/main" id="{C2C842B4-2656-4E27-8170-29C06494A6C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1136fc0e1ec4162"/>
          <a:stretch xmlns:a="http://schemas.openxmlformats.org/drawingml/2006/main"/>
        </p:blipFill>
        <p:spPr>
          <a:xfrm xmlns:a="http://schemas.openxmlformats.org/drawingml/2006/main">
            <a:off x="266700" y="948418"/>
            <a:ext cx="8610600" cy="3075214"/>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D964932-39C0-43C7-BB9E-8705DF4DD341}"/>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Bars show monthly Sharpe using only months in each regime.</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Feedforward leads recession Sharpe at 0.570, while Transformer has -0.071.</a:t>
            </a:r>
          </a:p>
        </p:txBody>
      </p:sp>
    </p:spTree>
    <p:extLst>
      <p:ext uri="{BB962C8B-B14F-4D97-AF65-F5344CB8AC3E}">
        <p14:creationId xmlns:p14="http://schemas.microsoft.com/office/powerpoint/2010/main" val="2076814023"/>
      </p:ext>
    </p:extLst>
  </p:cSld>
</p:sld>
</file>

<file path=ppt/slides/slide1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Uncertainty: paper and replication</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6. Uncertainty</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13</ns1:t>
            </ns1:r>
          </ns1:p>
        </ns0:txBody>
      </ns0:sp>
      <ns0:pic>
        <ns0:nvPicPr>
          <ns0:cNvPr id="21" name=""/>
          <ns0:cNvPicPr>
            <ns1:picLocks noChangeAspect="1"/>
          </ns0:cNvPicPr>
          <ns0:nvPr/>
        </ns0:nvPicPr>
        <ns0:blipFill>
          <ns1:blip ns3:embed="R5d9abeaaac8e4f0e"/>
          <ns1:srcRect l="0" t="0" r="0" b="58000"/>
          <ns1:stretch>
            <ns1:fillRect l="0" t="0" r="0" b="0"/>
          </ns1:stretch>
        </ns0:blipFill>
        <ns0:spPr>
          <ns1:xfrm>
            <ns1:off x="1362075" y="876300"/>
            <ns1:ext cx="6419850" cy="3276600"/>
          </ns1:xfrm>
          <ns1:prstGeom prst="rect">
            <ns1:avLst/>
          </ns1:prstGeom>
        </ns0:spPr>
      </ns0:pic>
      <ns0:sp>
        <ns0:nvSpPr>
          <ns0:cNvPr id="15" name="">
            <ns1:extLst>
              <ns1:ext uri="{FF2B5EF4-FFF2-40B4-BE49-F238E27FC236}">
                <ns2:creationId id="{F7646310-0595-49C3-839B-7D2226430A99}"/>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Lines show annualized rolling Sharpe for the paper and replicated GAN.</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Some bands cross zero, leaving positive Sharpe unresolved in those windows.</ns1:t>
            </ns1:r>
          </ns1:p>
        </ns0:txBody>
      </ns0:sp>
    </ns0:spTree>
    <ns0:extLst>
      <ns0:ext uri="{BB962C8B-B14F-4D97-AF65-F5344CB8AC3E}">
        <ns4:creationId val="1467767590"/>
      </ns0:ext>
    </ns0:extLst>
  </ns0:cSld>
</ns0:sld>
</file>

<file path=ppt/slides/slide1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3" name="">
            <ns1:extLst>
              <ns1:ext uri="{FF2B5EF4-FFF2-40B4-BE49-F238E27FC236}">
                <ns2:creationId id="{9866F3AD-AB2C-46C9-A764-C82928CDD4CD}"/>
              </ns1:ext>
            </ns1:extLst>
          </ns0:cNvPr>
          <ns0:cNvSpPr>
            <ns1:spLocks noGrp="1"/>
          </ns0:cNvSpPr>
          <ns0:nvPr/>
        </ns0:nvSpPr>
        <ns0:spPr>
          <ns1:xfrm>
            <ns1:off x="0" y="0"/>
            <ns1:ext cx="66675" cy="2381250"/>
          </ns1:xfrm>
          <ns1:prstGeom prst="rect">
            <ns1:avLst/>
          </ns1:prstGeom>
          <ns1:solidFill>
            <ns1:srgbClr val="FDB515"/>
          </ns1:solidFill>
          <ns1:ln w="0">
            <ns1:noFill/>
          </ns1:ln>
        </ns0:spPr>
      </ns0:sp>
      <ns0:sp>
        <ns0:nvSpPr>
          <ns0:cNvPr id="2" name="">
            <ns1:extLst>
              <ns1:ext uri="{FF2B5EF4-FFF2-40B4-BE49-F238E27FC236}">
                <ns2:creationId id="{C05C9FE0-4892-415D-BDDA-B96FA8872057}"/>
              </ns1:ext>
            </ns1:extLst>
          </ns0:cNvPr>
          <ns0:cNvSpPr>
            <ns1:spLocks noGrp="1"/>
          </ns0:cNvSpPr>
          <ns0:nvPr/>
        </ns0:nvSpPr>
        <ns0:spPr>
          <ns1:xfrm>
            <ns1:off x="0" y="2381250"/>
            <ns1:ext cx="66675" cy="2762250"/>
          </ns1:xfrm>
          <ns1:prstGeom prst="rect">
            <ns1:avLst/>
          </ns1:prstGeom>
          <ns1:solidFill>
            <ns1:srgbClr val="003262"/>
          </ns1:solidFill>
          <ns1:ln w="0">
            <ns1:noFill/>
          </ns1:ln>
        </ns0:spPr>
      </ns0:sp>
      <ns0:sp>
        <ns0:nvSpPr>
          <ns0:cNvPr id="3" name="">
            <ns1:extLst>
              <ns1:ext uri="{FF2B5EF4-FFF2-40B4-BE49-F238E27FC236}">
                <ns2:creationId id="{D2D8B698-64C8-4609-9EBC-EBD493936500}"/>
              </ns1:ext>
            </ns1:extLst>
          </ns0:cNvPr>
          <ns0:cNvSpPr>
            <ns1:spLocks noGrp="1"/>
          </ns0:cNvSpPr>
          <ns0:nvPr/>
        </ns0:nvSpPr>
        <ns0:spPr>
          <ns1:xfrm>
            <ns1:off x="342900" y="238125"/>
            <ns1:ext cx="8458200" cy="514350"/>
          </ns1:xfrm>
          <ns1:prstGeom prst="rect">
            <ns1:avLst/>
          </ns1:prstGeom>
          <ns1:noFill/>
          <ns1:ln w="0">
            <ns1:noFill/>
          </ns1:ln>
        </ns0:spPr>
        <ns0:txBody>
          <ns1:bodyPr>
            <ns1:noAutofit/>
          </ns1:bodyPr>
          <ns1:lstStyle/>
          <ns1:p>
            <ns1:pPr>
              <ns1:buNone/>
              <ns1:defRPr sz="2175" b="1">
                <ns1:solidFill>
                  <ns1:srgbClr val="003262"/>
                </ns1:solidFill>
                <ns1:latin typeface="Arial"/>
                <ns1:ea typeface="Arial"/>
                <ns1:cs typeface="Arial"/>
              </ns1:defRPr>
            </ns1:pPr>
            <ns1:r>
              <ns1:rPr sz="2175" b="1">
                <ns1:solidFill>
                  <ns1:srgbClr val="003262"/>
                </ns1:solidFill>
                <ns1:latin typeface="Arial"/>
                <ns1:ea typeface="Arial"/>
                <ns1:cs typeface="Arial"/>
              </ns1:rPr>
              <ns1:t>Uncertainty: extension models</ns1:t>
            </ns1:r>
          </ns1:p>
        </ns0:txBody>
      </ns0:sp>
      <ns0:sp>
        <ns0:nvSpPr>
          <ns0:cNvPr id="4" name="">
            <ns1:extLst>
              <ns1:ext uri="{FF2B5EF4-FFF2-40B4-BE49-F238E27FC236}">
                <ns2:creationId id="{29C225ED-7FEF-4671-B713-F8C687A03758}"/>
              </ns1:ext>
            </ns1:extLst>
          </ns0:cNvPr>
          <ns0:cNvSpPr>
            <ns1:spLocks noGrp="1"/>
          </ns0:cNvSpPr>
          <ns0:nvPr/>
        </ns0:nvSpPr>
        <ns0:spPr>
          <ns1:xfrm>
            <ns1:off x="342900" y="4781550"/>
            <ns1:ext cx="78105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Part 6. Uncertainty</ns1:t>
            </ns1:r>
          </ns1:p>
        </ns0:txBody>
      </ns0:sp>
      <ns0:sp>
        <ns0:nvSpPr>
          <ns0:cNvPr id="5" name="">
            <ns1:extLst>
              <ns1:ext uri="{FF2B5EF4-FFF2-40B4-BE49-F238E27FC236}">
                <ns2:creationId id="{33563EF8-0359-4721-8AFE-4463B97AA990}"/>
              </ns1:ext>
            </ns1:extLst>
          </ns0:cNvPr>
          <ns0:cNvSpPr>
            <ns1:spLocks noGrp="1"/>
          </ns0:cNvSpPr>
          <ns0:nvPr/>
        </ns0:nvSpPr>
        <ns0:spPr>
          <ns1:xfrm>
            <ns1:off x="8458200" y="4781550"/>
            <ns1:ext cx="457200" cy="228600"/>
          </ns1:xfrm>
          <ns1:prstGeom prst="rect">
            <ns1:avLst/>
          </ns1:prstGeom>
          <ns1:noFill/>
          <ns1:ln w="0">
            <ns1:noFill/>
          </ns1:ln>
        </ns0:spPr>
        <ns0:txBody>
          <ns1:bodyPr>
            <ns1:noAutofit/>
          </ns1:bodyPr>
          <ns1:lstStyle/>
          <ns1:p>
            <ns1:pPr>
              <ns1:buNone/>
              <ns1:defRPr sz="900" b="0">
                <ns1:solidFill>
                  <ns1:srgbClr val="5B6770"/>
                </ns1:solidFill>
                <ns1:latin typeface="Arial"/>
                <ns1:ea typeface="Arial"/>
                <ns1:cs typeface="Arial"/>
              </ns1:defRPr>
            </ns1:pPr>
            <ns1:r>
              <ns1:rPr sz="900" b="0">
                <ns1:solidFill>
                  <ns1:srgbClr val="5B6770"/>
                </ns1:solidFill>
                <ns1:latin typeface="Arial"/>
                <ns1:ea typeface="Arial"/>
                <ns1:cs typeface="Arial"/>
              </ns1:rPr>
              <ns1:t>14</ns1:t>
            </ns1:r>
          </ns1:p>
        </ns0:txBody>
      </ns0:sp>
      <ns0:pic>
        <ns0:nvPicPr>
          <ns0:cNvPr id="21" name=""/>
          <ns0:cNvPicPr>
            <ns1:picLocks noChangeAspect="1"/>
          </ns0:cNvPicPr>
          <ns0:nvPr/>
        </ns0:nvPicPr>
        <ns0:blipFill>
          <ns1:blip ns3:embed="R74a8be45f43f4744"/>
          <ns1:srcRect l="0" t="42000" r="0" b="0"/>
          <ns1:stretch>
            <ns1:fillRect l="0" t="0" r="0" b="0"/>
          </ns1:stretch>
        </ns0:blipFill>
        <ns0:spPr>
          <ns1:xfrm>
            <ns1:off x="2247900" y="876300"/>
            <ns1:ext cx="4648200" cy="3276600"/>
          </ns1:xfrm>
          <ns1:prstGeom prst="rect">
            <ns1:avLst/>
          </ns1:prstGeom>
        </ns0:spPr>
      </ns0:pic>
      <ns0:sp>
        <ns0:nvSpPr>
          <ns0:cNvPr id="15" name="">
            <ns1:extLst>
              <ns1:ext uri="{FF2B5EF4-FFF2-40B4-BE49-F238E27FC236}">
                <ns2:creationId id="{0FBC485B-A00E-4236-88B4-959EACA5A5C9}"/>
              </ns1:ext>
            </ns1:extLst>
          </ns0:cNvPr>
          <ns0:cNvSpPr>
            <ns1:spLocks noGrp="1"/>
          </ns0:cNvSpPr>
          <ns0:nvPr/>
        </ns0:nvSpPr>
        <ns0:spPr>
          <ns1:xfrm>
            <ns1:off x="419100" y="4257675"/>
            <ns1:ext cx="8286750" cy="457200"/>
          </ns1:xfrm>
          <ns1:prstGeom prst="rect">
            <ns1:avLst/>
          </ns1:prstGeom>
          <ns1:noFill/>
          <ns1:ln w="0">
            <ns1:noFill/>
          </ns1:ln>
        </ns0:spPr>
        <ns0:txBody>
          <ns1:bodyPr>
            <ns1:noAutofit/>
          </ns1:bodyPr>
          <ns1:lstStyle/>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Separate confidence bands show sampling uncertainty for each extension model.</ns1:t>
            </ns1:r>
          </ns1:p>
          <ns1:p>
            <ns1:pPr marL="152400" indent="-88900">
              <ns1:spcAft>
                <ns1:spcPts val="200"/>
              </ns1:spcAft>
              <ns1:buChar char="•"/>
              <ns1:defRPr sz="1275" b="1">
                <ns1:solidFill>
                  <ns1:srgbClr val="003262"/>
                </ns1:solidFill>
                <ns1:latin typeface="Arial"/>
                <ns1:ea typeface="Arial"/>
                <ns1:cs typeface="Arial"/>
              </ns1:defRPr>
            </ns1:pPr>
            <ns1:r>
              <ns1:rPr sz="1275" b="1">
                <ns1:solidFill>
                  <ns1:srgbClr val="003262"/>
                </ns1:solidFill>
                <ns1:latin typeface="Arial"/>
                <ns1:ea typeface="Arial"/>
                <ns1:cs typeface="Arial"/>
              </ns1:rPr>
              <ns1:t>Several bands cross zero. Use the paired comparison on slide 15 to assess model gaps.</ns1:t>
            </ns1:r>
          </ns1:p>
        </ns0:txBody>
      </ns0:sp>
    </ns0:spTree>
    <ns0:extLst>
      <ns0:ext uri="{BB962C8B-B14F-4D97-AF65-F5344CB8AC3E}">
        <ns4:creationId val="1467767590"/>
      </ns0:ext>
    </ns0:extLst>
  </ns0:cSld>
</ns0: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CBEAE4-DF3D-49AC-AC77-3827D0C8A47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711BCB-0BD7-4367-BC9A-E3DEAC4DC03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518004-C98E-4EF1-B645-A32BD34E91F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paired Sharpe differences</a:t>
            </a:r>
          </a:p>
        </p:txBody>
      </p:sp>
      <p:sp>
        <p:nvSpPr>
          <p:cNvPr id="4" name="">
            <a:extLst xmlns:a="http://schemas.openxmlformats.org/drawingml/2006/main">
              <a:ext uri="{FF2B5EF4-FFF2-40B4-BE49-F238E27FC236}">
                <a16:creationId xmlns:a16="http://schemas.microsoft.com/office/drawing/2014/main" id="{C13BD07D-E50E-4FED-84C3-175A0A2A1A6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FA565141-3A51-404A-9DA1-2E8A04D56C2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15</a:t>
            </a:r>
          </a:p>
        </p:txBody>
      </p:sp>
      <p:graphicFrame>
        <p:nvGraphicFramePr>
          <p:cNvPr id="17" name=""/>
          <p:cNvGraphicFramePr/>
          <p:nvPr/>
        </p:nvGraphicFramePr>
        <p:xfrm>
          <a:off xmlns:a="http://schemas.openxmlformats.org/drawingml/2006/main" x="400050" y="1019175"/>
          <a:ext xmlns:a="http://schemas.openxmlformats.org/drawingml/2006/main" cx="8343900" cy="2571750"/>
        </p:xfrm>
        <a:graphic xmlns:a="http://schemas.openxmlformats.org/drawingml/2006/main">
          <a:graphicData uri="http://schemas.openxmlformats.org/drawingml/2006/table">
            <a:tbl>
              <a:tblPr/>
              <a:tblGrid>
                <a:gridCol w="2857500"/>
                <a:gridCol w="1828800"/>
                <a:gridCol w="1828800"/>
                <a:gridCol w="1828800"/>
              </a:tblGrid>
              <a:tr h="642938">
                <a:tc>
                  <a:txBody>
                    <a:bodyPr/>
                    <a:lstStyle/>
                    <a:p>
                      <a:r>
                        <a:rPr sz="1425" b="1">
                          <a:solidFill>
                            <a:srgbClr val="FFFFFF"/>
                          </a:solidFill>
                          <a:latin typeface="Arial"/>
                          <a:ea typeface="Arial"/>
                          <a:cs typeface="Arial"/>
                        </a:rPr>
                        <a:t>A minus B</a:t>
                      </a:r>
                    </a:p>
                  </a:txBody>
                  <a:tcPr marL="91440" marR="91440" marT="45720" marB="45720">
                    <a:solidFill>
                      <a:srgbClr val="003262"/>
                    </a:solidFill>
                  </a:tcPr>
                </a:tc>
                <a:tc>
                  <a:txBody>
                    <a:bodyPr/>
                    <a:lstStyle/>
                    <a:p>
                      <a:r>
                        <a:rPr sz="1425" b="1">
                          <a:solidFill>
                            <a:srgbClr val="FFFFFF"/>
                          </a:solidFill>
                          <a:latin typeface="Arial"/>
                          <a:ea typeface="Arial"/>
                          <a:cs typeface="Arial"/>
                        </a:rPr>
                        <a:t>Difference</a:t>
                      </a:r>
                    </a:p>
                  </a:txBody>
                  <a:tcPr marL="91440" marR="91440" marT="45720" marB="45720">
                    <a:solidFill>
                      <a:srgbClr val="003262"/>
                    </a:solidFill>
                  </a:tcPr>
                </a:tc>
                <a:tc>
                  <a:txBody>
                    <a:bodyPr/>
                    <a:lstStyle/>
                    <a:p>
                      <a:r>
                        <a:rPr sz="1425" b="1">
                          <a:solidFill>
                            <a:srgbClr val="FFFFFF"/>
                          </a:solidFill>
                          <a:latin typeface="Arial"/>
                          <a:ea typeface="Arial"/>
                          <a:cs typeface="Arial"/>
                        </a:rPr>
                        <a:t>95% basic</a:t>
                      </a:r>
                    </a:p>
                  </a:txBody>
                  <a:tcPr marL="91440" marR="91440" marT="45720" marB="45720">
                    <a:solidFill>
                      <a:srgbClr val="003262"/>
                    </a:solidFill>
                  </a:tcPr>
                </a:tc>
                <a:tc>
                  <a:txBody>
                    <a:bodyPr/>
                    <a:lstStyle/>
                    <a:p>
                      <a:r>
                        <a:rPr sz="1425" b="1">
                          <a:solidFill>
                            <a:srgbClr val="FFFFFF"/>
                          </a:solidFill>
                          <a:latin typeface="Arial"/>
                          <a:ea typeface="Arial"/>
                          <a:cs typeface="Arial"/>
                        </a:rPr>
                        <a:t>95% simultaneous</a:t>
                      </a:r>
                    </a:p>
                  </a:txBody>
                  <a:tcPr marL="91440" marR="91440" marT="45720" marB="45720">
                    <a:solidFill>
                      <a:srgbClr val="003262"/>
                    </a:solidFill>
                  </a:tcPr>
                </a:tc>
              </a:tr>
              <a:tr h="642938">
                <a:tc>
                  <a:txBody>
                    <a:bodyPr/>
                    <a:lstStyle/>
                    <a:p>
                      <a:r>
                        <a:rPr sz="1500" b="0">
                          <a:solidFill>
                            <a:srgbClr val="1F2A37"/>
                          </a:solidFill>
                          <a:latin typeface="Arial"/>
                          <a:ea typeface="Arial"/>
                          <a:cs typeface="Arial"/>
                        </a:rPr>
                        <a:t>Paper GAN minus</a:t>
                      </a:r>
                    </a:p>
                    <a:p>
                      <a:r>
                        <a:rPr sz="150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500" b="0">
                          <a:solidFill>
                            <a:srgbClr val="1F2A37"/>
                          </a:solidFill>
                          <a:latin typeface="Arial"/>
                          <a:ea typeface="Arial"/>
                          <a:cs typeface="Arial"/>
                        </a:rPr>
                        <a:t>0.138</a:t>
                      </a:r>
                    </a:p>
                  </a:txBody>
                  <a:tcPr marL="91440" marR="91440" marT="45720" marB="45720">
                    <a:solidFill>
                      <a:srgbClr val="EEF3F8"/>
                    </a:solidFill>
                  </a:tcPr>
                </a:tc>
                <a:tc>
                  <a:txBody>
                    <a:bodyPr/>
                    <a:lstStyle/>
                    <a:p>
                      <a:r>
                        <a:rPr sz="1500" b="0">
                          <a:solidFill>
                            <a:srgbClr val="1F2A37"/>
                          </a:solidFill>
                          <a:latin typeface="Arial"/>
                          <a:ea typeface="Arial"/>
                          <a:cs typeface="Arial"/>
                        </a:rPr>
                        <a:t>[-0.037, 0.256]</a:t>
                      </a:r>
                    </a:p>
                  </a:txBody>
                  <a:tcPr marL="91440" marR="91440" marT="45720" marB="45720">
                    <a:solidFill>
                      <a:srgbClr val="EEF3F8"/>
                    </a:solidFill>
                  </a:tcPr>
                </a:tc>
                <a:tc>
                  <a:txBody>
                    <a:bodyPr/>
                    <a:lstStyle/>
                    <a:p>
                      <a:r>
                        <a:rPr sz="1500" b="0">
                          <a:solidFill>
                            <a:srgbClr val="1F2A37"/>
                          </a:solidFill>
                          <a:latin typeface="Arial"/>
                          <a:ea typeface="Arial"/>
                          <a:cs typeface="Arial"/>
                        </a:rPr>
                        <a:t>[-0.148, 0.425]</a:t>
                      </a:r>
                    </a:p>
                  </a:txBody>
                  <a:tcPr marL="91440" marR="91440" marT="45720" marB="45720">
                    <a:solidFill>
                      <a:srgbClr val="EEF3F8"/>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Transformer</a:t>
                      </a:r>
                    </a:p>
                  </a:txBody>
                  <a:tcPr marL="91440" marR="91440" marT="45720" marB="45720">
                    <a:solidFill>
                      <a:srgbClr val="FFFFFF"/>
                    </a:solidFill>
                  </a:tcPr>
                </a:tc>
                <a:tc>
                  <a:txBody>
                    <a:bodyPr/>
                    <a:lstStyle/>
                    <a:p>
                      <a:r>
                        <a:rPr sz="1500" b="0">
                          <a:solidFill>
                            <a:srgbClr val="1F2A37"/>
                          </a:solidFill>
                          <a:latin typeface="Arial"/>
                          <a:ea typeface="Arial"/>
                          <a:cs typeface="Arial"/>
                        </a:rPr>
                        <a:t>0.155</a:t>
                      </a:r>
                    </a:p>
                  </a:txBody>
                  <a:tcPr marL="91440" marR="91440" marT="45720" marB="45720">
                    <a:solidFill>
                      <a:srgbClr val="FFFFFF"/>
                    </a:solidFill>
                  </a:tcPr>
                </a:tc>
                <a:tc>
                  <a:txBody>
                    <a:bodyPr/>
                    <a:lstStyle/>
                    <a:p>
                      <a:r>
                        <a:rPr sz="1500" b="0">
                          <a:solidFill>
                            <a:srgbClr val="1F2A37"/>
                          </a:solidFill>
                          <a:latin typeface="Arial"/>
                          <a:ea typeface="Arial"/>
                          <a:cs typeface="Arial"/>
                        </a:rPr>
                        <a:t>[-0.049, 0.365]</a:t>
                      </a:r>
                    </a:p>
                  </a:txBody>
                  <a:tcPr marL="91440" marR="91440" marT="45720" marB="45720">
                    <a:solidFill>
                      <a:srgbClr val="FFFFFF"/>
                    </a:solidFill>
                  </a:tcPr>
                </a:tc>
                <a:tc>
                  <a:txBody>
                    <a:bodyPr/>
                    <a:lstStyle/>
                    <a:p>
                      <a:r>
                        <a:rPr sz="1500" b="0">
                          <a:solidFill>
                            <a:srgbClr val="1F2A37"/>
                          </a:solidFill>
                          <a:latin typeface="Arial"/>
                          <a:ea typeface="Arial"/>
                          <a:cs typeface="Arial"/>
                        </a:rPr>
                        <a:t>[-0.132, 0.441]</a:t>
                      </a:r>
                    </a:p>
                  </a:txBody>
                  <a:tcPr marL="91440" marR="91440" marT="45720" marB="45720">
                    <a:solidFill>
                      <a:srgbClr val="FFFFFF"/>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500" b="0">
                          <a:solidFill>
                            <a:srgbClr val="1F2A37"/>
                          </a:solidFill>
                          <a:latin typeface="Arial"/>
                          <a:ea typeface="Arial"/>
                          <a:cs typeface="Arial"/>
                        </a:rPr>
                        <a:t>-0.004</a:t>
                      </a:r>
                    </a:p>
                  </a:txBody>
                  <a:tcPr marL="91440" marR="91440" marT="45720" marB="45720">
                    <a:solidFill>
                      <a:srgbClr val="EEF3F8"/>
                    </a:solidFill>
                  </a:tcPr>
                </a:tc>
                <a:tc>
                  <a:txBody>
                    <a:bodyPr/>
                    <a:lstStyle/>
                    <a:p>
                      <a:r>
                        <a:rPr sz="1500" b="0">
                          <a:solidFill>
                            <a:srgbClr val="1F2A37"/>
                          </a:solidFill>
                          <a:latin typeface="Arial"/>
                          <a:ea typeface="Arial"/>
                          <a:cs typeface="Arial"/>
                        </a:rPr>
                        <a:t>[-0.132, 0.119]</a:t>
                      </a:r>
                    </a:p>
                  </a:txBody>
                  <a:tcPr marL="91440" marR="91440" marT="45720" marB="45720">
                    <a:solidFill>
                      <a:srgbClr val="EEF3F8"/>
                    </a:solidFill>
                  </a:tcPr>
                </a:tc>
                <a:tc>
                  <a:txBody>
                    <a:bodyPr/>
                    <a:lstStyle/>
                    <a:p>
                      <a:r>
                        <a:rPr sz="1500" b="0">
                          <a:solidFill>
                            <a:srgbClr val="1F2A37"/>
                          </a:solidFill>
                          <a:latin typeface="Arial"/>
                          <a:ea typeface="Arial"/>
                          <a:cs typeface="Arial"/>
                        </a:rPr>
                        <a:t>[-0.290, 0.283]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48BC5BE1-AD53-4907-9DA1-64D2556CB971}"/>
              </a:ext>
            </a:extLst>
          </p:cNvPr>
          <p:cNvSpPr>
            <a:spLocks xmlns:a="http://schemas.openxmlformats.org/drawingml/2006/main" noGrp="1"/>
          </p:cNvSpPr>
          <p:nvPr/>
        </p:nvSpPr>
        <p:spPr>
          <a:xfrm xmlns:a="http://schemas.openxmlformats.org/drawingml/2006/main">
            <a:off x="419100" y="3771900"/>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F2A37"/>
                </a:solidFill>
                <a:latin typeface="Arial"/>
                <a:ea typeface="Arial"/>
                <a:cs typeface="Arial"/>
              </a:defRPr>
            </a:pPr>
            <a:r>
              <a:rPr sz="1650" b="0">
                <a:solidFill>
                  <a:srgbClr val="1F2A37"/>
                </a:solidFill>
                <a:latin typeface="Arial"/>
                <a:ea typeface="Arial"/>
                <a:cs typeface="Arial"/>
              </a:rPr>
              <a:t>A positive point estimate can coexist with an interval containing zero.</a:t>
            </a:r>
          </a:p>
        </p:txBody>
      </p:sp>
      <p:sp>
        <p:nvSpPr>
          <p:cNvPr id="11" name="">
            <a:extLst xmlns:a="http://schemas.openxmlformats.org/drawingml/2006/main">
              <a:ext uri="{FF2B5EF4-FFF2-40B4-BE49-F238E27FC236}">
                <a16:creationId xmlns:a16="http://schemas.microsoft.com/office/drawing/2014/main" id="{EA262447-3DE7-4812-84A4-4CCC90AB7963}"/>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LSTM exceeds Transformer by 0.155 monthly Sharpe, but both intervals include zero.</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The observed advantage remains statistically unresolved. This does not prove equality.</a:t>
            </a:r>
          </a:p>
        </p:txBody>
      </p:sp>
    </p:spTree>
    <p:extLst>
      <p:ext uri="{BB962C8B-B14F-4D97-AF65-F5344CB8AC3E}">
        <p14:creationId xmlns:p14="http://schemas.microsoft.com/office/powerpoint/2010/main" val="16609693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66F3AD-AB2C-46C9-A764-C82928CDD4C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5C9FE0-4892-415D-BDDA-B96FA88720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D8B698-64C8-4609-9EBC-EBD49393650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bootstrap Sharpe differences</a:t>
            </a:r>
          </a:p>
        </p:txBody>
      </p:sp>
      <p:sp>
        <p:nvSpPr>
          <p:cNvPr id="4" name="">
            <a:extLst xmlns:a="http://schemas.openxmlformats.org/drawingml/2006/main">
              <a:ext uri="{FF2B5EF4-FFF2-40B4-BE49-F238E27FC236}">
                <a16:creationId xmlns:a16="http://schemas.microsoft.com/office/drawing/2014/main" id="{29C225ED-7FEF-4671-B713-F8C687A0375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33563EF8-0359-4721-8AFE-4463B97AA99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9ffff4d77874b6b"/>
          <a:stretch xmlns:a="http://schemas.openxmlformats.org/drawingml/2006/main"/>
        </p:blipFill>
        <p:spPr>
          <a:xfrm xmlns:a="http://schemas.openxmlformats.org/drawingml/2006/main">
            <a:off x="266700" y="1064236"/>
            <a:ext cx="8572500" cy="2967404"/>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E58E06B-A0C8-45DF-AB36-510E7D55B625}"/>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Bars count 10,000 draws. Gold marks the observed gap, black marks zero.</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Both paired 95% basic intervals include zero, despite different point estimates.</a:t>
            </a:r>
          </a:p>
        </p:txBody>
      </p:sp>
    </p:spTree>
    <p:extLst>
      <p:ext uri="{BB962C8B-B14F-4D97-AF65-F5344CB8AC3E}">
        <p14:creationId xmlns:p14="http://schemas.microsoft.com/office/powerpoint/2010/main" val="14677675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94D9E8-B03D-45E3-9690-E6ABF21524F7}"/>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4A16DC-AFFE-4E3E-8F3B-D514FB7BE67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5F4658-1DED-492A-8404-CB19961A18E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equal-weight architecture portfolio</a:t>
            </a:r>
          </a:p>
        </p:txBody>
      </p:sp>
      <p:sp>
        <p:nvSpPr>
          <p:cNvPr id="4" name="">
            <a:extLst xmlns:a="http://schemas.openxmlformats.org/drawingml/2006/main">
              <a:ext uri="{FF2B5EF4-FFF2-40B4-BE49-F238E27FC236}">
                <a16:creationId xmlns:a16="http://schemas.microsoft.com/office/drawing/2014/main" id="{557FCD5B-A371-45DD-A32A-F8921A1B040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5587A2AA-703A-4DD7-ADD9-77E7EFBB5C6E}"/>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17</a:t>
            </a:r>
          </a:p>
        </p:txBody>
      </p:sp>
      <p:graphicFrame>
        <p:nvGraphicFramePr>
          <p:cNvPr id="17" name=""/>
          <p:cNvGraphicFramePr/>
          <p:nvPr/>
        </p:nvGraphicFramePr>
        <p:xfrm>
          <a:off xmlns:a="http://schemas.openxmlformats.org/drawingml/2006/main" x="400050" y="1019175"/>
          <a:ext xmlns:a="http://schemas.openxmlformats.org/drawingml/2006/main" cx="8343900" cy="2286000"/>
        </p:xfrm>
        <a:graphic xmlns:a="http://schemas.openxmlformats.org/drawingml/2006/main">
          <a:graphicData uri="http://schemas.openxmlformats.org/drawingml/2006/table">
            <a:tbl>
              <a:tblPr/>
              <a:tblGrid>
                <a:gridCol w="2857500"/>
                <a:gridCol w="1828800"/>
                <a:gridCol w="1828800"/>
                <a:gridCol w="1828800"/>
              </a:tblGrid>
              <a:tr h="571500">
                <a:tc>
                  <a:txBody>
                    <a:bodyPr/>
                    <a:lstStyle/>
                    <a:p>
                      <a:r>
                        <a:rPr sz="1650" b="1">
                          <a:solidFill>
                            <a:srgbClr val="FFFFFF"/>
                          </a:solidFill>
                          <a:latin typeface="Arial"/>
                          <a:ea typeface="Arial"/>
                          <a:cs typeface="Arial"/>
                        </a:rPr>
                        <a:t>Portfolio</a:t>
                      </a:r>
                    </a:p>
                  </a:txBody>
                  <a:tcPr marL="91440" marR="91440" marT="45720" marB="45720">
                    <a:solidFill>
                      <a:srgbClr val="003262"/>
                    </a:solidFill>
                  </a:tcPr>
                </a:tc>
                <a:tc>
                  <a:txBody>
                    <a:bodyPr/>
                    <a:lstStyle/>
                    <a:p>
                      <a:r>
                        <a:rPr sz="1650" b="1">
                          <a:solidFill>
                            <a:srgbClr val="FFFFFF"/>
                          </a:solidFill>
                          <a:latin typeface="Arial"/>
                          <a:ea typeface="Arial"/>
                          <a:cs typeface="Arial"/>
                        </a:rPr>
                        <a:t>Train</a:t>
                      </a:r>
                    </a:p>
                  </a:txBody>
                  <a:tcPr marL="91440" marR="91440" marT="45720" marB="45720">
                    <a:solidFill>
                      <a:srgbClr val="003262"/>
                    </a:solidFill>
                  </a:tcPr>
                </a:tc>
                <a:tc>
                  <a:txBody>
                    <a:bodyPr/>
                    <a:lstStyle/>
                    <a:p>
                      <a:r>
                        <a:rPr sz="1650" b="1">
                          <a:solidFill>
                            <a:srgbClr val="FFFFFF"/>
                          </a:solidFill>
                          <a:latin typeface="Arial"/>
                          <a:ea typeface="Arial"/>
                          <a:cs typeface="Arial"/>
                        </a:rPr>
                        <a:t>Validation</a:t>
                      </a:r>
                    </a:p>
                  </a:txBody>
                  <a:tcPr marL="91440" marR="91440" marT="45720" marB="45720">
                    <a:solidFill>
                      <a:srgbClr val="003262"/>
                    </a:solidFill>
                  </a:tcPr>
                </a:tc>
                <a:tc>
                  <a:txBody>
                    <a:bodyPr/>
                    <a:lstStyle/>
                    <a:p>
                      <a:r>
                        <a:rPr sz="1650" b="1">
                          <a:solidFill>
                            <a:srgbClr val="FFFFFF"/>
                          </a:solidFill>
                          <a:latin typeface="Arial"/>
                          <a:ea typeface="Arial"/>
                          <a:cs typeface="Arial"/>
                        </a:rPr>
                        <a:t>Test</a:t>
                      </a:r>
                    </a:p>
                  </a:txBody>
                  <a:tcPr marL="91440" marR="91440" marT="45720" marB="45720">
                    <a:solidFill>
                      <a:srgbClr val="003262"/>
                    </a:solidFill>
                  </a:tcPr>
                </a:tc>
              </a:tr>
              <a:tr h="571500">
                <a:tc>
                  <a:txBody>
                    <a:bodyPr/>
                    <a:lstStyle/>
                    <a:p>
                      <a:r>
                        <a:rPr sz="1725" b="0">
                          <a:solidFill>
                            <a:srgbClr val="1F2A37"/>
                          </a:solidFill>
                          <a:latin typeface="Arial"/>
                          <a:ea typeface="Arial"/>
                          <a:cs typeface="Arial"/>
                        </a:rPr>
                        <a:t>LSTM</a:t>
                      </a:r>
                    </a:p>
                  </a:txBody>
                  <a:tcPr marL="91440" marR="91440" marT="45720" marB="45720">
                    <a:solidFill>
                      <a:srgbClr val="EEF3F8"/>
                    </a:solidFill>
                  </a:tcPr>
                </a:tc>
                <a:tc>
                  <a:txBody>
                    <a:bodyPr/>
                    <a:lstStyle/>
                    <a:p>
                      <a:r>
                        <a:rPr sz="1725" b="0">
                          <a:solidFill>
                            <a:srgbClr val="1F2A37"/>
                          </a:solidFill>
                          <a:latin typeface="Arial"/>
                          <a:ea typeface="Arial"/>
                          <a:cs typeface="Arial"/>
                        </a:rPr>
                        <a:t>1.308</a:t>
                      </a:r>
                    </a:p>
                  </a:txBody>
                  <a:tcPr marL="91440" marR="91440" marT="45720" marB="45720">
                    <a:solidFill>
                      <a:srgbClr val="EEF3F8"/>
                    </a:solidFill>
                  </a:tcPr>
                </a:tc>
                <a:tc>
                  <a:txBody>
                    <a:bodyPr/>
                    <a:lstStyle/>
                    <a:p>
                      <a:r>
                        <a:rPr sz="1725" b="0">
                          <a:solidFill>
                            <a:srgbClr val="1F2A37"/>
                          </a:solidFill>
                          <a:latin typeface="Arial"/>
                          <a:ea typeface="Arial"/>
                          <a:cs typeface="Arial"/>
                        </a:rPr>
                        <a:t>0.750</a:t>
                      </a:r>
                    </a:p>
                  </a:txBody>
                  <a:tcPr marL="91440" marR="91440" marT="45720" marB="45720">
                    <a:solidFill>
                      <a:srgbClr val="EEF3F8"/>
                    </a:solidFill>
                  </a:tcPr>
                </a:tc>
                <a:tc>
                  <a:txBody>
                    <a:bodyPr/>
                    <a:lstStyle/>
                    <a:p>
                      <a:r>
                        <a:rPr sz="1725" b="0">
                          <a:solidFill>
                            <a:srgbClr val="1F2A37"/>
                          </a:solidFill>
                          <a:latin typeface="Arial"/>
                          <a:ea typeface="Arial"/>
                          <a:cs typeface="Arial"/>
                        </a:rPr>
                        <a:t>0.459</a:t>
                      </a:r>
                    </a:p>
                  </a:txBody>
                  <a:tcPr marL="91440" marR="91440" marT="45720" marB="45720">
                    <a:solidFill>
                      <a:srgbClr val="EEF3F8"/>
                    </a:solidFill>
                  </a:tcPr>
                </a:tc>
              </a:tr>
              <a:tr h="571500">
                <a:tc>
                  <a:txBody>
                    <a:bodyPr/>
                    <a:lstStyle/>
                    <a:p>
                      <a:r>
                        <a:rPr sz="17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725" b="0">
                          <a:solidFill>
                            <a:srgbClr val="1F2A37"/>
                          </a:solidFill>
                          <a:latin typeface="Arial"/>
                          <a:ea typeface="Arial"/>
                          <a:cs typeface="Arial"/>
                        </a:rPr>
                        <a:t>1.049</a:t>
                      </a:r>
                    </a:p>
                  </a:txBody>
                  <a:tcPr marL="91440" marR="91440" marT="45720" marB="45720">
                    <a:solidFill>
                      <a:srgbClr val="FFFFFF"/>
                    </a:solidFill>
                  </a:tcPr>
                </a:tc>
                <a:tc>
                  <a:txBody>
                    <a:bodyPr/>
                    <a:lstStyle/>
                    <a:p>
                      <a:r>
                        <a:rPr sz="1725" b="0">
                          <a:solidFill>
                            <a:srgbClr val="1F2A37"/>
                          </a:solidFill>
                          <a:latin typeface="Arial"/>
                          <a:ea typeface="Arial"/>
                          <a:cs typeface="Arial"/>
                        </a:rPr>
                        <a:t>0.589</a:t>
                      </a:r>
                    </a:p>
                  </a:txBody>
                  <a:tcPr marL="91440" marR="91440" marT="45720" marB="45720">
                    <a:solidFill>
                      <a:srgbClr val="FFFFFF"/>
                    </a:solidFill>
                  </a:tcPr>
                </a:tc>
                <a:tc>
                  <a:txBody>
                    <a:bodyPr/>
                    <a:lstStyle/>
                    <a:p>
                      <a:r>
                        <a:rPr sz="1725" b="0">
                          <a:solidFill>
                            <a:srgbClr val="1F2A37"/>
                          </a:solidFill>
                          <a:latin typeface="Arial"/>
                          <a:ea typeface="Arial"/>
                          <a:cs typeface="Arial"/>
                        </a:rPr>
                        <a:t>0.304</a:t>
                      </a:r>
                    </a:p>
                  </a:txBody>
                  <a:tcPr marL="91440" marR="91440" marT="45720" marB="45720">
                    <a:solidFill>
                      <a:srgbClr val="FFFFFF"/>
                    </a:solidFill>
                  </a:tcPr>
                </a:tc>
              </a:tr>
              <a:tr h="571500">
                <a:tc>
                  <a:txBody>
                    <a:bodyPr/>
                    <a:lstStyle/>
                    <a:p>
                      <a:r>
                        <a:rPr sz="1725" b="0">
                          <a:solidFill>
                            <a:srgbClr val="1F2A37"/>
                          </a:solidFill>
                          <a:latin typeface="Arial"/>
                          <a:ea typeface="Arial"/>
                          <a:cs typeface="Arial"/>
                        </a:rPr>
                        <a:t>50/50 blend</a:t>
                      </a:r>
                    </a:p>
                  </a:txBody>
                  <a:tcPr marL="91440" marR="91440" marT="45720" marB="45720">
                    <a:solidFill>
                      <a:srgbClr val="EEF3F8"/>
                    </a:solidFill>
                  </a:tcPr>
                </a:tc>
                <a:tc>
                  <a:txBody>
                    <a:bodyPr/>
                    <a:lstStyle/>
                    <a:p>
                      <a:r>
                        <a:rPr sz="1725" b="0">
                          <a:solidFill>
                            <a:srgbClr val="1F2A37"/>
                          </a:solidFill>
                          <a:latin typeface="Arial"/>
                          <a:ea typeface="Arial"/>
                          <a:cs typeface="Arial"/>
                        </a:rPr>
                        <a:t>1.414</a:t>
                      </a:r>
                    </a:p>
                  </a:txBody>
                  <a:tcPr marL="91440" marR="91440" marT="45720" marB="45720">
                    <a:solidFill>
                      <a:srgbClr val="EEF3F8"/>
                    </a:solidFill>
                  </a:tcPr>
                </a:tc>
                <a:tc>
                  <a:txBody>
                    <a:bodyPr/>
                    <a:lstStyle/>
                    <a:p>
                      <a:r>
                        <a:rPr sz="1725" b="0">
                          <a:solidFill>
                            <a:srgbClr val="1F2A37"/>
                          </a:solidFill>
                          <a:latin typeface="Arial"/>
                          <a:ea typeface="Arial"/>
                          <a:cs typeface="Arial"/>
                        </a:rPr>
                        <a:t>0.915</a:t>
                      </a:r>
                    </a:p>
                  </a:txBody>
                  <a:tcPr marL="91440" marR="91440" marT="45720" marB="45720">
                    <a:solidFill>
                      <a:srgbClr val="EEF3F8"/>
                    </a:solidFill>
                  </a:tcPr>
                </a:tc>
                <a:tc>
                  <a:txBody>
                    <a:bodyPr/>
                    <a:lstStyle/>
                    <a:p>
                      <a:r>
                        <a:rPr sz="1725" b="0">
                          <a:solidFill>
                            <a:srgbClr val="1F2A37"/>
                          </a:solidFill>
                          <a:latin typeface="Arial"/>
                          <a:ea typeface="Arial"/>
                          <a:cs typeface="Arial"/>
                        </a:rPr>
                        <a:t>0.463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0FC919DC-B92E-4C58-9020-10967D75D7E8}"/>
              </a:ext>
            </a:extLst>
          </p:cNvPr>
          <p:cNvSpPr>
            <a:spLocks xmlns:a="http://schemas.openxmlformats.org/drawingml/2006/main" noGrp="1"/>
          </p:cNvSpPr>
          <p:nvPr/>
        </p:nvSpPr>
        <p:spPr>
          <a:xfrm xmlns:a="http://schemas.openxmlformats.org/drawingml/2006/main">
            <a:off x="419100" y="3533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Test correlation between architectures is 0.292. Averaging lowers volatility.</a:t>
            </a:r>
          </a:p>
        </p:txBody>
      </p:sp>
      <p:sp>
        <p:nvSpPr>
          <p:cNvPr id="11" name="">
            <a:extLst xmlns:a="http://schemas.openxmlformats.org/drawingml/2006/main">
              <a:ext uri="{FF2B5EF4-FFF2-40B4-BE49-F238E27FC236}">
                <a16:creationId xmlns:a16="http://schemas.microsoft.com/office/drawing/2014/main" id="{6AE06712-C6F0-4F33-8187-BFF53F903AB8}"/>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Averaging saved LSTM and Transformer returns lowers volatility.</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Test Sharpe rises only from 0.459 to 0.463. The combination is exploratory.</a:t>
            </a:r>
          </a:p>
        </p:txBody>
      </p:sp>
    </p:spTree>
    <p:extLst>
      <p:ext uri="{BB962C8B-B14F-4D97-AF65-F5344CB8AC3E}">
        <p14:creationId xmlns:p14="http://schemas.microsoft.com/office/powerpoint/2010/main" val="4628198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5238D6-5086-432D-98AA-7DDBE213212F}"/>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9AB788-A3CB-4EEF-AC86-E36CEFE24C2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BD27E0-1B6C-4952-9327-18EC64F6A78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36-month rolling results by regime</a:t>
            </a:r>
          </a:p>
        </p:txBody>
      </p:sp>
      <p:sp>
        <p:nvSpPr>
          <p:cNvPr id="4" name="">
            <a:extLst xmlns:a="http://schemas.openxmlformats.org/drawingml/2006/main">
              <a:ext uri="{FF2B5EF4-FFF2-40B4-BE49-F238E27FC236}">
                <a16:creationId xmlns:a16="http://schemas.microsoft.com/office/drawing/2014/main" id="{A86CDF18-B593-4A19-B134-0A48AEC1C48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ADD87B3E-7529-4B7C-8BF9-638E6E3CCCE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18</a:t>
            </a:r>
          </a:p>
        </p:txBody>
      </p:sp>
      <p:graphicFrame>
        <p:nvGraphicFramePr>
          <p:cNvPr id="16"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cfd3b804e0ba4f21"/>
          </a:graphicData>
        </a:graphic>
      </p:graphicFrame>
      <p:sp>
        <p:nvSpPr>
          <p:cNvPr id="10" name="">
            <a:extLst xmlns:a="http://schemas.openxmlformats.org/drawingml/2006/main">
              <a:ext uri="{FF2B5EF4-FFF2-40B4-BE49-F238E27FC236}">
                <a16:creationId xmlns:a16="http://schemas.microsoft.com/office/drawing/2014/main" id="{9CFBEFB9-C88F-4B25-A7F3-956D70A9703E}"/>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Bars group rolling windows by the economic regime at their endpoint.</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A recession-ending window includes expansion months, unlike conditional regime Sharpe.</a:t>
            </a:r>
          </a:p>
        </p:txBody>
      </p:sp>
    </p:spTree>
    <p:extLst>
      <p:ext uri="{BB962C8B-B14F-4D97-AF65-F5344CB8AC3E}">
        <p14:creationId xmlns:p14="http://schemas.microsoft.com/office/powerpoint/2010/main" val="14779240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BA5D51-E367-4934-9161-1A9AA29B882B}"/>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F77CDE-17F8-443C-A072-4E45D948A7C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C6496D-D32A-43E8-A621-7E656AA7F7B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overall, rolling and recession results</a:t>
            </a:r>
          </a:p>
        </p:txBody>
      </p:sp>
      <p:sp>
        <p:nvSpPr>
          <p:cNvPr id="4" name="">
            <a:extLst xmlns:a="http://schemas.openxmlformats.org/drawingml/2006/main">
              <a:ext uri="{FF2B5EF4-FFF2-40B4-BE49-F238E27FC236}">
                <a16:creationId xmlns:a16="http://schemas.microsoft.com/office/drawing/2014/main" id="{E2DB1C94-88D7-4A6C-AC02-94343312E21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20C572EC-5677-4400-B899-B8F048EE011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19</a:t>
            </a:r>
          </a:p>
        </p:txBody>
      </p:sp>
      <p:graphicFrame>
        <p:nvGraphicFramePr>
          <p:cNvPr id="16"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571750"/>
                <a:gridCol w="1924050"/>
                <a:gridCol w="1924050"/>
                <a:gridCol w="1924050"/>
              </a:tblGrid>
              <a:tr h="357188">
                <a:tc>
                  <a:txBody>
                    <a:bodyPr/>
                    <a:lstStyle/>
                    <a:p>
                      <a:r>
                        <a:rPr sz="1275" b="1">
                          <a:solidFill>
                            <a:srgbClr val="FFFFFF"/>
                          </a:solidFill>
                          <a:latin typeface="Arial"/>
                          <a:ea typeface="Arial"/>
                          <a:cs typeface="Arial"/>
                        </a:rPr>
                        <a:t>Local portfolio</a:t>
                      </a:r>
                    </a:p>
                  </a:txBody>
                  <a:tcPr marL="91440" marR="91440" marT="45720" marB="45720">
                    <a:solidFill>
                      <a:srgbClr val="003262"/>
                    </a:solidFill>
                  </a:tcPr>
                </a:tc>
                <a:tc>
                  <a:txBody>
                    <a:bodyPr/>
                    <a:lstStyle/>
                    <a:p>
                      <a:r>
                        <a:rPr sz="1275" b="1">
                          <a:solidFill>
                            <a:srgbClr val="FFFFFF"/>
                          </a:solidFill>
                          <a:latin typeface="Arial"/>
                          <a:ea typeface="Arial"/>
                          <a:cs typeface="Arial"/>
                        </a:rPr>
                        <a:t>Test Sharpe</a:t>
                      </a:r>
                    </a:p>
                    <a:p>
                      <a:r>
                        <a:rPr sz="1275" b="1">
                          <a:solidFill>
                            <a:srgbClr val="FFFFFF"/>
                          </a:solidFill>
                          <a:latin typeface="Arial"/>
                          <a:ea typeface="Arial"/>
                          <a:cs typeface="Arial"/>
                        </a:rPr>
                        <a:t>monthly</a:t>
                      </a:r>
                    </a:p>
                  </a:txBody>
                  <a:tcPr marL="91440" marR="91440" marT="45720" marB="45720">
                    <a:solidFill>
                      <a:srgbClr val="003262"/>
                    </a:solidFill>
                  </a:tcPr>
                </a:tc>
                <a:tc>
                  <a:txBody>
                    <a:bodyPr/>
                    <a:lstStyle/>
                    <a:p>
                      <a:r>
                        <a:rPr sz="1275" b="1">
                          <a:solidFill>
                            <a:srgbClr val="FFFFFF"/>
                          </a:solidFill>
                          <a:latin typeface="Arial"/>
                          <a:ea typeface="Arial"/>
                          <a:cs typeface="Arial"/>
                        </a:rPr>
                        <a:t>36-month mean</a:t>
                      </a:r>
                    </a:p>
                    <a:p>
                      <a:r>
                        <a:rPr sz="1275" b="1">
                          <a:solidFill>
                            <a:srgbClr val="FFFFFF"/>
                          </a:solidFill>
                          <a:latin typeface="Arial"/>
                          <a:ea typeface="Arial"/>
                          <a:cs typeface="Arial"/>
                        </a:rPr>
                        <a:t>annualized</a:t>
                      </a:r>
                    </a:p>
                  </a:txBody>
                  <a:tcPr marL="91440" marR="91440" marT="45720" marB="45720">
                    <a:solidFill>
                      <a:srgbClr val="003262"/>
                    </a:solidFill>
                  </a:tcPr>
                </a:tc>
                <a:tc>
                  <a:txBody>
                    <a:bodyPr/>
                    <a:lstStyle/>
                    <a:p>
                      <a:r>
                        <a:rPr sz="1275" b="1">
                          <a:solidFill>
                            <a:srgbClr val="FFFFFF"/>
                          </a:solidFill>
                          <a:latin typeface="Arial"/>
                          <a:ea typeface="Arial"/>
                          <a:cs typeface="Arial"/>
                        </a:rPr>
                        <a:t>Recession Sharpe</a:t>
                      </a:r>
                    </a:p>
                    <a:p>
                      <a:r>
                        <a:rPr sz="1275" b="1">
                          <a:solidFill>
                            <a:srgbClr val="FFFFFF"/>
                          </a:solidFill>
                          <a:latin typeface="Arial"/>
                          <a:ea typeface="Arial"/>
                          <a:cs typeface="Arial"/>
                        </a:rPr>
                        <a:t>monthly</a:t>
                      </a:r>
                    </a:p>
                  </a:txBody>
                  <a:tcPr marL="91440" marR="91440" marT="45720" marB="45720">
                    <a:solidFill>
                      <a:srgbClr val="003262"/>
                    </a:solidFill>
                  </a:tcPr>
                </a:tc>
              </a:tr>
              <a:tr h="357188">
                <a:tc>
                  <a:txBody>
                    <a:bodyPr/>
                    <a:lstStyle/>
                    <a:p>
                      <a:r>
                        <a:rPr sz="135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350" b="0">
                          <a:solidFill>
                            <a:srgbClr val="1F2A37"/>
                          </a:solidFill>
                          <a:latin typeface="Arial"/>
                          <a:ea typeface="Arial"/>
                          <a:cs typeface="Arial"/>
                        </a:rPr>
                        <a:t>0.612</a:t>
                      </a:r>
                    </a:p>
                  </a:txBody>
                  <a:tcPr marL="91440" marR="91440" marT="45720" marB="45720">
                    <a:solidFill>
                      <a:srgbClr val="EEF3F8"/>
                    </a:solidFill>
                  </a:tcPr>
                </a:tc>
                <a:tc>
                  <a:txBody>
                    <a:bodyPr/>
                    <a:lstStyle/>
                    <a:p>
                      <a:r>
                        <a:rPr sz="1350" b="0">
                          <a:solidFill>
                            <a:srgbClr val="1F2A37"/>
                          </a:solidFill>
                          <a:latin typeface="Arial"/>
                          <a:ea typeface="Arial"/>
                          <a:cs typeface="Arial"/>
                        </a:rPr>
                        <a:t>2.890</a:t>
                      </a:r>
                    </a:p>
                  </a:txBody>
                  <a:tcPr marL="91440" marR="91440" marT="45720" marB="45720">
                    <a:solidFill>
                      <a:srgbClr val="EEF3F8"/>
                    </a:solidFill>
                  </a:tcPr>
                </a:tc>
                <a:tc>
                  <a:txBody>
                    <a:bodyPr/>
                    <a:lstStyle/>
                    <a:p>
                      <a:r>
                        <a:rPr sz="1350" b="0">
                          <a:solidFill>
                            <a:srgbClr val="1F2A37"/>
                          </a:solidFill>
                          <a:latin typeface="Arial"/>
                          <a:ea typeface="Arial"/>
                          <a:cs typeface="Arial"/>
                        </a:rPr>
                        <a:t>0.455</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Feedforward</a:t>
                      </a:r>
                    </a:p>
                  </a:txBody>
                  <a:tcPr marL="91440" marR="91440" marT="45720" marB="45720">
                    <a:solidFill>
                      <a:srgbClr val="FFFFFF"/>
                    </a:solidFill>
                  </a:tcPr>
                </a:tc>
                <a:tc>
                  <a:txBody>
                    <a:bodyPr/>
                    <a:lstStyle/>
                    <a:p>
                      <a:r>
                        <a:rPr sz="1350" b="0">
                          <a:solidFill>
                            <a:srgbClr val="1F2A37"/>
                          </a:solidFill>
                          <a:latin typeface="Arial"/>
                          <a:ea typeface="Arial"/>
                          <a:cs typeface="Arial"/>
                        </a:rPr>
                        <a:t>0.570</a:t>
                      </a:r>
                    </a:p>
                  </a:txBody>
                  <a:tcPr marL="91440" marR="91440" marT="45720" marB="45720">
                    <a:solidFill>
                      <a:srgbClr val="FFFFFF"/>
                    </a:solidFill>
                  </a:tcPr>
                </a:tc>
                <a:tc>
                  <a:txBody>
                    <a:bodyPr/>
                    <a:lstStyle/>
                    <a:p>
                      <a:r>
                        <a:rPr sz="1350" b="0">
                          <a:solidFill>
                            <a:srgbClr val="1F2A37"/>
                          </a:solidFill>
                          <a:latin typeface="Arial"/>
                          <a:ea typeface="Arial"/>
                          <a:cs typeface="Arial"/>
                        </a:rPr>
                        <a:t>2.620</a:t>
                      </a:r>
                    </a:p>
                  </a:txBody>
                  <a:tcPr marL="91440" marR="91440" marT="45720" marB="45720">
                    <a:solidFill>
                      <a:srgbClr val="FFFFFF"/>
                    </a:solidFill>
                  </a:tcPr>
                </a:tc>
                <a:tc>
                  <a:txBody>
                    <a:bodyPr/>
                    <a:lstStyle/>
                    <a:p>
                      <a:r>
                        <a:rPr sz="1350" b="0">
                          <a:solidFill>
                            <a:srgbClr val="1F2A37"/>
                          </a:solidFill>
                          <a:latin typeface="Arial"/>
                          <a:ea typeface="Arial"/>
                          <a:cs typeface="Arial"/>
                        </a:rPr>
                        <a:t>0.570</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350" b="0">
                          <a:solidFill>
                            <a:srgbClr val="1F2A37"/>
                          </a:solidFill>
                          <a:latin typeface="Arial"/>
                          <a:ea typeface="Arial"/>
                          <a:cs typeface="Arial"/>
                        </a:rPr>
                        <a:t>0.463</a:t>
                      </a:r>
                    </a:p>
                  </a:txBody>
                  <a:tcPr marL="91440" marR="91440" marT="45720" marB="45720">
                    <a:solidFill>
                      <a:srgbClr val="EEF3F8"/>
                    </a:solidFill>
                  </a:tcPr>
                </a:tc>
                <a:tc>
                  <a:txBody>
                    <a:bodyPr/>
                    <a:lstStyle/>
                    <a:p>
                      <a:r>
                        <a:rPr sz="1350" b="0">
                          <a:solidFill>
                            <a:srgbClr val="1F2A37"/>
                          </a:solidFill>
                          <a:latin typeface="Arial"/>
                          <a:ea typeface="Arial"/>
                          <a:cs typeface="Arial"/>
                        </a:rPr>
                        <a:t>2.166</a:t>
                      </a:r>
                    </a:p>
                  </a:txBody>
                  <a:tcPr marL="91440" marR="91440" marT="45720" marB="45720">
                    <a:solidFill>
                      <a:srgbClr val="EEF3F8"/>
                    </a:solidFill>
                  </a:tcPr>
                </a:tc>
                <a:tc>
                  <a:txBody>
                    <a:bodyPr/>
                    <a:lstStyle/>
                    <a:p>
                      <a:r>
                        <a:rPr sz="1350" b="0">
                          <a:solidFill>
                            <a:srgbClr val="1F2A37"/>
                          </a:solidFill>
                          <a:latin typeface="Arial"/>
                          <a:ea typeface="Arial"/>
                          <a:cs typeface="Arial"/>
                        </a:rPr>
                        <a:t>0.076</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Extension LSTM</a:t>
                      </a:r>
                    </a:p>
                  </a:txBody>
                  <a:tcPr marL="91440" marR="91440" marT="45720" marB="45720">
                    <a:solidFill>
                      <a:srgbClr val="FFFFFF"/>
                    </a:solidFill>
                  </a:tcPr>
                </a:tc>
                <a:tc>
                  <a:txBody>
                    <a:bodyPr/>
                    <a:lstStyle/>
                    <a:p>
                      <a:r>
                        <a:rPr sz="1350" b="0">
                          <a:solidFill>
                            <a:srgbClr val="1F2A37"/>
                          </a:solidFill>
                          <a:latin typeface="Arial"/>
                          <a:ea typeface="Arial"/>
                          <a:cs typeface="Arial"/>
                        </a:rPr>
                        <a:t>0.459</a:t>
                      </a:r>
                    </a:p>
                  </a:txBody>
                  <a:tcPr marL="91440" marR="91440" marT="45720" marB="45720">
                    <a:solidFill>
                      <a:srgbClr val="FFFFFF"/>
                    </a:solidFill>
                  </a:tcPr>
                </a:tc>
                <a:tc>
                  <a:txBody>
                    <a:bodyPr/>
                    <a:lstStyle/>
                    <a:p>
                      <a:r>
                        <a:rPr sz="1350" b="0">
                          <a:solidFill>
                            <a:srgbClr val="1F2A37"/>
                          </a:solidFill>
                          <a:latin typeface="Arial"/>
                          <a:ea typeface="Arial"/>
                          <a:cs typeface="Arial"/>
                        </a:rPr>
                        <a:t>1.992</a:t>
                      </a:r>
                    </a:p>
                  </a:txBody>
                  <a:tcPr marL="91440" marR="91440" marT="45720" marB="45720">
                    <a:solidFill>
                      <a:srgbClr val="FFFFFF"/>
                    </a:solidFill>
                  </a:tcPr>
                </a:tc>
                <a:tc>
                  <a:txBody>
                    <a:bodyPr/>
                    <a:lstStyle/>
                    <a:p>
                      <a:r>
                        <a:rPr sz="1350" b="0">
                          <a:solidFill>
                            <a:srgbClr val="1F2A37"/>
                          </a:solidFill>
                          <a:latin typeface="Arial"/>
                          <a:ea typeface="Arial"/>
                          <a:cs typeface="Arial"/>
                        </a:rPr>
                        <a:t>0.264</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Elastic Net</a:t>
                      </a:r>
                    </a:p>
                  </a:txBody>
                  <a:tcPr marL="91440" marR="91440" marT="45720" marB="45720">
                    <a:solidFill>
                      <a:srgbClr val="EEF3F8"/>
                    </a:solidFill>
                  </a:tcPr>
                </a:tc>
                <a:tc>
                  <a:txBody>
                    <a:bodyPr/>
                    <a:lstStyle/>
                    <a:p>
                      <a:r>
                        <a:rPr sz="1350" b="0">
                          <a:solidFill>
                            <a:srgbClr val="1F2A37"/>
                          </a:solidFill>
                          <a:latin typeface="Arial"/>
                          <a:ea typeface="Arial"/>
                          <a:cs typeface="Arial"/>
                        </a:rPr>
                        <a:t>0.412</a:t>
                      </a:r>
                    </a:p>
                  </a:txBody>
                  <a:tcPr marL="91440" marR="91440" marT="45720" marB="45720">
                    <a:solidFill>
                      <a:srgbClr val="EEF3F8"/>
                    </a:solidFill>
                  </a:tcPr>
                </a:tc>
                <a:tc>
                  <a:txBody>
                    <a:bodyPr/>
                    <a:lstStyle/>
                    <a:p>
                      <a:r>
                        <a:rPr sz="1350" b="0">
                          <a:solidFill>
                            <a:srgbClr val="1F2A37"/>
                          </a:solidFill>
                          <a:latin typeface="Arial"/>
                          <a:ea typeface="Arial"/>
                          <a:cs typeface="Arial"/>
                        </a:rPr>
                        <a:t>2.074</a:t>
                      </a:r>
                    </a:p>
                  </a:txBody>
                  <a:tcPr marL="91440" marR="91440" marT="45720" marB="45720">
                    <a:solidFill>
                      <a:srgbClr val="EEF3F8"/>
                    </a:solidFill>
                  </a:tcPr>
                </a:tc>
                <a:tc>
                  <a:txBody>
                    <a:bodyPr/>
                    <a:lstStyle/>
                    <a:p>
                      <a:r>
                        <a:rPr sz="1350" b="0">
                          <a:solidFill>
                            <a:srgbClr val="1F2A37"/>
                          </a:solidFill>
                          <a:latin typeface="Arial"/>
                          <a:ea typeface="Arial"/>
                          <a:cs typeface="Arial"/>
                        </a:rPr>
                        <a:t>0.254</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Linear</a:t>
                      </a:r>
                    </a:p>
                  </a:txBody>
                  <a:tcPr marL="91440" marR="91440" marT="45720" marB="45720">
                    <a:solidFill>
                      <a:srgbClr val="FFFFFF"/>
                    </a:solidFill>
                  </a:tcPr>
                </a:tc>
                <a:tc>
                  <a:txBody>
                    <a:bodyPr/>
                    <a:lstStyle/>
                    <a:p>
                      <a:r>
                        <a:rPr sz="1350" b="0">
                          <a:solidFill>
                            <a:srgbClr val="1F2A37"/>
                          </a:solidFill>
                          <a:latin typeface="Arial"/>
                          <a:ea typeface="Arial"/>
                          <a:cs typeface="Arial"/>
                        </a:rPr>
                        <a:t>0.406</a:t>
                      </a:r>
                    </a:p>
                  </a:txBody>
                  <a:tcPr marL="91440" marR="91440" marT="45720" marB="45720">
                    <a:solidFill>
                      <a:srgbClr val="FFFFFF"/>
                    </a:solidFill>
                  </a:tcPr>
                </a:tc>
                <a:tc>
                  <a:txBody>
                    <a:bodyPr/>
                    <a:lstStyle/>
                    <a:p>
                      <a:r>
                        <a:rPr sz="1350" b="0">
                          <a:solidFill>
                            <a:srgbClr val="1F2A37"/>
                          </a:solidFill>
                          <a:latin typeface="Arial"/>
                          <a:ea typeface="Arial"/>
                          <a:cs typeface="Arial"/>
                        </a:rPr>
                        <a:t>1.740</a:t>
                      </a:r>
                    </a:p>
                  </a:txBody>
                  <a:tcPr marL="91440" marR="91440" marT="45720" marB="45720">
                    <a:solidFill>
                      <a:srgbClr val="FFFFFF"/>
                    </a:solidFill>
                  </a:tcPr>
                </a:tc>
                <a:tc>
                  <a:txBody>
                    <a:bodyPr/>
                    <a:lstStyle/>
                    <a:p>
                      <a:r>
                        <a:rPr sz="1350" b="0">
                          <a:solidFill>
                            <a:srgbClr val="1F2A37"/>
                          </a:solidFill>
                          <a:latin typeface="Arial"/>
                          <a:ea typeface="Arial"/>
                          <a:cs typeface="Arial"/>
                        </a:rPr>
                        <a:t>0.404</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Transformer</a:t>
                      </a:r>
                    </a:p>
                  </a:txBody>
                  <a:tcPr marL="91440" marR="91440" marT="45720" marB="45720">
                    <a:solidFill>
                      <a:srgbClr val="EEF3F8"/>
                    </a:solidFill>
                  </a:tcPr>
                </a:tc>
                <a:tc>
                  <a:txBody>
                    <a:bodyPr/>
                    <a:lstStyle/>
                    <a:p>
                      <a:r>
                        <a:rPr sz="1350" b="0">
                          <a:solidFill>
                            <a:srgbClr val="1F2A37"/>
                          </a:solidFill>
                          <a:latin typeface="Arial"/>
                          <a:ea typeface="Arial"/>
                          <a:cs typeface="Arial"/>
                        </a:rPr>
                        <a:t>0.304</a:t>
                      </a:r>
                    </a:p>
                  </a:txBody>
                  <a:tcPr marL="91440" marR="91440" marT="45720" marB="45720">
                    <a:solidFill>
                      <a:srgbClr val="EEF3F8"/>
                    </a:solidFill>
                  </a:tcPr>
                </a:tc>
                <a:tc>
                  <a:txBody>
                    <a:bodyPr/>
                    <a:lstStyle/>
                    <a:p>
                      <a:r>
                        <a:rPr sz="1350" b="0">
                          <a:solidFill>
                            <a:srgbClr val="1F2A37"/>
                          </a:solidFill>
                          <a:latin typeface="Arial"/>
                          <a:ea typeface="Arial"/>
                          <a:cs typeface="Arial"/>
                        </a:rPr>
                        <a:t>1.467</a:t>
                      </a:r>
                    </a:p>
                  </a:txBody>
                  <a:tcPr marL="91440" marR="91440" marT="45720" marB="45720">
                    <a:solidFill>
                      <a:srgbClr val="EEF3F8"/>
                    </a:solidFill>
                  </a:tcPr>
                </a:tc>
                <a:tc>
                  <a:txBody>
                    <a:bodyPr/>
                    <a:lstStyle/>
                    <a:p>
                      <a:r>
                        <a:rPr sz="1350" b="0">
                          <a:solidFill>
                            <a:srgbClr val="1F2A37"/>
                          </a:solidFill>
                          <a:latin typeface="Arial"/>
                          <a:ea typeface="Arial"/>
                          <a:cs typeface="Arial"/>
                        </a:rPr>
                        <a:t>-0.071</a:t>
                      </a:r>
                    </a:p>
                  </a:txBody>
                  <a:tcPr marL="91440" marR="91440" marT="45720" marB="45720">
                    <a:solidFill>
                      <a:srgbClr val="EEF3F8"/>
                    </a:solidFill>
                  </a:tcPr>
                </a:tc>
              </a:tr>
            </a:tbl>
          </a:graphicData>
        </a:graphic>
      </p:graphicFrame>
      <p:sp>
        <p:nvSpPr>
          <p:cNvPr id="10" name="">
            <a:extLst xmlns:a="http://schemas.openxmlformats.org/drawingml/2006/main">
              <a:ext uri="{FF2B5EF4-FFF2-40B4-BE49-F238E27FC236}">
                <a16:creationId xmlns:a16="http://schemas.microsoft.com/office/drawing/2014/main" id="{2D71A795-EF2B-42B6-AADF-2D6FEAFA5BB0}"/>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Overall, rolling and recession columns answer different questions and use different units.</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Replication leads local test Sharpe at 0.612. Feedforward leads recessions at 0.570.</a:t>
            </a:r>
          </a:p>
        </p:txBody>
      </p:sp>
    </p:spTree>
    <p:extLst>
      <p:ext uri="{BB962C8B-B14F-4D97-AF65-F5344CB8AC3E}">
        <p14:creationId xmlns:p14="http://schemas.microsoft.com/office/powerpoint/2010/main" val="5616335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01E8C3-1DCC-4E85-92A6-66CC0CBFEE7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74995C-121F-414F-B645-644EDF71B69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FF864F-D740-4428-953A-32F614C80A9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Summary: findings and next steps</a:t>
            </a:r>
          </a:p>
        </p:txBody>
      </p:sp>
      <p:sp>
        <p:nvSpPr>
          <p:cNvPr id="4" name="">
            <a:extLst xmlns:a="http://schemas.openxmlformats.org/drawingml/2006/main">
              <a:ext uri="{FF2B5EF4-FFF2-40B4-BE49-F238E27FC236}">
                <a16:creationId xmlns:a16="http://schemas.microsoft.com/office/drawing/2014/main" id="{6DDDBBEA-F23A-4ADB-972A-F61DC40B706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8. Summary</a:t>
            </a:r>
          </a:p>
        </p:txBody>
      </p:sp>
      <p:sp>
        <p:nvSpPr>
          <p:cNvPr id="5" name="">
            <a:extLst xmlns:a="http://schemas.openxmlformats.org/drawingml/2006/main">
              <a:ext uri="{FF2B5EF4-FFF2-40B4-BE49-F238E27FC236}">
                <a16:creationId xmlns:a16="http://schemas.microsoft.com/office/drawing/2014/main" id="{73145E81-73FE-42B4-8FA2-7F83EDB2382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2BF1B0E0-CB9C-4205-84CE-FADFDA20B85D}"/>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we add</a:t>
            </a:r>
          </a:p>
        </p:txBody>
      </p:sp>
      <p:sp>
        <p:nvSpPr>
          <p:cNvPr id="7" name="">
            <a:extLst xmlns:a="http://schemas.openxmlformats.org/drawingml/2006/main">
              <a:ext uri="{FF2B5EF4-FFF2-40B4-BE49-F238E27FC236}">
                <a16:creationId xmlns:a16="http://schemas.microsoft.com/office/drawing/2014/main" id="{6A78B5E2-A11D-40F2-B58B-7C3EE8B62B11}"/>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A common-budget encoder comparison, rolling and regime evaluation, a fixed combination, and paired uncertainty.</a:t>
            </a:r>
          </a:p>
        </p:txBody>
      </p:sp>
      <p:sp>
        <p:nvSpPr>
          <p:cNvPr id="8" name="">
            <a:extLst xmlns:a="http://schemas.openxmlformats.org/drawingml/2006/main">
              <a:ext uri="{FF2B5EF4-FFF2-40B4-BE49-F238E27FC236}">
                <a16:creationId xmlns:a16="http://schemas.microsoft.com/office/drawing/2014/main" id="{CDCA378D-6329-481B-A219-8273096AF7CE}"/>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the evidence supports</a:t>
            </a:r>
          </a:p>
        </p:txBody>
      </p:sp>
      <p:sp>
        <p:nvSpPr>
          <p:cNvPr id="9" name="">
            <a:extLst xmlns:a="http://schemas.openxmlformats.org/drawingml/2006/main">
              <a:ext uri="{FF2B5EF4-FFF2-40B4-BE49-F238E27FC236}">
                <a16:creationId xmlns:a16="http://schemas.microsoft.com/office/drawing/2014/main" id="{B114AB3E-811C-4B4C-9233-EB852CC9840B}"/>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LSTM has higher observed test Sharpe. Bootstrap intervals leave its advantage over Transformer unresolved.</a:t>
            </a:r>
          </a:p>
        </p:txBody>
      </p:sp>
      <p:sp>
        <p:nvSpPr>
          <p:cNvPr id="10" name="">
            <a:extLst xmlns:a="http://schemas.openxmlformats.org/drawingml/2006/main">
              <a:ext uri="{FF2B5EF4-FFF2-40B4-BE49-F238E27FC236}">
                <a16:creationId xmlns:a16="http://schemas.microsoft.com/office/drawing/2014/main" id="{23138FAA-5FB2-4EA1-A541-B08A503D5A01}"/>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remains open</a:t>
            </a:r>
          </a:p>
        </p:txBody>
      </p:sp>
      <p:sp>
        <p:nvSpPr>
          <p:cNvPr id="11" name="">
            <a:extLst xmlns:a="http://schemas.openxmlformats.org/drawingml/2006/main">
              <a:ext uri="{FF2B5EF4-FFF2-40B4-BE49-F238E27FC236}">
                <a16:creationId xmlns:a16="http://schemas.microsoft.com/office/drawing/2014/main" id="{975CC6A3-F469-4177-8B8E-F3299805EBF6}"/>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Full author-schedule GPU training, a new holdout, transaction costs and uncertainty across training runs.</a:t>
            </a:r>
          </a:p>
        </p:txBody>
      </p:sp>
      <p:sp>
        <p:nvSpPr>
          <p:cNvPr id="14" name="">
            <a:extLst xmlns:a="http://schemas.openxmlformats.org/drawingml/2006/main">
              <a:ext uri="{FF2B5EF4-FFF2-40B4-BE49-F238E27FC236}">
                <a16:creationId xmlns:a16="http://schemas.microsoft.com/office/drawing/2014/main" id="{5A98A400-C1B1-4D9D-993B-B07123F1EF67}"/>
              </a:ext>
            </a:extLst>
          </p:cNvPr>
          <p:cNvSpPr>
            <a:spLocks xmlns:a="http://schemas.openxmlformats.org/drawingml/2006/main" noGrp="1"/>
          </p:cNvSpPr>
          <p:nvPr/>
        </p:nvSpPr>
        <p:spPr>
          <a:xfrm xmlns:a="http://schemas.openxmlformats.org/drawingml/2006/main">
            <a:off x="419100" y="42576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Our contribution combines architecture, rolling, regime and uncertainty evaluation.</a:t>
            </a:r>
          </a:p>
          <a:p xmlns:a="http://schemas.openxmlformats.org/drawingml/2006/main">
            <a:pPr marL="152400" indent="-88900">
              <a:spcAft>
                <a:spcPts val="200"/>
              </a:spcAft>
              <a:buChar char="•"/>
              <a:defRPr sz="1275" b="1">
                <a:solidFill>
                  <a:srgbClr val="003262"/>
                </a:solidFill>
                <a:latin typeface="Arial"/>
                <a:ea typeface="Arial"/>
                <a:cs typeface="Arial"/>
              </a:defRPr>
            </a:pPr>
            <a:r>
              <a:rPr sz="1275" b="1">
                <a:solidFill>
                  <a:srgbClr val="003262"/>
                </a:solidFill>
                <a:latin typeface="Arial"/>
                <a:ea typeface="Arial"/>
                <a:cs typeface="Arial"/>
              </a:rPr>
              <a:t>Higher point estimates still need uncertainty checks and a new holdout.</a:t>
            </a:r>
          </a:p>
        </p:txBody>
      </p:sp>
    </p:spTree>
    <p:extLst>
      <p:ext uri="{BB962C8B-B14F-4D97-AF65-F5344CB8AC3E}">
        <p14:creationId xmlns:p14="http://schemas.microsoft.com/office/powerpoint/2010/main" val="111821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2026-10-07T00:33:11.5150000Z</dcterms:created>
  <dcterms:modified xsi:type="dcterms:W3CDTF">2026-10-07T00:33:11.5150000Z</dcterms:modified>
</coreProperties>
</file>